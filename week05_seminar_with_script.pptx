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howSpecialPlsOnTitleSld="0" strictFirstAndLastChars="0">
  <p:sldMasterIdLst>
    <p:sldMasterId id="2147483648" r:id="rId1"/>
  </p:sldMasterIdLst>
  <p:notesMasterIdLst>
    <p:notesMasterId r:id="rId7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7925C0D6-9F2F-4230-A678-8B0516A0E49D}">
  <a:tblStyle styleId="{7925C0D6-9F2F-4230-A678-8B0516A0E49D}" styleName="Table_0">
    <a:wholeTbl>
      <a:tcTxStyle>
        <a:srgbClr val="000000"/>
      </a:tcTxStyle>
      <a:tcStyle>
        <a:tcBdr>
          <a:left>
            <a:ln w="12700">
              <a:solidFill>
                <a:srgbClr val="000000"/>
              </a:solidFill>
            </a:ln>
          </a:left>
          <a:right>
            <a:ln w="12700">
              <a:solidFill>
                <a:srgbClr val="000000"/>
              </a:solidFill>
            </a:ln>
          </a:right>
          <a:top>
            <a:ln w="12700">
              <a:solidFill>
                <a:srgbClr val="000000"/>
              </a:solidFill>
            </a:ln>
          </a:top>
          <a:bottom>
            <a:ln w="12700">
              <a:solidFill>
                <a:srgbClr val="000000"/>
              </a:solidFill>
            </a:ln>
          </a:bottom>
          <a:insideH>
            <a:ln w="12700">
              <a:solidFill>
                <a:srgbClr val="000000"/>
              </a:solidFill>
            </a:ln>
          </a:insideH>
          <a:insideV>
            <a:ln w="12700">
              <a:solidFill>
                <a:srgbClr val="000000"/>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tableStyles" Target="tableStyles.xml"/><Relationship Id="rId7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1755825600" name="Google Shape;3;n"/>
          <p:cNvSpPr/>
          <p:nvPr>
            <p:ph type="sldImg" idx="2"/>
          </p:nvPr>
        </p:nvSpPr>
        <p:spPr bwMode="auto">
          <a:xfrm>
            <a:off x="381300" y="685800"/>
            <a:ext cx="609607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3983074"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252251" name="Slide Image Placeholder 1"/>
          <p:cNvSpPr>
            <a:spLocks noChangeAspect="1" noGrp="1" noRot="1"/>
          </p:cNvSpPr>
          <p:nvPr>
            <p:ph type="sldImg"/>
          </p:nvPr>
        </p:nvSpPr>
        <p:spPr bwMode="auto"/>
      </p:sp>
      <p:sp>
        <p:nvSpPr>
          <p:cNvPr id="511702802" name="Notes Placeholder 2"/>
          <p:cNvSpPr>
            <a:spLocks noGrp="1"/>
          </p:cNvSpPr>
          <p:nvPr>
            <p:ph type="body" idx="1"/>
          </p:nvPr>
        </p:nvSpPr>
        <p:spPr bwMode="auto"/>
        <p:txBody>
          <a:bodyPr/>
          <a:lstStyle/>
          <a:p>
            <a:r>
              <a:t>Time: ~1 min</a:t>
            </a:r>
          </a:p>
          <a:p>
            <a:r>
              <a:t>Say:</a:t>
            </a:r>
          </a:p>
          <a:p>
            <a:r>
              <a:t>Good evening everyone. Today we move from simple language models into sequence labelling and neural language models. The first half connects to POS tagging, NER, HMMs, and Viterbi. The second half moves into neural models: feedforward networks, RNNs, GRUs, and finally text generation. My goal is not to make you memorise formulas. My goal is that you can read the code, understand what each block is doing, and connect it to the assignment/lab style questions.</a:t>
            </a:r>
          </a:p>
        </p:txBody>
      </p:sp>
      <p:sp>
        <p:nvSpPr>
          <p:cNvPr id="990192757" name="Slide Number Placeholder 3"/>
          <p:cNvSpPr>
            <a:spLocks noGrp="1"/>
          </p:cNvSpPr>
          <p:nvPr>
            <p:ph type="sldNum" sz="quarter" idx="10"/>
          </p:nvPr>
        </p:nvSpPr>
        <p:spPr bwMode="auto"/>
        <p:txBody>
          <a:bodyPr/>
          <a:lstStyle/>
          <a:p>
            <a:pPr>
              <a:defRPr/>
            </a:pPr>
            <a:fld id="{3770FDC6-990D-8D73-47E7-DF776512BCF1}"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734014" name="Slide Image Placeholder 1"/>
          <p:cNvSpPr>
            <a:spLocks noChangeAspect="1" noGrp="1" noRot="1"/>
          </p:cNvSpPr>
          <p:nvPr>
            <p:ph type="sldImg"/>
          </p:nvPr>
        </p:nvSpPr>
        <p:spPr bwMode="auto"/>
      </p:sp>
      <p:sp>
        <p:nvSpPr>
          <p:cNvPr id="637877737" name="Notes Placeholder 2"/>
          <p:cNvSpPr>
            <a:spLocks noGrp="1"/>
          </p:cNvSpPr>
          <p:nvPr>
            <p:ph type="body" idx="1"/>
          </p:nvPr>
        </p:nvSpPr>
        <p:spPr bwMode="auto"/>
        <p:txBody>
          <a:bodyPr/>
          <a:lstStyle/>
          <a:p>
            <a:r>
              <a:t>Time: ~2 min</a:t>
            </a:r>
          </a:p>
          <a:p>
            <a:r>
              <a:t>Say:</a:t>
            </a:r>
          </a:p>
          <a:p>
            <a:r>
              <a:t>This is the roadmap for today. We start with sequence labelling: instead of one label for the whole sentence, we predict one label per word. Then we look at HMMs and Viterbi, mainly to understand the dynamic programming idea. After that, we revisit feedforward neural language models and the basic training loop. Then we discuss why RNNs were introduced, why vanilla RNNs struggle with long sequences, and how GRUs help. Finally, we look at decoding: greedy search, beam search, and temperature. Keep this big picture in mind: we are moving from counting-based models to neural models that learn representations.</a:t>
            </a:r>
          </a:p>
        </p:txBody>
      </p:sp>
      <p:sp>
        <p:nvSpPr>
          <p:cNvPr id="184875048" name="Slide Number Placeholder 3"/>
          <p:cNvSpPr>
            <a:spLocks noGrp="1"/>
          </p:cNvSpPr>
          <p:nvPr>
            <p:ph type="sldNum" sz="quarter" idx="10"/>
          </p:nvPr>
        </p:nvSpPr>
        <p:spPr bwMode="auto"/>
        <p:txBody>
          <a:bodyPr/>
          <a:lstStyle/>
          <a:p>
            <a:pPr>
              <a:defRPr/>
            </a:pPr>
            <a:fld id="{B3B4268D-4A1F-E954-028F-84B1272DF47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0132896" name="Slide Image Placeholder 1"/>
          <p:cNvSpPr>
            <a:spLocks noChangeAspect="1" noGrp="1" noRot="1"/>
          </p:cNvSpPr>
          <p:nvPr>
            <p:ph type="sldImg"/>
          </p:nvPr>
        </p:nvSpPr>
        <p:spPr bwMode="auto"/>
      </p:sp>
      <p:sp>
        <p:nvSpPr>
          <p:cNvPr id="715982213" name="Notes Placeholder 2"/>
          <p:cNvSpPr>
            <a:spLocks noGrp="1"/>
          </p:cNvSpPr>
          <p:nvPr>
            <p:ph type="body" idx="1"/>
          </p:nvPr>
        </p:nvSpPr>
        <p:spPr bwMode="auto"/>
        <p:txBody>
          <a:bodyPr/>
          <a:lstStyle/>
          <a:p>
            <a:r>
              <a:t>Time: ~2.5 min</a:t>
            </a:r>
          </a:p>
          <a:p>
            <a:r>
              <a:t>Say:</a:t>
            </a:r>
          </a:p>
          <a:p>
            <a:r>
              <a:t>Let us first define sequence labelling. In text classification, the whole document or sentence gets one label. For example, an SMS is ham or spam. In sequence labelling, every token gets its own label. POS tagging is a simple example: 'The dog runs fast' becomes determiner, noun, verb, adverb. NER is another example: 'Barack Obama' is a person and 'Hawaii' is a location. Chunking groups words into phrases. The key difference is that the output length is linked to the input length: one prediction per token.</a:t>
            </a:r>
          </a:p>
        </p:txBody>
      </p:sp>
      <p:sp>
        <p:nvSpPr>
          <p:cNvPr id="1638793630" name="Slide Number Placeholder 3"/>
          <p:cNvSpPr>
            <a:spLocks noGrp="1"/>
          </p:cNvSpPr>
          <p:nvPr>
            <p:ph type="sldNum" sz="quarter" idx="10"/>
          </p:nvPr>
        </p:nvSpPr>
        <p:spPr bwMode="auto"/>
        <p:txBody>
          <a:bodyPr/>
          <a:lstStyle/>
          <a:p>
            <a:pPr>
              <a:defRPr/>
            </a:pPr>
            <a:fld id="{4FEBFE2D-7212-C01D-BAE3-732DFACE65FB}"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405563" name="Slide Image Placeholder 1"/>
          <p:cNvSpPr>
            <a:spLocks noChangeAspect="1" noGrp="1" noRot="1"/>
          </p:cNvSpPr>
          <p:nvPr>
            <p:ph type="sldImg"/>
          </p:nvPr>
        </p:nvSpPr>
        <p:spPr bwMode="auto"/>
      </p:sp>
      <p:sp>
        <p:nvSpPr>
          <p:cNvPr id="1092824744" name="Notes Placeholder 2"/>
          <p:cNvSpPr>
            <a:spLocks noGrp="1"/>
          </p:cNvSpPr>
          <p:nvPr>
            <p:ph type="body" idx="1"/>
          </p:nvPr>
        </p:nvSpPr>
        <p:spPr bwMode="auto"/>
        <p:txBody>
          <a:bodyPr/>
          <a:lstStyle/>
          <a:p>
            <a:r>
              <a:t>Time: ~3 min</a:t>
            </a:r>
          </a:p>
          <a:p>
            <a:r>
              <a:t>Say:</a:t>
            </a:r>
          </a:p>
          <a:p>
            <a:r>
              <a:t>For named entity recognition, we often use the BIO tagging scheme. B means beginning of an entity, I means inside an entity, and O means outside any entity. In 'Barack Obama was born in Hawaii', Barack is B-PER, Obama is I-PER, and Hawaii is B-LOC. The reason we need B and I is boundary clarity. Suppose we have 'Barack Obama Michelle Obama'. If we only use PER PER PER PER, we do not know whether it is one long name or two different names. BIO makes the start and continuation explicit.</a:t>
            </a:r>
          </a:p>
        </p:txBody>
      </p:sp>
      <p:sp>
        <p:nvSpPr>
          <p:cNvPr id="1488692043" name="Slide Number Placeholder 3"/>
          <p:cNvSpPr>
            <a:spLocks noGrp="1"/>
          </p:cNvSpPr>
          <p:nvPr>
            <p:ph type="sldNum" sz="quarter" idx="10"/>
          </p:nvPr>
        </p:nvSpPr>
        <p:spPr bwMode="auto"/>
        <p:txBody>
          <a:bodyPr/>
          <a:lstStyle/>
          <a:p>
            <a:pPr>
              <a:defRPr/>
            </a:pPr>
            <a:fld id="{03E6BAF0-1102-850E-27AD-77FD2D901E2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5621601" name="Slide Image Placeholder 1"/>
          <p:cNvSpPr>
            <a:spLocks noChangeAspect="1" noGrp="1" noRot="1"/>
          </p:cNvSpPr>
          <p:nvPr>
            <p:ph type="sldImg"/>
          </p:nvPr>
        </p:nvSpPr>
        <p:spPr bwMode="auto"/>
      </p:sp>
      <p:sp>
        <p:nvSpPr>
          <p:cNvPr id="1517493562" name="Notes Placeholder 2"/>
          <p:cNvSpPr>
            <a:spLocks noGrp="1"/>
          </p:cNvSpPr>
          <p:nvPr>
            <p:ph type="body" idx="1"/>
          </p:nvPr>
        </p:nvSpPr>
        <p:spPr bwMode="auto"/>
        <p:txBody>
          <a:bodyPr/>
          <a:lstStyle/>
          <a:p>
            <a:r>
              <a:t>Time: ~2.5 min</a:t>
            </a:r>
          </a:p>
          <a:p>
            <a:r>
              <a:t>Say:</a:t>
            </a:r>
          </a:p>
          <a:p>
            <a:r>
              <a:t>Let us do a quick exercise. The sentence is: 'Apple CEO Tim Cook announced the new iPhone at the Yerba Buena Center.' Apple is an organisation, CEO is not an entity here, Tim Cook is a person with two tokens, iPhone is a product, and Yerba Buena Center is a location with three tokens. So the expected BIO labels are B-ORG, O, B-PER, I-PER, O, O, O, B-PROD, I-PROD, O, O, B-LOC, I-LOC, I-LOC. The common mistake is to write PER PER without marking the first token and continuation.</a:t>
            </a:r>
          </a:p>
        </p:txBody>
      </p:sp>
      <p:sp>
        <p:nvSpPr>
          <p:cNvPr id="1039161703" name="Slide Number Placeholder 3"/>
          <p:cNvSpPr>
            <a:spLocks noGrp="1"/>
          </p:cNvSpPr>
          <p:nvPr>
            <p:ph type="sldNum" sz="quarter" idx="10"/>
          </p:nvPr>
        </p:nvSpPr>
        <p:spPr bwMode="auto"/>
        <p:txBody>
          <a:bodyPr/>
          <a:lstStyle/>
          <a:p>
            <a:pPr>
              <a:defRPr/>
            </a:pPr>
            <a:fld id="{7F9A6EEA-A90F-E7CD-51B8-69ED0C2539A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1987961" name="Slide Image Placeholder 1"/>
          <p:cNvSpPr>
            <a:spLocks noChangeAspect="1" noGrp="1" noRot="1"/>
          </p:cNvSpPr>
          <p:nvPr>
            <p:ph type="sldImg"/>
          </p:nvPr>
        </p:nvSpPr>
        <p:spPr bwMode="auto"/>
      </p:sp>
      <p:sp>
        <p:nvSpPr>
          <p:cNvPr id="752095735" name="Notes Placeholder 2"/>
          <p:cNvSpPr>
            <a:spLocks noGrp="1"/>
          </p:cNvSpPr>
          <p:nvPr>
            <p:ph type="body" idx="1"/>
          </p:nvPr>
        </p:nvSpPr>
        <p:spPr bwMode="auto"/>
        <p:txBody>
          <a:bodyPr/>
          <a:lstStyle/>
          <a:p>
            <a:r>
              <a:t>Time: ~3 min</a:t>
            </a:r>
          </a:p>
          <a:p>
            <a:r>
              <a:t>Say:</a:t>
            </a:r>
          </a:p>
          <a:p>
            <a:r>
              <a:t>Now we move to HMMs, only as much as needed for Viterbi. In an HMM, the hidden states are the tags, such as DET, NOUN, VERB, and so on. The observations are the actual words. We need transition probabilities: how likely is one tag after another tag? For example, DET followed by NOUN is common. We also need emission probabilities: how likely is a word given a tag? For example, 'runs' as a verb is more likely than 'runs' as a determiner. The important point is: choosing the best tag word by word may fail because the best local choice may not give the best full sentence. One limitation is the first-order Markov assumption: it only looks at the immediately previous tag.</a:t>
            </a:r>
          </a:p>
        </p:txBody>
      </p:sp>
      <p:sp>
        <p:nvSpPr>
          <p:cNvPr id="210464906" name="Slide Number Placeholder 3"/>
          <p:cNvSpPr>
            <a:spLocks noGrp="1"/>
          </p:cNvSpPr>
          <p:nvPr>
            <p:ph type="sldNum" sz="quarter" idx="10"/>
          </p:nvPr>
        </p:nvSpPr>
        <p:spPr bwMode="auto"/>
        <p:txBody>
          <a:bodyPr/>
          <a:lstStyle/>
          <a:p>
            <a:pPr>
              <a:defRPr/>
            </a:pPr>
            <a:fld id="{14FADA48-F681-D1A7-9920-A691F0DD656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8587418" name="Slide Image Placeholder 1"/>
          <p:cNvSpPr>
            <a:spLocks noChangeAspect="1" noGrp="1" noRot="1"/>
          </p:cNvSpPr>
          <p:nvPr>
            <p:ph type="sldImg"/>
          </p:nvPr>
        </p:nvSpPr>
        <p:spPr bwMode="auto"/>
      </p:sp>
      <p:sp>
        <p:nvSpPr>
          <p:cNvPr id="1233844614" name="Notes Placeholder 2"/>
          <p:cNvSpPr>
            <a:spLocks noGrp="1"/>
          </p:cNvSpPr>
          <p:nvPr>
            <p:ph type="body" idx="1"/>
          </p:nvPr>
        </p:nvSpPr>
        <p:spPr bwMode="auto"/>
        <p:txBody>
          <a:bodyPr/>
          <a:lstStyle/>
          <a:p>
            <a:r>
              <a:t>Time: ~2 min</a:t>
            </a:r>
          </a:p>
          <a:p>
            <a:r>
              <a:t>Say:</a:t>
            </a:r>
          </a:p>
          <a:p>
            <a:r>
              <a:t>An HMM has three probability tables. The first is the initial probability, pi, which says which tag is likely at the first position. The second is the transition table A, which says how likely one tag is after another. The third is the emission table B, which says how likely a word is under a tag. In practice, these can be learned by counting from a tagged corpus. For this lecture, do not worry about estimating them perfectly. Just remember: initial tells us how to start, transition tells us how tags move, and emission tells us how tags generate words.</a:t>
            </a:r>
          </a:p>
        </p:txBody>
      </p:sp>
      <p:sp>
        <p:nvSpPr>
          <p:cNvPr id="201621181" name="Slide Number Placeholder 3"/>
          <p:cNvSpPr>
            <a:spLocks noGrp="1"/>
          </p:cNvSpPr>
          <p:nvPr>
            <p:ph type="sldNum" sz="quarter" idx="10"/>
          </p:nvPr>
        </p:nvSpPr>
        <p:spPr bwMode="auto"/>
        <p:txBody>
          <a:bodyPr/>
          <a:lstStyle/>
          <a:p>
            <a:pPr>
              <a:defRPr/>
            </a:pPr>
            <a:fld id="{D6879841-154B-3F15-C82C-68916957CEEA}"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5802897" name="Slide Image Placeholder 1"/>
          <p:cNvSpPr>
            <a:spLocks noChangeAspect="1" noGrp="1" noRot="1"/>
          </p:cNvSpPr>
          <p:nvPr>
            <p:ph type="sldImg"/>
          </p:nvPr>
        </p:nvSpPr>
        <p:spPr bwMode="auto"/>
      </p:sp>
      <p:sp>
        <p:nvSpPr>
          <p:cNvPr id="1558057136" name="Notes Placeholder 2"/>
          <p:cNvSpPr>
            <a:spLocks noGrp="1"/>
          </p:cNvSpPr>
          <p:nvPr>
            <p:ph type="body" idx="1"/>
          </p:nvPr>
        </p:nvSpPr>
        <p:spPr bwMode="auto"/>
        <p:txBody>
          <a:bodyPr/>
          <a:lstStyle/>
          <a:p>
            <a:r>
              <a:t>Time: ~2.5 min</a:t>
            </a:r>
          </a:p>
          <a:p>
            <a:r>
              <a:t>Say:</a:t>
            </a:r>
          </a:p>
          <a:p>
            <a:r>
              <a:t>Viterbi is the algorithm that finds the best hidden tag sequence. The idea is simple: build a table, often called a trellis. For each word position and each possible tag, store the best score so far. Also store a backpointer: which previous tag gave that best score. We move forward through the sentence, filling the table. At the end, we pick the best final tag and backtrack. A common confusion is Viterbi versus the forward algorithm. Viterbi takes a max and finds one best path. Forward takes a sum and finds total probability.</a:t>
            </a:r>
          </a:p>
        </p:txBody>
      </p:sp>
      <p:sp>
        <p:nvSpPr>
          <p:cNvPr id="1496122379" name="Slide Number Placeholder 3"/>
          <p:cNvSpPr>
            <a:spLocks noGrp="1"/>
          </p:cNvSpPr>
          <p:nvPr>
            <p:ph type="sldNum" sz="quarter" idx="10"/>
          </p:nvPr>
        </p:nvSpPr>
        <p:spPr bwMode="auto"/>
        <p:txBody>
          <a:bodyPr/>
          <a:lstStyle/>
          <a:p>
            <a:pPr>
              <a:defRPr/>
            </a:pPr>
            <a:fld id="{E6879320-3783-8981-12B7-527FF901661F}"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~3.5 min</a:t>
            </a:r>
          </a:p>
          <a:p>
            <a:r>
              <a:t>Say:</a:t>
            </a:r>
          </a:p>
          <a:p>
            <a:r>
              <a:t>Let us read this code slowly. First, T is the number of observations. Then we create two lists of dictionaries: viterbi_table and backpointer. At time zero, we initialise every possible tag. The score is log initial probability plus log emission probability for the first word. Then comes the recurrence. For each later word and each current tag, we check all possible previous tags. We compute the previous best score plus the transition score. We keep the previous tag that gives the maximum score. After choosing the best previous tag, we add the emission score for the current word. This fills one cell of the trellis.</a:t>
            </a:r>
          </a:p>
        </p:txBody>
      </p:sp>
      <p:sp>
        <p:nvSpPr>
          <p:cNvPr id="4" name="Slide Number Placeholder 3"/>
          <p:cNvSpPr>
            <a:spLocks noGrp="1"/>
          </p:cNvSpPr>
          <p:nvPr>
            <p:ph type="sldNum" sz="quarter" idx="10"/>
          </p:nvPr>
        </p:nvSpPr>
        <p:spPr bwMode="auto"/>
        <p:txBody>
          <a:bodyPr/>
          <a:lstStyle/>
          <a:p>
            <a:pPr>
              <a:defRPr/>
            </a:pPr>
            <a:fld id="{B6A786C5-A8F8-5C21-A3F7-A38D39E0030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~2 min</a:t>
            </a:r>
          </a:p>
          <a:p>
            <a:r>
              <a:t>Say:</a:t>
            </a:r>
          </a:p>
          <a:p>
            <a:r>
              <a:t>This second part completes the algorithm. Once the table is filled, we find the best final tag by looking at the last position. But the final tag alone is not enough; we need the whole path. So we start from the best final tag and repeatedly follow the backpointer backwards. Each backpointer says: to reach this tag at this position, which previous tag was best? Finally, we insert each recovered tag at the front of the path. The output is the best tag sequence for the whole sentence, for example the best path for 'the dog runs'.</a:t>
            </a:r>
          </a:p>
        </p:txBody>
      </p:sp>
      <p:sp>
        <p:nvSpPr>
          <p:cNvPr id="4" name="Slide Number Placeholder 3"/>
          <p:cNvSpPr>
            <a:spLocks noGrp="1"/>
          </p:cNvSpPr>
          <p:nvPr>
            <p:ph type="sldNum" sz="quarter" idx="10"/>
          </p:nvPr>
        </p:nvSpPr>
        <p:spPr bwMode="auto"/>
        <p:txBody>
          <a:bodyPr/>
          <a:lstStyle/>
          <a:p>
            <a:pPr>
              <a:defRPr/>
            </a:pPr>
            <a:fld id="{FEC7741D-4027-B902-0424-2F5516F20226}"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~2 min</a:t>
            </a:r>
          </a:p>
          <a:p>
            <a:r>
              <a:t>Say:</a:t>
            </a:r>
          </a:p>
          <a:p>
            <a:r>
              <a:t>There are three important things to notice in the code. First, the transition score depends on the previous tag, so it is inside the loop over previous tags. The emission score depends only on the current tag and current word, so it can be added after the max. Second, the viterbi table only stores scores. It does not remember the actual path. That is why we need the backpointer. Third, the textbook trellis is not magic. In code, it is just a list of dictionaries: one dictionary per time step.</a:t>
            </a:r>
          </a:p>
        </p:txBody>
      </p:sp>
      <p:sp>
        <p:nvSpPr>
          <p:cNvPr id="4" name="Slide Number Placeholder 3"/>
          <p:cNvSpPr>
            <a:spLocks noGrp="1"/>
          </p:cNvSpPr>
          <p:nvPr>
            <p:ph type="sldNum" sz="quarter" idx="10"/>
          </p:nvPr>
        </p:nvSpPr>
        <p:spPr bwMode="auto"/>
        <p:txBody>
          <a:bodyPr/>
          <a:lstStyle/>
          <a:p>
            <a:pPr>
              <a:defRPr/>
            </a:pPr>
            <a:fld id="{956DEAF5-EB19-B288-977E-2F19C82DDD5C}"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0393340" name="Slide Image Placeholder 1"/>
          <p:cNvSpPr>
            <a:spLocks noChangeAspect="1" noGrp="1" noRot="1"/>
          </p:cNvSpPr>
          <p:nvPr>
            <p:ph type="sldImg"/>
          </p:nvPr>
        </p:nvSpPr>
        <p:spPr bwMode="auto"/>
      </p:sp>
      <p:sp>
        <p:nvSpPr>
          <p:cNvPr id="1619418994" name="Notes Placeholder 2"/>
          <p:cNvSpPr>
            <a:spLocks noGrp="1"/>
          </p:cNvSpPr>
          <p:nvPr>
            <p:ph type="body" idx="1"/>
          </p:nvPr>
        </p:nvSpPr>
        <p:spPr bwMode="auto"/>
        <p:txBody>
          <a:bodyPr/>
          <a:lstStyle/>
          <a:p>
            <a:r>
              <a:t>Time: ~1.5 min</a:t>
            </a:r>
          </a:p>
          <a:p>
            <a:r>
              <a:t>Say:</a:t>
            </a:r>
          </a:p>
          <a:p>
            <a:r>
              <a:t>The main limitation is the first-order Markov assumption. The current tag depends only on the immediately previous tag. This is simple and efficient, but it cannot model long-range dependency well. The useful idea that survives is the search pattern: extend partial solutions, score them, keep the best, and then recover the answer. We will see a related idea again when we discuss beam search later. Viterbi can search exactly in a small structured space; beam search is an approximate version used when the space is much larger.</a:t>
            </a:r>
          </a:p>
        </p:txBody>
      </p:sp>
      <p:sp>
        <p:nvSpPr>
          <p:cNvPr id="838004947" name="Slide Number Placeholder 3"/>
          <p:cNvSpPr>
            <a:spLocks noGrp="1"/>
          </p:cNvSpPr>
          <p:nvPr>
            <p:ph type="sldNum" sz="quarter" idx="10"/>
          </p:nvPr>
        </p:nvSpPr>
        <p:spPr bwMode="auto"/>
        <p:txBody>
          <a:bodyPr/>
          <a:lstStyle/>
          <a:p>
            <a:pPr>
              <a:defRPr/>
            </a:pPr>
            <a:fld id="{6284AD09-5F7B-5150-BB22-EFC1DE2903AD}"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890391" name="Slide Image Placeholder 1"/>
          <p:cNvSpPr>
            <a:spLocks noChangeAspect="1" noGrp="1" noRot="1"/>
          </p:cNvSpPr>
          <p:nvPr>
            <p:ph type="sldImg"/>
          </p:nvPr>
        </p:nvSpPr>
        <p:spPr bwMode="auto"/>
      </p:sp>
      <p:sp>
        <p:nvSpPr>
          <p:cNvPr id="1054601600" name="Notes Placeholder 2"/>
          <p:cNvSpPr>
            <a:spLocks noGrp="1"/>
          </p:cNvSpPr>
          <p:nvPr>
            <p:ph type="body" idx="1"/>
          </p:nvPr>
        </p:nvSpPr>
        <p:spPr bwMode="auto"/>
        <p:txBody>
          <a:bodyPr/>
          <a:lstStyle/>
          <a:p>
            <a:r>
              <a:t>Time: ~2.5 min</a:t>
            </a:r>
          </a:p>
          <a:p>
            <a:r>
              <a:t>Say:</a:t>
            </a:r>
          </a:p>
          <a:p>
            <a:r>
              <a:t>Now we move from HMMs and tagging to language models. The weakness of n-gram models is that they do not generalise well. To a bigram model, 'the cat sat' and 'the dog sat' are separate events. If 'dog sat' was never seen, the model cannot naturally use the fact that dog and cat are both nouns and behave similarly. It falls back to smoothing. So n-gram models are good at memorising local counts, but weak at sharing knowledge across similar words.</a:t>
            </a:r>
          </a:p>
        </p:txBody>
      </p:sp>
      <p:sp>
        <p:nvSpPr>
          <p:cNvPr id="394392826" name="Slide Number Placeholder 3"/>
          <p:cNvSpPr>
            <a:spLocks noGrp="1"/>
          </p:cNvSpPr>
          <p:nvPr>
            <p:ph type="sldNum" sz="quarter" idx="10"/>
          </p:nvPr>
        </p:nvSpPr>
        <p:spPr bwMode="auto"/>
        <p:txBody>
          <a:bodyPr/>
          <a:lstStyle/>
          <a:p>
            <a:pPr>
              <a:defRPr/>
            </a:pPr>
            <a:fld id="{24F95A44-366B-15F2-30F6-14C78750D19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8308584" name="Slide Image Placeholder 1"/>
          <p:cNvSpPr>
            <a:spLocks noChangeAspect="1" noGrp="1" noRot="1"/>
          </p:cNvSpPr>
          <p:nvPr>
            <p:ph type="sldImg"/>
          </p:nvPr>
        </p:nvSpPr>
        <p:spPr bwMode="auto"/>
      </p:sp>
      <p:sp>
        <p:nvSpPr>
          <p:cNvPr id="1152434385" name="Notes Placeholder 2"/>
          <p:cNvSpPr>
            <a:spLocks noGrp="1"/>
          </p:cNvSpPr>
          <p:nvPr>
            <p:ph type="body" idx="1"/>
          </p:nvPr>
        </p:nvSpPr>
        <p:spPr bwMode="auto"/>
        <p:txBody>
          <a:bodyPr/>
          <a:lstStyle/>
          <a:p>
            <a:r>
              <a:t>Time: ~3.5 min</a:t>
            </a:r>
          </a:p>
          <a:p>
            <a:r>
              <a:t>Say:</a:t>
            </a:r>
          </a:p>
          <a:p>
            <a:r>
              <a:t>Bengio's neural language model introduced a key idea: represent each word as a dense vector, called an embedding. Similar words can have similar embeddings, so the model can generalise. The architecture is: look up embeddings for the context words, concatenate them, pass them through a hidden layer, and then use a softmax layer to predict the next word. This is still a fixed-context model because it only uses the last k words. But the important improvement is that the model learns a shared representation space instead of treating every word combination as completely independent.</a:t>
            </a:r>
          </a:p>
        </p:txBody>
      </p:sp>
      <p:sp>
        <p:nvSpPr>
          <p:cNvPr id="991864890" name="Slide Number Placeholder 3"/>
          <p:cNvSpPr>
            <a:spLocks noGrp="1"/>
          </p:cNvSpPr>
          <p:nvPr>
            <p:ph type="sldNum" sz="quarter" idx="10"/>
          </p:nvPr>
        </p:nvSpPr>
        <p:spPr bwMode="auto"/>
        <p:txBody>
          <a:bodyPr/>
          <a:lstStyle/>
          <a:p>
            <a:pPr>
              <a:defRPr/>
            </a:pPr>
            <a:fld id="{1A3FBFDB-4BA0-B162-1E56-C06454BC5EBE}"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70413989" name="Google Shape;320;g37cdd4fe059_0_582: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06556743" name="Google Shape;321;g37cdd4fe059_0_582: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~2 min</a:t>
            </a:r>
          </a:p>
          <a:p>
            <a:r>
              <a:t>Say:</a:t>
            </a:r>
          </a:p>
          <a:p>
            <a:r>
              <a:t>This diagram connects raw text to embeddings. A sentence starts as text. The tokenizer converts each word into an integer ID. Padding may be added so that examples have the same length. The dataloader groups many examples into batches. Then the embedding layer works like a lookup table: each integer ID selects one row from the embedding matrix. That row is the vector representation of the word. So embeddings are not manually written features; they are trainable rows in a matrix.</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52352836" name="Google Shape;294;g37b956a5400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45012696" name="Google Shape;295;g37b956a5400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Before deeper networks, let us recap the linear model. We have a feature vector x. Each feature is multiplied by a corresponding weight. Then all products are summed and a bias is added. The result is the model output, also called a logit before applying sigmoid or softmax. In PyTorch, nn.Linear does exactly this operation. For binary spam classification, the output can be a single logit. Positive or negative values are later converted into a probability using sigmoid.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87798535" name="Google Shape;348;g37b956a5400_0_42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32383866" name="Google Shape;349;g37b956a5400_0_42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 min</a:t>
            </a:r>
          </a:p>
          <a:p>
            <a:r>
              <a:t>Say:</a:t>
            </a:r>
          </a:p>
          <a:p>
            <a:r>
              <a:t>This is the same linear model drawn in a cleaner way. The circles on the left are input features. The box contains the weights and bias. The output is one number. This simplified picture is useful because neural networks are built by repeating and stacking this idea. A layer is basically many weighted sums, followed by a non-linearity.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79985739" name="Google Shape;385;g37b956a5400_0_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30631991" name="Google Shape;386;g37b956a5400_0_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~1.5 min</a:t>
            </a:r>
          </a:p>
          <a:p>
            <a:r>
              <a:t>Say:</a:t>
            </a:r>
          </a:p>
          <a:p>
            <a:r>
              <a:t>The loss function tells the model how wrong it is. During training, we change the weights to reduce the loss. For classification, the loss should encourage the correct class to get a higher score and the wrong classes to get lower scores. The plots show common functions like sigmoid, tanh, ReLU, and softmax. Softmax is important when we have multiple classes because it converts raw scores into a probability distribution.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25885277" name="Google Shape;393;g37b956a5400_0_1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67314932" name="Google Shape;394;g37b956a5400_0_1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If we have ten classes instead of two, the model needs ten outputs. Each output corresponds to one class. Mathematically, this means the weight is no longer just one vector. It becomes a matrix. The input vector is multiplied by the weight matrix, and a bias vector is added. The result is a vector of class scores. These scores are not probabilities yet. They are logits, and we later apply softmax or use a loss function that internally handles softmax.</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14337240" name="Google Shape;461;g37b956a5400_0_55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69438371" name="Google Shape;462;g37b956a5400_0_55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 min</a:t>
            </a:r>
          </a:p>
          <a:p>
            <a:r>
              <a:t>Say:</a:t>
            </a:r>
          </a:p>
          <a:p>
            <a:r>
              <a:t>This slide adds the PyTorch view. In code, we only change nn.Linear from output size 1 to output size equal to the number of classes. So for ten classes, out_features becomes 10. This is a useful mental model: the same layer can support binary classification, multi-class classification, or language modelling, depending on how many outputs we ask for.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6597657" name="Google Shape;529;g37b956a5400_0_1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71995387" name="Google Shape;530;g37b956a5400_0_1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~0.5 min</a:t>
            </a:r>
          </a:p>
          <a:p>
            <a:r>
              <a:t>Say:</a:t>
            </a:r>
          </a:p>
          <a:p>
            <a:r>
              <a:t>This image is just a visual bridge from a single linear classifier to a deeper neural network. Instead of connecting inputs directly to outputs, we can insert hidden layers. Hidden layers allow the model to learn intermediate representations, not just one direct weighted sum.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7741994" name="Google Shape;535;g37b956a5400_0_62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10875920" name="Google Shape;536;g37b956a5400_0_62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 min</a:t>
            </a:r>
          </a:p>
          <a:p>
            <a:r>
              <a:t>Say:</a:t>
            </a:r>
          </a:p>
          <a:p>
            <a:r>
              <a:t>We return to the ten-class picture. The important point is that multi-class classification produces one score per class. The model does not directly output the class name. It outputs a vector of scores, and the highest score is usually selected as the prediction after training.</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8243831" name="Google Shape;603;g37b956a5400_0_62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71195627" name="Google Shape;604;g37b956a5400_0_62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Now the question is: what loss should we use for ten-class classification? When the model is randomly initialised, its raw outputs can be any real values. But we want something that behaves like probabilities across classes. Softmax converts the logits into values between zero and one that sum to one. For training, we compare this predicted distribution with the true class. If the true class is class 3, then ideally class 3 should get probability close to one and all others close to zero.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5625533" name="Google Shape;611;g37b956a5400_0_69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91431557" name="Google Shape;612;g37b956a5400_0_69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Cross entropy is the standard loss for comparing a true distribution with a predicted distribution. In classification, the true distribution is usually one-hot: probability one for the correct class and zero for others. The predicted distribution comes from softmax. Cross entropy becomes small when the model gives high probability to the correct class. It becomes large when the model gives low probability to the correct class. In PyTorch, CrossEntropyLoss combines log-softmax and negative log-likelihood, so we pass raw logits, not probabilities.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99824655" name="Google Shape;492;g3783e683079_0_406: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38152042" name="Google Shape;493;g3783e683079_0_406: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~1.5 min</a:t>
            </a:r>
          </a:p>
          <a:p>
            <a:r>
              <a:t>Say:</a:t>
            </a:r>
          </a:p>
          <a:p>
            <a:r>
              <a:t>This is the feedforward spam classifier in PyTorch. It inherits from nn.Module. In the constructor, we define one linear layer. In the forward method, we pass x through the linear layer and squeeze the output shape. Notice the comment: logits, no sigmoid here. This is important because BCEWithLogitsLoss expects raw logits and applies the stable sigmoid operation internally. The model is then moved to GPU if available, otherwise CPU.</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8717405" name="Google Shape;499;g3783e683079_0_415: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57969064" name="Google Shape;500;g3783e683079_0_415: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~1.5 min</a:t>
            </a:r>
          </a:p>
          <a:p>
            <a:r>
              <a:t>Say:</a:t>
            </a:r>
          </a:p>
          <a:p>
            <a:r>
              <a:t>This slide defines the loss and optimizer. pos_weight handles class imbalance. In spam detection, spam messages may be fewer than ham messages. A positive weight greater than one makes mistakes on spam more costly. BCEWithLogitsLoss is suitable for binary classification with raw logits. The optimizer is Adam with learning rate 0.001. Adam is a common default because it is usually more stable than plain SGD for many beginner experiments.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89232843" name="Google Shape;506;g3783e683079_0_423: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56246917" name="Google Shape;507;g3783e683079_0_423: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~2.5 min</a:t>
            </a:r>
          </a:p>
          <a:p>
            <a:r>
              <a:t>Say:</a:t>
            </a:r>
          </a:p>
          <a:p>
            <a:r>
              <a:t>This is one training or evaluation epoch. For each batch, we move x and y to the device, compute logits, and compute the loss. If training is true, we clear old gradients, backpropagate using loss.backward, and update the parameters using optimizer.step. Then we accumulate the loss and accuracy. For prediction, we apply sigmoid to convert logits into probabilities and use 0.5 as the threshold. This function is useful because the same code can run training and validation by changing one flag.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14767991" name="Google Shape;513;g3783e683079_0_431: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43983493" name="Google Shape;514;g3783e683079_0_431: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~1 min</a:t>
            </a:r>
          </a:p>
          <a:p>
            <a:r>
              <a:t>Say:</a:t>
            </a:r>
          </a:p>
          <a:p>
            <a:r>
              <a:t>Here we repeat the epoch several times. Each epoch trains once over the training data, then evaluates on validation data. The printed values help us see whether loss is decreasing and validation accuracy is improving. After training, we test once on the test set. The key principle is: train many times, tune using validation, and report final performance using test.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4722987" name="Google Shape;520;g37858fd9694_0_10: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52225877" name="Google Shape;521;g37858fd9694_0_10: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~1.5 min</a:t>
            </a:r>
          </a:p>
          <a:p>
            <a:r>
              <a:t>Say:</a:t>
            </a:r>
          </a:p>
          <a:p>
            <a:r>
              <a:t>Now let us review training, validation, and test. Suppose these points are all the data we have. We want to estimate how well the model performs on new unseen data. If we train and test on the same examples, the result will be too optimistic. The model may simply memorise. So we split the data to simulate future unseen cases.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3628458" name="Google Shape;528;g37858fd9694_0_17: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82558592" name="Google Shape;529;g37858fd9694_0_17: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~0.75 min</a:t>
            </a:r>
          </a:p>
          <a:p>
            <a:r>
              <a:t>Say:</a:t>
            </a:r>
          </a:p>
          <a:p>
            <a:r>
              <a:t>The red circles show the training set. These are the examples used to update the model weights. The model sees these examples directly during training. Because of that, training performance alone is not enough to judge generalisation.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5068590" name="Google Shape;536;g37858fd9694_0_24: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95732996" name="Google Shape;537;g37858fd9694_0_24: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~0.75 min</a:t>
            </a:r>
          </a:p>
          <a:p>
            <a:r>
              <a:t>Say:</a:t>
            </a:r>
          </a:p>
          <a:p>
            <a:r>
              <a:t>The green triangles represent the validation set. The validation set is not used to update weights directly. We use it to choose hyperparameters, such as learning rate, number of epochs, or model size. It acts like a practice exam.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10470226" name="Google Shape;544;g37858fd9694_0_32: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79280106" name="Google Shape;545;g37858fd9694_0_32: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~0.75 min</a:t>
            </a:r>
          </a:p>
          <a:p>
            <a:r>
              <a:t>Say:</a:t>
            </a:r>
          </a:p>
          <a:p>
            <a:r>
              <a:t>The purple diamonds represent the test set. The test set should be touched only at the end. It is used for the final estimate of performance. If we keep using the test set to tune the model, it stops being a true test set.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52492325" name="Google Shape;552;g37858fd9694_0_39: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13427060" name="Google Shape;553;g37858fd9694_0_39: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~1.5 min</a:t>
            </a:r>
          </a:p>
          <a:p>
            <a:r>
              <a:t>Say:</a:t>
            </a:r>
          </a:p>
          <a:p>
            <a:r>
              <a:t>Cross-validation is useful when the dataset is small. Instead of using only one train-validation split, we rotate which part is used for validation. In four-fold cross-validation, we train four times, each time using a different fold for validation. If the number of folds equals the number of training samples, it is called leave-one-out validation. It gives more stable estimates, but it is more computationally expensive.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98485644" name="Google Shape;560;g37858fd9694_0_46: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00918017" name="Google Shape;561;g37858fd9694_0_46: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~2 min</a:t>
            </a:r>
          </a:p>
          <a:p>
            <a:r>
              <a:t>Say:</a:t>
            </a:r>
          </a:p>
          <a:p>
            <a:r>
              <a:t>For classification, we often use the confusion matrix. True positive means the actual class is positive and the model predicts positive. False negative means actual positive but predicted negative. False positive means actual negative but predicted positive. True negative means actual negative and predicted negative. From this table, we can compute accuracy, precision, recall, and F1. Accuracy is not always enough, especially with imbalanced data. For spam detection, missing spam and wrongly blocking ham may have different costs.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65950966" name="Google Shape;625;g37b956a5400_0_70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46640669" name="Google Shape;626;g37b956a5400_0_70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~0.5 min</a:t>
            </a:r>
          </a:p>
          <a:p>
            <a:r>
              <a:t>Say:</a:t>
            </a:r>
          </a:p>
          <a:p>
            <a:r>
              <a:t>Now we shift from evaluating the model to improving the model. Think of this as the practical engineering part: when performance is not good enough, what can we change?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74718861" name="Google Shape;632;g382a1b930c3_0_73: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76102277" name="Google Shape;633;g382a1b930c3_0_7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Error analysis means looking at what the model has learned. Here, the top spam tokens include words like free, txt, claim, prize, win, and cash. That makes sense for SMS spam. The top ham tokens include ok, later, home, lol, work, and fine. This gives us confidence that the model is using meaningful signals. But it can also reveal weakness. For example, if harmless messages contain words like account or service, the model may wrongly classify them as spam.</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79170804" name="Google Shape;641;g37b956a5400_0_69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22305609" name="Google Shape;642;g37b956a5400_0_69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~2.5 min</a:t>
            </a:r>
          </a:p>
          <a:p>
            <a:r>
              <a:t>Say:</a:t>
            </a:r>
          </a:p>
          <a:p>
            <a:r>
              <a:t>This table shows actual mistakes. Label is the true class, pred is the predicted class, and prob is the predicted probability. Some ham messages are predicted as spam because they contain words like mail id, contact us, account number, or message. Some spam messages are missed because they look conversational or humorous. This is why looking only at accuracy is not enough. Error examples tell us what the model misunderstands and suggest what to improve next.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18735591" name="Google Shape;648;g37b956a5400_0_706: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2723365" name="Google Shape;649;g37b956a5400_0_70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~1.5 min</a:t>
            </a:r>
          </a:p>
          <a:p>
            <a:r>
              <a:t>Say:</a:t>
            </a:r>
          </a:p>
          <a:p>
            <a:r>
              <a:t>If the dataset is fixed, there are three main things we can improve: the feature vector, the model architecture, and the training algorithm. But if we can get better or more labelled data, that is usually the highest priority. In real projects, data quality often matters more than changing from one model to another. More representative examples usually improve generalisation.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56751769" name="Google Shape;655;g382a1b930c3_0_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97699709" name="Google Shape;656;g382a1b930c3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~1.5 min</a:t>
            </a:r>
          </a:p>
          <a:p>
            <a:r>
              <a:t>Say:</a:t>
            </a:r>
          </a:p>
          <a:p>
            <a:r>
              <a:t>Improving the feature vector means giving the model better inputs. We can increase the dimension by adding more features, such as bigrams, message length, number of digits, or presence of URLs. We can also do feature engineering: manually designing dimensions that capture useful patterns. For example, spam messages often contain phone numbers, prices, links, or urgent phrases. Good features can make even a simple model strong.</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05615812" name="Google Shape;662;g382a1b930c3_0_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951765" name="Google Shape;663;g382a1b930c3_0_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The training algorithm can also be tuned. Learning rate is very important. If the model is not learning at all in the early phase, the learning rate may be too small. If the loss jumps around or does not converge later, the learning rate may be too large. Parameter initialisation usually has good defaults in modern frameworks. Adam and SGD are both optimizers, but Adam is often more robust for beginners because it adapts the learning rate for each parameter.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83196536" name="Google Shape;669;g382a1b930c3_0_1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68038904" name="Google Shape;670;g382a1b930c3_0_1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~1.5 min</a:t>
            </a:r>
          </a:p>
          <a:p>
            <a:r>
              <a:t>Say:</a:t>
            </a:r>
          </a:p>
          <a:p>
            <a:r>
              <a:t>Changing the model architecture means changing the capacity of the model. More layers or larger hidden dimensions allow the model to store more patterns. But if the dataset is small, higher capacity can overfit. Overfitting means the model performs well on training data but poorly on new data. Another option is to change to a model that matches the structure of the problem better. For text, sequence order matters, so this motivates RNNs.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50316538" name="Google Shape;676;g382a1b930c3_0_1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8687292" name="Google Shape;677;g382a1b930c3_0_1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~2.5 min</a:t>
            </a:r>
          </a:p>
          <a:p>
            <a:r>
              <a:t>Say:</a:t>
            </a:r>
          </a:p>
          <a:p>
            <a:r>
              <a:t>The current Bag-of-Words model ignores word order. It knows which words appear, but not their sequence. For some tasks, this is enough. But for many text tasks, order matters. An RNN reads the input sequentially, one token at a time. At every step, it updates a hidden state. Ideally, the final hidden state becomes a summary of the whole message. Then we can use that summary to classify ham or spam. This is the transition from feature-count models to sequence models.</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7882032" name="Slide Image Placeholder 1"/>
          <p:cNvSpPr>
            <a:spLocks noChangeAspect="1" noGrp="1" noRot="1"/>
          </p:cNvSpPr>
          <p:nvPr>
            <p:ph type="sldImg"/>
          </p:nvPr>
        </p:nvSpPr>
        <p:spPr bwMode="auto"/>
      </p:sp>
      <p:sp>
        <p:nvSpPr>
          <p:cNvPr id="523981873" name="Notes Placeholder 2"/>
          <p:cNvSpPr>
            <a:spLocks noGrp="1"/>
          </p:cNvSpPr>
          <p:nvPr>
            <p:ph type="body" idx="1"/>
          </p:nvPr>
        </p:nvSpPr>
        <p:spPr bwMode="auto"/>
        <p:txBody>
          <a:bodyPr/>
          <a:lstStyle/>
          <a:p>
            <a:r>
              <a:t>Time: ~2 min</a:t>
            </a:r>
          </a:p>
          <a:p>
            <a:r>
              <a:t>Say:</a:t>
            </a:r>
          </a:p>
          <a:p>
            <a:r>
              <a:t>The feedforward language model only uses a fixed number of previous words, called k. But real context can be much farther back. Important information may appear 20, 50, or even 500 words earlier. We need a model that can read the whole sequence and carry information forward. This is the motivation for recurrent neural networks. They process tokens one by one and maintain a hidden state as memory.</a:t>
            </a:r>
          </a:p>
        </p:txBody>
      </p:sp>
      <p:sp>
        <p:nvSpPr>
          <p:cNvPr id="263626391" name="Slide Number Placeholder 3"/>
          <p:cNvSpPr>
            <a:spLocks noGrp="1"/>
          </p:cNvSpPr>
          <p:nvPr>
            <p:ph type="sldNum" sz="quarter" idx="10"/>
          </p:nvPr>
        </p:nvSpPr>
        <p:spPr bwMode="auto"/>
        <p:txBody>
          <a:bodyPr/>
          <a:lstStyle/>
          <a:p>
            <a:pPr>
              <a:defRPr/>
            </a:pPr>
            <a:fld id="{A35654A8-6803-B019-81F7-9A63483B928D}"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6312585" name="Slide Image Placeholder 1"/>
          <p:cNvSpPr>
            <a:spLocks noChangeAspect="1" noGrp="1" noRot="1"/>
          </p:cNvSpPr>
          <p:nvPr>
            <p:ph type="sldImg"/>
          </p:nvPr>
        </p:nvSpPr>
        <p:spPr bwMode="auto"/>
      </p:sp>
      <p:sp>
        <p:nvSpPr>
          <p:cNvPr id="1792698363" name="Notes Placeholder 2"/>
          <p:cNvSpPr>
            <a:spLocks noGrp="1"/>
          </p:cNvSpPr>
          <p:nvPr>
            <p:ph type="body" idx="1"/>
          </p:nvPr>
        </p:nvSpPr>
        <p:spPr bwMode="auto"/>
        <p:txBody>
          <a:bodyPr/>
          <a:lstStyle/>
          <a:p>
            <a:r>
              <a:t>Time: ~3 min</a:t>
            </a:r>
          </a:p>
          <a:p>
            <a:r>
              <a:t>Say:</a:t>
            </a:r>
          </a:p>
          <a:p>
            <a:r>
              <a:t>At each time step, an RNN takes two inputs: the current word embedding x_t and the previous hidden state h_t minus 1. It combines them using weight matrices and a non-linearity, usually tanh, to produce the new hidden state h_t. The same weights are reused at every time step. This reuse is why it is called recurrent. If we unroll the RNN, it looks like a chain of cells. For classification, we can use the final hidden state as a representation of the full sentence and feed it into a linear classifier.</a:t>
            </a:r>
          </a:p>
        </p:txBody>
      </p:sp>
      <p:sp>
        <p:nvSpPr>
          <p:cNvPr id="1758843985" name="Slide Number Placeholder 3"/>
          <p:cNvSpPr>
            <a:spLocks noGrp="1"/>
          </p:cNvSpPr>
          <p:nvPr>
            <p:ph type="sldNum" sz="quarter" idx="10"/>
          </p:nvPr>
        </p:nvSpPr>
        <p:spPr bwMode="auto"/>
        <p:txBody>
          <a:bodyPr/>
          <a:lstStyle/>
          <a:p>
            <a:pPr>
              <a:defRPr/>
            </a:pPr>
            <a:fld id="{5359BBC7-C4CF-E881-37C8-111211F50307}"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42897367" name="Google Shape;719;g382a1b930c3_0_2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09661462" name="Google Shape;720;g382a1b930c3_0_2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This diagram shows the unrolled RNN. Each green block is the same RNN cell reused at different time steps. The input enters from the bottom, the hidden state passes horizontally to the next cell, and outputs can be produced at each step. The formula says the new hidden state is based on the current input and the previous hidden state. The main intuition is: every step updates the model's memory of what it has read so far.</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79501484" name="Google Shape;728;g382a1b930c3_0_2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86398144" name="Google Shape;729;g382a1b930c3_0_2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~2 min</a:t>
            </a:r>
          </a:p>
          <a:p>
            <a:r>
              <a:t>Say:</a:t>
            </a:r>
          </a:p>
          <a:p>
            <a:r>
              <a:t>A useful question is: how many parameters does an RNN have? The number of parameters does not grow with the sequence length because the same cell is reused. The parameters come from the input-to-hidden weights, hidden-to-hidden weights, and biases. So a sentence of length 10 and a sentence of length 100 use the same parameters. This sharing is powerful because the model can apply the same reading rule at every position.</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90886841" name="Google Shape;736;g382a1b930c3_0_30: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86317141" name="Google Shape;737;g382a1b930c3_0_3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~1.5 min</a:t>
            </a:r>
          </a:p>
          <a:p>
            <a:r>
              <a:t>Say:</a:t>
            </a:r>
          </a:p>
          <a:p>
            <a:r>
              <a:t>Hidden state size is a design choice. A small hidden state is cheaper and less likely to overfit, but it may not store enough information. A large hidden state can capture richer patterns, but it has more parameters and may need more data. For a small undergraduate lab, we usually choose a moderate size like 64, 128, or 256. The goal is not the biggest model; the goal is a model that trains reliably and demonstrates the concept.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0349022" name="Google Shape;744;g382a1b930c3_0_35: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06317095" name="Google Shape;745;g382a1b930c3_0_3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~0.75 min</a:t>
            </a:r>
          </a:p>
          <a:p>
            <a:r>
              <a:t>Say:</a:t>
            </a:r>
          </a:p>
          <a:p>
            <a:r>
              <a:t>What else do we need? We need an embedding layer to convert token IDs into vectors. We need the RNN or GRU layer to process the sequence. We need a classifier or output layer. And we need a loss function and optimizer to train the whole system end to end.</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56981251" name="Google Shape;434;g37cdd4fe059_0_771:notes"/>
          <p:cNvSpPr/>
          <p:nvPr>
            <p:ph type="sldImg" idx="2"/>
          </p:nvPr>
        </p:nvSpPr>
        <p:spPr bwMode="auto">
          <a:xfrm>
            <a:off x="381298" y="685800"/>
            <a:ext cx="6095998"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68537741" name="Google Shape;435;g37cdd4fe059_0_771:notes"/>
          <p:cNvSpPr txBox="1"/>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r>
              <a:t>Time: ~2.5 min</a:t>
            </a:r>
          </a:p>
          <a:p>
            <a:r>
              <a:t>Say:</a:t>
            </a:r>
          </a:p>
          <a:p>
            <a:r>
              <a:t>Training a language model is similar to training a classifier. The difference is the label. In spam classification, the label is ham or spam. In language modelling, the label is the next word. Given 'go until jurong', the model tries to predict 'point'. If the vocabulary has V words, this becomes a V-class classification problem. Each possible next word is one class. So the output layer must produce one logit for every word in the vocabulary.</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63056933" name="Google Shape;445;g37cdd4fe059_0_785:notes"/>
          <p:cNvSpPr/>
          <p:nvPr>
            <p:ph type="sldImg" idx="2"/>
          </p:nvPr>
        </p:nvSpPr>
        <p:spPr bwMode="auto">
          <a:xfrm>
            <a:off x="381298" y="685800"/>
            <a:ext cx="6095998"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43715039" name="Google Shape;446;g37cdd4fe059_0_785:notes"/>
          <p:cNvSpPr txBox="1"/>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r>
              <a:t>Time: ~2.5 min</a:t>
            </a:r>
          </a:p>
          <a:p>
            <a:r>
              <a:t>Say:</a:t>
            </a:r>
          </a:p>
          <a:p>
            <a:r>
              <a:t>This slide shows the language modelling objective visually. The model reads the previous words and produces a distribution over the vocabulary. The correct answer here is 'point', but the model may also assign some probability to other words like west or east. Training pushes probability toward the correct next word. The number of classes equals vocabulary size, which can be very large. This is one reason language models are computationally more expensive than small classifiers.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67279288" name="Google Shape;758;g382a1b930c3_0_141:notes"/>
          <p:cNvSpPr/>
          <p:nvPr>
            <p:ph type="sldImg" idx="2"/>
          </p:nvPr>
        </p:nvSpPr>
        <p:spPr bwMode="auto">
          <a:xfrm>
            <a:off x="3813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64320458" name="Google Shape;759;g382a1b930c3_0_14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r>
              <a:t>Time: ~1.5 min</a:t>
            </a:r>
          </a:p>
          <a:p>
            <a:r>
              <a:t>Say:</a:t>
            </a:r>
          </a:p>
          <a:p>
            <a:r>
              <a:t>Let us recap RNNs. They can take sequential input of any length. They apply the same weights at each step. They can produce output at each step or only at the end. But an RNN is not automatically a language model. It becomes a language model only when we train it to predict the next token. Also, vanilla RNNs are not the only option. More powerful recurrent units include LSTM and GRU.</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9656528" name="Slide Image Placeholder 1"/>
          <p:cNvSpPr>
            <a:spLocks noChangeAspect="1" noGrp="1" noRot="1"/>
          </p:cNvSpPr>
          <p:nvPr>
            <p:ph type="sldImg"/>
          </p:nvPr>
        </p:nvSpPr>
        <p:spPr bwMode="auto"/>
      </p:sp>
      <p:sp>
        <p:nvSpPr>
          <p:cNvPr id="1006579288" name="Notes Placeholder 2"/>
          <p:cNvSpPr>
            <a:spLocks noGrp="1"/>
          </p:cNvSpPr>
          <p:nvPr>
            <p:ph type="body" idx="1"/>
          </p:nvPr>
        </p:nvSpPr>
        <p:spPr bwMode="auto"/>
        <p:txBody>
          <a:bodyPr/>
          <a:lstStyle/>
          <a:p>
            <a:r>
              <a:t>Time: ~3 min</a:t>
            </a:r>
          </a:p>
          <a:p>
            <a:r>
              <a:t>Say:</a:t>
            </a:r>
          </a:p>
          <a:p>
            <a:r>
              <a:t>The vanishing gradient problem explains why vanilla RNNs struggle with long sequences. During backpropagation through time, the gradient from later words must pass backward through many cells. At each step, it is multiplied by weights and derivatives. If these values are often less than one, the gradient shrinks exponentially. After many steps, the signal from early words becomes almost zero. So the model struggles to learn long-range dependencies, such as remembering the subject of a sentence until the verb appears much later.</a:t>
            </a:r>
          </a:p>
        </p:txBody>
      </p:sp>
      <p:sp>
        <p:nvSpPr>
          <p:cNvPr id="97538476" name="Slide Number Placeholder 3"/>
          <p:cNvSpPr>
            <a:spLocks noGrp="1"/>
          </p:cNvSpPr>
          <p:nvPr>
            <p:ph type="sldNum" sz="quarter" idx="10"/>
          </p:nvPr>
        </p:nvSpPr>
        <p:spPr bwMode="auto"/>
        <p:txBody>
          <a:bodyPr/>
          <a:lstStyle/>
          <a:p>
            <a:pPr>
              <a:defRPr/>
            </a:pPr>
            <a:fld id="{EA9A9867-C65D-3866-9CEB-8AC1F88DAFF5}"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919808" name="Slide Image Placeholder 1"/>
          <p:cNvSpPr>
            <a:spLocks noChangeAspect="1" noGrp="1" noRot="1"/>
          </p:cNvSpPr>
          <p:nvPr>
            <p:ph type="sldImg"/>
          </p:nvPr>
        </p:nvSpPr>
        <p:spPr bwMode="auto"/>
      </p:sp>
      <p:sp>
        <p:nvSpPr>
          <p:cNvPr id="1562024237" name="Notes Placeholder 2"/>
          <p:cNvSpPr>
            <a:spLocks noGrp="1"/>
          </p:cNvSpPr>
          <p:nvPr>
            <p:ph type="body" idx="1"/>
          </p:nvPr>
        </p:nvSpPr>
        <p:spPr bwMode="auto"/>
        <p:txBody>
          <a:bodyPr/>
          <a:lstStyle/>
          <a:p>
            <a:r>
              <a:t>Time: ~1.5 min</a:t>
            </a:r>
          </a:p>
          <a:p>
            <a:r>
              <a:t>Say:</a:t>
            </a:r>
          </a:p>
          <a:p>
            <a:r>
              <a:t>Here is a thought experiment. Suppose the hidden state has 128 dimensions and the sentence has 100 words. How much information from the first word remains at the final hidden state? For a vanilla RNN, often very little. The answer depends on the learned weights, but the training signal for early words becomes weak. This motivates gated architectures like LSTM and GRU, which create easier paths for information and gradients to flow.</a:t>
            </a:r>
          </a:p>
        </p:txBody>
      </p:sp>
      <p:sp>
        <p:nvSpPr>
          <p:cNvPr id="1613629184" name="Slide Number Placeholder 3"/>
          <p:cNvSpPr>
            <a:spLocks noGrp="1"/>
          </p:cNvSpPr>
          <p:nvPr>
            <p:ph type="sldNum" sz="quarter" idx="10"/>
          </p:nvPr>
        </p:nvSpPr>
        <p:spPr bwMode="auto"/>
        <p:txBody>
          <a:bodyPr/>
          <a:lstStyle/>
          <a:p>
            <a:pPr>
              <a:defRPr/>
            </a:pPr>
            <a:fld id="{8BEBE642-AA04-6B70-88E0-AC7B599DD9A7}"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7415231" name="Google Shape;345;g37cdd4fe059_0_599: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06568724" name="Google Shape;346;g37cdd4fe059_0_599: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~1.5 min</a:t>
            </a:r>
          </a:p>
          <a:p>
            <a:r>
              <a:t>Say:</a:t>
            </a:r>
          </a:p>
          <a:p>
            <a:r>
              <a:t>LSTM was designed to solve this memory problem. The phrase 'information highway' is useful. Instead of forcing information to repeatedly pass through tanh transformations, LSTM has a cell state that can carry information forward more directly. Gates decide what to forget, what to add, and what to output. The details are more complex than a vanilla RNN, but the intuition is simple: provide a controlled path for memory.</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4600896" name="Slide Image Placeholder 1"/>
          <p:cNvSpPr>
            <a:spLocks noChangeAspect="1" noGrp="1" noRot="1"/>
          </p:cNvSpPr>
          <p:nvPr>
            <p:ph type="sldImg"/>
          </p:nvPr>
        </p:nvSpPr>
        <p:spPr bwMode="auto"/>
      </p:sp>
      <p:sp>
        <p:nvSpPr>
          <p:cNvPr id="1416577582" name="Notes Placeholder 2"/>
          <p:cNvSpPr>
            <a:spLocks noGrp="1"/>
          </p:cNvSpPr>
          <p:nvPr>
            <p:ph type="body" idx="1"/>
          </p:nvPr>
        </p:nvSpPr>
        <p:spPr bwMode="auto"/>
        <p:txBody>
          <a:bodyPr/>
          <a:lstStyle/>
          <a:p>
            <a:r>
              <a:t>Time: ~3.5 min</a:t>
            </a:r>
          </a:p>
          <a:p>
            <a:r>
              <a:t>Say:</a:t>
            </a:r>
          </a:p>
          <a:p>
            <a:r>
              <a:t>GRU stands for Gated Recurrent Unit. It is similar in spirit to LSTM but simpler. It has two main gates: reset and update. The reset gate controls how much of the old state is used when creating a candidate new state. The update gate controls how much of the old state is kept versus replaced. The final hidden state is a mixture of old hidden state and candidate hidden state. If the update gate chooses to keep old information, memory can flow forward with less decay. That is why GRUs help with longer dependencies compared with vanilla RNNs.</a:t>
            </a:r>
          </a:p>
        </p:txBody>
      </p:sp>
      <p:sp>
        <p:nvSpPr>
          <p:cNvPr id="1809321694" name="Slide Number Placeholder 3"/>
          <p:cNvSpPr>
            <a:spLocks noGrp="1"/>
          </p:cNvSpPr>
          <p:nvPr>
            <p:ph type="sldNum" sz="quarter" idx="10"/>
          </p:nvPr>
        </p:nvSpPr>
        <p:spPr bwMode="auto"/>
        <p:txBody>
          <a:bodyPr/>
          <a:lstStyle/>
          <a:p>
            <a:pPr>
              <a:defRPr/>
            </a:pPr>
            <a:fld id="{967E23FC-04C6-B434-DDE5-0B69F85989E5}"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527148" name="Slide Image Placeholder 1"/>
          <p:cNvSpPr>
            <a:spLocks noChangeAspect="1" noGrp="1" noRot="1"/>
          </p:cNvSpPr>
          <p:nvPr>
            <p:ph type="sldImg"/>
          </p:nvPr>
        </p:nvSpPr>
        <p:spPr bwMode="auto"/>
      </p:sp>
      <p:sp>
        <p:nvSpPr>
          <p:cNvPr id="1079828132" name="Notes Placeholder 2"/>
          <p:cNvSpPr>
            <a:spLocks noGrp="1"/>
          </p:cNvSpPr>
          <p:nvPr>
            <p:ph type="body" idx="1"/>
          </p:nvPr>
        </p:nvSpPr>
        <p:spPr bwMode="auto"/>
        <p:txBody>
          <a:bodyPr/>
          <a:lstStyle/>
          <a:p>
            <a:r>
              <a:t>Time: ~1.5 min</a:t>
            </a:r>
          </a:p>
          <a:p>
            <a:r>
              <a:t>Say:</a:t>
            </a:r>
          </a:p>
          <a:p>
            <a:r>
              <a:t>This quick check tests the update gate. If z is zero, the new hidden state equals the old hidden state, so the GRU keeps memory. If z is one, the new hidden state becomes the candidate state, so the GRU replaces memory. In practice, z is not exactly zero or one. The model learns values between them and decides how much to keep and how much to update at each step.</a:t>
            </a:r>
          </a:p>
        </p:txBody>
      </p:sp>
      <p:sp>
        <p:nvSpPr>
          <p:cNvPr id="1044162400" name="Slide Number Placeholder 3"/>
          <p:cNvSpPr>
            <a:spLocks noGrp="1"/>
          </p:cNvSpPr>
          <p:nvPr>
            <p:ph type="sldNum" sz="quarter" idx="10"/>
          </p:nvPr>
        </p:nvSpPr>
        <p:spPr bwMode="auto"/>
        <p:txBody>
          <a:bodyPr/>
          <a:lstStyle/>
          <a:p>
            <a:pPr>
              <a:defRPr/>
            </a:pPr>
            <a:fld id="{E0C7C298-CBB9-6EBA-CD16-114093C24E78}"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8167227" name="Slide Image Placeholder 1"/>
          <p:cNvSpPr>
            <a:spLocks noChangeAspect="1" noGrp="1" noRot="1"/>
          </p:cNvSpPr>
          <p:nvPr>
            <p:ph type="sldImg"/>
          </p:nvPr>
        </p:nvSpPr>
        <p:spPr bwMode="auto"/>
      </p:sp>
      <p:sp>
        <p:nvSpPr>
          <p:cNvPr id="2115022913" name="Notes Placeholder 2"/>
          <p:cNvSpPr>
            <a:spLocks noGrp="1"/>
          </p:cNvSpPr>
          <p:nvPr>
            <p:ph type="body" idx="1"/>
          </p:nvPr>
        </p:nvSpPr>
        <p:spPr bwMode="auto"/>
        <p:txBody>
          <a:bodyPr/>
          <a:lstStyle/>
          <a:p>
            <a:r>
              <a:t>Time: ~2 min</a:t>
            </a:r>
          </a:p>
          <a:p>
            <a:r>
              <a:t>Say:</a:t>
            </a:r>
          </a:p>
          <a:p>
            <a:r>
              <a:t>A unidirectional GRU reads left to right. The final state has seen the whole sequence, but early words may still be far away. A bidirectional GRU uses two GRUs. One reads left to right and the other reads right to left. Their final hidden states are concatenated. This gives the classifier information from both directions. For tasks like classification or NER, bidirectional models are often stronger because they use both left and right context.</a:t>
            </a:r>
          </a:p>
        </p:txBody>
      </p:sp>
      <p:sp>
        <p:nvSpPr>
          <p:cNvPr id="1218433830" name="Slide Number Placeholder 3"/>
          <p:cNvSpPr>
            <a:spLocks noGrp="1"/>
          </p:cNvSpPr>
          <p:nvPr>
            <p:ph type="sldNum" sz="quarter" idx="10"/>
          </p:nvPr>
        </p:nvSpPr>
        <p:spPr bwMode="auto"/>
        <p:txBody>
          <a:bodyPr/>
          <a:lstStyle/>
          <a:p>
            <a:pPr>
              <a:defRPr/>
            </a:pPr>
            <a:fld id="{F9331BA0-AED7-5DCC-2271-8E95EE569BBE}"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2529966" name="Slide Image Placeholder 1"/>
          <p:cNvSpPr>
            <a:spLocks noChangeAspect="1" noGrp="1" noRot="1"/>
          </p:cNvSpPr>
          <p:nvPr>
            <p:ph type="sldImg"/>
          </p:nvPr>
        </p:nvSpPr>
        <p:spPr bwMode="auto"/>
      </p:sp>
      <p:sp>
        <p:nvSpPr>
          <p:cNvPr id="1722835384" name="Notes Placeholder 2"/>
          <p:cNvSpPr>
            <a:spLocks noGrp="1"/>
          </p:cNvSpPr>
          <p:nvPr>
            <p:ph type="body" idx="1"/>
          </p:nvPr>
        </p:nvSpPr>
        <p:spPr bwMode="auto"/>
        <p:txBody>
          <a:bodyPr/>
          <a:lstStyle/>
          <a:p>
            <a:r>
              <a:t>Time: ~3 min</a:t>
            </a:r>
          </a:p>
          <a:p>
            <a:r>
              <a:t>Say:</a:t>
            </a:r>
          </a:p>
          <a:p>
            <a:r>
              <a:t>These are the PyTorch details students must recognise in the lab. nn.Embedding is a lookup table: token ID in, vector out. nn.GRU takes input size and hidden size, and bidirectional=True creates forward and backward GRUs. With batch_first=True, tensors are shaped as batch, sequence, features. The GRU returns output and h_n. output contains hidden states at every time step. h_n contains final hidden states. For a bidirectional GRU, h_n has shape 2, batch, hidden size. We concatenate h_n[0] and h_n[1], giving a vector twice the hidden size. CrossEntropyLoss takes raw logits, not probabilities.</a:t>
            </a:r>
          </a:p>
        </p:txBody>
      </p:sp>
      <p:sp>
        <p:nvSpPr>
          <p:cNvPr id="709830458" name="Slide Number Placeholder 3"/>
          <p:cNvSpPr>
            <a:spLocks noGrp="1"/>
          </p:cNvSpPr>
          <p:nvPr>
            <p:ph type="sldNum" sz="quarter" idx="10"/>
          </p:nvPr>
        </p:nvSpPr>
        <p:spPr bwMode="auto"/>
        <p:txBody>
          <a:bodyPr/>
          <a:lstStyle/>
          <a:p>
            <a:pPr>
              <a:defRPr/>
            </a:pPr>
            <a:fld id="{A97879DE-C8BE-A045-4EEF-356720B81B0F}"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7563937" name="Slide Image Placeholder 1"/>
          <p:cNvSpPr>
            <a:spLocks noChangeAspect="1" noGrp="1" noRot="1"/>
          </p:cNvSpPr>
          <p:nvPr>
            <p:ph type="sldImg"/>
          </p:nvPr>
        </p:nvSpPr>
        <p:spPr bwMode="auto"/>
      </p:sp>
      <p:sp>
        <p:nvSpPr>
          <p:cNvPr id="1045004045" name="Notes Placeholder 2"/>
          <p:cNvSpPr>
            <a:spLocks noGrp="1"/>
          </p:cNvSpPr>
          <p:nvPr>
            <p:ph type="body" idx="1"/>
          </p:nvPr>
        </p:nvSpPr>
        <p:spPr bwMode="auto"/>
        <p:txBody>
          <a:bodyPr/>
          <a:lstStyle/>
          <a:p>
            <a:r>
              <a:t>Time: ~1.5 min</a:t>
            </a:r>
          </a:p>
          <a:p>
            <a:r>
              <a:t>Say:</a:t>
            </a:r>
          </a:p>
          <a:p>
            <a:r>
              <a:t>This slide explains why we train embeddings from scratch for the lab. GloVe gives pretrained embeddings, but if we use fixed GloVe vectors, they may not adapt to our specific classification task. A learned embedding layer updates through backpropagation and becomes task-specific. For this lab or TMA-style question, training from scratch also keeps the architecture aligned with the requirement and avoids overlap with questions that explicitly use pretrained embeddings.</a:t>
            </a:r>
          </a:p>
        </p:txBody>
      </p:sp>
      <p:sp>
        <p:nvSpPr>
          <p:cNvPr id="764707843" name="Slide Number Placeholder 3"/>
          <p:cNvSpPr>
            <a:spLocks noGrp="1"/>
          </p:cNvSpPr>
          <p:nvPr>
            <p:ph type="sldNum" sz="quarter" idx="10"/>
          </p:nvPr>
        </p:nvSpPr>
        <p:spPr bwMode="auto"/>
        <p:txBody>
          <a:bodyPr/>
          <a:lstStyle/>
          <a:p>
            <a:pPr>
              <a:defRPr/>
            </a:pPr>
            <a:fld id="{CEC52180-BE6A-11A7-CF3C-8AC6A9B1AAA4}"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~2.5 min</a:t>
            </a:r>
          </a:p>
          <a:p>
            <a:r>
              <a:t>Say:</a:t>
            </a:r>
          </a:p>
          <a:p>
            <a:r>
              <a:t>Now we discuss generation. A trained language model gives a probability distribution for the next word given the context so far. To generate text, we choose a next word, append it to the context, and repeat. Greedy decoding chooses the highest-probability word at every step. This is simple and fast, but it is local. Like greedy POS tagging, a locally best choice may lead to a poor full sequence later.</a:t>
            </a:r>
          </a:p>
        </p:txBody>
      </p:sp>
      <p:sp>
        <p:nvSpPr>
          <p:cNvPr id="4" name="Slide Number Placeholder 3"/>
          <p:cNvSpPr>
            <a:spLocks noGrp="1"/>
          </p:cNvSpPr>
          <p:nvPr>
            <p:ph type="sldNum" sz="quarter" idx="10"/>
          </p:nvPr>
        </p:nvSpPr>
        <p:spPr bwMode="auto"/>
        <p:txBody>
          <a:bodyPr/>
          <a:lstStyle/>
          <a:p>
            <a:pPr>
              <a:defRPr/>
            </a:pPr>
            <a:fld id="{87BD9F6D-ABC3-0B81-E947-8DC5DBF19B31}"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51267775" name="Google Shape;488;g37d67b08974_0_7:notes"/>
          <p:cNvSpPr/>
          <p:nvPr>
            <p:ph type="sldImg" idx="2"/>
          </p:nvPr>
        </p:nvSpPr>
        <p:spPr bwMode="auto">
          <a:xfrm>
            <a:off x="381298" y="685800"/>
            <a:ext cx="6095998"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88962071" name="Google Shape;489;g37d67b08974_0_7:notes"/>
          <p:cNvSpPr txBox="1"/>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r>
              <a:t>Time: ~1.5 min</a:t>
            </a:r>
          </a:p>
          <a:p>
            <a:r>
              <a:t>Say:</a:t>
            </a:r>
          </a:p>
          <a:p>
            <a:r>
              <a:t>Greedy decoding is implemented using argmax. The model produces predictions, and torch.argmax selects the token with the largest score or probability. Then that token is used as the next input. Greedy decoding is deterministic: the same model and same prompt will usually give the same output. The advantage is speed and simplicity. The disadvantage is that it may produce repetitive or less creative text.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23464324" name="Google Shape;495;g37d67b08974_0_12:notes"/>
          <p:cNvSpPr/>
          <p:nvPr>
            <p:ph type="sldImg" idx="2"/>
          </p:nvPr>
        </p:nvSpPr>
        <p:spPr bwMode="auto">
          <a:xfrm>
            <a:off x="381298" y="685800"/>
            <a:ext cx="6095998"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93797140" name="Google Shape;496;g37d67b08974_0_12:notes"/>
          <p:cNvSpPr txBox="1"/>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r>
              <a:t>Time: ~2 min</a:t>
            </a:r>
          </a:p>
          <a:p>
            <a:r>
              <a:t>Say:</a:t>
            </a:r>
          </a:p>
          <a:p>
            <a:r>
              <a:t>Beam search keeps more than one candidate sequence. Instead of choosing only the best next token, it expands several candidates, scores them, sorts them, and keeps the top beam_width candidates. This is a pruned search space. It considers some future consequences better than greedy decoding, but it is more expensive. Cost increases with vocabulary size, beam size, and generation depth. Beam search is not exact unless the beam is extremely large, which is usually impractical.</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67134749" name="Google Shape;502;g37d67b08974_0_17:notes"/>
          <p:cNvSpPr/>
          <p:nvPr>
            <p:ph type="sldImg" idx="2"/>
          </p:nvPr>
        </p:nvSpPr>
        <p:spPr bwMode="auto">
          <a:xfrm>
            <a:off x="381298" y="685800"/>
            <a:ext cx="6095998"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92116166" name="Google Shape;503;g37d67b08974_0_17:notes"/>
          <p:cNvSpPr txBox="1"/>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r>
              <a:t>Time: ~1.5 min</a:t>
            </a:r>
          </a:p>
          <a:p>
            <a:r>
              <a:t>Say:</a:t>
            </a:r>
          </a:p>
          <a:p>
            <a:r>
              <a:t>Temperature controls randomness in generation. We divide logits by the temperature before applying softmax. Low temperature makes the distribution sharper, so the model becomes more conservative and predictable. High temperature makes the distribution flatter, so lower-probability tokens have more chance to be sampled. Temperature is useful for large well-trained models with rich vocabularies. For a weak or small model, high temperature may simply produce noisy text.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~1.5 min</a:t>
            </a:r>
          </a:p>
          <a:p>
            <a:r>
              <a:t>Say:</a:t>
            </a:r>
          </a:p>
          <a:p>
            <a:r>
              <a:t>Here are two quick checks. If beam width is one, beam search keeps only one candidate at each step, so it becomes greedy decoding. If the beam width approaches the full vocabulary and we search deeply, it approaches exhaustive search. But exhaustive search is intractable because the number of possible sequences grows exponentially. Beam search is therefore a compromise between quality and computation.</a:t>
            </a:r>
          </a:p>
        </p:txBody>
      </p:sp>
      <p:sp>
        <p:nvSpPr>
          <p:cNvPr id="4" name="Slide Number Placeholder 3"/>
          <p:cNvSpPr>
            <a:spLocks noGrp="1"/>
          </p:cNvSpPr>
          <p:nvPr>
            <p:ph type="sldNum" sz="quarter" idx="10"/>
          </p:nvPr>
        </p:nvSpPr>
        <p:spPr bwMode="auto"/>
        <p:txBody>
          <a:bodyPr/>
          <a:lstStyle/>
          <a:p>
            <a:pPr>
              <a:defRPr/>
            </a:pPr>
            <a:fld id="{467790C1-FB03-2DBD-CAD6-AE6797514516}"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~2 min</a:t>
            </a:r>
          </a:p>
          <a:p>
            <a:r>
              <a:t>Say:</a:t>
            </a:r>
          </a:p>
          <a:p>
            <a:r>
              <a:t>Let us close with common student errors. First, Viterbi and forward algorithm are not the same: Viterbi uses max, forward uses sum. Second, the emission term should not be confused with the transition loop; emission depends on the current tag and word, not the previous tag. Third, do not forget backtracking; the final tag is not the full answer. Fourth, for bidirectional GRU, using output at the last time step can be wrong for the backward direction. Use h_n[0] and h_n[1] when you need the final forward and backward states.</a:t>
            </a:r>
          </a:p>
        </p:txBody>
      </p:sp>
      <p:sp>
        <p:nvSpPr>
          <p:cNvPr id="4" name="Slide Number Placeholder 3"/>
          <p:cNvSpPr>
            <a:spLocks noGrp="1"/>
          </p:cNvSpPr>
          <p:nvPr>
            <p:ph type="sldNum" sz="quarter" idx="10"/>
          </p:nvPr>
        </p:nvSpPr>
        <p:spPr bwMode="auto"/>
        <p:txBody>
          <a:bodyPr/>
          <a:lstStyle/>
          <a:p>
            <a:pPr>
              <a:defRPr/>
            </a:pPr>
            <a:fld id="{B8241A92-17DF-F04A-1032-F19BDB70A6BF}"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r>
              <a:t>Time: ~2 min</a:t>
            </a:r>
          </a:p>
          <a:p>
            <a:r>
              <a:t>Say:</a:t>
            </a:r>
          </a:p>
          <a:p>
            <a:r>
              <a:t>More common errors. For the TMA-style GRU architecture, do not initialise the embedding layer with GloVe if the requirement says train from scratch. For CrossEntropyLoss, do not apply softmax before passing logits. PyTorch's CrossEntropyLoss expects raw logits and handles log-softmax internally. Finally, beam search is not guaranteed to find the globally best sequence. It is a heuristic. If the true best sequence falls out of the top k early, beam search will never recover it.</a:t>
            </a:r>
          </a:p>
        </p:txBody>
      </p:sp>
      <p:sp>
        <p:nvSpPr>
          <p:cNvPr id="4" name="Slide Number Placeholder 3"/>
          <p:cNvSpPr>
            <a:spLocks noGrp="1"/>
          </p:cNvSpPr>
          <p:nvPr>
            <p:ph type="sldNum" sz="quarter" idx="10"/>
          </p:nvPr>
        </p:nvSpPr>
        <p:spPr bwMode="auto"/>
        <p:txBody>
          <a:bodyPr/>
          <a:lstStyle/>
          <a:p>
            <a:pPr>
              <a:defRPr/>
            </a:pPr>
            <a:fld id="{D6E617C4-2E5B-0EC7-8010-225589F412E5}"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6930913" name="Google Shape;509;g37d67b08974_0_22:notes"/>
          <p:cNvSpPr/>
          <p:nvPr>
            <p:ph type="sldImg" idx="2"/>
          </p:nvPr>
        </p:nvSpPr>
        <p:spPr bwMode="auto">
          <a:xfrm>
            <a:off x="381299" y="685800"/>
            <a:ext cx="6095999"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459678742" name="Google Shape;510;g37d67b08974_0_22:notes"/>
          <p:cNvSpPr txBox="1"/>
          <p:nvPr>
            <p:ph type="body" idx="1"/>
          </p:nvPr>
        </p:nvSpPr>
        <p:spPr bwMode="auto">
          <a:xfrm>
            <a:off x="685800" y="4343400"/>
            <a:ext cx="5486400" cy="4114800"/>
          </a:xfrm>
          <a:prstGeom prst="rect">
            <a:avLst/>
          </a:prstGeom>
        </p:spPr>
        <p:txBody>
          <a:bodyPr spcFirstLastPara="1" wrap="square" lIns="91423" tIns="91423" rIns="91423" bIns="91423" anchor="t" anchorCtr="0">
            <a:noAutofit/>
          </a:bodyPr>
          <a:lstStyle/>
          <a:p>
            <a:r>
              <a:t>Time: ~0.5 min</a:t>
            </a:r>
          </a:p>
          <a:p>
            <a:r>
              <a:t>Say:</a:t>
            </a:r>
          </a:p>
          <a:p>
            <a:r>
              <a:t>Thank you. The key takeaways are: sequence labelling predicts one label per token, Viterbi is exact dynamic programming for a small structured problem, embeddings allow neural models to generalise, RNNs read sequences, GRUs improve memory flow, and decoding controls how language models generate text. Please revisit the code carefully because most exam and lab confusion comes from tensor shapes, logits versus probabilities, and max versus sum.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01" preserve="0" showMasterPhAnim="0" showMasterSp="1" type="title" userDrawn="1">
  <p:cSld name="TITLE">
    <p:spTree>
      <p:nvGrpSpPr>
        <p:cNvPr id="1" name=""/>
        <p:cNvGrpSpPr/>
        <p:nvPr/>
      </p:nvGrpSpPr>
      <p:grpSpPr bwMode="auto">
        <a:xfrm>
          <a:off x="0" y="0"/>
          <a:ext cx="0" cy="0"/>
          <a:chOff x="0" y="0"/>
          <a:chExt cx="0" cy="0"/>
        </a:xfrm>
      </p:grpSpPr>
      <p:sp>
        <p:nvSpPr>
          <p:cNvPr id="1184006447" name="Google Shape;11;p2"/>
          <p:cNvSpPr/>
          <p:nvPr/>
        </p:nvSpPr>
        <p:spPr bwMode="auto">
          <a:xfrm>
            <a:off x="0" y="0"/>
            <a:ext cx="9144000" cy="5160899"/>
          </a:xfrm>
          <a:prstGeom prst="rect">
            <a:avLst/>
          </a:prstGeom>
          <a:solidFill>
            <a:srgbClr val="CE0000"/>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b="0" i="0" u="none" strike="noStrike" cap="none">
              <a:solidFill>
                <a:srgbClr val="CE0000"/>
              </a:solidFill>
              <a:latin typeface="Arial"/>
              <a:ea typeface="Arial"/>
              <a:cs typeface="Arial"/>
            </a:endParaRPr>
          </a:p>
        </p:txBody>
      </p:sp>
      <p:pic>
        <p:nvPicPr>
          <p:cNvPr id="206597679" name="Google Shape;12;p2" descr="Template01-02.png"/>
          <p:cNvPicPr/>
          <p:nvPr/>
        </p:nvPicPr>
        <p:blipFill rotWithShape="1">
          <a:blip r:embed="rId2">
            <a:alphaModFix/>
          </a:blip>
          <a:srcRect l="0" t="0" r="0" b="0"/>
          <a:stretch/>
        </p:blipFill>
        <p:spPr bwMode="auto">
          <a:xfrm>
            <a:off x="0" y="-1"/>
            <a:ext cx="6427421" cy="5160778"/>
          </a:xfrm>
          <a:prstGeom prst="rect">
            <a:avLst/>
          </a:prstGeom>
          <a:noFill/>
          <a:ln>
            <a:noFill/>
          </a:ln>
        </p:spPr>
      </p:pic>
      <p:sp>
        <p:nvSpPr>
          <p:cNvPr id="800295573" name="Google Shape;13;p2"/>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42477009" name="Google Shape;14;p2"/>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255476922" name="Google Shape;15;p2" descr="holding device-02.png"/>
          <p:cNvPicPr/>
          <p:nvPr/>
        </p:nvPicPr>
        <p:blipFill rotWithShape="1">
          <a:blip r:embed="rId3">
            <a:alphaModFix/>
          </a:blip>
          <a:srcRect l="0" t="0" r="0" b="0"/>
          <a:stretch/>
        </p:blipFill>
        <p:spPr bwMode="auto">
          <a:xfrm>
            <a:off x="348471" y="-1"/>
            <a:ext cx="143662" cy="1219200"/>
          </a:xfrm>
          <a:prstGeom prst="rect">
            <a:avLst/>
          </a:prstGeom>
          <a:noFill/>
          <a:ln>
            <a:noFill/>
          </a:ln>
        </p:spPr>
      </p:pic>
      <p:pic>
        <p:nvPicPr>
          <p:cNvPr id="1185173261" name="Google Shape;16;p2" descr="01 Singapore University of Social Sciences_Horizontal Format_Version A_White Background_RGB.png"/>
          <p:cNvPicPr/>
          <p:nvPr/>
        </p:nvPicPr>
        <p:blipFill rotWithShape="1">
          <a:blip r:embed="rId4">
            <a:alphaModFix/>
          </a:blip>
          <a:srcRect l="0" t="0" r="0" b="0"/>
          <a:stretch/>
        </p:blipFill>
        <p:spPr bwMode="auto">
          <a:xfrm>
            <a:off x="349250" y="4562257"/>
            <a:ext cx="732371" cy="3710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3_Title and Content" preserve="0" showMasterPhAnim="0" showMasterSp="1" userDrawn="1">
  <p:cSld name="13_Title and Content">
    <p:spTree>
      <p:nvGrpSpPr>
        <p:cNvPr id="1" name=""/>
        <p:cNvGrpSpPr/>
        <p:nvPr/>
      </p:nvGrpSpPr>
      <p:grpSpPr bwMode="auto">
        <a:xfrm>
          <a:off x="0" y="0"/>
          <a:ext cx="0" cy="0"/>
          <a:chOff x="0" y="0"/>
          <a:chExt cx="0" cy="0"/>
        </a:xfrm>
      </p:grpSpPr>
      <p:sp>
        <p:nvSpPr>
          <p:cNvPr id="1069092127" name="Google Shape;18;p3"/>
          <p:cNvSpPr txBox="1"/>
          <p:nvPr>
            <p:ph type="title"/>
          </p:nvPr>
        </p:nvSpPr>
        <p:spPr bwMode="auto">
          <a:xfrm>
            <a:off x="685800" y="285749"/>
            <a:ext cx="7543800" cy="693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400"/>
              <a:buFont typeface="Montserrat Medium"/>
              <a:buNone/>
              <a:defRPr sz="2400">
                <a:solidFill>
                  <a:srgbClr val="890018"/>
                </a:solidFill>
                <a:latin typeface="Montserrat Medium"/>
                <a:ea typeface="Montserrat Medium"/>
                <a:cs typeface="Montserrat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52423468" name="Google Shape;19;p3"/>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sz="1800">
                <a:solidFill>
                  <a:schemeClr val="dk1"/>
                </a:solidFill>
                <a:latin typeface="Arial"/>
                <a:ea typeface="Arial"/>
                <a:cs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35740452" name="Google Shape;20;p3"/>
          <p:cNvSpPr txBox="1"/>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800" b="0" i="0" u="none" strike="noStrike" cap="none">
                <a:solidFill>
                  <a:srgbClr val="003B5C"/>
                </a:solidFill>
                <a:latin typeface="Arial"/>
                <a:ea typeface="Arial"/>
                <a:cs typeface="Arial"/>
              </a:defRPr>
            </a:lvl1pPr>
            <a:lvl2pPr marL="0" marR="0" lvl="1" indent="0" algn="r">
              <a:spcBef>
                <a:spcPts val="0"/>
              </a:spcBef>
              <a:buNone/>
              <a:defRPr sz="800" b="0" i="0" u="none" strike="noStrike" cap="none">
                <a:solidFill>
                  <a:srgbClr val="003B5C"/>
                </a:solidFill>
                <a:latin typeface="Arial"/>
                <a:ea typeface="Arial"/>
                <a:cs typeface="Arial"/>
              </a:defRPr>
            </a:lvl2pPr>
            <a:lvl3pPr marL="0" marR="0" lvl="2" indent="0" algn="r">
              <a:spcBef>
                <a:spcPts val="0"/>
              </a:spcBef>
              <a:buNone/>
              <a:defRPr sz="800" b="0" i="0" u="none" strike="noStrike" cap="none">
                <a:solidFill>
                  <a:srgbClr val="003B5C"/>
                </a:solidFill>
                <a:latin typeface="Arial"/>
                <a:ea typeface="Arial"/>
                <a:cs typeface="Arial"/>
              </a:defRPr>
            </a:lvl3pPr>
            <a:lvl4pPr marL="0" marR="0" lvl="3" indent="0" algn="r">
              <a:spcBef>
                <a:spcPts val="0"/>
              </a:spcBef>
              <a:buNone/>
              <a:defRPr sz="800" b="0" i="0" u="none" strike="noStrike" cap="none">
                <a:solidFill>
                  <a:srgbClr val="003B5C"/>
                </a:solidFill>
                <a:latin typeface="Arial"/>
                <a:ea typeface="Arial"/>
                <a:cs typeface="Arial"/>
              </a:defRPr>
            </a:lvl4pPr>
            <a:lvl5pPr marL="0" marR="0" lvl="4" indent="0" algn="r">
              <a:spcBef>
                <a:spcPts val="0"/>
              </a:spcBef>
              <a:buNone/>
              <a:defRPr sz="800" b="0" i="0" u="none" strike="noStrike" cap="none">
                <a:solidFill>
                  <a:srgbClr val="003B5C"/>
                </a:solidFill>
                <a:latin typeface="Arial"/>
                <a:ea typeface="Arial"/>
                <a:cs typeface="Arial"/>
              </a:defRPr>
            </a:lvl5pPr>
            <a:lvl6pPr marL="0" marR="0" lvl="5" indent="0" algn="r">
              <a:spcBef>
                <a:spcPts val="0"/>
              </a:spcBef>
              <a:buNone/>
              <a:defRPr sz="800" b="0" i="0" u="none" strike="noStrike" cap="none">
                <a:solidFill>
                  <a:srgbClr val="003B5C"/>
                </a:solidFill>
                <a:latin typeface="Arial"/>
                <a:ea typeface="Arial"/>
                <a:cs typeface="Arial"/>
              </a:defRPr>
            </a:lvl6pPr>
            <a:lvl7pPr marL="0" marR="0" lvl="6" indent="0" algn="r">
              <a:spcBef>
                <a:spcPts val="0"/>
              </a:spcBef>
              <a:buNone/>
              <a:defRPr sz="800" b="0" i="0" u="none" strike="noStrike" cap="none">
                <a:solidFill>
                  <a:srgbClr val="003B5C"/>
                </a:solidFill>
                <a:latin typeface="Arial"/>
                <a:ea typeface="Arial"/>
                <a:cs typeface="Arial"/>
              </a:defRPr>
            </a:lvl7pPr>
            <a:lvl8pPr marL="0" marR="0" lvl="7" indent="0" algn="r">
              <a:spcBef>
                <a:spcPts val="0"/>
              </a:spcBef>
              <a:buNone/>
              <a:defRPr sz="800" b="0" i="0" u="none" strike="noStrike" cap="none">
                <a:solidFill>
                  <a:srgbClr val="003B5C"/>
                </a:solidFill>
                <a:latin typeface="Arial"/>
                <a:ea typeface="Arial"/>
                <a:cs typeface="Arial"/>
              </a:defRPr>
            </a:lvl8pPr>
            <a:lvl9pPr marL="0" marR="0" lvl="8" indent="0" algn="r">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_Title Slide 01" preserve="0" showMasterPhAnim="0" showMasterSp="1" userDrawn="1">
  <p:cSld name="2_Title Slide 01">
    <p:spTree>
      <p:nvGrpSpPr>
        <p:cNvPr id="1" name=""/>
        <p:cNvGrpSpPr/>
        <p:nvPr/>
      </p:nvGrpSpPr>
      <p:grpSpPr bwMode="auto">
        <a:xfrm>
          <a:off x="0" y="0"/>
          <a:ext cx="0" cy="0"/>
          <a:chOff x="0" y="0"/>
          <a:chExt cx="0" cy="0"/>
        </a:xfrm>
      </p:grpSpPr>
      <p:pic>
        <p:nvPicPr>
          <p:cNvPr id="1538431662" name="Google Shape;22;p4" descr="Template01-01.png"/>
          <p:cNvPicPr/>
          <p:nvPr/>
        </p:nvPicPr>
        <p:blipFill rotWithShape="1">
          <a:blip r:embed="rId2">
            <a:alphaModFix/>
          </a:blip>
          <a:srcRect l="0" t="0" r="0" b="0"/>
          <a:stretch/>
        </p:blipFill>
        <p:spPr bwMode="auto">
          <a:xfrm>
            <a:off x="0" y="0"/>
            <a:ext cx="9144000" cy="5138776"/>
          </a:xfrm>
          <a:prstGeom prst="rect">
            <a:avLst/>
          </a:prstGeom>
          <a:noFill/>
          <a:ln>
            <a:noFill/>
          </a:ln>
        </p:spPr>
      </p:pic>
      <p:pic>
        <p:nvPicPr>
          <p:cNvPr id="909069419" name="Google Shape;23;p4" descr="01 Singapore University of Social Sciences_Horizontal Format_Version A_White Background_RGB.png"/>
          <p:cNvPicPr/>
          <p:nvPr/>
        </p:nvPicPr>
        <p:blipFill rotWithShape="1">
          <a:blip r:embed="rId3">
            <a:alphaModFix/>
          </a:blip>
          <a:srcRect l="0" t="0" r="0" b="0"/>
          <a:stretch/>
        </p:blipFill>
        <p:spPr bwMode="auto">
          <a:xfrm>
            <a:off x="3352956" y="1962727"/>
            <a:ext cx="2438090" cy="1235324"/>
          </a:xfrm>
          <a:prstGeom prst="rect">
            <a:avLst/>
          </a:prstGeom>
          <a:noFill/>
          <a:ln>
            <a:noFill/>
          </a:ln>
        </p:spPr>
      </p:pic>
      <p:sp>
        <p:nvSpPr>
          <p:cNvPr id="495381820" name="Google Shape;24;p4"/>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_Title Slide 01" preserve="0" showMasterPhAnim="0" showMasterSp="1" userDrawn="1">
  <p:cSld name="1_Title Slide 01">
    <p:spTree>
      <p:nvGrpSpPr>
        <p:cNvPr id="1" name=""/>
        <p:cNvGrpSpPr/>
        <p:nvPr/>
      </p:nvGrpSpPr>
      <p:grpSpPr bwMode="auto">
        <a:xfrm>
          <a:off x="0" y="0"/>
          <a:ext cx="0" cy="0"/>
          <a:chOff x="0" y="0"/>
          <a:chExt cx="0" cy="0"/>
        </a:xfrm>
      </p:grpSpPr>
      <p:sp>
        <p:nvSpPr>
          <p:cNvPr id="1060940075" name="Google Shape;26;p5"/>
          <p:cNvSpPr/>
          <p:nvPr/>
        </p:nvSpPr>
        <p:spPr bwMode="auto">
          <a:xfrm>
            <a:off x="0" y="0"/>
            <a:ext cx="9144000" cy="5160899"/>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835712825" name="Google Shape;27;p5" descr="03 Singapore University of Social Sciences_Horizontal Format_Version A_Blue Background_RGB-01.png"/>
          <p:cNvPicPr/>
          <p:nvPr/>
        </p:nvPicPr>
        <p:blipFill rotWithShape="1">
          <a:blip r:embed="rId2">
            <a:alphaModFix/>
          </a:blip>
          <a:srcRect l="0" t="0" r="0" b="0"/>
          <a:stretch/>
        </p:blipFill>
        <p:spPr bwMode="auto">
          <a:xfrm>
            <a:off x="351798" y="4561374"/>
            <a:ext cx="726021" cy="363011"/>
          </a:xfrm>
          <a:prstGeom prst="rect">
            <a:avLst/>
          </a:prstGeom>
          <a:noFill/>
          <a:ln>
            <a:noFill/>
          </a:ln>
        </p:spPr>
      </p:pic>
      <p:sp>
        <p:nvSpPr>
          <p:cNvPr id="459485165" name="Google Shape;28;p5"/>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16480811" name="Google Shape;29;p5"/>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683126745" name="Google Shape;30;p5" descr="holding device-02.png"/>
          <p:cNvPicPr/>
          <p:nvPr/>
        </p:nvPicPr>
        <p:blipFill rotWithShape="1">
          <a:blip r:embed="rId3">
            <a:alphaModFix/>
          </a:blip>
          <a:srcRect l="0" t="0" r="0" b="0"/>
          <a:stretch/>
        </p:blipFill>
        <p:spPr bwMode="auto">
          <a:xfrm>
            <a:off x="348471" y="-1"/>
            <a:ext cx="143662" cy="1219200"/>
          </a:xfrm>
          <a:prstGeom prst="rect">
            <a:avLst/>
          </a:prstGeom>
          <a:noFill/>
          <a:ln>
            <a:noFill/>
          </a:ln>
        </p:spPr>
      </p:pic>
      <p:sp>
        <p:nvSpPr>
          <p:cNvPr id="1856843544" name="Google Shape;31;p5"/>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3" preserve="0" showMasterPhAnim="0" showMasterSp="1" userDrawn="1">
  <p:cSld name="Title Slide 3">
    <p:spTree>
      <p:nvGrpSpPr>
        <p:cNvPr id="1" name=""/>
        <p:cNvGrpSpPr/>
        <p:nvPr/>
      </p:nvGrpSpPr>
      <p:grpSpPr bwMode="auto">
        <a:xfrm>
          <a:off x="0" y="0"/>
          <a:ext cx="0" cy="0"/>
          <a:chOff x="0" y="0"/>
          <a:chExt cx="0" cy="0"/>
        </a:xfrm>
      </p:grpSpPr>
      <p:sp>
        <p:nvSpPr>
          <p:cNvPr id="664518557" name="Google Shape;33;p6"/>
          <p:cNvSpPr/>
          <p:nvPr>
            <p:ph type="pic" idx="2"/>
          </p:nvPr>
        </p:nvSpPr>
        <p:spPr bwMode="auto">
          <a:xfrm>
            <a:off x="0" y="-14596"/>
            <a:ext cx="9144000" cy="5158200"/>
          </a:xfrm>
          <a:prstGeom prst="rect">
            <a:avLst/>
          </a:prstGeom>
          <a:noFill/>
          <a:ln>
            <a:noFill/>
          </a:ln>
        </p:spPr>
      </p:sp>
      <p:sp>
        <p:nvSpPr>
          <p:cNvPr id="41720003" name="Google Shape;34;p6"/>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46635273" name="Google Shape;35;p6"/>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sp>
        <p:nvSpPr>
          <p:cNvPr id="92907189" name="Google Shape;36;p6"/>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Divider" preserve="0" showMasterPhAnim="0" showMasterSp="1" userDrawn="1">
  <p:cSld name="Section Divider">
    <p:spTree>
      <p:nvGrpSpPr>
        <p:cNvPr id="1" name=""/>
        <p:cNvGrpSpPr/>
        <p:nvPr/>
      </p:nvGrpSpPr>
      <p:grpSpPr bwMode="auto">
        <a:xfrm>
          <a:off x="0" y="0"/>
          <a:ext cx="0" cy="0"/>
          <a:chOff x="0" y="0"/>
          <a:chExt cx="0" cy="0"/>
        </a:xfrm>
      </p:grpSpPr>
      <p:sp>
        <p:nvSpPr>
          <p:cNvPr id="1112564654" name="Google Shape;38;p7"/>
          <p:cNvSpPr/>
          <p:nvPr/>
        </p:nvSpPr>
        <p:spPr bwMode="auto">
          <a:xfrm>
            <a:off x="0" y="0"/>
            <a:ext cx="9144000" cy="5160899"/>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765852889" name="Google Shape;39;p7" descr="Template01-02.png"/>
          <p:cNvPicPr/>
          <p:nvPr/>
        </p:nvPicPr>
        <p:blipFill rotWithShape="1">
          <a:blip r:embed="rId2">
            <a:alphaModFix/>
          </a:blip>
          <a:srcRect l="0" t="0" r="0" b="0"/>
          <a:stretch/>
        </p:blipFill>
        <p:spPr bwMode="auto">
          <a:xfrm>
            <a:off x="0" y="-1"/>
            <a:ext cx="6427421" cy="5160778"/>
          </a:xfrm>
          <a:prstGeom prst="rect">
            <a:avLst/>
          </a:prstGeom>
          <a:noFill/>
          <a:ln>
            <a:noFill/>
          </a:ln>
        </p:spPr>
      </p:pic>
      <p:pic>
        <p:nvPicPr>
          <p:cNvPr id="833860218" name="Google Shape;40;p7" descr="holding device-02.png"/>
          <p:cNvPicPr/>
          <p:nvPr/>
        </p:nvPicPr>
        <p:blipFill rotWithShape="1">
          <a:blip r:embed="rId3">
            <a:alphaModFix/>
          </a:blip>
          <a:srcRect l="0" t="0" r="0" b="0"/>
          <a:stretch/>
        </p:blipFill>
        <p:spPr bwMode="auto">
          <a:xfrm>
            <a:off x="348471" y="-1"/>
            <a:ext cx="143662" cy="1219200"/>
          </a:xfrm>
          <a:prstGeom prst="rect">
            <a:avLst/>
          </a:prstGeom>
          <a:noFill/>
          <a:ln>
            <a:noFill/>
          </a:ln>
        </p:spPr>
      </p:pic>
      <p:sp>
        <p:nvSpPr>
          <p:cNvPr id="1066828078" name="Google Shape;41;p7"/>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800"/>
              <a:buFont typeface="Montserrat Medium"/>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8756537" name="Google Shape;42;p7"/>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122147274" name="Google Shape;43;p7" descr="01 Singapore University of Social Sciences_Horizontal Format_Version A_White Background_RGB.png"/>
          <p:cNvPicPr/>
          <p:nvPr/>
        </p:nvPicPr>
        <p:blipFill rotWithShape="1">
          <a:blip r:embed="rId4">
            <a:alphaModFix/>
          </a:blip>
          <a:srcRect l="0" t="0" r="0" b="0"/>
          <a:stretch/>
        </p:blipFill>
        <p:spPr bwMode="auto">
          <a:xfrm>
            <a:off x="349250" y="4562257"/>
            <a:ext cx="732371" cy="371076"/>
          </a:xfrm>
          <a:prstGeom prst="rect">
            <a:avLst/>
          </a:prstGeom>
          <a:noFill/>
          <a:ln>
            <a:noFill/>
          </a:ln>
        </p:spPr>
      </p:pic>
      <p:sp>
        <p:nvSpPr>
          <p:cNvPr id="1229275178" name="Google Shape;44;p7"/>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_Section Divider" preserve="0" showMasterPhAnim="0" showMasterSp="1" userDrawn="1">
  <p:cSld name="1_Section Divider">
    <p:spTree>
      <p:nvGrpSpPr>
        <p:cNvPr id="1" name=""/>
        <p:cNvGrpSpPr/>
        <p:nvPr/>
      </p:nvGrpSpPr>
      <p:grpSpPr bwMode="auto">
        <a:xfrm>
          <a:off x="0" y="0"/>
          <a:ext cx="0" cy="0"/>
          <a:chOff x="0" y="0"/>
          <a:chExt cx="0" cy="0"/>
        </a:xfrm>
      </p:grpSpPr>
      <p:sp>
        <p:nvSpPr>
          <p:cNvPr id="927025349" name="Google Shape;46;p8"/>
          <p:cNvSpPr/>
          <p:nvPr/>
        </p:nvSpPr>
        <p:spPr bwMode="auto">
          <a:xfrm>
            <a:off x="0" y="0"/>
            <a:ext cx="9144000" cy="5160899"/>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2077396641" name="Google Shape;47;p8" descr="Template01-02.png"/>
          <p:cNvPicPr/>
          <p:nvPr/>
        </p:nvPicPr>
        <p:blipFill rotWithShape="1">
          <a:blip r:embed="rId2">
            <a:alphaModFix/>
          </a:blip>
          <a:srcRect l="0" t="0" r="0" b="0"/>
          <a:stretch/>
        </p:blipFill>
        <p:spPr bwMode="auto">
          <a:xfrm>
            <a:off x="0" y="-1"/>
            <a:ext cx="6427421" cy="5160778"/>
          </a:xfrm>
          <a:prstGeom prst="rect">
            <a:avLst/>
          </a:prstGeom>
          <a:noFill/>
          <a:ln>
            <a:noFill/>
          </a:ln>
        </p:spPr>
      </p:pic>
      <p:pic>
        <p:nvPicPr>
          <p:cNvPr id="1081070140" name="Google Shape;48;p8" descr="holding device-02.png"/>
          <p:cNvPicPr/>
          <p:nvPr/>
        </p:nvPicPr>
        <p:blipFill rotWithShape="1">
          <a:blip r:embed="rId3">
            <a:alphaModFix/>
          </a:blip>
          <a:srcRect l="0" t="0" r="0" b="0"/>
          <a:stretch/>
        </p:blipFill>
        <p:spPr bwMode="auto">
          <a:xfrm>
            <a:off x="348471" y="-1"/>
            <a:ext cx="143662" cy="1219200"/>
          </a:xfrm>
          <a:prstGeom prst="rect">
            <a:avLst/>
          </a:prstGeom>
          <a:noFill/>
          <a:ln>
            <a:noFill/>
          </a:ln>
        </p:spPr>
      </p:pic>
      <p:sp>
        <p:nvSpPr>
          <p:cNvPr id="267647902" name="Google Shape;49;p8"/>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800"/>
              <a:buFont typeface="Montserrat Medium"/>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16751336" name="Google Shape;50;p8"/>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245023072" name="Google Shape;51;p8" descr="01 Singapore University of Social Sciences_Horizontal Format_Version A_White Background_RGB.png"/>
          <p:cNvPicPr/>
          <p:nvPr/>
        </p:nvPicPr>
        <p:blipFill rotWithShape="1">
          <a:blip r:embed="rId4">
            <a:alphaModFix/>
          </a:blip>
          <a:srcRect l="0" t="0" r="0" b="0"/>
          <a:stretch/>
        </p:blipFill>
        <p:spPr bwMode="auto">
          <a:xfrm>
            <a:off x="349250" y="4562257"/>
            <a:ext cx="732371" cy="371076"/>
          </a:xfrm>
          <a:prstGeom prst="rect">
            <a:avLst/>
          </a:prstGeom>
          <a:noFill/>
          <a:ln>
            <a:noFill/>
          </a:ln>
        </p:spPr>
      </p:pic>
      <p:sp>
        <p:nvSpPr>
          <p:cNvPr id="493010296" name="Google Shape;52;p8"/>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3_Section Divider" preserve="0" showMasterPhAnim="0" showMasterSp="1" userDrawn="1">
  <p:cSld name="3_Section Divider">
    <p:spTree>
      <p:nvGrpSpPr>
        <p:cNvPr id="1" name=""/>
        <p:cNvGrpSpPr/>
        <p:nvPr/>
      </p:nvGrpSpPr>
      <p:grpSpPr bwMode="auto">
        <a:xfrm>
          <a:off x="0" y="0"/>
          <a:ext cx="0" cy="0"/>
          <a:chOff x="0" y="0"/>
          <a:chExt cx="0" cy="0"/>
        </a:xfrm>
      </p:grpSpPr>
      <p:sp>
        <p:nvSpPr>
          <p:cNvPr id="1303854349" name="Google Shape;54;p9"/>
          <p:cNvSpPr/>
          <p:nvPr/>
        </p:nvSpPr>
        <p:spPr bwMode="auto">
          <a:xfrm>
            <a:off x="0" y="0"/>
            <a:ext cx="9144000" cy="5160899"/>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608389730" name="Google Shape;55;p9" descr="holding device-02.png"/>
          <p:cNvPicPr/>
          <p:nvPr/>
        </p:nvPicPr>
        <p:blipFill rotWithShape="1">
          <a:blip r:embed="rId2">
            <a:alphaModFix/>
          </a:blip>
          <a:srcRect l="0" t="0" r="0" b="0"/>
          <a:stretch/>
        </p:blipFill>
        <p:spPr bwMode="auto">
          <a:xfrm>
            <a:off x="348471" y="-1"/>
            <a:ext cx="143662" cy="1219200"/>
          </a:xfrm>
          <a:prstGeom prst="rect">
            <a:avLst/>
          </a:prstGeom>
          <a:noFill/>
          <a:ln>
            <a:noFill/>
          </a:ln>
        </p:spPr>
      </p:pic>
      <p:sp>
        <p:nvSpPr>
          <p:cNvPr id="1336672979" name="Google Shape;56;p9"/>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28065237" name="Google Shape;57;p9"/>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003B5C"/>
              </a:buClr>
              <a:buSzPts val="2000"/>
              <a:buNone/>
              <a:defRPr sz="2000">
                <a:solidFill>
                  <a:srgbClr val="003B5C"/>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292225539" name="Google Shape;58;p9" descr="01 Singapore University of Social Sciences_Horizontal Format_Version A_White Background_RGB.png"/>
          <p:cNvPicPr/>
          <p:nvPr/>
        </p:nvPicPr>
        <p:blipFill rotWithShape="1">
          <a:blip r:embed="rId3">
            <a:alphaModFix/>
          </a:blip>
          <a:srcRect l="0" t="0" r="0" b="0"/>
          <a:stretch/>
        </p:blipFill>
        <p:spPr bwMode="auto">
          <a:xfrm>
            <a:off x="349250" y="4562257"/>
            <a:ext cx="732371" cy="371076"/>
          </a:xfrm>
          <a:prstGeom prst="rect">
            <a:avLst/>
          </a:prstGeom>
          <a:noFill/>
          <a:ln>
            <a:noFill/>
          </a:ln>
        </p:spPr>
      </p:pic>
      <p:sp>
        <p:nvSpPr>
          <p:cNvPr id="880815898" name="Google Shape;59;p9"/>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_Section Divider" preserve="0" showMasterPhAnim="0" showMasterSp="1" userDrawn="1">
  <p:cSld name="4_Section Divider">
    <p:spTree>
      <p:nvGrpSpPr>
        <p:cNvPr id="1" name=""/>
        <p:cNvGrpSpPr/>
        <p:nvPr/>
      </p:nvGrpSpPr>
      <p:grpSpPr bwMode="auto">
        <a:xfrm>
          <a:off x="0" y="0"/>
          <a:ext cx="0" cy="0"/>
          <a:chOff x="0" y="0"/>
          <a:chExt cx="0" cy="0"/>
        </a:xfrm>
      </p:grpSpPr>
      <p:sp>
        <p:nvSpPr>
          <p:cNvPr id="1837804208" name="Google Shape;61;p10"/>
          <p:cNvSpPr/>
          <p:nvPr/>
        </p:nvSpPr>
        <p:spPr bwMode="auto">
          <a:xfrm>
            <a:off x="0" y="0"/>
            <a:ext cx="9144000" cy="5160899"/>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273909261" name="Google Shape;62;p10" descr="holding device-02.png"/>
          <p:cNvPicPr/>
          <p:nvPr/>
        </p:nvPicPr>
        <p:blipFill rotWithShape="1">
          <a:blip r:embed="rId2">
            <a:alphaModFix/>
          </a:blip>
          <a:srcRect l="0" t="0" r="0" b="0"/>
          <a:stretch/>
        </p:blipFill>
        <p:spPr bwMode="auto">
          <a:xfrm>
            <a:off x="348471" y="-1"/>
            <a:ext cx="143662" cy="1219200"/>
          </a:xfrm>
          <a:prstGeom prst="rect">
            <a:avLst/>
          </a:prstGeom>
          <a:noFill/>
          <a:ln>
            <a:noFill/>
          </a:ln>
        </p:spPr>
      </p:pic>
      <p:sp>
        <p:nvSpPr>
          <p:cNvPr id="1824177294" name="Google Shape;63;p10"/>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20858601" name="Google Shape;64;p10"/>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003B5C"/>
              </a:buClr>
              <a:buSzPts val="2000"/>
              <a:buNone/>
              <a:defRPr sz="2000">
                <a:solidFill>
                  <a:srgbClr val="003B5C"/>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894142297" name="Google Shape;65;p10" descr="01 Singapore University of Social Sciences_Horizontal Format_Version A_White Background_RGB.png"/>
          <p:cNvPicPr/>
          <p:nvPr/>
        </p:nvPicPr>
        <p:blipFill rotWithShape="1">
          <a:blip r:embed="rId3">
            <a:alphaModFix/>
          </a:blip>
          <a:srcRect l="0" t="0" r="0" b="0"/>
          <a:stretch/>
        </p:blipFill>
        <p:spPr bwMode="auto">
          <a:xfrm>
            <a:off x="349250" y="4562257"/>
            <a:ext cx="732371" cy="371076"/>
          </a:xfrm>
          <a:prstGeom prst="rect">
            <a:avLst/>
          </a:prstGeom>
          <a:noFill/>
          <a:ln>
            <a:noFill/>
          </a:ln>
        </p:spPr>
      </p:pic>
      <p:sp>
        <p:nvSpPr>
          <p:cNvPr id="996786877" name="Google Shape;66;p10"/>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_Section Divider" preserve="0" showMasterPhAnim="0" showMasterSp="1" userDrawn="1">
  <p:cSld name="6_Section Divider">
    <p:spTree>
      <p:nvGrpSpPr>
        <p:cNvPr id="1" name=""/>
        <p:cNvGrpSpPr/>
        <p:nvPr/>
      </p:nvGrpSpPr>
      <p:grpSpPr bwMode="auto">
        <a:xfrm>
          <a:off x="0" y="0"/>
          <a:ext cx="0" cy="0"/>
          <a:chOff x="0" y="0"/>
          <a:chExt cx="0" cy="0"/>
        </a:xfrm>
      </p:grpSpPr>
      <p:sp>
        <p:nvSpPr>
          <p:cNvPr id="336524971" name="Google Shape;68;p11"/>
          <p:cNvSpPr/>
          <p:nvPr>
            <p:ph type="pic" idx="2"/>
          </p:nvPr>
        </p:nvSpPr>
        <p:spPr bwMode="auto">
          <a:xfrm>
            <a:off x="0" y="-14596"/>
            <a:ext cx="9144000" cy="5158200"/>
          </a:xfrm>
          <a:prstGeom prst="rect">
            <a:avLst/>
          </a:prstGeom>
          <a:noFill/>
          <a:ln>
            <a:noFill/>
          </a:ln>
        </p:spPr>
      </p:sp>
      <p:sp>
        <p:nvSpPr>
          <p:cNvPr id="434820958" name="Google Shape;69;p11"/>
          <p:cNvSpPr txBox="1"/>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44720337" name="Google Shape;70;p11"/>
          <p:cNvSpPr txBox="1"/>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sp>
        <p:nvSpPr>
          <p:cNvPr id="1028149555" name="Google Shape;71;p11"/>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_Title and Content" preserve="0" showMasterPhAnim="0" showMasterSp="1" userDrawn="1">
  <p:cSld name="2_Title and Content">
    <p:spTree>
      <p:nvGrpSpPr>
        <p:cNvPr id="1" name=""/>
        <p:cNvGrpSpPr/>
        <p:nvPr/>
      </p:nvGrpSpPr>
      <p:grpSpPr bwMode="auto">
        <a:xfrm>
          <a:off x="0" y="0"/>
          <a:ext cx="0" cy="0"/>
          <a:chOff x="0" y="0"/>
          <a:chExt cx="0" cy="0"/>
        </a:xfrm>
      </p:grpSpPr>
      <p:sp>
        <p:nvSpPr>
          <p:cNvPr id="1182176413" name="Google Shape;73;p12"/>
          <p:cNvSpPr/>
          <p:nvPr/>
        </p:nvSpPr>
        <p:spPr bwMode="auto">
          <a:xfrm>
            <a:off x="4962278" y="-2182305"/>
            <a:ext cx="4720549" cy="4606871"/>
          </a:xfrm>
          <a:custGeom>
            <a:avLst/>
            <a:gdLst/>
            <a:ahLst/>
            <a:cxnLst/>
            <a:rect l="l" t="t" r="r" b="b"/>
            <a:pathLst>
              <a:path w="4720549" h="4606871" fill="norm" stroke="1" extrusionOk="0">
                <a:moveTo>
                  <a:pt x="87482" y="0"/>
                </a:moveTo>
                <a:lnTo>
                  <a:pt x="4720549" y="0"/>
                </a:lnTo>
                <a:lnTo>
                  <a:pt x="4720549" y="4493153"/>
                </a:lnTo>
                <a:lnTo>
                  <a:pt x="4562058" y="4529732"/>
                </a:lnTo>
                <a:cubicBezTo>
                  <a:pt x="4314892" y="4580310"/>
                  <a:pt x="4058977" y="4606871"/>
                  <a:pt x="3796859" y="4606871"/>
                </a:cubicBezTo>
                <a:cubicBezTo>
                  <a:pt x="1699912" y="4606871"/>
                  <a:pt x="0" y="2906959"/>
                  <a:pt x="0" y="810012"/>
                </a:cubicBezTo>
                <a:cubicBezTo>
                  <a:pt x="0" y="547894"/>
                  <a:pt x="26561" y="291979"/>
                  <a:pt x="77139" y="44813"/>
                </a:cubicBez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Arial"/>
              <a:ea typeface="Arial"/>
              <a:cs typeface="Arial"/>
            </a:endParaRPr>
          </a:p>
        </p:txBody>
      </p:sp>
      <p:pic>
        <p:nvPicPr>
          <p:cNvPr id="530850352" name="Google Shape;74;p12" descr="Template01-08.png"/>
          <p:cNvPicPr/>
          <p:nvPr/>
        </p:nvPicPr>
        <p:blipFill rotWithShape="1">
          <a:blip r:embed="rId2">
            <a:alphaModFix/>
          </a:blip>
          <a:srcRect l="0" t="0" r="0" b="0"/>
          <a:stretch/>
        </p:blipFill>
        <p:spPr bwMode="auto">
          <a:xfrm>
            <a:off x="342901" y="-14596"/>
            <a:ext cx="80450" cy="645796"/>
          </a:xfrm>
          <a:prstGeom prst="rect">
            <a:avLst/>
          </a:prstGeom>
          <a:noFill/>
          <a:ln>
            <a:noFill/>
          </a:ln>
        </p:spPr>
      </p:pic>
      <p:sp>
        <p:nvSpPr>
          <p:cNvPr id="1349954531" name="Google Shape;75;p12"/>
          <p:cNvSpPr txBox="1"/>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96853527" name="Google Shape;76;p12"/>
          <p:cNvSpPr txBox="1"/>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17500" algn="l">
              <a:spcBef>
                <a:spcPts val="280"/>
              </a:spcBef>
              <a:spcAft>
                <a:spcPts val="0"/>
              </a:spcAft>
              <a:buClr>
                <a:schemeClr val="dk1"/>
              </a:buClr>
              <a:buSzPts val="1400"/>
              <a:buChar char="•"/>
              <a:defRPr sz="14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23800131" name="Google Shape;77;p12"/>
          <p:cNvSpPr txBox="1"/>
          <p:nvPr/>
        </p:nvSpPr>
        <p:spPr bwMode="auto">
          <a:xfrm>
            <a:off x="7132482" y="4812819"/>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366128652" name="Google Shape;78;p12"/>
          <p:cNvSpPr txBox="1"/>
          <p:nvPr>
            <p:ph type="body" idx="2"/>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82024553" name="Google Shape;79;p12"/>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Content" preserve="0" showMasterPhAnim="0" showMasterSp="1" userDrawn="1">
  <p:cSld name="Title and Content">
    <p:spTree>
      <p:nvGrpSpPr>
        <p:cNvPr id="1" name=""/>
        <p:cNvGrpSpPr/>
        <p:nvPr/>
      </p:nvGrpSpPr>
      <p:grpSpPr bwMode="auto">
        <a:xfrm>
          <a:off x="0" y="0"/>
          <a:ext cx="0" cy="0"/>
          <a:chOff x="0" y="0"/>
          <a:chExt cx="0" cy="0"/>
        </a:xfrm>
      </p:grpSpPr>
      <p:pic>
        <p:nvPicPr>
          <p:cNvPr id="1820535914" name="Google Shape;81;p13" descr="Template01-08.png"/>
          <p:cNvPicPr/>
          <p:nvPr/>
        </p:nvPicPr>
        <p:blipFill rotWithShape="1">
          <a:blip r:embed="rId2">
            <a:alphaModFix/>
          </a:blip>
          <a:srcRect l="0" t="0" r="0" b="0"/>
          <a:stretch/>
        </p:blipFill>
        <p:spPr bwMode="auto">
          <a:xfrm>
            <a:off x="342901" y="-14596"/>
            <a:ext cx="80450" cy="645796"/>
          </a:xfrm>
          <a:prstGeom prst="rect">
            <a:avLst/>
          </a:prstGeom>
          <a:noFill/>
          <a:ln>
            <a:noFill/>
          </a:ln>
        </p:spPr>
      </p:pic>
      <p:sp>
        <p:nvSpPr>
          <p:cNvPr id="1043172472" name="Google Shape;82;p13"/>
          <p:cNvSpPr txBox="1"/>
          <p:nvPr>
            <p:ph type="title"/>
          </p:nvPr>
        </p:nvSpPr>
        <p:spPr bwMode="auto">
          <a:xfrm>
            <a:off x="260213" y="645796"/>
            <a:ext cx="39150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78663768" name="Google Shape;83;p13"/>
          <p:cNvSpPr txBox="1"/>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21950163" name="Google Shape;84;p13"/>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223265280" name="Google Shape;85;p13"/>
          <p:cNvSpPr/>
          <p:nvPr>
            <p:ph type="pic" idx="2"/>
          </p:nvPr>
        </p:nvSpPr>
        <p:spPr bwMode="auto">
          <a:xfrm>
            <a:off x="4451726" y="0"/>
            <a:ext cx="4692300" cy="5143500"/>
          </a:xfrm>
          <a:prstGeom prst="rect">
            <a:avLst/>
          </a:prstGeom>
          <a:noFill/>
          <a:ln>
            <a:noFill/>
          </a:ln>
        </p:spPr>
      </p:sp>
      <p:sp>
        <p:nvSpPr>
          <p:cNvPr id="659934647" name="Google Shape;86;p13"/>
          <p:cNvSpPr txBox="1"/>
          <p:nvPr>
            <p:ph type="body" idx="3"/>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73574114" name="Google Shape;87;p13"/>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_Title and Content" preserve="0" showMasterPhAnim="0" showMasterSp="1" userDrawn="1">
  <p:cSld name="4_Title and Content">
    <p:spTree>
      <p:nvGrpSpPr>
        <p:cNvPr id="1" name=""/>
        <p:cNvGrpSpPr/>
        <p:nvPr/>
      </p:nvGrpSpPr>
      <p:grpSpPr bwMode="auto">
        <a:xfrm>
          <a:off x="0" y="0"/>
          <a:ext cx="0" cy="0"/>
          <a:chOff x="0" y="0"/>
          <a:chExt cx="0" cy="0"/>
        </a:xfrm>
      </p:grpSpPr>
      <p:pic>
        <p:nvPicPr>
          <p:cNvPr id="2006723752" name="Google Shape;89;p14" descr="Template01-08.png"/>
          <p:cNvPicPr/>
          <p:nvPr/>
        </p:nvPicPr>
        <p:blipFill rotWithShape="1">
          <a:blip r:embed="rId2">
            <a:alphaModFix/>
          </a:blip>
          <a:srcRect l="0" t="0" r="0" b="0"/>
          <a:stretch/>
        </p:blipFill>
        <p:spPr bwMode="auto">
          <a:xfrm>
            <a:off x="342901" y="-14596"/>
            <a:ext cx="80450" cy="645796"/>
          </a:xfrm>
          <a:prstGeom prst="rect">
            <a:avLst/>
          </a:prstGeom>
          <a:noFill/>
          <a:ln>
            <a:noFill/>
          </a:ln>
        </p:spPr>
      </p:pic>
      <p:sp>
        <p:nvSpPr>
          <p:cNvPr id="136218218" name="Google Shape;90;p14"/>
          <p:cNvSpPr txBox="1"/>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31150756" name="Google Shape;91;p14"/>
          <p:cNvSpPr txBox="1"/>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54137377" name="Google Shape;92;p14"/>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1483290949" name="Google Shape;93;p14"/>
          <p:cNvSpPr/>
          <p:nvPr>
            <p:ph type="pic" idx="2"/>
          </p:nvPr>
        </p:nvSpPr>
        <p:spPr bwMode="auto">
          <a:xfrm>
            <a:off x="4496270" y="645795"/>
            <a:ext cx="4295400" cy="1740900"/>
          </a:xfrm>
          <a:prstGeom prst="rect">
            <a:avLst/>
          </a:prstGeom>
          <a:noFill/>
          <a:ln>
            <a:noFill/>
          </a:ln>
        </p:spPr>
      </p:sp>
      <p:sp>
        <p:nvSpPr>
          <p:cNvPr id="162089419" name="Google Shape;94;p14"/>
          <p:cNvSpPr/>
          <p:nvPr>
            <p:ph type="pic" idx="3"/>
          </p:nvPr>
        </p:nvSpPr>
        <p:spPr bwMode="auto">
          <a:xfrm>
            <a:off x="4496270" y="2636138"/>
            <a:ext cx="4295400" cy="1740900"/>
          </a:xfrm>
          <a:prstGeom prst="rect">
            <a:avLst/>
          </a:prstGeom>
          <a:noFill/>
          <a:ln>
            <a:noFill/>
          </a:ln>
        </p:spPr>
      </p:sp>
      <p:sp>
        <p:nvSpPr>
          <p:cNvPr id="1726719391" name="Google Shape;95;p14"/>
          <p:cNvSpPr txBox="1"/>
          <p:nvPr>
            <p:ph type="body" idx="4"/>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44881127" name="Google Shape;96;p14"/>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_Title and Content" preserve="0" showMasterPhAnim="0" showMasterSp="1" userDrawn="1">
  <p:cSld name="1_Title and Content">
    <p:spTree>
      <p:nvGrpSpPr>
        <p:cNvPr id="1" name=""/>
        <p:cNvGrpSpPr/>
        <p:nvPr/>
      </p:nvGrpSpPr>
      <p:grpSpPr bwMode="auto">
        <a:xfrm>
          <a:off x="0" y="0"/>
          <a:ext cx="0" cy="0"/>
          <a:chOff x="0" y="0"/>
          <a:chExt cx="0" cy="0"/>
        </a:xfrm>
      </p:grpSpPr>
      <p:sp>
        <p:nvSpPr>
          <p:cNvPr id="610774507" name="Google Shape;98;p15"/>
          <p:cNvSpPr txBox="1"/>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27957662" name="Google Shape;99;p15"/>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1276637053" name="Google Shape;100;p15" descr="Template01-08.png"/>
          <p:cNvPicPr/>
          <p:nvPr/>
        </p:nvPicPr>
        <p:blipFill rotWithShape="1">
          <a:blip r:embed="rId2">
            <a:alphaModFix/>
          </a:blip>
          <a:srcRect l="0" t="0" r="0" b="0"/>
          <a:stretch/>
        </p:blipFill>
        <p:spPr bwMode="auto">
          <a:xfrm>
            <a:off x="342901" y="0"/>
            <a:ext cx="80450" cy="645796"/>
          </a:xfrm>
          <a:prstGeom prst="rect">
            <a:avLst/>
          </a:prstGeom>
          <a:noFill/>
          <a:ln>
            <a:noFill/>
          </a:ln>
        </p:spPr>
      </p:pic>
      <p:sp>
        <p:nvSpPr>
          <p:cNvPr id="555351032" name="Google Shape;101;p15"/>
          <p:cNvSpPr txBox="1"/>
          <p:nvPr>
            <p:ph type="body" idx="1"/>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23180504" name="Google Shape;102;p15"/>
          <p:cNvSpPr txBox="1"/>
          <p:nvPr>
            <p:ph type="body" idx="2"/>
          </p:nvPr>
        </p:nvSpPr>
        <p:spPr bwMode="auto">
          <a:xfrm>
            <a:off x="260213"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33036095" name="Google Shape;103;p15"/>
          <p:cNvSpPr txBox="1"/>
          <p:nvPr>
            <p:ph type="body" idx="3"/>
          </p:nvPr>
        </p:nvSpPr>
        <p:spPr bwMode="auto">
          <a:xfrm>
            <a:off x="2954152"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98179461" name="Google Shape;104;p15"/>
          <p:cNvSpPr/>
          <p:nvPr>
            <p:ph type="pic" idx="4"/>
          </p:nvPr>
        </p:nvSpPr>
        <p:spPr bwMode="auto">
          <a:xfrm>
            <a:off x="4451726" y="0"/>
            <a:ext cx="4692300" cy="5143500"/>
          </a:xfrm>
          <a:prstGeom prst="rect">
            <a:avLst/>
          </a:prstGeom>
          <a:noFill/>
          <a:ln>
            <a:noFill/>
          </a:ln>
        </p:spPr>
      </p:sp>
      <p:sp>
        <p:nvSpPr>
          <p:cNvPr id="759764089" name="Google Shape;105;p15"/>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_Title and Content" preserve="0" showMasterPhAnim="0" showMasterSp="1" userDrawn="1">
  <p:cSld name="5_Title and Content">
    <p:spTree>
      <p:nvGrpSpPr>
        <p:cNvPr id="1" name=""/>
        <p:cNvGrpSpPr/>
        <p:nvPr/>
      </p:nvGrpSpPr>
      <p:grpSpPr bwMode="auto">
        <a:xfrm>
          <a:off x="0" y="0"/>
          <a:ext cx="0" cy="0"/>
          <a:chOff x="0" y="0"/>
          <a:chExt cx="0" cy="0"/>
        </a:xfrm>
      </p:grpSpPr>
      <p:sp>
        <p:nvSpPr>
          <p:cNvPr id="492937190" name="Google Shape;107;p16"/>
          <p:cNvSpPr txBox="1"/>
          <p:nvPr>
            <p:ph type="title"/>
          </p:nvPr>
        </p:nvSpPr>
        <p:spPr bwMode="auto">
          <a:xfrm>
            <a:off x="538636" y="9959"/>
            <a:ext cx="7901100" cy="823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3B5C"/>
              </a:buClr>
              <a:buSzPts val="2500"/>
              <a:buFont typeface="Montserrat Medium"/>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59323137" name="Google Shape;108;p16"/>
          <p:cNvSpPr txBox="1"/>
          <p:nvPr/>
        </p:nvSpPr>
        <p:spPr bwMode="auto">
          <a:xfrm>
            <a:off x="7153613" y="4817014"/>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665496946" name="Google Shape;109;p16" descr="Template01-08.png"/>
          <p:cNvPicPr/>
          <p:nvPr/>
        </p:nvPicPr>
        <p:blipFill rotWithShape="1">
          <a:blip r:embed="rId2">
            <a:alphaModFix/>
          </a:blip>
          <a:srcRect l="0" t="0" r="0" b="0"/>
          <a:stretch/>
        </p:blipFill>
        <p:spPr bwMode="auto">
          <a:xfrm>
            <a:off x="342901" y="0"/>
            <a:ext cx="80450" cy="645796"/>
          </a:xfrm>
          <a:prstGeom prst="rect">
            <a:avLst/>
          </a:prstGeom>
          <a:noFill/>
          <a:ln>
            <a:noFill/>
          </a:ln>
        </p:spPr>
      </p:pic>
      <p:sp>
        <p:nvSpPr>
          <p:cNvPr id="1687414509" name="Google Shape;110;p16"/>
          <p:cNvSpPr txBox="1"/>
          <p:nvPr>
            <p:ph type="body" idx="1"/>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76190036" name="Google Shape;111;p16"/>
          <p:cNvSpPr txBox="1"/>
          <p:nvPr>
            <p:ph type="body" idx="2"/>
          </p:nvPr>
        </p:nvSpPr>
        <p:spPr bwMode="auto">
          <a:xfrm>
            <a:off x="260212" y="1905100"/>
            <a:ext cx="41403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67097197" name="Google Shape;112;p16"/>
          <p:cNvSpPr txBox="1"/>
          <p:nvPr>
            <p:ph type="body" idx="3"/>
          </p:nvPr>
        </p:nvSpPr>
        <p:spPr bwMode="auto">
          <a:xfrm>
            <a:off x="4557988" y="1905100"/>
            <a:ext cx="41403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5916143" name="Google Shape;113;p16"/>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3_Title and Content" preserve="0" showMasterPhAnim="0" showMasterSp="1" userDrawn="1">
  <p:cSld name="3_Title and Content">
    <p:spTree>
      <p:nvGrpSpPr>
        <p:cNvPr id="1" name=""/>
        <p:cNvGrpSpPr/>
        <p:nvPr/>
      </p:nvGrpSpPr>
      <p:grpSpPr bwMode="auto">
        <a:xfrm>
          <a:off x="0" y="0"/>
          <a:ext cx="0" cy="0"/>
          <a:chOff x="0" y="0"/>
          <a:chExt cx="0" cy="0"/>
        </a:xfrm>
      </p:grpSpPr>
      <p:sp>
        <p:nvSpPr>
          <p:cNvPr id="464956225" name="Google Shape;115;p17"/>
          <p:cNvSpPr txBox="1"/>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3418856" name="Google Shape;116;p17"/>
          <p:cNvSpPr txBox="1"/>
          <p:nvPr>
            <p:ph type="body" idx="1"/>
          </p:nvPr>
        </p:nvSpPr>
        <p:spPr bwMode="auto">
          <a:xfrm>
            <a:off x="260213"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61667708" name="Google Shape;117;p17"/>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1020399909" name="Google Shape;118;p17" descr="Template01-08.png"/>
          <p:cNvPicPr/>
          <p:nvPr/>
        </p:nvPicPr>
        <p:blipFill rotWithShape="1">
          <a:blip r:embed="rId2">
            <a:alphaModFix/>
          </a:blip>
          <a:srcRect l="0" t="0" r="0" b="0"/>
          <a:stretch/>
        </p:blipFill>
        <p:spPr bwMode="auto">
          <a:xfrm>
            <a:off x="342901" y="0"/>
            <a:ext cx="80450" cy="645796"/>
          </a:xfrm>
          <a:prstGeom prst="rect">
            <a:avLst/>
          </a:prstGeom>
          <a:noFill/>
          <a:ln>
            <a:noFill/>
          </a:ln>
        </p:spPr>
      </p:pic>
      <p:sp>
        <p:nvSpPr>
          <p:cNvPr id="1374435177" name="Google Shape;119;p17"/>
          <p:cNvSpPr/>
          <p:nvPr>
            <p:ph type="pic" idx="2"/>
          </p:nvPr>
        </p:nvSpPr>
        <p:spPr bwMode="auto">
          <a:xfrm>
            <a:off x="6357698" y="-14596"/>
            <a:ext cx="2786400" cy="5158200"/>
          </a:xfrm>
          <a:prstGeom prst="rect">
            <a:avLst/>
          </a:prstGeom>
          <a:noFill/>
          <a:ln>
            <a:noFill/>
          </a:ln>
        </p:spPr>
      </p:sp>
      <p:sp>
        <p:nvSpPr>
          <p:cNvPr id="549649936" name="Google Shape;120;p17"/>
          <p:cNvSpPr txBox="1"/>
          <p:nvPr>
            <p:ph type="body" idx="3"/>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47554790" name="Google Shape;121;p17"/>
          <p:cNvSpPr txBox="1"/>
          <p:nvPr>
            <p:ph type="body" idx="4"/>
          </p:nvPr>
        </p:nvSpPr>
        <p:spPr bwMode="auto">
          <a:xfrm>
            <a:off x="2954152"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56200100" name="Google Shape;122;p17"/>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ustom Layout" preserve="0" showMasterPhAnim="0" showMasterSp="1" userDrawn="1">
  <p:cSld name="Custom Layout">
    <p:spTree>
      <p:nvGrpSpPr>
        <p:cNvPr id="1" name=""/>
        <p:cNvGrpSpPr/>
        <p:nvPr/>
      </p:nvGrpSpPr>
      <p:grpSpPr bwMode="auto">
        <a:xfrm>
          <a:off x="0" y="0"/>
          <a:ext cx="0" cy="0"/>
          <a:chOff x="0" y="0"/>
          <a:chExt cx="0" cy="0"/>
        </a:xfrm>
      </p:grpSpPr>
      <p:sp>
        <p:nvSpPr>
          <p:cNvPr id="492402924" name="Google Shape;124;p18"/>
          <p:cNvSpPr/>
          <p:nvPr>
            <p:ph type="pic" idx="2"/>
          </p:nvPr>
        </p:nvSpPr>
        <p:spPr bwMode="auto">
          <a:xfrm>
            <a:off x="0" y="-14596"/>
            <a:ext cx="9144000" cy="5158200"/>
          </a:xfrm>
          <a:prstGeom prst="rect">
            <a:avLst/>
          </a:prstGeom>
          <a:noFill/>
          <a:ln>
            <a:noFill/>
          </a:ln>
        </p:spPr>
      </p:sp>
      <p:sp>
        <p:nvSpPr>
          <p:cNvPr id="1487129323" name="Google Shape;125;p18"/>
          <p:cNvSpPr txBox="1"/>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losing Slide" preserve="0" showMasterPhAnim="0" showMasterSp="1" userDrawn="1">
  <p:cSld name="Closing Slide">
    <p:spTree>
      <p:nvGrpSpPr>
        <p:cNvPr id="1" name=""/>
        <p:cNvGrpSpPr/>
        <p:nvPr/>
      </p:nvGrpSpPr>
      <p:grpSpPr bwMode="auto">
        <a:xfrm>
          <a:off x="0" y="0"/>
          <a:ext cx="0" cy="0"/>
          <a:chOff x="0" y="0"/>
          <a:chExt cx="0" cy="0"/>
        </a:xfrm>
      </p:grpSpPr>
      <p:sp>
        <p:nvSpPr>
          <p:cNvPr id="1777313970" name="Google Shape;127;p19"/>
          <p:cNvSpPr/>
          <p:nvPr/>
        </p:nvSpPr>
        <p:spPr bwMode="auto">
          <a:xfrm>
            <a:off x="0" y="0"/>
            <a:ext cx="9144000" cy="5160899"/>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003B5C"/>
              </a:solidFill>
              <a:latin typeface="Arial"/>
              <a:ea typeface="Arial"/>
              <a:cs typeface="Arial"/>
            </a:endParaRPr>
          </a:p>
        </p:txBody>
      </p:sp>
      <p:pic>
        <p:nvPicPr>
          <p:cNvPr id="1361571244" name="Google Shape;128;p19" descr="03 Singapore University of Social Sciences_Horizontal Format_Version A_Blue Background_RGB-01.png"/>
          <p:cNvPicPr/>
          <p:nvPr/>
        </p:nvPicPr>
        <p:blipFill rotWithShape="1">
          <a:blip r:embed="rId2">
            <a:alphaModFix/>
          </a:blip>
          <a:srcRect l="0" t="0" r="0" b="0"/>
          <a:stretch/>
        </p:blipFill>
        <p:spPr bwMode="auto">
          <a:xfrm>
            <a:off x="351798" y="4365912"/>
            <a:ext cx="1116944" cy="558473"/>
          </a:xfrm>
          <a:prstGeom prst="rect">
            <a:avLst/>
          </a:prstGeom>
          <a:noFill/>
          <a:ln>
            <a:noFill/>
          </a:ln>
        </p:spPr>
      </p:pic>
      <p:sp>
        <p:nvSpPr>
          <p:cNvPr id="1965991719" name="Google Shape;129;p19"/>
          <p:cNvSpPr txBox="1"/>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b="1">
                <a:solidFill>
                  <a:srgbClr val="FFFFFF"/>
                </a:solidFill>
                <a:latin typeface="Arial"/>
                <a:ea typeface="Arial"/>
                <a:cs typeface="Arial"/>
              </a:defRPr>
            </a:lvl1pPr>
            <a:lvl2pPr marL="0" lvl="1" indent="0" algn="r">
              <a:spcBef>
                <a:spcPts val="0"/>
              </a:spcBef>
              <a:buNone/>
              <a:defRPr sz="800" b="1">
                <a:solidFill>
                  <a:srgbClr val="FFFFFF"/>
                </a:solidFill>
                <a:latin typeface="Arial"/>
                <a:ea typeface="Arial"/>
                <a:cs typeface="Arial"/>
              </a:defRPr>
            </a:lvl2pPr>
            <a:lvl3pPr marL="0" lvl="2" indent="0" algn="r">
              <a:spcBef>
                <a:spcPts val="0"/>
              </a:spcBef>
              <a:buNone/>
              <a:defRPr sz="800" b="1">
                <a:solidFill>
                  <a:srgbClr val="FFFFFF"/>
                </a:solidFill>
                <a:latin typeface="Arial"/>
                <a:ea typeface="Arial"/>
                <a:cs typeface="Arial"/>
              </a:defRPr>
            </a:lvl3pPr>
            <a:lvl4pPr marL="0" lvl="3" indent="0" algn="r">
              <a:spcBef>
                <a:spcPts val="0"/>
              </a:spcBef>
              <a:buNone/>
              <a:defRPr sz="800" b="1">
                <a:solidFill>
                  <a:srgbClr val="FFFFFF"/>
                </a:solidFill>
                <a:latin typeface="Arial"/>
                <a:ea typeface="Arial"/>
                <a:cs typeface="Arial"/>
              </a:defRPr>
            </a:lvl4pPr>
            <a:lvl5pPr marL="0" lvl="4" indent="0" algn="r">
              <a:spcBef>
                <a:spcPts val="0"/>
              </a:spcBef>
              <a:buNone/>
              <a:defRPr sz="800" b="1">
                <a:solidFill>
                  <a:srgbClr val="FFFFFF"/>
                </a:solidFill>
                <a:latin typeface="Arial"/>
                <a:ea typeface="Arial"/>
                <a:cs typeface="Arial"/>
              </a:defRPr>
            </a:lvl5pPr>
            <a:lvl6pPr marL="0" lvl="5" indent="0" algn="r">
              <a:spcBef>
                <a:spcPts val="0"/>
              </a:spcBef>
              <a:buNone/>
              <a:defRPr sz="800" b="1">
                <a:solidFill>
                  <a:srgbClr val="FFFFFF"/>
                </a:solidFill>
                <a:latin typeface="Arial"/>
                <a:ea typeface="Arial"/>
                <a:cs typeface="Arial"/>
              </a:defRPr>
            </a:lvl6pPr>
            <a:lvl7pPr marL="0" lvl="6" indent="0" algn="r">
              <a:spcBef>
                <a:spcPts val="0"/>
              </a:spcBef>
              <a:buNone/>
              <a:defRPr sz="800" b="1">
                <a:solidFill>
                  <a:srgbClr val="FFFFFF"/>
                </a:solidFill>
                <a:latin typeface="Arial"/>
                <a:ea typeface="Arial"/>
                <a:cs typeface="Arial"/>
              </a:defRPr>
            </a:lvl7pPr>
            <a:lvl8pPr marL="0" lvl="7" indent="0" algn="r">
              <a:spcBef>
                <a:spcPts val="0"/>
              </a:spcBef>
              <a:buNone/>
              <a:defRPr sz="800" b="1">
                <a:solidFill>
                  <a:srgbClr val="FFFFFF"/>
                </a:solidFill>
                <a:latin typeface="Arial"/>
                <a:ea typeface="Arial"/>
                <a:cs typeface="Arial"/>
              </a:defRPr>
            </a:lvl8pPr>
            <a:lvl9pPr marL="0" lvl="8" indent="0" algn="r">
              <a:spcBef>
                <a:spcPts val="0"/>
              </a:spcBef>
              <a:buNone/>
              <a:defRPr sz="800" b="1">
                <a:solidFill>
                  <a:srgbClr val="FFFFFF"/>
                </a:solidFill>
                <a:latin typeface="Arial"/>
                <a:ea typeface="Arial"/>
                <a:cs typeface="Arial"/>
              </a:defRPr>
            </a:lvl9pPr>
          </a:lstStyle>
          <a:p>
            <a:pPr marL="0" lvl="0" indent="0" algn="r" rtl="0">
              <a:spcBef>
                <a:spcPts val="0"/>
              </a:spcBef>
              <a:spcAft>
                <a:spcPts val="0"/>
              </a:spcAft>
              <a:buNone/>
              <a:defRPr/>
            </a:pPr>
            <a:r>
              <a:rPr lang="en"/>
              <a:t>suss.edu.sg</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4_Title and Content" preserve="0" showMasterPhAnim="0" showMasterSp="1" userDrawn="1">
  <p:cSld name="14_Title and Content">
    <p:spTree>
      <p:nvGrpSpPr>
        <p:cNvPr id="1" name=""/>
        <p:cNvGrpSpPr/>
        <p:nvPr/>
      </p:nvGrpSpPr>
      <p:grpSpPr bwMode="auto">
        <a:xfrm>
          <a:off x="0" y="0"/>
          <a:ext cx="0" cy="0"/>
          <a:chOff x="0" y="0"/>
          <a:chExt cx="0" cy="0"/>
        </a:xfrm>
      </p:grpSpPr>
      <p:sp>
        <p:nvSpPr>
          <p:cNvPr id="1957699261" name="Google Shape;131;p20"/>
          <p:cNvSpPr txBox="1"/>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47655103" name="Google Shape;132;p20"/>
          <p:cNvSpPr txBox="1"/>
          <p:nvPr>
            <p:ph type="body" idx="1"/>
          </p:nvPr>
        </p:nvSpPr>
        <p:spPr bwMode="auto">
          <a:xfrm>
            <a:off x="685800" y="742950"/>
            <a:ext cx="7543800" cy="256500"/>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14635622" name="Google Shape;133;p20"/>
          <p:cNvSpPr txBox="1"/>
          <p:nvPr>
            <p:ph type="dt" idx="10"/>
          </p:nvPr>
        </p:nvSpPr>
        <p:spPr bwMode="auto">
          <a:xfrm>
            <a:off x="4644008" y="4904292"/>
            <a:ext cx="1905000" cy="205800"/>
          </a:xfrm>
          <a:prstGeom prst="rect">
            <a:avLst/>
          </a:prstGeom>
          <a:noFill/>
          <a:ln>
            <a:noFill/>
          </a:ln>
        </p:spPr>
        <p:txBody>
          <a:bodyPr spcFirstLastPara="1" wrap="square" lIns="91425" tIns="45700" rIns="91425" bIns="45700" anchor="t" anchorCtr="0">
            <a:noAutofit/>
          </a:bodyPr>
          <a:lstStyle>
            <a:lvl1pPr marR="0" lvl="0" algn="r">
              <a:spcBef>
                <a:spcPts val="0"/>
              </a:spcBef>
              <a:spcAft>
                <a:spcPts val="0"/>
              </a:spcAft>
              <a:buSzPts val="1400"/>
              <a:buNone/>
              <a:defRPr sz="1050">
                <a:solidFill>
                  <a:srgbClr val="0098ED"/>
                </a:solidFill>
                <a:latin typeface="Lucida Sans"/>
                <a:ea typeface="Lucida Sans"/>
                <a:cs typeface="Lucida Sans"/>
              </a:defRPr>
            </a:lvl1pPr>
            <a:lvl2pPr marR="0" lvl="1" algn="l">
              <a:spcBef>
                <a:spcPts val="0"/>
              </a:spcBef>
              <a:spcAft>
                <a:spcPts val="0"/>
              </a:spcAft>
              <a:buSzPts val="1400"/>
              <a:buNone/>
              <a:defRPr sz="1800" b="0" i="0" u="none" strike="noStrike" cap="none">
                <a:solidFill>
                  <a:schemeClr val="dk1"/>
                </a:solidFill>
                <a:latin typeface="Arial"/>
                <a:ea typeface="Arial"/>
                <a:cs typeface="Arial"/>
              </a:defRPr>
            </a:lvl2pPr>
            <a:lvl3pPr marR="0" lvl="2" algn="l">
              <a:spcBef>
                <a:spcPts val="0"/>
              </a:spcBef>
              <a:spcAft>
                <a:spcPts val="0"/>
              </a:spcAft>
              <a:buSzPts val="1400"/>
              <a:buNone/>
              <a:defRPr sz="1800" b="0" i="0" u="none" strike="noStrike" cap="none">
                <a:solidFill>
                  <a:schemeClr val="dk1"/>
                </a:solidFill>
                <a:latin typeface="Arial"/>
                <a:ea typeface="Arial"/>
                <a:cs typeface="Arial"/>
              </a:defRPr>
            </a:lvl3pPr>
            <a:lvl4pPr marR="0" lvl="3" algn="l">
              <a:spcBef>
                <a:spcPts val="0"/>
              </a:spcBef>
              <a:spcAft>
                <a:spcPts val="0"/>
              </a:spcAft>
              <a:buSzPts val="1400"/>
              <a:buNone/>
              <a:defRPr sz="1800" b="0" i="0" u="none" strike="noStrike" cap="none">
                <a:solidFill>
                  <a:schemeClr val="dk1"/>
                </a:solidFill>
                <a:latin typeface="Arial"/>
                <a:ea typeface="Arial"/>
                <a:cs typeface="Arial"/>
              </a:defRPr>
            </a:lvl4pPr>
            <a:lvl5pPr marR="0" lvl="4" algn="l">
              <a:spcBef>
                <a:spcPts val="0"/>
              </a:spcBef>
              <a:spcAft>
                <a:spcPts val="0"/>
              </a:spcAft>
              <a:buSzPts val="1400"/>
              <a:buNone/>
              <a:defRPr sz="1800" b="0" i="0" u="none" strike="noStrike" cap="none">
                <a:solidFill>
                  <a:schemeClr val="dk1"/>
                </a:solidFill>
                <a:latin typeface="Arial"/>
                <a:ea typeface="Arial"/>
                <a:cs typeface="Arial"/>
              </a:defRPr>
            </a:lvl5pPr>
            <a:lvl6pPr marR="0" lvl="5" algn="l">
              <a:spcBef>
                <a:spcPts val="0"/>
              </a:spcBef>
              <a:spcAft>
                <a:spcPts val="0"/>
              </a:spcAft>
              <a:buSzPts val="1400"/>
              <a:buNone/>
              <a:defRPr sz="1800" b="0" i="0" u="none" strike="noStrike" cap="none">
                <a:solidFill>
                  <a:schemeClr val="dk1"/>
                </a:solidFill>
                <a:latin typeface="Arial"/>
                <a:ea typeface="Arial"/>
                <a:cs typeface="Arial"/>
              </a:defRPr>
            </a:lvl6pPr>
            <a:lvl7pPr marR="0" lvl="6" algn="l">
              <a:spcBef>
                <a:spcPts val="0"/>
              </a:spcBef>
              <a:spcAft>
                <a:spcPts val="0"/>
              </a:spcAft>
              <a:buSzPts val="1400"/>
              <a:buNone/>
              <a:defRPr sz="1800" b="0" i="0" u="none" strike="noStrike" cap="none">
                <a:solidFill>
                  <a:schemeClr val="dk1"/>
                </a:solidFill>
                <a:latin typeface="Arial"/>
                <a:ea typeface="Arial"/>
                <a:cs typeface="Arial"/>
              </a:defRPr>
            </a:lvl7pPr>
            <a:lvl8pPr marR="0" lvl="7" algn="l">
              <a:spcBef>
                <a:spcPts val="0"/>
              </a:spcBef>
              <a:spcAft>
                <a:spcPts val="0"/>
              </a:spcAft>
              <a:buSzPts val="1400"/>
              <a:buNone/>
              <a:defRPr sz="1800" b="0" i="0" u="none" strike="noStrike" cap="none">
                <a:solidFill>
                  <a:schemeClr val="dk1"/>
                </a:solidFill>
                <a:latin typeface="Arial"/>
                <a:ea typeface="Arial"/>
                <a:cs typeface="Arial"/>
              </a:defRPr>
            </a:lvl8pPr>
            <a:lvl9pPr marR="0" lvl="8" algn="l">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867241400" name="Google Shape;134;p20"/>
          <p:cNvSpPr txBox="1"/>
          <p:nvPr>
            <p:ph type="ftr" idx="11"/>
          </p:nvPr>
        </p:nvSpPr>
        <p:spPr bwMode="auto">
          <a:xfrm>
            <a:off x="35496" y="4904292"/>
            <a:ext cx="2895600" cy="2058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050">
                <a:solidFill>
                  <a:srgbClr val="0098ED"/>
                </a:solidFill>
                <a:latin typeface="Lucida Sans"/>
                <a:ea typeface="Lucida Sans"/>
                <a:cs typeface="Lucida Sans"/>
              </a:defRPr>
            </a:lvl1pPr>
            <a:lvl2pPr marR="0" lvl="1" algn="l">
              <a:spcBef>
                <a:spcPts val="0"/>
              </a:spcBef>
              <a:spcAft>
                <a:spcPts val="0"/>
              </a:spcAft>
              <a:buSzPts val="1400"/>
              <a:buNone/>
              <a:defRPr sz="1800" b="0" i="0" u="none" strike="noStrike" cap="none">
                <a:solidFill>
                  <a:schemeClr val="dk1"/>
                </a:solidFill>
                <a:latin typeface="Arial"/>
                <a:ea typeface="Arial"/>
                <a:cs typeface="Arial"/>
              </a:defRPr>
            </a:lvl2pPr>
            <a:lvl3pPr marR="0" lvl="2" algn="l">
              <a:spcBef>
                <a:spcPts val="0"/>
              </a:spcBef>
              <a:spcAft>
                <a:spcPts val="0"/>
              </a:spcAft>
              <a:buSzPts val="1400"/>
              <a:buNone/>
              <a:defRPr sz="1800" b="0" i="0" u="none" strike="noStrike" cap="none">
                <a:solidFill>
                  <a:schemeClr val="dk1"/>
                </a:solidFill>
                <a:latin typeface="Arial"/>
                <a:ea typeface="Arial"/>
                <a:cs typeface="Arial"/>
              </a:defRPr>
            </a:lvl3pPr>
            <a:lvl4pPr marR="0" lvl="3" algn="l">
              <a:spcBef>
                <a:spcPts val="0"/>
              </a:spcBef>
              <a:spcAft>
                <a:spcPts val="0"/>
              </a:spcAft>
              <a:buSzPts val="1400"/>
              <a:buNone/>
              <a:defRPr sz="1800" b="0" i="0" u="none" strike="noStrike" cap="none">
                <a:solidFill>
                  <a:schemeClr val="dk1"/>
                </a:solidFill>
                <a:latin typeface="Arial"/>
                <a:ea typeface="Arial"/>
                <a:cs typeface="Arial"/>
              </a:defRPr>
            </a:lvl4pPr>
            <a:lvl5pPr marR="0" lvl="4" algn="l">
              <a:spcBef>
                <a:spcPts val="0"/>
              </a:spcBef>
              <a:spcAft>
                <a:spcPts val="0"/>
              </a:spcAft>
              <a:buSzPts val="1400"/>
              <a:buNone/>
              <a:defRPr sz="1800" b="0" i="0" u="none" strike="noStrike" cap="none">
                <a:solidFill>
                  <a:schemeClr val="dk1"/>
                </a:solidFill>
                <a:latin typeface="Arial"/>
                <a:ea typeface="Arial"/>
                <a:cs typeface="Arial"/>
              </a:defRPr>
            </a:lvl5pPr>
            <a:lvl6pPr marR="0" lvl="5" algn="l">
              <a:spcBef>
                <a:spcPts val="0"/>
              </a:spcBef>
              <a:spcAft>
                <a:spcPts val="0"/>
              </a:spcAft>
              <a:buSzPts val="1400"/>
              <a:buNone/>
              <a:defRPr sz="1800" b="0" i="0" u="none" strike="noStrike" cap="none">
                <a:solidFill>
                  <a:schemeClr val="dk1"/>
                </a:solidFill>
                <a:latin typeface="Arial"/>
                <a:ea typeface="Arial"/>
                <a:cs typeface="Arial"/>
              </a:defRPr>
            </a:lvl6pPr>
            <a:lvl7pPr marR="0" lvl="6" algn="l">
              <a:spcBef>
                <a:spcPts val="0"/>
              </a:spcBef>
              <a:spcAft>
                <a:spcPts val="0"/>
              </a:spcAft>
              <a:buSzPts val="1400"/>
              <a:buNone/>
              <a:defRPr sz="1800" b="0" i="0" u="none" strike="noStrike" cap="none">
                <a:solidFill>
                  <a:schemeClr val="dk1"/>
                </a:solidFill>
                <a:latin typeface="Arial"/>
                <a:ea typeface="Arial"/>
                <a:cs typeface="Arial"/>
              </a:defRPr>
            </a:lvl7pPr>
            <a:lvl8pPr marR="0" lvl="7" algn="l">
              <a:spcBef>
                <a:spcPts val="0"/>
              </a:spcBef>
              <a:spcAft>
                <a:spcPts val="0"/>
              </a:spcAft>
              <a:buSzPts val="1400"/>
              <a:buNone/>
              <a:defRPr sz="1800" b="0" i="0" u="none" strike="noStrike" cap="none">
                <a:solidFill>
                  <a:schemeClr val="dk1"/>
                </a:solidFill>
                <a:latin typeface="Arial"/>
                <a:ea typeface="Arial"/>
                <a:cs typeface="Arial"/>
              </a:defRPr>
            </a:lvl8pPr>
            <a:lvl9pPr marR="0" lvl="8" algn="l">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92275166" name="Google Shape;135;p20"/>
          <p:cNvSpPr txBox="1"/>
          <p:nvPr>
            <p:ph type="sldNum" idx="12"/>
          </p:nvPr>
        </p:nvSpPr>
        <p:spPr bwMode="auto">
          <a:xfrm>
            <a:off x="6588224" y="4904292"/>
            <a:ext cx="457200" cy="2058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0_Title and Content" preserve="0" showMasterPhAnim="0" showMasterSp="1" userDrawn="1">
  <p:cSld name="40_Title and Content">
    <p:spTree>
      <p:nvGrpSpPr>
        <p:cNvPr id="1" name=""/>
        <p:cNvGrpSpPr/>
        <p:nvPr/>
      </p:nvGrpSpPr>
      <p:grpSpPr bwMode="auto">
        <a:xfrm>
          <a:off x="0" y="0"/>
          <a:ext cx="0" cy="0"/>
          <a:chOff x="0" y="0"/>
          <a:chExt cx="0" cy="0"/>
        </a:xfrm>
      </p:grpSpPr>
      <p:sp>
        <p:nvSpPr>
          <p:cNvPr id="821005347" name="Google Shape;137;p21"/>
          <p:cNvSpPr txBox="1"/>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30927222" name="Google Shape;138;p21"/>
          <p:cNvSpPr txBox="1"/>
          <p:nvPr>
            <p:ph type="body" idx="1"/>
          </p:nvPr>
        </p:nvSpPr>
        <p:spPr bwMode="auto">
          <a:xfrm>
            <a:off x="685800" y="742950"/>
            <a:ext cx="7543800" cy="256500"/>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07192873" name="Google Shape;139;p21"/>
          <p:cNvSpPr txBox="1"/>
          <p:nvPr>
            <p:ph type="dt" idx="10"/>
          </p:nvPr>
        </p:nvSpPr>
        <p:spPr bwMode="auto">
          <a:xfrm>
            <a:off x="4644008" y="4904292"/>
            <a:ext cx="1905000" cy="205800"/>
          </a:xfrm>
          <a:prstGeom prst="rect">
            <a:avLst/>
          </a:prstGeom>
          <a:noFill/>
          <a:ln>
            <a:noFill/>
          </a:ln>
        </p:spPr>
        <p:txBody>
          <a:bodyPr spcFirstLastPara="1" wrap="square" lIns="91425" tIns="45700" rIns="91425" bIns="45700" anchor="t" anchorCtr="0">
            <a:noAutofit/>
          </a:bodyPr>
          <a:lstStyle>
            <a:lvl1pPr marR="0" lvl="0" algn="r">
              <a:spcBef>
                <a:spcPts val="0"/>
              </a:spcBef>
              <a:spcAft>
                <a:spcPts val="0"/>
              </a:spcAft>
              <a:buSzPts val="1400"/>
              <a:buNone/>
              <a:defRPr sz="1050">
                <a:solidFill>
                  <a:srgbClr val="0098ED"/>
                </a:solidFill>
                <a:latin typeface="Lucida Sans"/>
                <a:ea typeface="Lucida Sans"/>
                <a:cs typeface="Lucida Sans"/>
              </a:defRPr>
            </a:lvl1pPr>
            <a:lvl2pPr marR="0" lvl="1" algn="l">
              <a:spcBef>
                <a:spcPts val="0"/>
              </a:spcBef>
              <a:spcAft>
                <a:spcPts val="0"/>
              </a:spcAft>
              <a:buSzPts val="1400"/>
              <a:buNone/>
              <a:defRPr sz="1800" b="0" i="0" u="none" strike="noStrike" cap="none">
                <a:solidFill>
                  <a:schemeClr val="dk1"/>
                </a:solidFill>
                <a:latin typeface="Arial"/>
                <a:ea typeface="Arial"/>
                <a:cs typeface="Arial"/>
              </a:defRPr>
            </a:lvl2pPr>
            <a:lvl3pPr marR="0" lvl="2" algn="l">
              <a:spcBef>
                <a:spcPts val="0"/>
              </a:spcBef>
              <a:spcAft>
                <a:spcPts val="0"/>
              </a:spcAft>
              <a:buSzPts val="1400"/>
              <a:buNone/>
              <a:defRPr sz="1800" b="0" i="0" u="none" strike="noStrike" cap="none">
                <a:solidFill>
                  <a:schemeClr val="dk1"/>
                </a:solidFill>
                <a:latin typeface="Arial"/>
                <a:ea typeface="Arial"/>
                <a:cs typeface="Arial"/>
              </a:defRPr>
            </a:lvl3pPr>
            <a:lvl4pPr marR="0" lvl="3" algn="l">
              <a:spcBef>
                <a:spcPts val="0"/>
              </a:spcBef>
              <a:spcAft>
                <a:spcPts val="0"/>
              </a:spcAft>
              <a:buSzPts val="1400"/>
              <a:buNone/>
              <a:defRPr sz="1800" b="0" i="0" u="none" strike="noStrike" cap="none">
                <a:solidFill>
                  <a:schemeClr val="dk1"/>
                </a:solidFill>
                <a:latin typeface="Arial"/>
                <a:ea typeface="Arial"/>
                <a:cs typeface="Arial"/>
              </a:defRPr>
            </a:lvl4pPr>
            <a:lvl5pPr marR="0" lvl="4" algn="l">
              <a:spcBef>
                <a:spcPts val="0"/>
              </a:spcBef>
              <a:spcAft>
                <a:spcPts val="0"/>
              </a:spcAft>
              <a:buSzPts val="1400"/>
              <a:buNone/>
              <a:defRPr sz="1800" b="0" i="0" u="none" strike="noStrike" cap="none">
                <a:solidFill>
                  <a:schemeClr val="dk1"/>
                </a:solidFill>
                <a:latin typeface="Arial"/>
                <a:ea typeface="Arial"/>
                <a:cs typeface="Arial"/>
              </a:defRPr>
            </a:lvl5pPr>
            <a:lvl6pPr marR="0" lvl="5" algn="l">
              <a:spcBef>
                <a:spcPts val="0"/>
              </a:spcBef>
              <a:spcAft>
                <a:spcPts val="0"/>
              </a:spcAft>
              <a:buSzPts val="1400"/>
              <a:buNone/>
              <a:defRPr sz="1800" b="0" i="0" u="none" strike="noStrike" cap="none">
                <a:solidFill>
                  <a:schemeClr val="dk1"/>
                </a:solidFill>
                <a:latin typeface="Arial"/>
                <a:ea typeface="Arial"/>
                <a:cs typeface="Arial"/>
              </a:defRPr>
            </a:lvl6pPr>
            <a:lvl7pPr marR="0" lvl="6" algn="l">
              <a:spcBef>
                <a:spcPts val="0"/>
              </a:spcBef>
              <a:spcAft>
                <a:spcPts val="0"/>
              </a:spcAft>
              <a:buSzPts val="1400"/>
              <a:buNone/>
              <a:defRPr sz="1800" b="0" i="0" u="none" strike="noStrike" cap="none">
                <a:solidFill>
                  <a:schemeClr val="dk1"/>
                </a:solidFill>
                <a:latin typeface="Arial"/>
                <a:ea typeface="Arial"/>
                <a:cs typeface="Arial"/>
              </a:defRPr>
            </a:lvl7pPr>
            <a:lvl8pPr marR="0" lvl="7" algn="l">
              <a:spcBef>
                <a:spcPts val="0"/>
              </a:spcBef>
              <a:spcAft>
                <a:spcPts val="0"/>
              </a:spcAft>
              <a:buSzPts val="1400"/>
              <a:buNone/>
              <a:defRPr sz="1800" b="0" i="0" u="none" strike="noStrike" cap="none">
                <a:solidFill>
                  <a:schemeClr val="dk1"/>
                </a:solidFill>
                <a:latin typeface="Arial"/>
                <a:ea typeface="Arial"/>
                <a:cs typeface="Arial"/>
              </a:defRPr>
            </a:lvl8pPr>
            <a:lvl9pPr marR="0" lvl="8" algn="l">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304576796" name="Google Shape;140;p21"/>
          <p:cNvSpPr txBox="1"/>
          <p:nvPr>
            <p:ph type="ftr" idx="11"/>
          </p:nvPr>
        </p:nvSpPr>
        <p:spPr bwMode="auto">
          <a:xfrm>
            <a:off x="35496" y="4904292"/>
            <a:ext cx="2895600" cy="2058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050">
                <a:solidFill>
                  <a:srgbClr val="0098ED"/>
                </a:solidFill>
                <a:latin typeface="Lucida Sans"/>
                <a:ea typeface="Lucida Sans"/>
                <a:cs typeface="Lucida Sans"/>
              </a:defRPr>
            </a:lvl1pPr>
            <a:lvl2pPr marR="0" lvl="1" algn="l">
              <a:spcBef>
                <a:spcPts val="0"/>
              </a:spcBef>
              <a:spcAft>
                <a:spcPts val="0"/>
              </a:spcAft>
              <a:buSzPts val="1400"/>
              <a:buNone/>
              <a:defRPr sz="1800" b="0" i="0" u="none" strike="noStrike" cap="none">
                <a:solidFill>
                  <a:schemeClr val="dk1"/>
                </a:solidFill>
                <a:latin typeface="Arial"/>
                <a:ea typeface="Arial"/>
                <a:cs typeface="Arial"/>
              </a:defRPr>
            </a:lvl2pPr>
            <a:lvl3pPr marR="0" lvl="2" algn="l">
              <a:spcBef>
                <a:spcPts val="0"/>
              </a:spcBef>
              <a:spcAft>
                <a:spcPts val="0"/>
              </a:spcAft>
              <a:buSzPts val="1400"/>
              <a:buNone/>
              <a:defRPr sz="1800" b="0" i="0" u="none" strike="noStrike" cap="none">
                <a:solidFill>
                  <a:schemeClr val="dk1"/>
                </a:solidFill>
                <a:latin typeface="Arial"/>
                <a:ea typeface="Arial"/>
                <a:cs typeface="Arial"/>
              </a:defRPr>
            </a:lvl3pPr>
            <a:lvl4pPr marR="0" lvl="3" algn="l">
              <a:spcBef>
                <a:spcPts val="0"/>
              </a:spcBef>
              <a:spcAft>
                <a:spcPts val="0"/>
              </a:spcAft>
              <a:buSzPts val="1400"/>
              <a:buNone/>
              <a:defRPr sz="1800" b="0" i="0" u="none" strike="noStrike" cap="none">
                <a:solidFill>
                  <a:schemeClr val="dk1"/>
                </a:solidFill>
                <a:latin typeface="Arial"/>
                <a:ea typeface="Arial"/>
                <a:cs typeface="Arial"/>
              </a:defRPr>
            </a:lvl4pPr>
            <a:lvl5pPr marR="0" lvl="4" algn="l">
              <a:spcBef>
                <a:spcPts val="0"/>
              </a:spcBef>
              <a:spcAft>
                <a:spcPts val="0"/>
              </a:spcAft>
              <a:buSzPts val="1400"/>
              <a:buNone/>
              <a:defRPr sz="1800" b="0" i="0" u="none" strike="noStrike" cap="none">
                <a:solidFill>
                  <a:schemeClr val="dk1"/>
                </a:solidFill>
                <a:latin typeface="Arial"/>
                <a:ea typeface="Arial"/>
                <a:cs typeface="Arial"/>
              </a:defRPr>
            </a:lvl5pPr>
            <a:lvl6pPr marR="0" lvl="5" algn="l">
              <a:spcBef>
                <a:spcPts val="0"/>
              </a:spcBef>
              <a:spcAft>
                <a:spcPts val="0"/>
              </a:spcAft>
              <a:buSzPts val="1400"/>
              <a:buNone/>
              <a:defRPr sz="1800" b="0" i="0" u="none" strike="noStrike" cap="none">
                <a:solidFill>
                  <a:schemeClr val="dk1"/>
                </a:solidFill>
                <a:latin typeface="Arial"/>
                <a:ea typeface="Arial"/>
                <a:cs typeface="Arial"/>
              </a:defRPr>
            </a:lvl6pPr>
            <a:lvl7pPr marR="0" lvl="6" algn="l">
              <a:spcBef>
                <a:spcPts val="0"/>
              </a:spcBef>
              <a:spcAft>
                <a:spcPts val="0"/>
              </a:spcAft>
              <a:buSzPts val="1400"/>
              <a:buNone/>
              <a:defRPr sz="1800" b="0" i="0" u="none" strike="noStrike" cap="none">
                <a:solidFill>
                  <a:schemeClr val="dk1"/>
                </a:solidFill>
                <a:latin typeface="Arial"/>
                <a:ea typeface="Arial"/>
                <a:cs typeface="Arial"/>
              </a:defRPr>
            </a:lvl7pPr>
            <a:lvl8pPr marR="0" lvl="7" algn="l">
              <a:spcBef>
                <a:spcPts val="0"/>
              </a:spcBef>
              <a:spcAft>
                <a:spcPts val="0"/>
              </a:spcAft>
              <a:buSzPts val="1400"/>
              <a:buNone/>
              <a:defRPr sz="1800" b="0" i="0" u="none" strike="noStrike" cap="none">
                <a:solidFill>
                  <a:schemeClr val="dk1"/>
                </a:solidFill>
                <a:latin typeface="Arial"/>
                <a:ea typeface="Arial"/>
                <a:cs typeface="Arial"/>
              </a:defRPr>
            </a:lvl8pPr>
            <a:lvl9pPr marR="0" lvl="8" algn="l">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685228964" name="Google Shape;141;p21"/>
          <p:cNvSpPr txBox="1"/>
          <p:nvPr>
            <p:ph type="sldNum" idx="12"/>
          </p:nvPr>
        </p:nvSpPr>
        <p:spPr bwMode="auto">
          <a:xfrm>
            <a:off x="6588224" y="4904292"/>
            <a:ext cx="457200" cy="2058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1_Title and Content" preserve="0" showMasterPhAnim="0" showMasterSp="1" userDrawn="1">
  <p:cSld name="41_Title and Content">
    <p:spTree>
      <p:nvGrpSpPr>
        <p:cNvPr id="1" name=""/>
        <p:cNvGrpSpPr/>
        <p:nvPr/>
      </p:nvGrpSpPr>
      <p:grpSpPr bwMode="auto">
        <a:xfrm>
          <a:off x="0" y="0"/>
          <a:ext cx="0" cy="0"/>
          <a:chOff x="0" y="0"/>
          <a:chExt cx="0" cy="0"/>
        </a:xfrm>
      </p:grpSpPr>
      <p:sp>
        <p:nvSpPr>
          <p:cNvPr id="1364385269" name="Google Shape;143;p22"/>
          <p:cNvSpPr txBox="1"/>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65915914" name="Google Shape;144;p22"/>
          <p:cNvSpPr txBox="1"/>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47033195" name="Google Shape;145;p22"/>
          <p:cNvSpPr txBox="1"/>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11343449" name="Google Shape;146;p22"/>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2_Title and Content" preserve="0" showMasterPhAnim="0" showMasterSp="1" userDrawn="1">
  <p:cSld name="42_Title and Content">
    <p:spTree>
      <p:nvGrpSpPr>
        <p:cNvPr id="1" name=""/>
        <p:cNvGrpSpPr/>
        <p:nvPr/>
      </p:nvGrpSpPr>
      <p:grpSpPr bwMode="auto">
        <a:xfrm>
          <a:off x="0" y="0"/>
          <a:ext cx="0" cy="0"/>
          <a:chOff x="0" y="0"/>
          <a:chExt cx="0" cy="0"/>
        </a:xfrm>
      </p:grpSpPr>
      <p:sp>
        <p:nvSpPr>
          <p:cNvPr id="2146210323" name="Google Shape;148;p23"/>
          <p:cNvSpPr txBox="1"/>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70397150" name="Google Shape;149;p23"/>
          <p:cNvSpPr txBox="1"/>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88279237" name="Google Shape;150;p23"/>
          <p:cNvSpPr txBox="1"/>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42897453" name="Google Shape;151;p23"/>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3_Title and Content" preserve="0" showMasterPhAnim="0" showMasterSp="1" type="obj" userDrawn="1">
  <p:cSld name="OBJECT">
    <p:spTree>
      <p:nvGrpSpPr>
        <p:cNvPr id="1" name=""/>
        <p:cNvGrpSpPr/>
        <p:nvPr/>
      </p:nvGrpSpPr>
      <p:grpSpPr bwMode="auto">
        <a:xfrm>
          <a:off x="0" y="0"/>
          <a:ext cx="0" cy="0"/>
          <a:chOff x="0" y="0"/>
          <a:chExt cx="0" cy="0"/>
        </a:xfrm>
      </p:grpSpPr>
      <p:sp>
        <p:nvSpPr>
          <p:cNvPr id="700769095" name="Google Shape;153;p24"/>
          <p:cNvSpPr txBox="1"/>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16819485" name="Google Shape;154;p24"/>
          <p:cNvSpPr txBox="1"/>
          <p:nvPr>
            <p:ph type="body" idx="1"/>
          </p:nvPr>
        </p:nvSpPr>
        <p:spPr bwMode="auto">
          <a:xfrm>
            <a:off x="260225" y="1244725"/>
            <a:ext cx="8531400" cy="3013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39303353" name="Google Shape;155;p24"/>
          <p:cNvSpPr txBox="1"/>
          <p:nvPr>
            <p:ph type="dt" idx="10"/>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chemeClr val="dk1"/>
                </a:solidFill>
                <a:latin typeface="Arial"/>
                <a:ea typeface="Arial"/>
                <a:cs typeface="Arial"/>
              </a:defRPr>
            </a:lvl1pPr>
            <a:lvl2pPr marR="0" lvl="1" algn="l">
              <a:spcBef>
                <a:spcPts val="0"/>
              </a:spcBef>
              <a:spcAft>
                <a:spcPts val="0"/>
              </a:spcAft>
              <a:buSzPts val="1400"/>
              <a:buNone/>
              <a:defRPr sz="1800" b="0" i="0" u="none" strike="noStrike" cap="none">
                <a:solidFill>
                  <a:schemeClr val="dk1"/>
                </a:solidFill>
                <a:latin typeface="Arial"/>
                <a:ea typeface="Arial"/>
                <a:cs typeface="Arial"/>
              </a:defRPr>
            </a:lvl2pPr>
            <a:lvl3pPr marR="0" lvl="2" algn="l">
              <a:spcBef>
                <a:spcPts val="0"/>
              </a:spcBef>
              <a:spcAft>
                <a:spcPts val="0"/>
              </a:spcAft>
              <a:buSzPts val="1400"/>
              <a:buNone/>
              <a:defRPr sz="1800" b="0" i="0" u="none" strike="noStrike" cap="none">
                <a:solidFill>
                  <a:schemeClr val="dk1"/>
                </a:solidFill>
                <a:latin typeface="Arial"/>
                <a:ea typeface="Arial"/>
                <a:cs typeface="Arial"/>
              </a:defRPr>
            </a:lvl3pPr>
            <a:lvl4pPr marR="0" lvl="3" algn="l">
              <a:spcBef>
                <a:spcPts val="0"/>
              </a:spcBef>
              <a:spcAft>
                <a:spcPts val="0"/>
              </a:spcAft>
              <a:buSzPts val="1400"/>
              <a:buNone/>
              <a:defRPr sz="1800" b="0" i="0" u="none" strike="noStrike" cap="none">
                <a:solidFill>
                  <a:schemeClr val="dk1"/>
                </a:solidFill>
                <a:latin typeface="Arial"/>
                <a:ea typeface="Arial"/>
                <a:cs typeface="Arial"/>
              </a:defRPr>
            </a:lvl4pPr>
            <a:lvl5pPr marR="0" lvl="4" algn="l">
              <a:spcBef>
                <a:spcPts val="0"/>
              </a:spcBef>
              <a:spcAft>
                <a:spcPts val="0"/>
              </a:spcAft>
              <a:buSzPts val="1400"/>
              <a:buNone/>
              <a:defRPr sz="1800" b="0" i="0" u="none" strike="noStrike" cap="none">
                <a:solidFill>
                  <a:schemeClr val="dk1"/>
                </a:solidFill>
                <a:latin typeface="Arial"/>
                <a:ea typeface="Arial"/>
                <a:cs typeface="Arial"/>
              </a:defRPr>
            </a:lvl5pPr>
            <a:lvl6pPr marR="0" lvl="5" algn="l">
              <a:spcBef>
                <a:spcPts val="0"/>
              </a:spcBef>
              <a:spcAft>
                <a:spcPts val="0"/>
              </a:spcAft>
              <a:buSzPts val="1400"/>
              <a:buNone/>
              <a:defRPr sz="1800" b="0" i="0" u="none" strike="noStrike" cap="none">
                <a:solidFill>
                  <a:schemeClr val="dk1"/>
                </a:solidFill>
                <a:latin typeface="Arial"/>
                <a:ea typeface="Arial"/>
                <a:cs typeface="Arial"/>
              </a:defRPr>
            </a:lvl6pPr>
            <a:lvl7pPr marR="0" lvl="6" algn="l">
              <a:spcBef>
                <a:spcPts val="0"/>
              </a:spcBef>
              <a:spcAft>
                <a:spcPts val="0"/>
              </a:spcAft>
              <a:buSzPts val="1400"/>
              <a:buNone/>
              <a:defRPr sz="1800" b="0" i="0" u="none" strike="noStrike" cap="none">
                <a:solidFill>
                  <a:schemeClr val="dk1"/>
                </a:solidFill>
                <a:latin typeface="Arial"/>
                <a:ea typeface="Arial"/>
                <a:cs typeface="Arial"/>
              </a:defRPr>
            </a:lvl7pPr>
            <a:lvl8pPr marR="0" lvl="7" algn="l">
              <a:spcBef>
                <a:spcPts val="0"/>
              </a:spcBef>
              <a:spcAft>
                <a:spcPts val="0"/>
              </a:spcAft>
              <a:buSzPts val="1400"/>
              <a:buNone/>
              <a:defRPr sz="1800" b="0" i="0" u="none" strike="noStrike" cap="none">
                <a:solidFill>
                  <a:schemeClr val="dk1"/>
                </a:solidFill>
                <a:latin typeface="Arial"/>
                <a:ea typeface="Arial"/>
                <a:cs typeface="Arial"/>
              </a:defRPr>
            </a:lvl8pPr>
            <a:lvl9pPr marR="0" lvl="8" algn="l">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95589757" name="Google Shape;156;p24"/>
          <p:cNvSpPr txBox="1"/>
          <p:nvPr>
            <p:ph type="ftr" idx="1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chemeClr val="dk1"/>
                </a:solidFill>
                <a:latin typeface="Arial"/>
                <a:ea typeface="Arial"/>
                <a:cs typeface="Arial"/>
              </a:defRPr>
            </a:lvl1pPr>
            <a:lvl2pPr marR="0" lvl="1" algn="l">
              <a:spcBef>
                <a:spcPts val="0"/>
              </a:spcBef>
              <a:spcAft>
                <a:spcPts val="0"/>
              </a:spcAft>
              <a:buSzPts val="1400"/>
              <a:buNone/>
              <a:defRPr sz="1800" b="0" i="0" u="none" strike="noStrike" cap="none">
                <a:solidFill>
                  <a:schemeClr val="dk1"/>
                </a:solidFill>
                <a:latin typeface="Arial"/>
                <a:ea typeface="Arial"/>
                <a:cs typeface="Arial"/>
              </a:defRPr>
            </a:lvl2pPr>
            <a:lvl3pPr marR="0" lvl="2" algn="l">
              <a:spcBef>
                <a:spcPts val="0"/>
              </a:spcBef>
              <a:spcAft>
                <a:spcPts val="0"/>
              </a:spcAft>
              <a:buSzPts val="1400"/>
              <a:buNone/>
              <a:defRPr sz="1800" b="0" i="0" u="none" strike="noStrike" cap="none">
                <a:solidFill>
                  <a:schemeClr val="dk1"/>
                </a:solidFill>
                <a:latin typeface="Arial"/>
                <a:ea typeface="Arial"/>
                <a:cs typeface="Arial"/>
              </a:defRPr>
            </a:lvl3pPr>
            <a:lvl4pPr marR="0" lvl="3" algn="l">
              <a:spcBef>
                <a:spcPts val="0"/>
              </a:spcBef>
              <a:spcAft>
                <a:spcPts val="0"/>
              </a:spcAft>
              <a:buSzPts val="1400"/>
              <a:buNone/>
              <a:defRPr sz="1800" b="0" i="0" u="none" strike="noStrike" cap="none">
                <a:solidFill>
                  <a:schemeClr val="dk1"/>
                </a:solidFill>
                <a:latin typeface="Arial"/>
                <a:ea typeface="Arial"/>
                <a:cs typeface="Arial"/>
              </a:defRPr>
            </a:lvl4pPr>
            <a:lvl5pPr marR="0" lvl="4" algn="l">
              <a:spcBef>
                <a:spcPts val="0"/>
              </a:spcBef>
              <a:spcAft>
                <a:spcPts val="0"/>
              </a:spcAft>
              <a:buSzPts val="1400"/>
              <a:buNone/>
              <a:defRPr sz="1800" b="0" i="0" u="none" strike="noStrike" cap="none">
                <a:solidFill>
                  <a:schemeClr val="dk1"/>
                </a:solidFill>
                <a:latin typeface="Arial"/>
                <a:ea typeface="Arial"/>
                <a:cs typeface="Arial"/>
              </a:defRPr>
            </a:lvl5pPr>
            <a:lvl6pPr marR="0" lvl="5" algn="l">
              <a:spcBef>
                <a:spcPts val="0"/>
              </a:spcBef>
              <a:spcAft>
                <a:spcPts val="0"/>
              </a:spcAft>
              <a:buSzPts val="1400"/>
              <a:buNone/>
              <a:defRPr sz="1800" b="0" i="0" u="none" strike="noStrike" cap="none">
                <a:solidFill>
                  <a:schemeClr val="dk1"/>
                </a:solidFill>
                <a:latin typeface="Arial"/>
                <a:ea typeface="Arial"/>
                <a:cs typeface="Arial"/>
              </a:defRPr>
            </a:lvl6pPr>
            <a:lvl7pPr marR="0" lvl="6" algn="l">
              <a:spcBef>
                <a:spcPts val="0"/>
              </a:spcBef>
              <a:spcAft>
                <a:spcPts val="0"/>
              </a:spcAft>
              <a:buSzPts val="1400"/>
              <a:buNone/>
              <a:defRPr sz="1800" b="0" i="0" u="none" strike="noStrike" cap="none">
                <a:solidFill>
                  <a:schemeClr val="dk1"/>
                </a:solidFill>
                <a:latin typeface="Arial"/>
                <a:ea typeface="Arial"/>
                <a:cs typeface="Arial"/>
              </a:defRPr>
            </a:lvl7pPr>
            <a:lvl8pPr marR="0" lvl="7" algn="l">
              <a:spcBef>
                <a:spcPts val="0"/>
              </a:spcBef>
              <a:spcAft>
                <a:spcPts val="0"/>
              </a:spcAft>
              <a:buSzPts val="1400"/>
              <a:buNone/>
              <a:defRPr sz="1800" b="0" i="0" u="none" strike="noStrike" cap="none">
                <a:solidFill>
                  <a:schemeClr val="dk1"/>
                </a:solidFill>
                <a:latin typeface="Arial"/>
                <a:ea typeface="Arial"/>
                <a:cs typeface="Arial"/>
              </a:defRPr>
            </a:lvl8pPr>
            <a:lvl9pPr marR="0" lvl="8" algn="l">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474559060" name="Google Shape;157;p24"/>
          <p:cNvSpPr txBox="1"/>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0_Title and Content" preserve="0" showMasterPhAnim="0" showMasterSp="1" userDrawn="1">
  <p:cSld name="50_Title and Content">
    <p:spTree>
      <p:nvGrpSpPr>
        <p:cNvPr id="1" name=""/>
        <p:cNvGrpSpPr/>
        <p:nvPr/>
      </p:nvGrpSpPr>
      <p:grpSpPr bwMode="auto">
        <a:xfrm>
          <a:off x="0" y="0"/>
          <a:ext cx="0" cy="0"/>
          <a:chOff x="0" y="0"/>
          <a:chExt cx="0" cy="0"/>
        </a:xfrm>
      </p:grpSpPr>
      <p:sp>
        <p:nvSpPr>
          <p:cNvPr id="1523126257" name="Google Shape;159;p25"/>
          <p:cNvSpPr txBox="1"/>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01362376" name="Google Shape;160;p25"/>
          <p:cNvSpPr txBox="1"/>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16340659" name="Google Shape;161;p25"/>
          <p:cNvSpPr txBox="1"/>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99018074" name="Google Shape;162;p25"/>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5_Title and Content" preserve="0" showMasterPhAnim="0" showMasterSp="1" userDrawn="1">
  <p:cSld name="55_Title and Content">
    <p:spTree>
      <p:nvGrpSpPr>
        <p:cNvPr id="1" name=""/>
        <p:cNvGrpSpPr/>
        <p:nvPr/>
      </p:nvGrpSpPr>
      <p:grpSpPr bwMode="auto">
        <a:xfrm>
          <a:off x="0" y="0"/>
          <a:ext cx="0" cy="0"/>
          <a:chOff x="0" y="0"/>
          <a:chExt cx="0" cy="0"/>
        </a:xfrm>
      </p:grpSpPr>
      <p:sp>
        <p:nvSpPr>
          <p:cNvPr id="1864689722" name="Google Shape;164;p26"/>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285750" algn="l">
              <a:lnSpc>
                <a:spcPct val="100000"/>
              </a:lnSpc>
              <a:spcBef>
                <a:spcPts val="0"/>
              </a:spcBef>
              <a:spcAft>
                <a:spcPts val="0"/>
              </a:spcAft>
              <a:buClr>
                <a:schemeClr val="dk1"/>
              </a:buClr>
              <a:buSzPts val="900"/>
              <a:buFont typeface="Arial"/>
              <a:buChar char="•"/>
              <a:defRPr sz="900">
                <a:solidFill>
                  <a:schemeClr val="dk1"/>
                </a:solidFill>
                <a:latin typeface="Lucida Sans"/>
                <a:ea typeface="Lucida Sans"/>
                <a:cs typeface="Lucida Sans"/>
              </a:defRPr>
            </a:lvl1pPr>
            <a:lvl2pPr marL="914400" lvl="1" indent="-285750" algn="l">
              <a:spcBef>
                <a:spcPts val="0"/>
              </a:spcBef>
              <a:spcAft>
                <a:spcPts val="0"/>
              </a:spcAft>
              <a:buClr>
                <a:schemeClr val="dk1"/>
              </a:buClr>
              <a:buSzPts val="900"/>
              <a:buChar char="–"/>
              <a:defRPr sz="900">
                <a:latin typeface="Lucida Sans"/>
                <a:ea typeface="Lucida Sans"/>
                <a:cs typeface="Lucida Sans"/>
              </a:defRPr>
            </a:lvl2pPr>
            <a:lvl3pPr marL="1371600" lvl="2" indent="-285750" algn="l">
              <a:spcBef>
                <a:spcPts val="0"/>
              </a:spcBef>
              <a:spcAft>
                <a:spcPts val="0"/>
              </a:spcAft>
              <a:buClr>
                <a:schemeClr val="dk1"/>
              </a:buClr>
              <a:buSzPts val="900"/>
              <a:buFont typeface="Noto Sans Symbols"/>
              <a:buChar char="⮚"/>
              <a:defRPr sz="900">
                <a:latin typeface="Lucida Sans"/>
                <a:ea typeface="Lucida Sans"/>
                <a:cs typeface="Lucida Sans"/>
              </a:defRPr>
            </a:lvl3pPr>
            <a:lvl4pPr marL="1828800" lvl="3" indent="-285750" algn="l">
              <a:spcBef>
                <a:spcPts val="0"/>
              </a:spcBef>
              <a:spcAft>
                <a:spcPts val="0"/>
              </a:spcAft>
              <a:buClr>
                <a:schemeClr val="dk1"/>
              </a:buClr>
              <a:buSzPts val="900"/>
              <a:buFont typeface="Noto Sans Symbols"/>
              <a:buChar char="▪"/>
              <a:defRPr sz="9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6645890" name="Google Shape;165;p26"/>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350"/>
              <a:buFont typeface="Lucida Sans"/>
              <a:buNone/>
              <a:defRPr sz="135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3489394" name="Google Shape;166;p26"/>
          <p:cNvSpPr txBox="1"/>
          <p:nvPr>
            <p:ph type="body" idx="2"/>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80"/>
              </a:spcBef>
              <a:spcAft>
                <a:spcPts val="0"/>
              </a:spcAft>
              <a:buClr>
                <a:schemeClr val="dk1"/>
              </a:buClr>
              <a:buSzPts val="900"/>
              <a:buFont typeface="Arial"/>
              <a:buNone/>
              <a:defRPr sz="900" b="1">
                <a:solidFill>
                  <a:schemeClr val="dk1"/>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88703304" name="Google Shape;167;p26"/>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59_Title and Content" preserve="0" showMasterPhAnim="0" showMasterSp="1" userDrawn="1">
  <p:cSld name="59_Title and Content">
    <p:spTree>
      <p:nvGrpSpPr>
        <p:cNvPr id="1" name=""/>
        <p:cNvGrpSpPr/>
        <p:nvPr/>
      </p:nvGrpSpPr>
      <p:grpSpPr bwMode="auto">
        <a:xfrm>
          <a:off x="0" y="0"/>
          <a:ext cx="0" cy="0"/>
          <a:chOff x="0" y="0"/>
          <a:chExt cx="0" cy="0"/>
        </a:xfrm>
      </p:grpSpPr>
      <p:sp>
        <p:nvSpPr>
          <p:cNvPr id="1012204286" name="Google Shape;169;p27"/>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01977150" name="Google Shape;170;p27"/>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93512308" name="Google Shape;171;p27"/>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49008145" name="Google Shape;172;p27"/>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0_Title and Content" preserve="0" showMasterPhAnim="0" showMasterSp="1" userDrawn="1">
  <p:cSld name="60_Title and Content">
    <p:spTree>
      <p:nvGrpSpPr>
        <p:cNvPr id="1" name=""/>
        <p:cNvGrpSpPr/>
        <p:nvPr/>
      </p:nvGrpSpPr>
      <p:grpSpPr bwMode="auto">
        <a:xfrm>
          <a:off x="0" y="0"/>
          <a:ext cx="0" cy="0"/>
          <a:chOff x="0" y="0"/>
          <a:chExt cx="0" cy="0"/>
        </a:xfrm>
      </p:grpSpPr>
      <p:sp>
        <p:nvSpPr>
          <p:cNvPr id="1001371339" name="Google Shape;174;p28"/>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62860344" name="Google Shape;175;p28"/>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143568022" name="Google Shape;176;p28"/>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06125476" name="Google Shape;177;p28"/>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1_Title and Content" preserve="0" showMasterPhAnim="0" showMasterSp="1" userDrawn="1">
  <p:cSld name="61_Title and Content">
    <p:spTree>
      <p:nvGrpSpPr>
        <p:cNvPr id="1" name=""/>
        <p:cNvGrpSpPr/>
        <p:nvPr/>
      </p:nvGrpSpPr>
      <p:grpSpPr bwMode="auto">
        <a:xfrm>
          <a:off x="0" y="0"/>
          <a:ext cx="0" cy="0"/>
          <a:chOff x="0" y="0"/>
          <a:chExt cx="0" cy="0"/>
        </a:xfrm>
      </p:grpSpPr>
      <p:sp>
        <p:nvSpPr>
          <p:cNvPr id="491578880" name="Google Shape;179;p29"/>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09432395" name="Google Shape;180;p29"/>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51659957" name="Google Shape;181;p29"/>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82966324" name="Google Shape;182;p29"/>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62_Title and Content" preserve="0" showMasterPhAnim="0" showMasterSp="1" userDrawn="1">
  <p:cSld name="62_Title and Content">
    <p:spTree>
      <p:nvGrpSpPr>
        <p:cNvPr id="1" name=""/>
        <p:cNvGrpSpPr/>
        <p:nvPr/>
      </p:nvGrpSpPr>
      <p:grpSpPr bwMode="auto">
        <a:xfrm>
          <a:off x="0" y="0"/>
          <a:ext cx="0" cy="0"/>
          <a:chOff x="0" y="0"/>
          <a:chExt cx="0" cy="0"/>
        </a:xfrm>
      </p:grpSpPr>
      <p:sp>
        <p:nvSpPr>
          <p:cNvPr id="1356847575" name="Google Shape;184;p30"/>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86332525" name="Google Shape;185;p30"/>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06300650" name="Google Shape;186;p30"/>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44182196" name="Google Shape;187;p30"/>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7_Title and Content" preserve="0" showMasterPhAnim="0" showMasterSp="1" userDrawn="1">
  <p:cSld name="7_Title and Content">
    <p:spTree>
      <p:nvGrpSpPr>
        <p:cNvPr id="1" name=""/>
        <p:cNvGrpSpPr/>
        <p:nvPr/>
      </p:nvGrpSpPr>
      <p:grpSpPr bwMode="auto">
        <a:xfrm>
          <a:off x="0" y="0"/>
          <a:ext cx="0" cy="0"/>
          <a:chOff x="0" y="0"/>
          <a:chExt cx="0" cy="0"/>
        </a:xfrm>
      </p:grpSpPr>
      <p:sp>
        <p:nvSpPr>
          <p:cNvPr id="2095015416" name="Google Shape;189;p31"/>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7469337" name="Google Shape;190;p31"/>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62185650" name="Google Shape;191;p31"/>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41623372" name="Google Shape;192;p31"/>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8_Title and Content" preserve="0" showMasterPhAnim="0" showMasterSp="1" userDrawn="1">
  <p:cSld name="8_Title and Content">
    <p:spTree>
      <p:nvGrpSpPr>
        <p:cNvPr id="1" name=""/>
        <p:cNvGrpSpPr/>
        <p:nvPr/>
      </p:nvGrpSpPr>
      <p:grpSpPr bwMode="auto">
        <a:xfrm>
          <a:off x="0" y="0"/>
          <a:ext cx="0" cy="0"/>
          <a:chOff x="0" y="0"/>
          <a:chExt cx="0" cy="0"/>
        </a:xfrm>
      </p:grpSpPr>
      <p:sp>
        <p:nvSpPr>
          <p:cNvPr id="1910716435" name="Google Shape;194;p32"/>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94569236" name="Google Shape;195;p32"/>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974676287" name="Google Shape;196;p32"/>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15930062" name="Google Shape;197;p32"/>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9_Title and Content" preserve="0" showMasterPhAnim="0" showMasterSp="1" userDrawn="1">
  <p:cSld name="9_Title and Content">
    <p:spTree>
      <p:nvGrpSpPr>
        <p:cNvPr id="1" name=""/>
        <p:cNvGrpSpPr/>
        <p:nvPr/>
      </p:nvGrpSpPr>
      <p:grpSpPr bwMode="auto">
        <a:xfrm>
          <a:off x="0" y="0"/>
          <a:ext cx="0" cy="0"/>
          <a:chOff x="0" y="0"/>
          <a:chExt cx="0" cy="0"/>
        </a:xfrm>
      </p:grpSpPr>
      <p:sp>
        <p:nvSpPr>
          <p:cNvPr id="2134391318" name="Google Shape;199;p33"/>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90748776" name="Google Shape;200;p33"/>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65342089" name="Google Shape;201;p33"/>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47644813" name="Google Shape;202;p33"/>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0_Title and Content" preserve="0" showMasterPhAnim="0" showMasterSp="1" userDrawn="1">
  <p:cSld name="10_Title and Content">
    <p:spTree>
      <p:nvGrpSpPr>
        <p:cNvPr id="1" name=""/>
        <p:cNvGrpSpPr/>
        <p:nvPr/>
      </p:nvGrpSpPr>
      <p:grpSpPr bwMode="auto">
        <a:xfrm>
          <a:off x="0" y="0"/>
          <a:ext cx="0" cy="0"/>
          <a:chOff x="0" y="0"/>
          <a:chExt cx="0" cy="0"/>
        </a:xfrm>
      </p:grpSpPr>
      <p:sp>
        <p:nvSpPr>
          <p:cNvPr id="1056475919" name="Google Shape;204;p34"/>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39969323" name="Google Shape;205;p34"/>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49173122" name="Google Shape;206;p34"/>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66161131" name="Google Shape;207;p34"/>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1_Title and Content" preserve="0" showMasterPhAnim="0" showMasterSp="1" userDrawn="1">
  <p:cSld name="11_Title and Content">
    <p:spTree>
      <p:nvGrpSpPr>
        <p:cNvPr id="1" name=""/>
        <p:cNvGrpSpPr/>
        <p:nvPr/>
      </p:nvGrpSpPr>
      <p:grpSpPr bwMode="auto">
        <a:xfrm>
          <a:off x="0" y="0"/>
          <a:ext cx="0" cy="0"/>
          <a:chOff x="0" y="0"/>
          <a:chExt cx="0" cy="0"/>
        </a:xfrm>
      </p:grpSpPr>
      <p:sp>
        <p:nvSpPr>
          <p:cNvPr id="530072657" name="Google Shape;209;p35"/>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69645975" name="Google Shape;210;p35"/>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10895655" name="Google Shape;211;p35"/>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13274749" name="Google Shape;212;p35"/>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2_Title and Content" preserve="0" showMasterPhAnim="0" showMasterSp="1" userDrawn="1">
  <p:cSld name="12_Title and Content">
    <p:spTree>
      <p:nvGrpSpPr>
        <p:cNvPr id="1" name=""/>
        <p:cNvGrpSpPr/>
        <p:nvPr/>
      </p:nvGrpSpPr>
      <p:grpSpPr bwMode="auto">
        <a:xfrm>
          <a:off x="0" y="0"/>
          <a:ext cx="0" cy="0"/>
          <a:chOff x="0" y="0"/>
          <a:chExt cx="0" cy="0"/>
        </a:xfrm>
      </p:grpSpPr>
      <p:sp>
        <p:nvSpPr>
          <p:cNvPr id="1888415203" name="Google Shape;214;p36"/>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39741389" name="Google Shape;215;p36"/>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5459693" name="Google Shape;216;p36"/>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44363483" name="Google Shape;217;p36"/>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5_Title and Content" preserve="0" showMasterPhAnim="0" showMasterSp="1" userDrawn="1">
  <p:cSld name="15_Title and Content">
    <p:spTree>
      <p:nvGrpSpPr>
        <p:cNvPr id="1" name=""/>
        <p:cNvGrpSpPr/>
        <p:nvPr/>
      </p:nvGrpSpPr>
      <p:grpSpPr bwMode="auto">
        <a:xfrm>
          <a:off x="0" y="0"/>
          <a:ext cx="0" cy="0"/>
          <a:chOff x="0" y="0"/>
          <a:chExt cx="0" cy="0"/>
        </a:xfrm>
      </p:grpSpPr>
      <p:sp>
        <p:nvSpPr>
          <p:cNvPr id="1425515492" name="Google Shape;219;p37"/>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33223879" name="Google Shape;220;p37"/>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43527809" name="Google Shape;221;p37"/>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78678067" name="Google Shape;222;p37"/>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6_Title and Content" preserve="0" showMasterPhAnim="0" showMasterSp="1" userDrawn="1">
  <p:cSld name="16_Title and Content">
    <p:spTree>
      <p:nvGrpSpPr>
        <p:cNvPr id="1" name=""/>
        <p:cNvGrpSpPr/>
        <p:nvPr/>
      </p:nvGrpSpPr>
      <p:grpSpPr bwMode="auto">
        <a:xfrm>
          <a:off x="0" y="0"/>
          <a:ext cx="0" cy="0"/>
          <a:chOff x="0" y="0"/>
          <a:chExt cx="0" cy="0"/>
        </a:xfrm>
      </p:grpSpPr>
      <p:sp>
        <p:nvSpPr>
          <p:cNvPr id="1636330768" name="Google Shape;224;p38"/>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87789152" name="Google Shape;225;p38"/>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11789852" name="Google Shape;226;p38"/>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96257009" name="Google Shape;227;p38"/>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7_Title and Content" preserve="0" showMasterPhAnim="0" showMasterSp="1" userDrawn="1">
  <p:cSld name="17_Title and Content">
    <p:spTree>
      <p:nvGrpSpPr>
        <p:cNvPr id="1" name=""/>
        <p:cNvGrpSpPr/>
        <p:nvPr/>
      </p:nvGrpSpPr>
      <p:grpSpPr bwMode="auto">
        <a:xfrm>
          <a:off x="0" y="0"/>
          <a:ext cx="0" cy="0"/>
          <a:chOff x="0" y="0"/>
          <a:chExt cx="0" cy="0"/>
        </a:xfrm>
      </p:grpSpPr>
      <p:sp>
        <p:nvSpPr>
          <p:cNvPr id="513444325" name="Google Shape;229;p39"/>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651620461" name="Google Shape;230;p39"/>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0247183" name="Google Shape;231;p39"/>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94281566" name="Google Shape;232;p39"/>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8_Title and Content" preserve="0" showMasterPhAnim="0" showMasterSp="1" userDrawn="1">
  <p:cSld name="18_Title and Content">
    <p:spTree>
      <p:nvGrpSpPr>
        <p:cNvPr id="1" name=""/>
        <p:cNvGrpSpPr/>
        <p:nvPr/>
      </p:nvGrpSpPr>
      <p:grpSpPr bwMode="auto">
        <a:xfrm>
          <a:off x="0" y="0"/>
          <a:ext cx="0" cy="0"/>
          <a:chOff x="0" y="0"/>
          <a:chExt cx="0" cy="0"/>
        </a:xfrm>
      </p:grpSpPr>
      <p:sp>
        <p:nvSpPr>
          <p:cNvPr id="1110016833" name="Google Shape;234;p40"/>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68275110" name="Google Shape;235;p40"/>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09295465" name="Google Shape;236;p40"/>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66017242" name="Google Shape;237;p40"/>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9_Title and Content" preserve="0" showMasterPhAnim="0" showMasterSp="1" userDrawn="1">
  <p:cSld name="19_Title and Content">
    <p:spTree>
      <p:nvGrpSpPr>
        <p:cNvPr id="1" name=""/>
        <p:cNvGrpSpPr/>
        <p:nvPr/>
      </p:nvGrpSpPr>
      <p:grpSpPr bwMode="auto">
        <a:xfrm>
          <a:off x="0" y="0"/>
          <a:ext cx="0" cy="0"/>
          <a:chOff x="0" y="0"/>
          <a:chExt cx="0" cy="0"/>
        </a:xfrm>
      </p:grpSpPr>
      <p:sp>
        <p:nvSpPr>
          <p:cNvPr id="1310387541" name="Google Shape;239;p41"/>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20725397" name="Google Shape;240;p41"/>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62640109" name="Google Shape;241;p41"/>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27555141" name="Google Shape;242;p41"/>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0_Title and Content" preserve="0" showMasterPhAnim="0" showMasterSp="1" userDrawn="1">
  <p:cSld name="20_Title and Content">
    <p:spTree>
      <p:nvGrpSpPr>
        <p:cNvPr id="1" name=""/>
        <p:cNvGrpSpPr/>
        <p:nvPr/>
      </p:nvGrpSpPr>
      <p:grpSpPr bwMode="auto">
        <a:xfrm>
          <a:off x="0" y="0"/>
          <a:ext cx="0" cy="0"/>
          <a:chOff x="0" y="0"/>
          <a:chExt cx="0" cy="0"/>
        </a:xfrm>
      </p:grpSpPr>
      <p:sp>
        <p:nvSpPr>
          <p:cNvPr id="175101228" name="Google Shape;244;p42"/>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66108476" name="Google Shape;245;p42"/>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670947" name="Google Shape;246;p42"/>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01154482" name="Google Shape;247;p42"/>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1_Title and Content" preserve="0" showMasterPhAnim="0" showMasterSp="1" userDrawn="1">
  <p:cSld name="21_Title and Content">
    <p:spTree>
      <p:nvGrpSpPr>
        <p:cNvPr id="1" name=""/>
        <p:cNvGrpSpPr/>
        <p:nvPr/>
      </p:nvGrpSpPr>
      <p:grpSpPr bwMode="auto">
        <a:xfrm>
          <a:off x="0" y="0"/>
          <a:ext cx="0" cy="0"/>
          <a:chOff x="0" y="0"/>
          <a:chExt cx="0" cy="0"/>
        </a:xfrm>
      </p:grpSpPr>
      <p:sp>
        <p:nvSpPr>
          <p:cNvPr id="796860379" name="Google Shape;249;p43"/>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66491892" name="Google Shape;250;p43"/>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6218543" name="Google Shape;251;p43"/>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20388134" name="Google Shape;252;p43"/>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2_Title and Content" preserve="0" showMasterPhAnim="0" showMasterSp="1" userDrawn="1">
  <p:cSld name="22_Title and Content">
    <p:spTree>
      <p:nvGrpSpPr>
        <p:cNvPr id="1" name=""/>
        <p:cNvGrpSpPr/>
        <p:nvPr/>
      </p:nvGrpSpPr>
      <p:grpSpPr bwMode="auto">
        <a:xfrm>
          <a:off x="0" y="0"/>
          <a:ext cx="0" cy="0"/>
          <a:chOff x="0" y="0"/>
          <a:chExt cx="0" cy="0"/>
        </a:xfrm>
      </p:grpSpPr>
      <p:sp>
        <p:nvSpPr>
          <p:cNvPr id="1054523689" name="Google Shape;254;p44"/>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73504038" name="Google Shape;255;p44"/>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03806074" name="Google Shape;256;p44"/>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36096092" name="Google Shape;257;p44"/>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23_Title and Content" preserve="0" showMasterPhAnim="0" showMasterSp="1" userDrawn="1">
  <p:cSld name="23_Title and Content">
    <p:spTree>
      <p:nvGrpSpPr>
        <p:cNvPr id="1" name=""/>
        <p:cNvGrpSpPr/>
        <p:nvPr/>
      </p:nvGrpSpPr>
      <p:grpSpPr bwMode="auto">
        <a:xfrm>
          <a:off x="0" y="0"/>
          <a:ext cx="0" cy="0"/>
          <a:chOff x="0" y="0"/>
          <a:chExt cx="0" cy="0"/>
        </a:xfrm>
      </p:grpSpPr>
      <p:sp>
        <p:nvSpPr>
          <p:cNvPr id="426991255" name="Google Shape;259;p45"/>
          <p:cNvSpPr txBox="1"/>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30128510" name="Google Shape;260;p45"/>
          <p:cNvSpPr txBox="1"/>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00060798" name="Google Shape;261;p45"/>
          <p:cNvSpPr txBox="1"/>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62872556" name="Google Shape;262;p45"/>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040530852" name="Google Shape;264;p46"/>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43366281" name="Google Shape;265;p46"/>
          <p:cNvSpPr txBox="1"/>
          <p:nvPr>
            <p:ph type="body" idx="1"/>
          </p:nvPr>
        </p:nvSpPr>
        <p:spPr bwMode="auto">
          <a:xfrm>
            <a:off x="311700" y="1152475"/>
            <a:ext cx="3999900" cy="3416400"/>
          </a:xfrm>
          <a:prstGeom prst="rect">
            <a:avLst/>
          </a:prstGeom>
        </p:spPr>
        <p:txBody>
          <a:bodyPr spcFirstLastPara="1" wrap="square" lIns="91425" tIns="45700" rIns="91425" bIns="45700" anchor="t" anchorCtr="0">
            <a:normAutofit/>
          </a:bodyPr>
          <a:lstStyle>
            <a:lvl1pPr marL="457200" lvl="0" indent="-317500">
              <a:spcBef>
                <a:spcPts val="280"/>
              </a:spcBef>
              <a:spcAft>
                <a:spcPts val="0"/>
              </a:spcAft>
              <a:buSzPts val="1400"/>
              <a:buChar char="•"/>
              <a:defRPr sz="1400"/>
            </a:lvl1pPr>
            <a:lvl2pPr marL="914400" lvl="1" indent="-304800">
              <a:spcBef>
                <a:spcPts val="260"/>
              </a:spcBef>
              <a:spcAft>
                <a:spcPts val="0"/>
              </a:spcAft>
              <a:buSzPts val="1200"/>
              <a:buChar char="–"/>
              <a:defRPr sz="1200"/>
            </a:lvl2pPr>
            <a:lvl3pPr marL="1371600" lvl="2" indent="-304800">
              <a:spcBef>
                <a:spcPts val="240"/>
              </a:spcBef>
              <a:spcAft>
                <a:spcPts val="0"/>
              </a:spcAft>
              <a:buSzPts val="1200"/>
              <a:buChar char="•"/>
              <a:defRPr sz="1200"/>
            </a:lvl3pPr>
            <a:lvl4pPr marL="1828800" lvl="3" indent="-304800">
              <a:spcBef>
                <a:spcPts val="200"/>
              </a:spcBef>
              <a:spcAft>
                <a:spcPts val="0"/>
              </a:spcAft>
              <a:buSzPts val="1200"/>
              <a:buChar char="–"/>
              <a:defRPr sz="1200"/>
            </a:lvl4pPr>
            <a:lvl5pPr marL="2286000" lvl="4" indent="-304800">
              <a:spcBef>
                <a:spcPts val="160"/>
              </a:spcBef>
              <a:spcAft>
                <a:spcPts val="0"/>
              </a:spcAft>
              <a:buSzPts val="1200"/>
              <a:buChar char="»"/>
              <a:defRPr sz="1200"/>
            </a:lvl5pPr>
            <a:lvl6pPr marL="2743200" lvl="5" indent="-304800">
              <a:spcBef>
                <a:spcPts val="400"/>
              </a:spcBef>
              <a:spcAft>
                <a:spcPts val="0"/>
              </a:spcAft>
              <a:buSzPts val="1200"/>
              <a:buChar char="•"/>
              <a:defRPr sz="1200"/>
            </a:lvl6pPr>
            <a:lvl7pPr marL="3200400" lvl="6" indent="-304800">
              <a:spcBef>
                <a:spcPts val="400"/>
              </a:spcBef>
              <a:spcAft>
                <a:spcPts val="0"/>
              </a:spcAft>
              <a:buSzPts val="1200"/>
              <a:buChar char="•"/>
              <a:defRPr sz="1200"/>
            </a:lvl7pPr>
            <a:lvl8pPr marL="3657600" lvl="7" indent="-304800">
              <a:spcBef>
                <a:spcPts val="400"/>
              </a:spcBef>
              <a:spcAft>
                <a:spcPts val="0"/>
              </a:spcAft>
              <a:buSzPts val="1200"/>
              <a:buChar char="•"/>
              <a:defRPr sz="1200"/>
            </a:lvl8pPr>
            <a:lvl9pPr marL="4114800" lvl="8" indent="-304800">
              <a:spcBef>
                <a:spcPts val="400"/>
              </a:spcBef>
              <a:spcAft>
                <a:spcPts val="0"/>
              </a:spcAft>
              <a:buSzPts val="1200"/>
              <a:buChar char="•"/>
              <a:defRPr sz="1200"/>
            </a:lvl9pPr>
          </a:lstStyle>
          <a:p>
            <a:pPr>
              <a:defRPr/>
            </a:pPr>
            <a:endParaRPr/>
          </a:p>
        </p:txBody>
      </p:sp>
      <p:sp>
        <p:nvSpPr>
          <p:cNvPr id="362577554" name="Google Shape;266;p46"/>
          <p:cNvSpPr txBox="1"/>
          <p:nvPr>
            <p:ph type="body" idx="2"/>
          </p:nvPr>
        </p:nvSpPr>
        <p:spPr bwMode="auto">
          <a:xfrm>
            <a:off x="4832399" y="1152475"/>
            <a:ext cx="3999900" cy="3416400"/>
          </a:xfrm>
          <a:prstGeom prst="rect">
            <a:avLst/>
          </a:prstGeom>
        </p:spPr>
        <p:txBody>
          <a:bodyPr spcFirstLastPara="1" wrap="square" lIns="91425" tIns="45700" rIns="91425" bIns="45700" anchor="t" anchorCtr="0">
            <a:normAutofit/>
          </a:bodyPr>
          <a:lstStyle>
            <a:lvl1pPr marL="457200" lvl="0" indent="-317500">
              <a:spcBef>
                <a:spcPts val="280"/>
              </a:spcBef>
              <a:spcAft>
                <a:spcPts val="0"/>
              </a:spcAft>
              <a:buSzPts val="1400"/>
              <a:buChar char="•"/>
              <a:defRPr sz="1400"/>
            </a:lvl1pPr>
            <a:lvl2pPr marL="914400" lvl="1" indent="-304800">
              <a:spcBef>
                <a:spcPts val="260"/>
              </a:spcBef>
              <a:spcAft>
                <a:spcPts val="0"/>
              </a:spcAft>
              <a:buSzPts val="1200"/>
              <a:buChar char="–"/>
              <a:defRPr sz="1200"/>
            </a:lvl2pPr>
            <a:lvl3pPr marL="1371600" lvl="2" indent="-304800">
              <a:spcBef>
                <a:spcPts val="240"/>
              </a:spcBef>
              <a:spcAft>
                <a:spcPts val="0"/>
              </a:spcAft>
              <a:buSzPts val="1200"/>
              <a:buChar char="•"/>
              <a:defRPr sz="1200"/>
            </a:lvl3pPr>
            <a:lvl4pPr marL="1828800" lvl="3" indent="-304800">
              <a:spcBef>
                <a:spcPts val="200"/>
              </a:spcBef>
              <a:spcAft>
                <a:spcPts val="0"/>
              </a:spcAft>
              <a:buSzPts val="1200"/>
              <a:buChar char="–"/>
              <a:defRPr sz="1200"/>
            </a:lvl4pPr>
            <a:lvl5pPr marL="2286000" lvl="4" indent="-304800">
              <a:spcBef>
                <a:spcPts val="160"/>
              </a:spcBef>
              <a:spcAft>
                <a:spcPts val="0"/>
              </a:spcAft>
              <a:buSzPts val="1200"/>
              <a:buChar char="»"/>
              <a:defRPr sz="1200"/>
            </a:lvl5pPr>
            <a:lvl6pPr marL="2743200" lvl="5" indent="-304800">
              <a:spcBef>
                <a:spcPts val="400"/>
              </a:spcBef>
              <a:spcAft>
                <a:spcPts val="0"/>
              </a:spcAft>
              <a:buSzPts val="1200"/>
              <a:buChar char="•"/>
              <a:defRPr sz="1200"/>
            </a:lvl6pPr>
            <a:lvl7pPr marL="3200400" lvl="6" indent="-304800">
              <a:spcBef>
                <a:spcPts val="400"/>
              </a:spcBef>
              <a:spcAft>
                <a:spcPts val="0"/>
              </a:spcAft>
              <a:buSzPts val="1200"/>
              <a:buChar char="•"/>
              <a:defRPr sz="1200"/>
            </a:lvl7pPr>
            <a:lvl8pPr marL="3657600" lvl="7" indent="-304800">
              <a:spcBef>
                <a:spcPts val="400"/>
              </a:spcBef>
              <a:spcAft>
                <a:spcPts val="0"/>
              </a:spcAft>
              <a:buSzPts val="1200"/>
              <a:buChar char="•"/>
              <a:defRPr sz="1200"/>
            </a:lvl8pPr>
            <a:lvl9pPr marL="4114800" lvl="8" indent="-304800">
              <a:spcBef>
                <a:spcPts val="400"/>
              </a:spcBef>
              <a:spcAft>
                <a:spcPts val="0"/>
              </a:spcAft>
              <a:buSzPts val="1200"/>
              <a:buChar char="•"/>
              <a:defRPr sz="1200"/>
            </a:lvl9pPr>
          </a:lstStyle>
          <a:p>
            <a:pPr>
              <a:defRPr/>
            </a:pPr>
            <a:endParaRPr/>
          </a:p>
        </p:txBody>
      </p:sp>
      <p:sp>
        <p:nvSpPr>
          <p:cNvPr id="2097563929" name="Google Shape;267;p46"/>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1569659123" name="Google Shape;269;p47"/>
          <p:cNvSpPr txBox="1"/>
          <p:nvPr>
            <p:ph type="body" idx="1"/>
          </p:nvPr>
        </p:nvSpPr>
        <p:spPr bwMode="auto">
          <a:xfrm>
            <a:off x="311700" y="4230575"/>
            <a:ext cx="5998800" cy="605100"/>
          </a:xfrm>
          <a:prstGeom prst="rect">
            <a:avLst/>
          </a:prstGeom>
        </p:spPr>
        <p:txBody>
          <a:bodyPr spcFirstLastPara="1" wrap="square" lIns="91425" tIns="45700" rIns="91425" bIns="45700" anchor="ctr" anchorCtr="0">
            <a:normAutofit/>
          </a:bodyPr>
          <a:lstStyle>
            <a:lvl1pPr marL="457200" lvl="0" indent="-228600">
              <a:lnSpc>
                <a:spcPct val="100000"/>
              </a:lnSpc>
              <a:spcBef>
                <a:spcPts val="280"/>
              </a:spcBef>
              <a:spcAft>
                <a:spcPts val="0"/>
              </a:spcAft>
              <a:buSzPts val="1800"/>
              <a:buNone/>
              <a:defRPr/>
            </a:lvl1pPr>
          </a:lstStyle>
          <a:p>
            <a:pPr>
              <a:defRPr/>
            </a:pPr>
            <a:endParaRPr/>
          </a:p>
        </p:txBody>
      </p:sp>
      <p:sp>
        <p:nvSpPr>
          <p:cNvPr id="678980931" name="Google Shape;270;p47"/>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07596548" name="Google Shape;272;p48"/>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85414745" name="Google Shape;273;p48"/>
          <p:cNvSpPr txBox="1"/>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lvl1pPr marL="457200" lvl="0" indent="-342900">
              <a:spcBef>
                <a:spcPts val="280"/>
              </a:spcBef>
              <a:spcAft>
                <a:spcPts val="0"/>
              </a:spcAft>
              <a:buSzPts val="1800"/>
              <a:buChar char="•"/>
              <a:defRPr/>
            </a:lvl1pPr>
            <a:lvl2pPr marL="914400" lvl="1" indent="-330200">
              <a:spcBef>
                <a:spcPts val="260"/>
              </a:spcBef>
              <a:spcAft>
                <a:spcPts val="0"/>
              </a:spcAft>
              <a:buSzPts val="1600"/>
              <a:buChar char="–"/>
              <a:defRPr/>
            </a:lvl2pPr>
            <a:lvl3pPr marL="1371600" lvl="2" indent="-317500">
              <a:spcBef>
                <a:spcPts val="240"/>
              </a:spcBef>
              <a:spcAft>
                <a:spcPts val="0"/>
              </a:spcAft>
              <a:buSzPts val="1400"/>
              <a:buChar char="•"/>
              <a:defRPr/>
            </a:lvl3pPr>
            <a:lvl4pPr marL="1828800" lvl="3" indent="-304800">
              <a:spcBef>
                <a:spcPts val="200"/>
              </a:spcBef>
              <a:spcAft>
                <a:spcPts val="0"/>
              </a:spcAft>
              <a:buSzPts val="1200"/>
              <a:buChar char="–"/>
              <a:defRPr/>
            </a:lvl4pPr>
            <a:lvl5pPr marL="2286000" lvl="4" indent="-292100">
              <a:spcBef>
                <a:spcPts val="160"/>
              </a:spcBef>
              <a:spcAft>
                <a:spcPts val="0"/>
              </a:spcAft>
              <a:buSzPts val="1000"/>
              <a:buChar char="»"/>
              <a:defRPr/>
            </a:lvl5pPr>
            <a:lvl6pPr marL="2743200" lvl="5" indent="-292100">
              <a:spcBef>
                <a:spcPts val="400"/>
              </a:spcBef>
              <a:spcAft>
                <a:spcPts val="0"/>
              </a:spcAft>
              <a:buSzPts val="1000"/>
              <a:buChar char="•"/>
              <a:defRPr/>
            </a:lvl6pPr>
            <a:lvl7pPr marL="3200400" lvl="6" indent="-292100">
              <a:spcBef>
                <a:spcPts val="400"/>
              </a:spcBef>
              <a:spcAft>
                <a:spcPts val="0"/>
              </a:spcAft>
              <a:buSzPts val="1000"/>
              <a:buChar char="•"/>
              <a:defRPr/>
            </a:lvl7pPr>
            <a:lvl8pPr marL="3657600" lvl="7" indent="-292100">
              <a:spcBef>
                <a:spcPts val="400"/>
              </a:spcBef>
              <a:spcAft>
                <a:spcPts val="0"/>
              </a:spcAft>
              <a:buSzPts val="1000"/>
              <a:buChar char="•"/>
              <a:defRPr/>
            </a:lvl8pPr>
            <a:lvl9pPr marL="4114800" lvl="8" indent="-292100">
              <a:spcBef>
                <a:spcPts val="400"/>
              </a:spcBef>
              <a:spcAft>
                <a:spcPts val="0"/>
              </a:spcAft>
              <a:buSzPts val="1000"/>
              <a:buChar char="•"/>
              <a:defRPr/>
            </a:lvl9pPr>
          </a:lstStyle>
          <a:p>
            <a:pPr>
              <a:defRPr/>
            </a:pPr>
            <a:endParaRPr/>
          </a:p>
        </p:txBody>
      </p:sp>
      <p:sp>
        <p:nvSpPr>
          <p:cNvPr id="981914361" name="Google Shape;274;p48"/>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77632022" name="Google Shape;276;p49"/>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 Id="rId5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471406131" name="Google Shape;6;p1"/>
          <p:cNvSpPr txBox="1"/>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Clr>
                <a:srgbClr val="890018"/>
              </a:buClr>
              <a:buSzPts val="2500"/>
              <a:buFont typeface="Montserrat Medium"/>
              <a:buNone/>
              <a:defRPr sz="2500" i="0" u="none" strike="noStrike" cap="none">
                <a:solidFill>
                  <a:srgbClr val="890018"/>
                </a:solidFill>
                <a:latin typeface="Montserrat Medium"/>
                <a:ea typeface="Montserrat Medium"/>
                <a:cs typeface="Montserrat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2113115138" name="Google Shape;7;p1"/>
          <p:cNvSpPr txBox="1"/>
          <p:nvPr>
            <p:ph type="body" idx="1"/>
          </p:nvPr>
        </p:nvSpPr>
        <p:spPr bwMode="auto">
          <a:xfrm>
            <a:off x="260225" y="1244725"/>
            <a:ext cx="8531400" cy="3013800"/>
          </a:xfrm>
          <a:prstGeom prst="rect">
            <a:avLst/>
          </a:prstGeom>
          <a:noFill/>
          <a:ln>
            <a:noFill/>
          </a:ln>
        </p:spPr>
        <p:txBody>
          <a:bodyPr spcFirstLastPara="1" wrap="square" lIns="91425" tIns="45700" rIns="91425" bIns="45700" anchor="t" anchorCtr="0">
            <a:normAutofit/>
          </a:bodyPr>
          <a:lstStyle>
            <a:lvl1pPr marL="457200" marR="0" lvl="0" indent="-342900" algn="l">
              <a:spcBef>
                <a:spcPts val="28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1pPr>
            <a:lvl2pPr marL="914400" marR="0" lvl="1" indent="-330200" algn="l">
              <a:spcBef>
                <a:spcPts val="260"/>
              </a:spcBef>
              <a:spcAft>
                <a:spcPts val="0"/>
              </a:spcAft>
              <a:buClr>
                <a:schemeClr val="dk1"/>
              </a:buClr>
              <a:buSzPts val="1600"/>
              <a:buFont typeface="Arial"/>
              <a:buChar char="–"/>
              <a:defRPr sz="1600" b="0" i="0" u="none" strike="noStrike" cap="none">
                <a:solidFill>
                  <a:schemeClr val="dk1"/>
                </a:solidFill>
                <a:latin typeface="Arial"/>
                <a:ea typeface="Arial"/>
                <a:cs typeface="Arial"/>
              </a:defRPr>
            </a:lvl2pPr>
            <a:lvl3pPr marL="1371600" marR="0" lvl="2" indent="-317500" algn="l">
              <a:spcBef>
                <a:spcPts val="240"/>
              </a:spcBef>
              <a:spcAft>
                <a:spcPts val="0"/>
              </a:spcAft>
              <a:buClr>
                <a:schemeClr val="dk1"/>
              </a:buClr>
              <a:buSzPts val="1400"/>
              <a:buFont typeface="Arial"/>
              <a:buChar char="•"/>
              <a:defRPr b="0" i="0" u="none" strike="noStrike" cap="none">
                <a:solidFill>
                  <a:schemeClr val="dk1"/>
                </a:solidFill>
                <a:latin typeface="Arial"/>
                <a:ea typeface="Arial"/>
                <a:cs typeface="Arial"/>
              </a:defRPr>
            </a:lvl3pPr>
            <a:lvl4pPr marL="1828800" marR="0" lvl="3" indent="-304800" algn="l">
              <a:spcBef>
                <a:spcPts val="200"/>
              </a:spcBef>
              <a:spcAft>
                <a:spcPts val="0"/>
              </a:spcAft>
              <a:buClr>
                <a:schemeClr val="dk1"/>
              </a:buClr>
              <a:buSzPts val="1200"/>
              <a:buFont typeface="Arial"/>
              <a:buChar char="–"/>
              <a:defRPr sz="1200" b="0" i="0" u="none" strike="noStrike" cap="none">
                <a:solidFill>
                  <a:schemeClr val="dk1"/>
                </a:solidFill>
                <a:latin typeface="Arial"/>
                <a:ea typeface="Arial"/>
                <a:cs typeface="Arial"/>
              </a:defRPr>
            </a:lvl4pPr>
            <a:lvl5pPr marL="2286000" marR="0" lvl="4" indent="-292100" algn="l">
              <a:spcBef>
                <a:spcPts val="16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5pPr>
            <a:lvl6pPr marL="2743200" marR="0" lvl="5" indent="-292100" algn="l">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6pPr>
            <a:lvl7pPr marL="3200400" marR="0" lvl="6" indent="-292100" algn="l">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7pPr>
            <a:lvl8pPr marL="3657600" marR="0" lvl="7" indent="-292100" algn="l">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8pPr>
            <a:lvl9pPr marL="4114800" marR="0" lvl="8" indent="-292100" algn="l">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9pPr>
          </a:lstStyle>
          <a:p>
            <a:pPr>
              <a:defRPr/>
            </a:pPr>
            <a:endParaRPr/>
          </a:p>
        </p:txBody>
      </p:sp>
      <p:sp>
        <p:nvSpPr>
          <p:cNvPr id="112950690" name="Google Shape;8;p1"/>
          <p:cNvSpPr txBox="1"/>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800" b="0" i="0" u="none" strike="noStrike" cap="none">
                <a:solidFill>
                  <a:srgbClr val="003B5C"/>
                </a:solidFill>
                <a:latin typeface="Arial"/>
                <a:ea typeface="Arial"/>
                <a:cs typeface="Arial"/>
              </a:defRPr>
            </a:lvl1pPr>
            <a:lvl2pPr marL="0" marR="0" lvl="1" indent="0" algn="r">
              <a:spcBef>
                <a:spcPts val="0"/>
              </a:spcBef>
              <a:buNone/>
              <a:defRPr sz="800" b="0" i="0" u="none" strike="noStrike" cap="none">
                <a:solidFill>
                  <a:srgbClr val="003B5C"/>
                </a:solidFill>
                <a:latin typeface="Arial"/>
                <a:ea typeface="Arial"/>
                <a:cs typeface="Arial"/>
              </a:defRPr>
            </a:lvl2pPr>
            <a:lvl3pPr marL="0" marR="0" lvl="2" indent="0" algn="r">
              <a:spcBef>
                <a:spcPts val="0"/>
              </a:spcBef>
              <a:buNone/>
              <a:defRPr sz="800" b="0" i="0" u="none" strike="noStrike" cap="none">
                <a:solidFill>
                  <a:srgbClr val="003B5C"/>
                </a:solidFill>
                <a:latin typeface="Arial"/>
                <a:ea typeface="Arial"/>
                <a:cs typeface="Arial"/>
              </a:defRPr>
            </a:lvl3pPr>
            <a:lvl4pPr marL="0" marR="0" lvl="3" indent="0" algn="r">
              <a:spcBef>
                <a:spcPts val="0"/>
              </a:spcBef>
              <a:buNone/>
              <a:defRPr sz="800" b="0" i="0" u="none" strike="noStrike" cap="none">
                <a:solidFill>
                  <a:srgbClr val="003B5C"/>
                </a:solidFill>
                <a:latin typeface="Arial"/>
                <a:ea typeface="Arial"/>
                <a:cs typeface="Arial"/>
              </a:defRPr>
            </a:lvl4pPr>
            <a:lvl5pPr marL="0" marR="0" lvl="4" indent="0" algn="r">
              <a:spcBef>
                <a:spcPts val="0"/>
              </a:spcBef>
              <a:buNone/>
              <a:defRPr sz="800" b="0" i="0" u="none" strike="noStrike" cap="none">
                <a:solidFill>
                  <a:srgbClr val="003B5C"/>
                </a:solidFill>
                <a:latin typeface="Arial"/>
                <a:ea typeface="Arial"/>
                <a:cs typeface="Arial"/>
              </a:defRPr>
            </a:lvl5pPr>
            <a:lvl6pPr marL="0" marR="0" lvl="5" indent="0" algn="r">
              <a:spcBef>
                <a:spcPts val="0"/>
              </a:spcBef>
              <a:buNone/>
              <a:defRPr sz="800" b="0" i="0" u="none" strike="noStrike" cap="none">
                <a:solidFill>
                  <a:srgbClr val="003B5C"/>
                </a:solidFill>
                <a:latin typeface="Arial"/>
                <a:ea typeface="Arial"/>
                <a:cs typeface="Arial"/>
              </a:defRPr>
            </a:lvl6pPr>
            <a:lvl7pPr marL="0" marR="0" lvl="6" indent="0" algn="r">
              <a:spcBef>
                <a:spcPts val="0"/>
              </a:spcBef>
              <a:buNone/>
              <a:defRPr sz="800" b="0" i="0" u="none" strike="noStrike" cap="none">
                <a:solidFill>
                  <a:srgbClr val="003B5C"/>
                </a:solidFill>
                <a:latin typeface="Arial"/>
                <a:ea typeface="Arial"/>
                <a:cs typeface="Arial"/>
              </a:defRPr>
            </a:lvl7pPr>
            <a:lvl8pPr marL="0" marR="0" lvl="7" indent="0" algn="r">
              <a:spcBef>
                <a:spcPts val="0"/>
              </a:spcBef>
              <a:buNone/>
              <a:defRPr sz="800" b="0" i="0" u="none" strike="noStrike" cap="none">
                <a:solidFill>
                  <a:srgbClr val="003B5C"/>
                </a:solidFill>
                <a:latin typeface="Arial"/>
                <a:ea typeface="Arial"/>
                <a:cs typeface="Arial"/>
              </a:defRPr>
            </a:lvl8pPr>
            <a:lvl9pPr marL="0" marR="0" lvl="8" indent="0" algn="r">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pic>
        <p:nvPicPr>
          <p:cNvPr id="34832858" name="Google Shape;9;p1" descr="01 Singapore University of Social Sciences_Horizontal Format_Version A_White Background_RGB.png"/>
          <p:cNvPicPr/>
          <p:nvPr/>
        </p:nvPicPr>
        <p:blipFill rotWithShape="1">
          <a:blip r:embed="rId50">
            <a:alphaModFix/>
          </a:blip>
          <a:srcRect l="0" t="0" r="0" b="0"/>
          <a:stretch/>
        </p:blipFill>
        <p:spPr bwMode="auto">
          <a:xfrm>
            <a:off x="349250" y="4562257"/>
            <a:ext cx="732371" cy="37107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 Id="rId3" Type="http://schemas.openxmlformats.org/officeDocument/2006/relationships/hyperlink" Target="http://www.youtube.com/watch?v=aircAruvnKk" TargetMode="External"/><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5.xml"/><Relationship Id="rId3" Type="http://schemas.openxmlformats.org/officeDocument/2006/relationships/image" Target="../media/image22.png"/><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6.xml"/><Relationship Id="rId3"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4.xml"/><Relationship Id="rId3"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1.xml"/><Relationship Id="rId3"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2.xml"/><Relationship Id="rId3"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3.xml"/><Relationship Id="rId3" Type="http://schemas.openxmlformats.org/officeDocument/2006/relationships/image" Target="../media/image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6052171" name="Title 1"/>
          <p:cNvSpPr>
            <a:spLocks noGrp="1"/>
          </p:cNvSpPr>
          <p:nvPr>
            <p:ph type="ctrTitle"/>
          </p:nvPr>
        </p:nvSpPr>
        <p:spPr bwMode="auto"/>
        <p:txBody>
          <a:bodyPr/>
          <a:lstStyle/>
          <a:p>
            <a:pPr>
              <a:defRPr/>
            </a:pPr>
            <a:r>
              <a:rPr/>
              <a:t>Sequence Labelling &amp; Neural Language Models</a:t>
            </a:r>
            <a:endParaRPr/>
          </a:p>
        </p:txBody>
      </p:sp>
      <p:sp>
        <p:nvSpPr>
          <p:cNvPr id="769838282" name="Subtitle 2"/>
          <p:cNvSpPr>
            <a:spLocks noGrp="1"/>
          </p:cNvSpPr>
          <p:nvPr>
            <p:ph type="subTitle" idx="1"/>
          </p:nvPr>
        </p:nvSpPr>
        <p:spPr bwMode="auto"/>
        <p:txBody>
          <a:bodyPr/>
          <a:lstStyle/>
          <a:p>
            <a:pPr>
              <a:defRPr/>
            </a:pPr>
            <a:r>
              <a:rPr/>
              <a:t>HMMs, POS Tagging, Viterbi  |  Feedforward Networks, RNNs, and GRUs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3553997" name="Title 1"/>
          <p:cNvSpPr>
            <a:spLocks noGrp="1"/>
          </p:cNvSpPr>
          <p:nvPr>
            <p:ph type="title"/>
          </p:nvPr>
        </p:nvSpPr>
        <p:spPr bwMode="auto"/>
        <p:txBody>
          <a:bodyPr/>
          <a:lstStyle/>
          <a:p>
            <a:pPr>
              <a:defRPr/>
            </a:pPr>
            <a:r>
              <a:rPr/>
              <a:t>Agenda</a:t>
            </a:r>
            <a:endParaRPr/>
          </a:p>
        </p:txBody>
      </p:sp>
      <p:sp>
        <p:nvSpPr>
          <p:cNvPr id="873362010" name="Text Placeholder 2"/>
          <p:cNvSpPr>
            <a:spLocks noGrp="1"/>
          </p:cNvSpPr>
          <p:nvPr>
            <p:ph type="body" idx="1"/>
          </p:nvPr>
        </p:nvSpPr>
        <p:spPr bwMode="auto"/>
        <p:txBody>
          <a:bodyPr/>
          <a:lstStyle/>
          <a:p>
            <a:pPr>
              <a:defRPr/>
            </a:pPr>
            <a:r>
              <a:rPr/>
              <a:t>Sequence labelling as a problem class; POS tagging, NER, BIO scheme</a:t>
            </a:r>
            <a:endParaRPr/>
          </a:p>
          <a:p>
            <a:pPr>
              <a:defRPr/>
            </a:pPr>
            <a:r>
              <a:rPr/>
              <a:t>HMMs and the Viterbi algorithm — read through a working implementation</a:t>
            </a:r>
            <a:endParaRPr/>
          </a:p>
          <a:p>
            <a:pPr>
              <a:defRPr/>
            </a:pPr>
            <a:r>
              <a:rPr/>
              <a:t>Feedforward neural LM (Bengio 2003) and gradient descent</a:t>
            </a:r>
            <a:endParaRPr/>
          </a:p>
          <a:p>
            <a:pPr>
              <a:defRPr/>
            </a:pPr>
            <a:r>
              <a:rPr/>
              <a:t>RNNs and the vanishing gradient problem</a:t>
            </a:r>
            <a:endParaRPr/>
          </a:p>
          <a:p>
            <a:pPr>
              <a:defRPr/>
            </a:pPr>
            <a:r>
              <a:rPr/>
              <a:t>GRUs and bidirectional GRUs — the TMA Q4 architecture</a:t>
            </a:r>
            <a:endParaRPr/>
          </a:p>
          <a:p>
            <a:pPr>
              <a:defRPr/>
            </a:pPr>
            <a:r>
              <a:rPr/>
              <a:t>Generating text: greedy decoding, beam search, and temperature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2063975" name="Title 1"/>
          <p:cNvSpPr>
            <a:spLocks noGrp="1"/>
          </p:cNvSpPr>
          <p:nvPr>
            <p:ph type="title"/>
          </p:nvPr>
        </p:nvSpPr>
        <p:spPr bwMode="auto"/>
        <p:txBody>
          <a:bodyPr/>
          <a:lstStyle/>
          <a:p>
            <a:pPr>
              <a:defRPr/>
            </a:pPr>
            <a:r>
              <a:rPr/>
              <a:t>Segment 1 — Sequence Labelling as a Problem Class</a:t>
            </a:r>
            <a:endParaRPr/>
          </a:p>
        </p:txBody>
      </p:sp>
      <p:sp>
        <p:nvSpPr>
          <p:cNvPr id="1649839524" name="Text Placeholder 2"/>
          <p:cNvSpPr>
            <a:spLocks noGrp="1"/>
          </p:cNvSpPr>
          <p:nvPr>
            <p:ph type="body" idx="1"/>
          </p:nvPr>
        </p:nvSpPr>
        <p:spPr bwMode="auto"/>
        <p:txBody>
          <a:bodyPr/>
          <a:lstStyle/>
          <a:p>
            <a:pPr>
              <a:defRPr/>
            </a:pPr>
            <a:r>
              <a:rPr/>
              <a:t>Text classification: one label per document</a:t>
            </a:r>
            <a:endParaRPr/>
          </a:p>
          <a:p>
            <a:pPr>
              <a:defRPr/>
            </a:pPr>
            <a:r>
              <a:rPr/>
              <a:t>Sequence labelling: one label per token in the sequence</a:t>
            </a:r>
            <a:endParaRPr/>
          </a:p>
          <a:p>
            <a:pPr>
              <a:defRPr/>
            </a:pPr>
            <a:r>
              <a:rPr/>
              <a:t>Canonical tasks:</a:t>
            </a:r>
            <a:endParaRPr/>
          </a:p>
          <a:p>
            <a:pPr lvl="1">
              <a:defRPr/>
            </a:pPr>
            <a:r>
              <a:rPr/>
              <a:t>POS tagging: "The dog runs fast." → DET NOUN VERB ADV</a:t>
            </a:r>
            <a:endParaRPr/>
          </a:p>
          <a:p>
            <a:pPr lvl="1">
              <a:defRPr/>
            </a:pPr>
            <a:r>
              <a:rPr/>
              <a:t>Named entity recognition (NER): "Barack Obama was born in Hawaii." → PER PER O O O LOC</a:t>
            </a:r>
            <a:endParaRPr/>
          </a:p>
          <a:p>
            <a:pPr lvl="1">
              <a:defRPr/>
            </a:pPr>
            <a:r>
              <a:rPr/>
              <a:t>Chunking: grouping tokens into phrases (NP, VP,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25641347" name="Title 1"/>
          <p:cNvSpPr>
            <a:spLocks noGrp="1"/>
          </p:cNvSpPr>
          <p:nvPr>
            <p:ph type="title"/>
          </p:nvPr>
        </p:nvSpPr>
        <p:spPr bwMode="auto"/>
        <p:txBody>
          <a:bodyPr/>
          <a:lstStyle/>
          <a:p>
            <a:pPr>
              <a:defRPr/>
            </a:pPr>
            <a:r>
              <a:rPr/>
              <a:t>BIO Tagging Scheme for NER</a:t>
            </a:r>
            <a:endParaRPr/>
          </a:p>
        </p:txBody>
      </p:sp>
      <p:sp>
        <p:nvSpPr>
          <p:cNvPr id="891916607" name="Text Placeholder 2"/>
          <p:cNvSpPr>
            <a:spLocks noGrp="1"/>
          </p:cNvSpPr>
          <p:nvPr>
            <p:ph type="body" idx="1"/>
          </p:nvPr>
        </p:nvSpPr>
        <p:spPr bwMode="auto"/>
        <p:txBody>
          <a:bodyPr/>
          <a:lstStyle/>
          <a:p>
            <a:pPr>
              <a:defRPr/>
            </a:pPr>
            <a:r>
              <a:rPr/>
              <a:t>B-TAG: Beginning of an entity of type TAG</a:t>
            </a:r>
            <a:endParaRPr/>
          </a:p>
          <a:p>
            <a:pPr>
              <a:defRPr/>
            </a:pPr>
            <a:r>
              <a:rPr/>
              <a:t>I-TAG: Inside (continuation of) an entity of type TAG</a:t>
            </a:r>
            <a:endParaRPr/>
          </a:p>
          <a:p>
            <a:pPr>
              <a:defRPr/>
            </a:pPr>
            <a:r>
              <a:rPr/>
              <a:t>O: Outside — not part of any entity</a:t>
            </a:r>
            <a:endParaRPr/>
          </a:p>
          <a:p>
            <a:pPr>
              <a:defRPr/>
            </a:pPr>
            <a:r>
              <a:rPr/>
              <a:t>Example: "Barack Obama was born in Hawaii"</a:t>
            </a:r>
            <a:endParaRPr/>
          </a:p>
          <a:p>
            <a:pPr lvl="1">
              <a:defRPr/>
            </a:pPr>
            <a:r>
              <a:rPr/>
              <a:t>B-PER  I-PER  O  O  O  B-LOC</a:t>
            </a:r>
            <a:endParaRPr/>
          </a:p>
          <a:p>
            <a:pPr>
              <a:defRPr/>
            </a:pPr>
            <a:r>
              <a:rPr/>
              <a:t>Why not just PER, PER, O, O, O, LOC?</a:t>
            </a:r>
            <a:endParaRPr/>
          </a:p>
          <a:p>
            <a:pPr lvl="1">
              <a:defRPr/>
            </a:pPr>
            <a:r>
              <a:rPr/>
              <a:t>"Barack Obama Michelle Obama" would be PER PER PER PER — two people or one? BIO makes boundaries explicit.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6145316" name="Title 1"/>
          <p:cNvSpPr>
            <a:spLocks noGrp="1"/>
          </p:cNvSpPr>
          <p:nvPr>
            <p:ph type="title"/>
          </p:nvPr>
        </p:nvSpPr>
        <p:spPr bwMode="auto"/>
        <p:txBody>
          <a:bodyPr/>
          <a:lstStyle/>
          <a:p>
            <a:pPr>
              <a:defRPr/>
            </a:pPr>
            <a:r>
              <a:rPr/>
              <a:t>Exercise</a:t>
            </a:r>
            <a:endParaRPr/>
          </a:p>
        </p:txBody>
      </p:sp>
      <p:sp>
        <p:nvSpPr>
          <p:cNvPr id="1201131309" name="Text Placeholder 2"/>
          <p:cNvSpPr>
            <a:spLocks noGrp="1"/>
          </p:cNvSpPr>
          <p:nvPr>
            <p:ph type="body" idx="1"/>
          </p:nvPr>
        </p:nvSpPr>
        <p:spPr bwMode="auto"/>
        <p:txBody>
          <a:bodyPr/>
          <a:lstStyle/>
          <a:p>
            <a:pPr>
              <a:defRPr/>
            </a:pPr>
            <a:r>
              <a:rPr/>
              <a:t>Tag this sentence using the BIO scheme:</a:t>
            </a:r>
            <a:endParaRPr/>
          </a:p>
          <a:p>
            <a:pPr>
              <a:defRPr/>
            </a:pPr>
            <a:r>
              <a:rPr/>
              <a:t>"Apple CEO Tim Cook announced the new iPhone at the Yerba Buena Center."</a:t>
            </a:r>
            <a:endParaRPr/>
          </a:p>
          <a:p>
            <a:pPr>
              <a:defRPr/>
            </a:pPr>
            <a:r>
              <a:rPr/>
              <a:t>Expected answer:</a:t>
            </a:r>
            <a:endParaRPr/>
          </a:p>
          <a:p>
            <a:pPr lvl="1">
              <a:defRPr/>
            </a:pPr>
            <a:r>
              <a:rPr/>
              <a:t>B-ORG O B-PER I-PER O O O B-PROD I-PROD O O B-LOC I-LOC I-LOC</a:t>
            </a:r>
            <a:endParaRPr/>
          </a:p>
          <a:p>
            <a:pPr>
              <a:defRPr/>
            </a:pPr>
            <a:r>
              <a:rPr/>
              <a:t>Common mistakes: missing that "Tim Cook" is two tokens (B-PER I-PER), or using PER for both without the B/I distinction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4857746" name="Title 1"/>
          <p:cNvSpPr>
            <a:spLocks noGrp="1"/>
          </p:cNvSpPr>
          <p:nvPr>
            <p:ph type="title"/>
          </p:nvPr>
        </p:nvSpPr>
        <p:spPr bwMode="auto"/>
        <p:txBody>
          <a:bodyPr/>
          <a:lstStyle/>
          <a:p>
            <a:pPr>
              <a:defRPr/>
            </a:pPr>
            <a:r>
              <a:rPr/>
              <a:t>Segment 2 — HMMs, Just Enough to Understand Viterbi</a:t>
            </a:r>
            <a:r>
              <a:rPr/>
              <a:t> (optional)</a:t>
            </a:r>
            <a:endParaRPr/>
          </a:p>
        </p:txBody>
      </p:sp>
      <p:sp>
        <p:nvSpPr>
          <p:cNvPr id="1429764959" name="Text Placeholder 2"/>
          <p:cNvSpPr>
            <a:spLocks noGrp="1"/>
          </p:cNvSpPr>
          <p:nvPr>
            <p:ph type="body" idx="1"/>
          </p:nvPr>
        </p:nvSpPr>
        <p:spPr bwMode="auto"/>
        <p:txBody>
          <a:bodyPr/>
          <a:lstStyle/>
          <a:p>
            <a:pPr>
              <a:defRPr/>
            </a:pPr>
            <a:r>
              <a:rPr/>
              <a:t>States (hidden): POS tags — DET, NOUN, VERB, ADJ, ...</a:t>
            </a:r>
            <a:endParaRPr/>
          </a:p>
          <a:p>
            <a:pPr>
              <a:defRPr/>
            </a:pPr>
            <a:r>
              <a:rPr/>
              <a:t>Observations (visible): the actual words</a:t>
            </a:r>
            <a:endParaRPr/>
          </a:p>
          <a:p>
            <a:pPr>
              <a:defRPr/>
            </a:pPr>
            <a:r>
              <a:rPr/>
              <a:t>Transition probabilities A: P(tag_t | tag_t-1) — e.g. "DET NOUN" common, "NOUN NOUN" rare</a:t>
            </a:r>
            <a:endParaRPr/>
          </a:p>
          <a:p>
            <a:pPr>
              <a:defRPr/>
            </a:pPr>
            <a:r>
              <a:rPr/>
              <a:t>Emission probabilities B: P(word | tag) — e.g. P("runs"|VERB) high, P("runs"|DET) near zero</a:t>
            </a:r>
            <a:endParaRPr/>
          </a:p>
          <a:p>
            <a:pPr>
              <a:defRPr/>
            </a:pPr>
            <a:r>
              <a:rPr/>
              <a:t>Why not just pick the best tag greedily, word by word?</a:t>
            </a:r>
            <a:endParaRPr/>
          </a:p>
          <a:p>
            <a:pPr lvl="1">
              <a:defRPr/>
            </a:pPr>
            <a:r>
              <a:rPr/>
              <a:t>A locally-good choice can turn out globally wrong once you see the next word</a:t>
            </a:r>
            <a:endParaRPr/>
          </a:p>
          <a:p>
            <a:pPr>
              <a:defRPr/>
            </a:pPr>
            <a:r>
              <a:rPr/>
              <a:t>The one limitation to remember: first-order Markov assumption</a:t>
            </a:r>
            <a:endParaRPr/>
          </a:p>
          <a:p>
            <a:pPr lvl="1">
              <a:defRPr/>
            </a:pPr>
            <a:r>
              <a:rPr/>
              <a:t>Transition table only looks at the immediately preceding tag — cannot capture non-local dependencies (e.g. subject-verb agreement across a clause)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823641" name="Title 1"/>
          <p:cNvSpPr>
            <a:spLocks noGrp="1"/>
          </p:cNvSpPr>
          <p:nvPr>
            <p:ph type="title"/>
          </p:nvPr>
        </p:nvSpPr>
        <p:spPr bwMode="auto"/>
        <p:txBody>
          <a:bodyPr/>
          <a:lstStyle/>
          <a:p>
            <a:pPr>
              <a:defRPr/>
            </a:pPr>
            <a:r>
              <a:rPr/>
              <a:t>Three Probability Tables </a:t>
            </a:r>
            <a:r>
              <a:rPr lang="en-US" sz="2500" b="0" i="0" u="none" strike="noStrike" cap="none" spc="0">
                <a:solidFill>
                  <a:srgbClr val="890018"/>
                </a:solidFill>
                <a:latin typeface="Montserrat Medium"/>
                <a:ea typeface="Montserrat Medium"/>
                <a:cs typeface="Montserrat Medium"/>
              </a:rPr>
              <a:t>(optional)</a:t>
            </a:r>
            <a:endParaRPr/>
          </a:p>
        </p:txBody>
      </p:sp>
      <p:sp>
        <p:nvSpPr>
          <p:cNvPr id="915163908" name="Text Placeholder 2"/>
          <p:cNvSpPr>
            <a:spLocks noGrp="1"/>
          </p:cNvSpPr>
          <p:nvPr>
            <p:ph type="body" idx="1"/>
          </p:nvPr>
        </p:nvSpPr>
        <p:spPr bwMode="auto"/>
        <p:txBody>
          <a:bodyPr/>
          <a:lstStyle/>
          <a:p>
            <a:pPr>
              <a:defRPr/>
            </a:pPr>
            <a:r>
              <a:rPr/>
              <a:t>Initial state probabilities π: P(tag at position 1)</a:t>
            </a:r>
            <a:endParaRPr/>
          </a:p>
          <a:p>
            <a:pPr lvl="1">
              <a:defRPr/>
            </a:pPr>
            <a:r>
              <a:rPr/>
              <a:t>"The" is almost always DET, so π(DET) is high</a:t>
            </a:r>
            <a:endParaRPr/>
          </a:p>
          <a:p>
            <a:pPr>
              <a:defRPr/>
            </a:pPr>
            <a:r>
              <a:rPr/>
              <a:t>Transition probabilities A: P(tagₜ | tagₜ₋₁)</a:t>
            </a:r>
            <a:endParaRPr/>
          </a:p>
          <a:p>
            <a:pPr lvl="1">
              <a:defRPr/>
            </a:pPr>
            <a:r>
              <a:rPr/>
              <a:t>"DET NOUN" is common; "NOUN NOUN" is rare — learned by counting transitions in a tagged corpus</a:t>
            </a:r>
            <a:endParaRPr/>
          </a:p>
          <a:p>
            <a:pPr>
              <a:defRPr/>
            </a:pPr>
            <a:r>
              <a:rPr/>
              <a:t>Emission probabilities B: P(word | tag)</a:t>
            </a:r>
            <a:endParaRPr/>
          </a:p>
          <a:p>
            <a:pPr lvl="1">
              <a:defRPr/>
            </a:pPr>
            <a:r>
              <a:rPr/>
              <a:t>P("runs" | VERB) is high; P("runs" | DET) is near zero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1068562" name="Title 1"/>
          <p:cNvSpPr>
            <a:spLocks noGrp="1"/>
          </p:cNvSpPr>
          <p:nvPr>
            <p:ph type="title"/>
          </p:nvPr>
        </p:nvSpPr>
        <p:spPr bwMode="auto"/>
        <p:txBody>
          <a:bodyPr/>
          <a:lstStyle/>
          <a:p>
            <a:pPr>
              <a:defRPr/>
            </a:pPr>
            <a:r>
              <a:rPr/>
              <a:t>Segment 3 — Viterbi: Reading the Code (optional)</a:t>
            </a:r>
            <a:endParaRPr/>
          </a:p>
        </p:txBody>
      </p:sp>
      <p:sp>
        <p:nvSpPr>
          <p:cNvPr id="1394954168" name="Text Placeholder 2"/>
          <p:cNvSpPr>
            <a:spLocks noGrp="1"/>
          </p:cNvSpPr>
          <p:nvPr>
            <p:ph type="body" idx="1"/>
          </p:nvPr>
        </p:nvSpPr>
        <p:spPr bwMode="auto"/>
        <p:txBody>
          <a:bodyPr/>
          <a:lstStyle/>
          <a:p>
            <a:pPr>
              <a:defRPr/>
            </a:pPr>
            <a:r>
              <a:rPr/>
              <a:t>The idea in one sentence: build a trellis (best score so far, per tag, per position) plus a backpointer table, then walk forward and backtrack</a:t>
            </a:r>
            <a:endParaRPr/>
          </a:p>
          <a:p>
            <a:pPr>
              <a:defRPr/>
            </a:pPr>
            <a:r>
              <a:rPr/>
              <a:t>Viterbi vs. the forward algorithm:</a:t>
            </a:r>
            <a:endParaRPr/>
          </a:p>
          <a:p>
            <a:pPr lvl="1">
              <a:defRPr/>
            </a:pPr>
            <a:r>
              <a:rPr/>
              <a:t>Viterbi takes the max over previous-tag paths — finds the single best tag sequence</a:t>
            </a:r>
            <a:endParaRPr/>
          </a:p>
          <a:p>
            <a:pPr lvl="1">
              <a:defRPr/>
            </a:pPr>
            <a:r>
              <a:rPr/>
              <a:t>Forward algorithm takes the sum — finds the total probability of the sentence</a:t>
            </a:r>
            <a:endParaRPr/>
          </a:p>
          <a:p>
            <a:pPr>
              <a:defRPr/>
            </a:pPr>
            <a:r>
              <a:rPr/>
              <a:t>Same table structure, different operator — this is the classic quiz confusion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9919131" name="Text Placeholder 1"/>
          <p:cNvSpPr>
            <a:spLocks noGrp="1"/>
          </p:cNvSpPr>
          <p:nvPr>
            <p:ph type="body" idx="1"/>
          </p:nvPr>
        </p:nvSpPr>
        <p:spPr bwMode="auto"/>
        <p:txBody>
          <a:bodyPr/>
          <a:lstStyle/>
          <a:p>
            <a:pPr>
              <a:defRPr/>
            </a:pPr>
            <a:r>
              <a:rPr/>
              <a:t>Viterbi in Code (1/2) — Setup and Recurrence</a:t>
            </a:r>
            <a:endParaRPr/>
          </a:p>
        </p:txBody>
      </p:sp>
      <p:sp>
        <p:nvSpPr>
          <p:cNvPr id="1389171891" name="TextBox 2"/>
          <p:cNvSpPr txBox="1"/>
          <p:nvPr/>
        </p:nvSpPr>
        <p:spPr bwMode="auto">
          <a:xfrm>
            <a:off x="3855124" y="175574"/>
            <a:ext cx="4520700" cy="4329000"/>
          </a:xfrm>
          <a:prstGeom prst="rect">
            <a:avLst/>
          </a:prstGeom>
          <a:noFill/>
        </p:spPr>
        <p:txBody>
          <a:bodyPr wrap="square">
            <a:spAutoFit/>
          </a:bodyPr>
          <a:lstStyle/>
          <a:p>
            <a:pPr>
              <a:defRPr/>
            </a:pPr>
            <a:r>
              <a:rPr sz="900">
                <a:latin typeface="Courier New"/>
              </a:rPr>
              <a:t>def viterbi(observations, tags, pi,</a:t>
            </a:r>
            <a:endParaRPr/>
          </a:p>
          <a:p>
            <a:pPr>
              <a:defRPr/>
            </a:pPr>
            <a:r>
              <a:rPr sz="900">
                <a:latin typeface="Courier New"/>
              </a:rPr>
              <a:t>            transitions, emissions):</a:t>
            </a:r>
            <a:endParaRPr/>
          </a:p>
          <a:p>
            <a:pPr>
              <a:defRPr/>
            </a:pPr>
            <a:r>
              <a:rPr sz="900">
                <a:latin typeface="Courier New"/>
              </a:rPr>
              <a:t>    T = len(observations)</a:t>
            </a:r>
            <a:endParaRPr/>
          </a:p>
          <a:p>
            <a:pPr>
              <a:defRPr/>
            </a:pPr>
            <a:r>
              <a:rPr sz="900">
                <a:latin typeface="Courier New"/>
              </a:rPr>
              <a:t>    viterbi_table = [{} for _ in range(T)]</a:t>
            </a:r>
            <a:endParaRPr/>
          </a:p>
          <a:p>
            <a:pPr>
              <a:defRPr/>
            </a:pPr>
            <a:r>
              <a:rPr sz="900">
                <a:latin typeface="Courier New"/>
              </a:rPr>
              <a:t>    backpointer   = [{} for _ in range(T)]</a:t>
            </a:r>
            <a:endParaRPr/>
          </a:p>
          <a:p>
            <a:pPr>
              <a:defRPr/>
            </a:pPr>
            <a:endParaRPr/>
          </a:p>
          <a:p>
            <a:pPr>
              <a:defRPr/>
            </a:pPr>
            <a:r>
              <a:rPr sz="900">
                <a:latin typeface="Courier New"/>
              </a:rPr>
              <a:t>    # Step 1 - initialise at t=0</a:t>
            </a:r>
            <a:endParaRPr/>
          </a:p>
          <a:p>
            <a:pPr>
              <a:defRPr/>
            </a:pPr>
            <a:r>
              <a:rPr sz="900">
                <a:latin typeface="Courier New"/>
              </a:rPr>
              <a:t>    word = observations[0]</a:t>
            </a:r>
            <a:endParaRPr/>
          </a:p>
          <a:p>
            <a:pPr>
              <a:defRPr/>
            </a:pPr>
            <a:r>
              <a:rPr sz="900">
                <a:latin typeface="Courier New"/>
              </a:rPr>
              <a:t>    for tag in tags:</a:t>
            </a:r>
            <a:endParaRPr/>
          </a:p>
          <a:p>
            <a:pPr>
              <a:defRPr/>
            </a:pPr>
            <a:r>
              <a:rPr sz="900">
                <a:latin typeface="Courier New"/>
              </a:rPr>
              <a:t>        emit = emissions[tag].get(word, 1e-10)</a:t>
            </a:r>
            <a:endParaRPr/>
          </a:p>
          <a:p>
            <a:pPr>
              <a:defRPr/>
            </a:pPr>
            <a:r>
              <a:rPr sz="900">
                <a:latin typeface="Courier New"/>
              </a:rPr>
              <a:t>        viterbi_table[0][tag] = (</a:t>
            </a:r>
            <a:endParaRPr/>
          </a:p>
          <a:p>
            <a:pPr>
              <a:defRPr/>
            </a:pPr>
            <a:r>
              <a:rPr sz="900">
                <a:latin typeface="Courier New"/>
              </a:rPr>
              <a:t>            math.log(pi[tag]) + math.log(emit))</a:t>
            </a:r>
            <a:endParaRPr/>
          </a:p>
          <a:p>
            <a:pPr>
              <a:defRPr/>
            </a:pPr>
            <a:r>
              <a:rPr sz="900">
                <a:latin typeface="Courier New"/>
              </a:rPr>
              <a:t>        backpointer[0][tag] = None</a:t>
            </a:r>
            <a:endParaRPr/>
          </a:p>
          <a:p>
            <a:pPr>
              <a:defRPr/>
            </a:pPr>
            <a:endParaRPr/>
          </a:p>
          <a:p>
            <a:pPr>
              <a:defRPr/>
            </a:pPr>
            <a:r>
              <a:rPr sz="900">
                <a:latin typeface="Courier New"/>
              </a:rPr>
              <a:t>    # Step 2 - recurrence</a:t>
            </a:r>
            <a:endParaRPr/>
          </a:p>
          <a:p>
            <a:pPr>
              <a:defRPr/>
            </a:pPr>
            <a:r>
              <a:rPr sz="900">
                <a:latin typeface="Courier New"/>
              </a:rPr>
              <a:t>    for t in range(1, T):</a:t>
            </a:r>
            <a:endParaRPr/>
          </a:p>
          <a:p>
            <a:pPr>
              <a:defRPr/>
            </a:pPr>
            <a:r>
              <a:rPr sz="900">
                <a:latin typeface="Courier New"/>
              </a:rPr>
              <a:t>        word = observations[t]</a:t>
            </a:r>
            <a:endParaRPr/>
          </a:p>
          <a:p>
            <a:pPr>
              <a:defRPr/>
            </a:pPr>
            <a:r>
              <a:rPr sz="900">
                <a:latin typeface="Courier New"/>
              </a:rPr>
              <a:t>        for tag in tags:</a:t>
            </a:r>
            <a:endParaRPr/>
          </a:p>
          <a:p>
            <a:pPr>
              <a:defRPr/>
            </a:pPr>
            <a:r>
              <a:rPr sz="900">
                <a:latin typeface="Courier New"/>
              </a:rPr>
              <a:t>            emit = emissions[tag].get(word, 1e-10)</a:t>
            </a:r>
            <a:endParaRPr/>
          </a:p>
          <a:p>
            <a:pPr>
              <a:defRPr/>
            </a:pPr>
            <a:r>
              <a:rPr sz="900">
                <a:latin typeface="Courier New"/>
              </a:rPr>
              <a:t>            best_prev_tag, best_score = None, float("-inf")</a:t>
            </a:r>
            <a:endParaRPr/>
          </a:p>
          <a:p>
            <a:pPr>
              <a:defRPr/>
            </a:pPr>
            <a:r>
              <a:rPr sz="900">
                <a:latin typeface="Courier New"/>
              </a:rPr>
              <a:t>            for prev_tag in tags:</a:t>
            </a:r>
            <a:endParaRPr/>
          </a:p>
          <a:p>
            <a:pPr>
              <a:defRPr/>
            </a:pPr>
            <a:r>
              <a:rPr sz="900">
                <a:latin typeface="Courier New"/>
              </a:rPr>
              <a:t>                trans = transitions[prev_tag].get(tag, 1e-10)</a:t>
            </a:r>
            <a:endParaRPr/>
          </a:p>
          <a:p>
            <a:pPr>
              <a:defRPr/>
            </a:pPr>
            <a:r>
              <a:rPr sz="900">
                <a:latin typeface="Courier New"/>
              </a:rPr>
              <a:t>                score = (viterbi_table[t-1][prev_tag]</a:t>
            </a:r>
            <a:endParaRPr/>
          </a:p>
          <a:p>
            <a:pPr>
              <a:defRPr/>
            </a:pPr>
            <a:r>
              <a:rPr sz="900">
                <a:latin typeface="Courier New"/>
              </a:rPr>
              <a:t>                         + math.log(trans))</a:t>
            </a:r>
            <a:endParaRPr/>
          </a:p>
          <a:p>
            <a:pPr>
              <a:defRPr/>
            </a:pPr>
            <a:r>
              <a:rPr sz="900">
                <a:latin typeface="Courier New"/>
              </a:rPr>
              <a:t>                if score &gt; best_score:</a:t>
            </a:r>
            <a:endParaRPr/>
          </a:p>
          <a:p>
            <a:pPr>
              <a:defRPr/>
            </a:pPr>
            <a:r>
              <a:rPr sz="900">
                <a:latin typeface="Courier New"/>
              </a:rPr>
              <a:t>                    best_prev_tag, best_score = prev_tag, score</a:t>
            </a:r>
            <a:endParaRPr/>
          </a:p>
          <a:p>
            <a:pPr>
              <a:defRPr/>
            </a:pPr>
            <a:r>
              <a:rPr sz="900">
                <a:latin typeface="Courier New"/>
              </a:rPr>
              <a:t>            viterbi_table[t][tag] = best_score + math.log(emit)</a:t>
            </a:r>
            <a:endParaRPr/>
          </a:p>
          <a:p>
            <a:pPr>
              <a:defRPr/>
            </a:pPr>
            <a:r>
              <a:rPr sz="900">
                <a:latin typeface="Courier New"/>
              </a:rPr>
              <a:t>            backpointer[t][tag] = best_prev_tag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62821" name="Text Placeholder 1"/>
          <p:cNvSpPr>
            <a:spLocks noGrp="1"/>
          </p:cNvSpPr>
          <p:nvPr>
            <p:ph type="body" idx="1"/>
          </p:nvPr>
        </p:nvSpPr>
        <p:spPr bwMode="auto"/>
        <p:txBody>
          <a:bodyPr/>
          <a:lstStyle/>
          <a:p>
            <a:pPr>
              <a:defRPr/>
            </a:pPr>
            <a:r>
              <a:rPr/>
              <a:t>Viterbi in Code (2/2) — Best Tag and Backtrack</a:t>
            </a:r>
            <a:endParaRPr/>
          </a:p>
        </p:txBody>
      </p:sp>
      <p:sp>
        <p:nvSpPr>
          <p:cNvPr id="1501807677" name="TextBox 2"/>
          <p:cNvSpPr txBox="1"/>
          <p:nvPr/>
        </p:nvSpPr>
        <p:spPr bwMode="auto">
          <a:xfrm>
            <a:off x="3855124" y="175574"/>
            <a:ext cx="4520700" cy="4329000"/>
          </a:xfrm>
          <a:prstGeom prst="rect">
            <a:avLst/>
          </a:prstGeom>
          <a:noFill/>
        </p:spPr>
        <p:txBody>
          <a:bodyPr wrap="square">
            <a:spAutoFit/>
          </a:bodyPr>
          <a:lstStyle/>
          <a:p>
            <a:pPr>
              <a:defRPr/>
            </a:pPr>
            <a:r>
              <a:rPr sz="900">
                <a:latin typeface="Courier New"/>
              </a:rPr>
              <a:t>    # Step 3 - best final tag</a:t>
            </a:r>
            <a:endParaRPr/>
          </a:p>
          <a:p>
            <a:pPr>
              <a:defRPr/>
            </a:pPr>
            <a:r>
              <a:rPr sz="900">
                <a:latin typeface="Courier New"/>
              </a:rPr>
              <a:t>    best_final_tag = max(</a:t>
            </a:r>
            <a:endParaRPr/>
          </a:p>
          <a:p>
            <a:pPr>
              <a:defRPr/>
            </a:pPr>
            <a:r>
              <a:rPr sz="900">
                <a:latin typeface="Courier New"/>
              </a:rPr>
              <a:t>        tags, key=lambda tag: viterbi_table[T-1][tag])</a:t>
            </a:r>
            <a:endParaRPr/>
          </a:p>
          <a:p>
            <a:pPr>
              <a:defRPr/>
            </a:pPr>
            <a:endParaRPr/>
          </a:p>
          <a:p>
            <a:pPr>
              <a:defRPr/>
            </a:pPr>
            <a:r>
              <a:rPr sz="900">
                <a:latin typeface="Courier New"/>
              </a:rPr>
              <a:t>    # Step 4 - backtrack through backpointers</a:t>
            </a:r>
            <a:endParaRPr/>
          </a:p>
          <a:p>
            <a:pPr>
              <a:defRPr/>
            </a:pPr>
            <a:r>
              <a:rPr sz="900">
                <a:latin typeface="Courier New"/>
              </a:rPr>
              <a:t>    best_path = [best_final_tag]</a:t>
            </a:r>
            <a:endParaRPr/>
          </a:p>
          <a:p>
            <a:pPr>
              <a:defRPr/>
            </a:pPr>
            <a:r>
              <a:rPr sz="900">
                <a:latin typeface="Courier New"/>
              </a:rPr>
              <a:t>    current_tag = best_final_tag</a:t>
            </a:r>
            <a:endParaRPr/>
          </a:p>
          <a:p>
            <a:pPr>
              <a:defRPr/>
            </a:pPr>
            <a:r>
              <a:rPr sz="900">
                <a:latin typeface="Courier New"/>
              </a:rPr>
              <a:t>    for t in range(T - 1, 0, -1):</a:t>
            </a:r>
            <a:endParaRPr/>
          </a:p>
          <a:p>
            <a:pPr>
              <a:defRPr/>
            </a:pPr>
            <a:r>
              <a:rPr sz="900">
                <a:latin typeface="Courier New"/>
              </a:rPr>
              <a:t>        current_tag = backpointer[t][current_tag]</a:t>
            </a:r>
            <a:endParaRPr/>
          </a:p>
          <a:p>
            <a:pPr>
              <a:defRPr/>
            </a:pPr>
            <a:r>
              <a:rPr sz="900">
                <a:latin typeface="Courier New"/>
              </a:rPr>
              <a:t>        best_path.insert(0, current_tag)</a:t>
            </a:r>
            <a:endParaRPr/>
          </a:p>
          <a:p>
            <a:pPr>
              <a:defRPr/>
            </a:pPr>
            <a:endParaRPr/>
          </a:p>
          <a:p>
            <a:pPr>
              <a:defRPr/>
            </a:pPr>
            <a:r>
              <a:rPr sz="900">
                <a:latin typeface="Courier New"/>
              </a:rPr>
              <a:t>    return best_path</a:t>
            </a:r>
            <a:endParaRPr/>
          </a:p>
          <a:p>
            <a:pPr>
              <a:defRPr/>
            </a:pPr>
            <a:endParaRPr/>
          </a:p>
          <a:p>
            <a:pPr>
              <a:defRPr/>
            </a:pPr>
            <a:r>
              <a:rPr sz="900">
                <a:latin typeface="Courier New"/>
              </a:rPr>
              <a:t>## Run it once and show the output:</a:t>
            </a:r>
            <a:endParaRPr/>
          </a:p>
          <a:p>
            <a:pPr>
              <a:defRPr/>
            </a:pPr>
            <a:r>
              <a:rPr sz="900">
                <a:latin typeface="Courier New"/>
              </a:rPr>
              <a:t>sentence1 = ["the", "dog", "runs"]</a:t>
            </a:r>
            <a:endParaRPr/>
          </a:p>
          <a:p>
            <a:pPr>
              <a:defRPr/>
            </a:pPr>
            <a:r>
              <a:rPr sz="900">
                <a:latin typeface="Courier New"/>
              </a:rPr>
              <a:t>path = viterbi(sentence1, tags, pi,</a:t>
            </a:r>
            <a:endParaRPr/>
          </a:p>
          <a:p>
            <a:pPr>
              <a:defRPr/>
            </a:pPr>
            <a:r>
              <a:rPr sz="900">
                <a:latin typeface="Courier New"/>
              </a:rPr>
              <a:t>               transitions, emissions)</a:t>
            </a:r>
            <a:endParaRPr/>
          </a:p>
          <a:p>
            <a:pPr>
              <a:defRPr/>
            </a:pPr>
            <a:r>
              <a:rPr sz="900">
                <a:latin typeface="Courier New"/>
              </a:rPr>
              <a:t>print(f"Best path: {path}")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4380661" name="Title 1"/>
          <p:cNvSpPr>
            <a:spLocks noGrp="1"/>
          </p:cNvSpPr>
          <p:nvPr>
            <p:ph type="title"/>
          </p:nvPr>
        </p:nvSpPr>
        <p:spPr bwMode="auto"/>
        <p:txBody>
          <a:bodyPr/>
          <a:lstStyle/>
          <a:p>
            <a:pPr>
              <a:defRPr/>
            </a:pPr>
            <a:r>
              <a:rPr/>
              <a:t>What to Notice in the Code</a:t>
            </a:r>
            <a:r>
              <a:rPr lang="en-US" sz="2500" b="0" i="0" u="none" strike="noStrike" cap="none" spc="0">
                <a:solidFill>
                  <a:srgbClr val="890018"/>
                </a:solidFill>
                <a:latin typeface="Montserrat Medium"/>
                <a:ea typeface="Montserrat Medium"/>
                <a:cs typeface="Montserrat Medium"/>
              </a:rPr>
              <a:t> (optional)</a:t>
            </a:r>
            <a:endParaRPr/>
          </a:p>
        </p:txBody>
      </p:sp>
      <p:sp>
        <p:nvSpPr>
          <p:cNvPr id="21153826" name="Text Placeholder 2"/>
          <p:cNvSpPr>
            <a:spLocks noGrp="1"/>
          </p:cNvSpPr>
          <p:nvPr>
            <p:ph type="body" idx="1"/>
          </p:nvPr>
        </p:nvSpPr>
        <p:spPr bwMode="auto"/>
        <p:txBody>
          <a:bodyPr/>
          <a:lstStyle/>
          <a:p>
            <a:pPr>
              <a:defRPr/>
            </a:pPr>
            <a:r>
              <a:rPr/>
              <a:t>The recurrence:</a:t>
            </a:r>
            <a:endParaRPr/>
          </a:p>
          <a:p>
            <a:pPr lvl="1">
              <a:defRPr/>
            </a:pPr>
            <a:r>
              <a:rPr/>
              <a:t>score = viterbi_table[t-1][prev_tag] + log(trans), then separately + log(emit)</a:t>
            </a:r>
            <a:endParaRPr/>
          </a:p>
          <a:p>
            <a:pPr lvl="1">
              <a:defRPr/>
            </a:pPr>
            <a:r>
              <a:rPr/>
              <a:t>The emission term is added after the max over previous tags, not inside the loop — it doesn’t depend on prev_tag</a:t>
            </a:r>
            <a:endParaRPr/>
          </a:p>
          <a:p>
            <a:pPr>
              <a:defRPr/>
            </a:pPr>
            <a:r>
              <a:rPr/>
              <a:t>Why we need backpointer, not just viterbi_table</a:t>
            </a:r>
            <a:endParaRPr/>
          </a:p>
          <a:p>
            <a:pPr lvl="1">
              <a:defRPr/>
            </a:pPr>
            <a:r>
              <a:rPr/>
              <a:t>viterbi_table alone gives the score of the best path, not the tags that produced it</a:t>
            </a:r>
            <a:endParaRPr/>
          </a:p>
          <a:p>
            <a:pPr>
              <a:defRPr/>
            </a:pPr>
            <a:r>
              <a:rPr/>
              <a:t>Where the trellis and backpointer "are" in the code</a:t>
            </a:r>
            <a:endParaRPr/>
          </a:p>
          <a:p>
            <a:pPr lvl="1">
              <a:defRPr/>
            </a:pPr>
            <a:r>
              <a:rPr/>
              <a:t>Just lists of dicts, one entry per time step — the abstract grid from the textbook is this concrete data structure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4063238" name="Title 1"/>
          <p:cNvSpPr>
            <a:spLocks noGrp="1"/>
          </p:cNvSpPr>
          <p:nvPr>
            <p:ph type="title"/>
          </p:nvPr>
        </p:nvSpPr>
        <p:spPr bwMode="auto"/>
        <p:txBody>
          <a:bodyPr/>
          <a:lstStyle/>
          <a:p>
            <a:pPr>
              <a:defRPr/>
            </a:pPr>
            <a:r>
              <a:rPr/>
              <a:t>The One Limitation, and Where Viterbi Leads</a:t>
            </a:r>
            <a:r>
              <a:rPr/>
              <a:t> </a:t>
            </a:r>
            <a:r>
              <a:rPr lang="en-US" sz="2500" b="0" i="0" u="none" strike="noStrike" cap="none" spc="0">
                <a:solidFill>
                  <a:srgbClr val="890018"/>
                </a:solidFill>
                <a:latin typeface="Montserrat Medium"/>
                <a:ea typeface="Montserrat Medium"/>
                <a:cs typeface="Montserrat Medium"/>
              </a:rPr>
              <a:t>(optional)</a:t>
            </a:r>
            <a:endParaRPr/>
          </a:p>
        </p:txBody>
      </p:sp>
      <p:sp>
        <p:nvSpPr>
          <p:cNvPr id="1085565470" name="Text Placeholder 2"/>
          <p:cNvSpPr>
            <a:spLocks noGrp="1"/>
          </p:cNvSpPr>
          <p:nvPr>
            <p:ph type="body" idx="1"/>
          </p:nvPr>
        </p:nvSpPr>
        <p:spPr bwMode="auto"/>
        <p:txBody>
          <a:bodyPr/>
          <a:lstStyle/>
          <a:p>
            <a:pPr>
              <a:defRPr/>
            </a:pPr>
            <a:r>
              <a:rPr/>
              <a:t>First-order Markov assumption: only the immediately preceding tag matters</a:t>
            </a:r>
            <a:endParaRPr/>
          </a:p>
          <a:p>
            <a:pPr lvl="1">
              <a:defRPr/>
            </a:pPr>
            <a:r>
              <a:rPr/>
              <a:t>Cannot capture non-local dependencies (e.g. subject-verb agreement across a clause)</a:t>
            </a:r>
            <a:endParaRPr/>
          </a:p>
          <a:p>
            <a:pPr>
              <a:defRPr/>
            </a:pPr>
            <a:r>
              <a:rPr/>
              <a:t>Where this idea reappears: beam search (later this lecture)</a:t>
            </a:r>
            <a:endParaRPr/>
          </a:p>
          <a:p>
            <a:pPr lvl="1">
              <a:defRPr/>
            </a:pPr>
            <a:r>
              <a:rPr/>
              <a:t>Same "extend partial solutions, score, keep the best, backtrack" structure</a:t>
            </a:r>
            <a:endParaRPr/>
          </a:p>
          <a:p>
            <a:pPr lvl="1">
              <a:defRPr/>
            </a:pPr>
            <a:r>
              <a:rPr/>
              <a:t>Except beam search can’t afford to try every previous option — we’ll see why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8653714" name="Title 1"/>
          <p:cNvSpPr>
            <a:spLocks noGrp="1"/>
          </p:cNvSpPr>
          <p:nvPr>
            <p:ph type="title"/>
          </p:nvPr>
        </p:nvSpPr>
        <p:spPr bwMode="auto"/>
        <p:txBody>
          <a:bodyPr/>
          <a:lstStyle/>
          <a:p>
            <a:pPr>
              <a:defRPr/>
            </a:pPr>
            <a:r>
              <a:rPr/>
              <a:t>Segment 4 — Why N-gram LMs Cannot Generalise</a:t>
            </a:r>
            <a:endParaRPr/>
          </a:p>
        </p:txBody>
      </p:sp>
      <p:sp>
        <p:nvSpPr>
          <p:cNvPr id="1486099488" name="Text Placeholder 2"/>
          <p:cNvSpPr>
            <a:spLocks noGrp="1"/>
          </p:cNvSpPr>
          <p:nvPr>
            <p:ph type="body" idx="1"/>
          </p:nvPr>
        </p:nvSpPr>
        <p:spPr bwMode="auto"/>
        <p:txBody>
          <a:bodyPr/>
          <a:lstStyle/>
          <a:p>
            <a:pPr>
              <a:defRPr/>
            </a:pPr>
            <a:r>
              <a:rPr/>
              <a:t>"the cat sat" and "the dog sat" are completely independent to a bigram LM</a:t>
            </a:r>
            <a:endParaRPr/>
          </a:p>
          <a:p>
            <a:pPr>
              <a:defRPr/>
            </a:pPr>
            <a:r>
              <a:rPr/>
              <a:t>If "dog sat" is unseen, P(sat | dog) falls back to smoothing — same as P(sat | cat)</a:t>
            </a:r>
            <a:endParaRPr/>
          </a:p>
          <a:p>
            <a:pPr>
              <a:defRPr/>
            </a:pPr>
            <a:r>
              <a:rPr/>
              <a:t>The model cannot generalise that "cat" and "dog" behave similarly as subjects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6755876" name="Title 1"/>
          <p:cNvSpPr>
            <a:spLocks noGrp="1"/>
          </p:cNvSpPr>
          <p:nvPr>
            <p:ph type="title"/>
          </p:nvPr>
        </p:nvSpPr>
        <p:spPr bwMode="auto"/>
        <p:txBody>
          <a:bodyPr/>
          <a:lstStyle/>
          <a:p>
            <a:pPr>
              <a:defRPr/>
            </a:pPr>
            <a:r>
              <a:rPr/>
              <a:t>Bengio et al. (2003) — The First Neural Language Model</a:t>
            </a:r>
            <a:endParaRPr/>
          </a:p>
        </p:txBody>
      </p:sp>
      <p:sp>
        <p:nvSpPr>
          <p:cNvPr id="1456870689" name="Text Placeholder 2"/>
          <p:cNvSpPr>
            <a:spLocks noGrp="1"/>
          </p:cNvSpPr>
          <p:nvPr>
            <p:ph type="body" idx="1"/>
          </p:nvPr>
        </p:nvSpPr>
        <p:spPr bwMode="auto"/>
        <p:txBody>
          <a:bodyPr/>
          <a:lstStyle/>
          <a:p>
            <a:pPr>
              <a:defRPr/>
            </a:pPr>
            <a:r>
              <a:rPr/>
              <a:t>Key idea: represent each word as a dense vector (embedding)</a:t>
            </a:r>
            <a:endParaRPr/>
          </a:p>
          <a:p>
            <a:pPr lvl="1">
              <a:defRPr/>
            </a:pPr>
            <a:r>
              <a:rPr/>
              <a:t>Words with similar embeddings produce similar predictions — "cat" and "dog" → similar contexts predicted</a:t>
            </a:r>
            <a:endParaRPr/>
          </a:p>
          <a:p>
            <a:pPr>
              <a:defRPr/>
            </a:pPr>
            <a:r>
              <a:rPr/>
              <a:t>Architecture:</a:t>
            </a:r>
            <a:endParaRPr/>
          </a:p>
          <a:p>
            <a:pPr lvl="1">
              <a:defRPr/>
            </a:pPr>
            <a:r>
              <a:rPr/>
              <a:t>1. Look up the embedding for each context word wᵢ₋ₖ...wᵢ₋₁</a:t>
            </a:r>
            <a:endParaRPr/>
          </a:p>
          <a:p>
            <a:pPr lvl="1">
              <a:defRPr/>
            </a:pPr>
            <a:r>
              <a:rPr/>
              <a:t>2. Concatenate the context embeddings into one vector</a:t>
            </a:r>
            <a:endParaRPr/>
          </a:p>
          <a:p>
            <a:pPr lvl="1">
              <a:defRPr/>
            </a:pPr>
            <a:r>
              <a:rPr/>
              <a:t>3. Pass through a hidden layer with a non-linearity (tanh or ReLU)</a:t>
            </a:r>
            <a:endParaRPr/>
          </a:p>
          <a:p>
            <a:pPr lvl="1">
              <a:defRPr/>
            </a:pPr>
            <a:r>
              <a:rPr/>
              <a:t>4. Linear layer + softmax over the vocabulary to predict the next word</a:t>
            </a:r>
            <a:endParaRPr/>
          </a:p>
          <a:p>
            <a:pPr>
              <a:defRPr/>
            </a:pPr>
            <a:r>
              <a:rPr/>
              <a:t>Still a fixed-context (Markov) model — generalisation comes from the shared embedding space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0573210" name="Google Shape;323;p57"/>
          <p:cNvSpPr txBox="1"/>
          <p:nvPr/>
        </p:nvSpPr>
        <p:spPr bwMode="auto">
          <a:xfrm>
            <a:off x="1519200" y="424249"/>
            <a:ext cx="2999999" cy="621000"/>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l" rtl="0">
              <a:lnSpc>
                <a:spcPct val="170000"/>
              </a:lnSpc>
              <a:spcBef>
                <a:spcPts val="0"/>
              </a:spcBef>
              <a:spcAft>
                <a:spcPts val="0"/>
              </a:spcAft>
              <a:buNone/>
              <a:defRPr/>
            </a:pPr>
            <a:r>
              <a:rPr lang="en" sz="1050">
                <a:solidFill>
                  <a:srgbClr val="3C4043"/>
                </a:solidFill>
                <a:latin typeface="Roboto Mono"/>
                <a:ea typeface="Roboto Mono"/>
                <a:cs typeface="Roboto Mono"/>
              </a:rPr>
              <a:t>Go until jurong point, crazy.. Available only ...</a:t>
            </a:r>
            <a:endParaRPr sz="1050">
              <a:solidFill>
                <a:srgbClr val="3C4043"/>
              </a:solidFill>
              <a:latin typeface="Roboto Mono"/>
              <a:ea typeface="Roboto Mono"/>
              <a:cs typeface="Roboto Mono"/>
            </a:endParaRPr>
          </a:p>
        </p:txBody>
      </p:sp>
      <p:sp>
        <p:nvSpPr>
          <p:cNvPr id="919560805" name="Google Shape;324;p57"/>
          <p:cNvSpPr txBox="1"/>
          <p:nvPr/>
        </p:nvSpPr>
        <p:spPr bwMode="auto">
          <a:xfrm>
            <a:off x="5516398" y="525600"/>
            <a:ext cx="507600" cy="3461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l" rtl="0">
              <a:lnSpc>
                <a:spcPct val="170000"/>
              </a:lnSpc>
              <a:spcBef>
                <a:spcPts val="0"/>
              </a:spcBef>
              <a:spcAft>
                <a:spcPts val="0"/>
              </a:spcAft>
              <a:buNone/>
              <a:defRPr/>
            </a:pPr>
            <a:r>
              <a:rPr lang="en" sz="1050">
                <a:solidFill>
                  <a:srgbClr val="3C4043"/>
                </a:solidFill>
                <a:latin typeface="Roboto Mono"/>
                <a:ea typeface="Roboto Mono"/>
                <a:cs typeface="Roboto Mono"/>
              </a:rPr>
              <a:t>HAM</a:t>
            </a:r>
            <a:endParaRPr/>
          </a:p>
        </p:txBody>
      </p:sp>
      <p:sp>
        <p:nvSpPr>
          <p:cNvPr id="1618397845" name="Google Shape;325;p57"/>
          <p:cNvSpPr/>
          <p:nvPr/>
        </p:nvSpPr>
        <p:spPr bwMode="auto">
          <a:xfrm>
            <a:off x="1360799" y="230749"/>
            <a:ext cx="6422400" cy="1008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r" rtl="0">
              <a:spcBef>
                <a:spcPts val="0"/>
              </a:spcBef>
              <a:spcAft>
                <a:spcPts val="0"/>
              </a:spcAft>
              <a:buNone/>
              <a:defRPr/>
            </a:pPr>
            <a:r>
              <a:rPr lang="en"/>
              <a:t>1 sample</a:t>
            </a:r>
            <a:endParaRPr/>
          </a:p>
        </p:txBody>
      </p:sp>
      <p:sp>
        <p:nvSpPr>
          <p:cNvPr id="1549958199" name="Google Shape;326;p57"/>
          <p:cNvSpPr/>
          <p:nvPr/>
        </p:nvSpPr>
        <p:spPr bwMode="auto">
          <a:xfrm>
            <a:off x="1360799" y="1383750"/>
            <a:ext cx="6422400" cy="1008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r" rtl="0">
              <a:spcBef>
                <a:spcPts val="0"/>
              </a:spcBef>
              <a:spcAft>
                <a:spcPts val="0"/>
              </a:spcAft>
              <a:buNone/>
              <a:defRPr/>
            </a:pPr>
            <a:r>
              <a:rPr lang="en"/>
              <a:t>1 sample</a:t>
            </a:r>
            <a:endParaRPr/>
          </a:p>
        </p:txBody>
      </p:sp>
      <p:sp>
        <p:nvSpPr>
          <p:cNvPr id="413490072" name="Google Shape;327;p57"/>
          <p:cNvSpPr txBox="1"/>
          <p:nvPr/>
        </p:nvSpPr>
        <p:spPr bwMode="auto">
          <a:xfrm>
            <a:off x="1461600" y="1410598"/>
            <a:ext cx="4096800" cy="9542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000"/>
              <a:t>[  27, 1066,    2,   36,   67,   41,    5,   73, 1384,   20,   22,  368,</a:t>
            </a:r>
            <a:endParaRPr sz="1000"/>
          </a:p>
          <a:p>
            <a:pPr marL="0" lvl="0" indent="0" algn="l" rtl="0">
              <a:spcBef>
                <a:spcPts val="0"/>
              </a:spcBef>
              <a:spcAft>
                <a:spcPts val="0"/>
              </a:spcAft>
              <a:buNone/>
              <a:defRPr/>
            </a:pPr>
            <a:r>
              <a:rPr lang="en" sz="1000"/>
              <a:t>         1074,    9,    3,   76,   22,  368, 1074, 1266,    7,   31,    3,    9,</a:t>
            </a:r>
            <a:endParaRPr sz="1000"/>
          </a:p>
          <a:p>
            <a:pPr marL="0" lvl="0" indent="0" algn="l" rtl="0">
              <a:spcBef>
                <a:spcPts val="0"/>
              </a:spcBef>
              <a:spcAft>
                <a:spcPts val="0"/>
              </a:spcAft>
              <a:buNone/>
              <a:defRPr/>
            </a:pPr>
            <a:r>
              <a:rPr lang="en" sz="1000"/>
              <a:t>            0,    0,    0,    0,    0,    0,    0,    0,    0,    0,    0,    0,</a:t>
            </a:r>
            <a:endParaRPr sz="1000"/>
          </a:p>
          <a:p>
            <a:pPr marL="0" lvl="0" indent="0" algn="l" rtl="0">
              <a:spcBef>
                <a:spcPts val="0"/>
              </a:spcBef>
              <a:spcAft>
                <a:spcPts val="0"/>
              </a:spcAft>
              <a:buNone/>
              <a:defRPr/>
            </a:pPr>
            <a:r>
              <a:rPr lang="en" sz="1000"/>
              <a:t>            0,    0,    0,    0,    0,    0,    0,    0,    0,    0,    0,    0,</a:t>
            </a:r>
            <a:endParaRPr sz="1000"/>
          </a:p>
          <a:p>
            <a:pPr marL="0" lvl="0" indent="0" algn="l" rtl="0">
              <a:spcBef>
                <a:spcPts val="0"/>
              </a:spcBef>
              <a:spcAft>
                <a:spcPts val="0"/>
              </a:spcAft>
              <a:buNone/>
              <a:defRPr/>
            </a:pPr>
            <a:r>
              <a:rPr lang="en" sz="1000"/>
              <a:t>            0,    0]</a:t>
            </a:r>
            <a:endParaRPr sz="1000"/>
          </a:p>
        </p:txBody>
      </p:sp>
      <p:sp>
        <p:nvSpPr>
          <p:cNvPr id="327864695" name="Google Shape;328;p57"/>
          <p:cNvSpPr txBox="1"/>
          <p:nvPr/>
        </p:nvSpPr>
        <p:spPr bwMode="auto">
          <a:xfrm>
            <a:off x="5745600" y="1714649"/>
            <a:ext cx="475200" cy="346199"/>
          </a:xfrm>
          <a:prstGeom prst="rect">
            <a:avLst/>
          </a:prstGeom>
          <a:noFill/>
          <a:ln>
            <a:noFill/>
          </a:ln>
        </p:spPr>
        <p:txBody>
          <a:bodyPr spcFirstLastPara="1" wrap="square" lIns="91423" tIns="91423" rIns="91423" bIns="91423" anchor="t" anchorCtr="0">
            <a:spAutoFit/>
          </a:bodyPr>
          <a:lstStyle/>
          <a:p>
            <a:pPr marL="0" lvl="0" indent="0" algn="l" rtl="0">
              <a:lnSpc>
                <a:spcPct val="170000"/>
              </a:lnSpc>
              <a:spcBef>
                <a:spcPts val="0"/>
              </a:spcBef>
              <a:spcAft>
                <a:spcPts val="0"/>
              </a:spcAft>
              <a:buNone/>
              <a:defRPr/>
            </a:pPr>
            <a:r>
              <a:rPr lang="en" sz="1050">
                <a:solidFill>
                  <a:srgbClr val="3C4043"/>
                </a:solidFill>
                <a:latin typeface="Roboto Mono"/>
                <a:ea typeface="Roboto Mono"/>
                <a:cs typeface="Roboto Mono"/>
              </a:rPr>
              <a:t>(0)</a:t>
            </a:r>
            <a:endParaRPr sz="1050">
              <a:solidFill>
                <a:srgbClr val="3C4043"/>
              </a:solidFill>
              <a:latin typeface="Roboto Mono"/>
              <a:ea typeface="Roboto Mono"/>
              <a:cs typeface="Roboto Mono"/>
            </a:endParaRPr>
          </a:p>
        </p:txBody>
      </p:sp>
      <p:sp>
        <p:nvSpPr>
          <p:cNvPr id="28006547" name="Google Shape;329;p57"/>
          <p:cNvSpPr/>
          <p:nvPr/>
        </p:nvSpPr>
        <p:spPr bwMode="auto">
          <a:xfrm>
            <a:off x="1360799" y="2536749"/>
            <a:ext cx="6422400" cy="10080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r" rtl="0">
              <a:spcBef>
                <a:spcPts val="0"/>
              </a:spcBef>
              <a:spcAft>
                <a:spcPts val="0"/>
              </a:spcAft>
              <a:buNone/>
              <a:defRPr/>
            </a:pPr>
            <a:r>
              <a:rPr lang="en"/>
              <a:t>N</a:t>
            </a:r>
            <a:r>
              <a:rPr lang="en"/>
              <a:t> samples</a:t>
            </a:r>
            <a:endParaRPr/>
          </a:p>
        </p:txBody>
      </p:sp>
      <p:sp>
        <p:nvSpPr>
          <p:cNvPr id="344138891" name="Google Shape;330;p57"/>
          <p:cNvSpPr txBox="1"/>
          <p:nvPr/>
        </p:nvSpPr>
        <p:spPr bwMode="auto">
          <a:xfrm>
            <a:off x="1461600" y="2563599"/>
            <a:ext cx="4096800" cy="954299"/>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000"/>
              <a:t>[[  27, 1066,    2,   36,   67,   41,    5,   73, 1384,   20,   22,  368,</a:t>
            </a:r>
            <a:endParaRPr sz="1000"/>
          </a:p>
          <a:p>
            <a:pPr marL="0" lvl="0" indent="0" algn="l" rtl="0">
              <a:spcBef>
                <a:spcPts val="0"/>
              </a:spcBef>
              <a:spcAft>
                <a:spcPts val="0"/>
              </a:spcAft>
              <a:buNone/>
              <a:defRPr/>
            </a:pPr>
            <a:r>
              <a:rPr lang="en" sz="1000"/>
              <a:t>         1074,    9,    3,   76,   22,  368, 1074, 1266,    7,   31,    3,    9,</a:t>
            </a:r>
            <a:endParaRPr sz="1000"/>
          </a:p>
          <a:p>
            <a:pPr marL="0" lvl="0" indent="0" algn="l" rtl="0">
              <a:spcBef>
                <a:spcPts val="0"/>
              </a:spcBef>
              <a:spcAft>
                <a:spcPts val="0"/>
              </a:spcAft>
              <a:buNone/>
              <a:defRPr/>
            </a:pPr>
            <a:r>
              <a:rPr lang="en" sz="1000"/>
              <a:t>            0,    0,    0,    0,    0,    0,    0,    0,    0,    0,    0,    0,</a:t>
            </a:r>
            <a:endParaRPr sz="1000"/>
          </a:p>
          <a:p>
            <a:pPr marL="0" lvl="0" indent="0" algn="l" rtl="0">
              <a:spcBef>
                <a:spcPts val="0"/>
              </a:spcBef>
              <a:spcAft>
                <a:spcPts val="0"/>
              </a:spcAft>
              <a:buNone/>
              <a:defRPr/>
            </a:pPr>
            <a:r>
              <a:rPr lang="en" sz="1000"/>
              <a:t>            0,    0,    0,    0,    0,    0,    0,    0,    0,    0,    0,    0,</a:t>
            </a:r>
            <a:endParaRPr sz="1000"/>
          </a:p>
          <a:p>
            <a:pPr marL="0" lvl="0" indent="0" algn="l" rtl="0">
              <a:spcBef>
                <a:spcPts val="0"/>
              </a:spcBef>
              <a:spcAft>
                <a:spcPts val="0"/>
              </a:spcAft>
              <a:buNone/>
              <a:defRPr/>
            </a:pPr>
            <a:r>
              <a:rPr lang="en" sz="1000"/>
              <a:t>            0,    0], …]</a:t>
            </a:r>
            <a:endParaRPr sz="1000"/>
          </a:p>
        </p:txBody>
      </p:sp>
      <p:sp>
        <p:nvSpPr>
          <p:cNvPr id="1484247895" name="Google Shape;331;p57"/>
          <p:cNvSpPr txBox="1"/>
          <p:nvPr/>
        </p:nvSpPr>
        <p:spPr bwMode="auto">
          <a:xfrm>
            <a:off x="5608800" y="2867649"/>
            <a:ext cx="921600" cy="346199"/>
          </a:xfrm>
          <a:prstGeom prst="rect">
            <a:avLst/>
          </a:prstGeom>
          <a:noFill/>
          <a:ln>
            <a:noFill/>
          </a:ln>
        </p:spPr>
        <p:txBody>
          <a:bodyPr spcFirstLastPara="1" wrap="square" lIns="91423" tIns="91423" rIns="91423" bIns="91423" anchor="t" anchorCtr="0">
            <a:spAutoFit/>
          </a:bodyPr>
          <a:lstStyle/>
          <a:p>
            <a:pPr marL="0" lvl="0" indent="0" algn="l" rtl="0">
              <a:lnSpc>
                <a:spcPct val="170000"/>
              </a:lnSpc>
              <a:spcBef>
                <a:spcPts val="0"/>
              </a:spcBef>
              <a:spcAft>
                <a:spcPts val="0"/>
              </a:spcAft>
              <a:buNone/>
              <a:defRPr/>
            </a:pPr>
            <a:r>
              <a:rPr lang="en" sz="1050">
                <a:solidFill>
                  <a:srgbClr val="3C4043"/>
                </a:solidFill>
                <a:latin typeface="Roboto Mono"/>
                <a:ea typeface="Roboto Mono"/>
                <a:cs typeface="Roboto Mono"/>
              </a:rPr>
              <a:t>[</a:t>
            </a:r>
            <a:r>
              <a:rPr lang="en" sz="1050">
                <a:solidFill>
                  <a:srgbClr val="3C4043"/>
                </a:solidFill>
                <a:latin typeface="Roboto Mono"/>
                <a:ea typeface="Roboto Mono"/>
                <a:cs typeface="Roboto Mono"/>
              </a:rPr>
              <a:t>0, 1, …]</a:t>
            </a:r>
            <a:endParaRPr sz="1050">
              <a:solidFill>
                <a:srgbClr val="3C4043"/>
              </a:solidFill>
              <a:latin typeface="Roboto Mono"/>
              <a:ea typeface="Roboto Mono"/>
              <a:cs typeface="Roboto Mono"/>
            </a:endParaRPr>
          </a:p>
        </p:txBody>
      </p:sp>
      <p:sp>
        <p:nvSpPr>
          <p:cNvPr id="429553359" name="Google Shape;332;p57"/>
          <p:cNvSpPr/>
          <p:nvPr/>
        </p:nvSpPr>
        <p:spPr bwMode="auto">
          <a:xfrm>
            <a:off x="2779200" y="3716599"/>
            <a:ext cx="2404800" cy="120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95837812" name="Google Shape;333;p57"/>
          <p:cNvSpPr/>
          <p:nvPr/>
        </p:nvSpPr>
        <p:spPr bwMode="auto">
          <a:xfrm>
            <a:off x="2836800" y="3765600"/>
            <a:ext cx="2282400" cy="12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77568648" name="Google Shape;334;p57"/>
          <p:cNvSpPr/>
          <p:nvPr/>
        </p:nvSpPr>
        <p:spPr bwMode="auto">
          <a:xfrm>
            <a:off x="2836800" y="3961199"/>
            <a:ext cx="2282400" cy="12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4072002" name="Google Shape;335;p57"/>
          <p:cNvSpPr/>
          <p:nvPr/>
        </p:nvSpPr>
        <p:spPr bwMode="auto">
          <a:xfrm>
            <a:off x="2836800" y="4113599"/>
            <a:ext cx="2282400" cy="12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585970003" name="Google Shape;336;p57"/>
          <p:cNvSpPr/>
          <p:nvPr/>
        </p:nvSpPr>
        <p:spPr bwMode="auto">
          <a:xfrm>
            <a:off x="2836800" y="4266000"/>
            <a:ext cx="2282400" cy="12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711290480" name="Google Shape;337;p57"/>
          <p:cNvSpPr/>
          <p:nvPr/>
        </p:nvSpPr>
        <p:spPr bwMode="auto">
          <a:xfrm>
            <a:off x="2836800" y="4418399"/>
            <a:ext cx="2282400" cy="12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807336946" name="Google Shape;338;p57"/>
          <p:cNvSpPr/>
          <p:nvPr/>
        </p:nvSpPr>
        <p:spPr bwMode="auto">
          <a:xfrm>
            <a:off x="2836800" y="4723199"/>
            <a:ext cx="2282400" cy="122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None/>
              <a:defRPr/>
            </a:pPr>
            <a:endParaRPr/>
          </a:p>
        </p:txBody>
      </p:sp>
      <p:sp>
        <p:nvSpPr>
          <p:cNvPr id="1513023788" name="Google Shape;339;p57"/>
          <p:cNvSpPr txBox="1"/>
          <p:nvPr/>
        </p:nvSpPr>
        <p:spPr bwMode="auto">
          <a:xfrm>
            <a:off x="3772800" y="4327499"/>
            <a:ext cx="633600" cy="461700"/>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631029341" name="Google Shape;340;p57"/>
          <p:cNvSpPr txBox="1"/>
          <p:nvPr/>
        </p:nvSpPr>
        <p:spPr bwMode="auto">
          <a:xfrm>
            <a:off x="5328000" y="4075200"/>
            <a:ext cx="2649599" cy="461700"/>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800">
                <a:solidFill>
                  <a:schemeClr val="dk1"/>
                </a:solidFill>
              </a:rPr>
              <a:t>Embedding/lookup table</a:t>
            </a:r>
            <a:endParaRPr sz="1800">
              <a:solidFill>
                <a:schemeClr val="dk1"/>
              </a:solidFill>
            </a:endParaRPr>
          </a:p>
        </p:txBody>
      </p:sp>
      <p:sp>
        <p:nvSpPr>
          <p:cNvPr id="568743063" name="Google Shape;341;p57"/>
          <p:cNvSpPr txBox="1"/>
          <p:nvPr/>
        </p:nvSpPr>
        <p:spPr bwMode="auto">
          <a:xfrm>
            <a:off x="194400" y="1045249"/>
            <a:ext cx="1267200" cy="461700"/>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800">
                <a:solidFill>
                  <a:schemeClr val="dk1"/>
                </a:solidFill>
              </a:rPr>
              <a:t>Tokenizer</a:t>
            </a:r>
            <a:endParaRPr sz="1800">
              <a:solidFill>
                <a:schemeClr val="dk1"/>
              </a:solidFill>
            </a:endParaRPr>
          </a:p>
        </p:txBody>
      </p:sp>
      <p:sp>
        <p:nvSpPr>
          <p:cNvPr id="300918143" name="Google Shape;342;p57"/>
          <p:cNvSpPr txBox="1"/>
          <p:nvPr/>
        </p:nvSpPr>
        <p:spPr bwMode="auto">
          <a:xfrm>
            <a:off x="194400" y="2205649"/>
            <a:ext cx="1375200" cy="461700"/>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800">
                <a:solidFill>
                  <a:schemeClr val="dk1"/>
                </a:solidFill>
              </a:rPr>
              <a:t>Dataloader</a:t>
            </a:r>
            <a:endParaRPr sz="1800">
              <a:solidFill>
                <a:schemeClr val="dk1"/>
              </a:solidFill>
            </a:endParaRPr>
          </a:p>
        </p:txBody>
      </p:sp>
      <p:sp>
        <p:nvSpPr>
          <p:cNvPr id="2117180858" name="Google Shape;343;p57"/>
          <p:cNvSpPr txBox="1"/>
          <p:nvPr/>
        </p:nvSpPr>
        <p:spPr bwMode="auto">
          <a:xfrm>
            <a:off x="194400" y="3716599"/>
            <a:ext cx="1375200" cy="461700"/>
          </a:xfrm>
          <a:prstGeom prst="rect">
            <a:avLst/>
          </a:prstGeom>
          <a:noFill/>
          <a:ln>
            <a:noFill/>
          </a:ln>
        </p:spPr>
        <p:txBody>
          <a:bodyPr spcFirstLastPara="1" wrap="square" lIns="91423" tIns="91423" rIns="91423" bIns="91423" anchor="t" anchorCtr="0">
            <a:spAutoFit/>
          </a:bodyPr>
          <a:lstStyle/>
          <a:p>
            <a:pPr marL="0" lvl="0" indent="0" algn="l" rtl="0">
              <a:spcBef>
                <a:spcPts val="0"/>
              </a:spcBef>
              <a:spcAft>
                <a:spcPts val="0"/>
              </a:spcAft>
              <a:buNone/>
              <a:defRPr/>
            </a:pPr>
            <a:r>
              <a:rPr lang="en" sz="1800">
                <a:solidFill>
                  <a:schemeClr val="dk1"/>
                </a:solidFill>
              </a:rPr>
              <a:t>Embedding</a:t>
            </a:r>
            <a:endParaRPr sz="1800">
              <a:solidFill>
                <a:schemeClr val="dk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1431859" name="Google Shape;297;p53"/>
          <p:cNvSpPr/>
          <p:nvPr/>
        </p:nvSpPr>
        <p:spPr bwMode="auto">
          <a:xfrm>
            <a:off x="3278575" y="1019200"/>
            <a:ext cx="3398700" cy="3686100"/>
          </a:xfrm>
          <a:prstGeom prst="roundRect">
            <a:avLst>
              <a:gd name="adj" fmla="val 59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448776110" name="Google Shape;298;p53"/>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Re-cap the Linear model</a:t>
            </a:r>
            <a:endParaRPr/>
          </a:p>
        </p:txBody>
      </p:sp>
      <p:sp>
        <p:nvSpPr>
          <p:cNvPr id="537891709" name="Google Shape;299;p53"/>
          <p:cNvSpPr/>
          <p:nvPr/>
        </p:nvSpPr>
        <p:spPr bwMode="auto">
          <a:xfrm>
            <a:off x="1469950" y="128260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58871665" name="Google Shape;300;p53"/>
          <p:cNvSpPr/>
          <p:nvPr/>
        </p:nvSpPr>
        <p:spPr bwMode="auto">
          <a:xfrm>
            <a:off x="1469950" y="176069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320971057" name="Google Shape;301;p53"/>
          <p:cNvSpPr/>
          <p:nvPr/>
        </p:nvSpPr>
        <p:spPr bwMode="auto">
          <a:xfrm>
            <a:off x="1469950" y="223879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570797586" name="Google Shape;302;p53"/>
          <p:cNvSpPr/>
          <p:nvPr/>
        </p:nvSpPr>
        <p:spPr bwMode="auto">
          <a:xfrm>
            <a:off x="1469950" y="271688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788663515" name="Google Shape;303;p53"/>
          <p:cNvSpPr/>
          <p:nvPr/>
        </p:nvSpPr>
        <p:spPr bwMode="auto">
          <a:xfrm>
            <a:off x="1469950" y="319498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289003376" name="Google Shape;304;p53"/>
          <p:cNvSpPr/>
          <p:nvPr/>
        </p:nvSpPr>
        <p:spPr bwMode="auto">
          <a:xfrm>
            <a:off x="1469950" y="367307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759263596" name="Google Shape;305;p53"/>
          <p:cNvSpPr txBox="1"/>
          <p:nvPr/>
        </p:nvSpPr>
        <p:spPr bwMode="auto">
          <a:xfrm>
            <a:off x="1394250" y="17218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1583753062" name="Google Shape;306;p53"/>
          <p:cNvSpPr txBox="1"/>
          <p:nvPr/>
        </p:nvSpPr>
        <p:spPr bwMode="auto">
          <a:xfrm>
            <a:off x="1394250" y="1240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1383513675" name="Google Shape;307;p53"/>
          <p:cNvSpPr txBox="1"/>
          <p:nvPr/>
        </p:nvSpPr>
        <p:spPr bwMode="auto">
          <a:xfrm>
            <a:off x="1394250" y="22035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85440640" name="Google Shape;308;p53"/>
          <p:cNvSpPr txBox="1"/>
          <p:nvPr/>
        </p:nvSpPr>
        <p:spPr bwMode="auto">
          <a:xfrm>
            <a:off x="1394250" y="26851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1905459230" name="Google Shape;309;p53"/>
          <p:cNvSpPr txBox="1"/>
          <p:nvPr/>
        </p:nvSpPr>
        <p:spPr bwMode="auto">
          <a:xfrm>
            <a:off x="1394250" y="31668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132409044" name="Google Shape;310;p53"/>
          <p:cNvSpPr txBox="1"/>
          <p:nvPr/>
        </p:nvSpPr>
        <p:spPr bwMode="auto">
          <a:xfrm>
            <a:off x="1394250" y="36484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1437806140" name="Google Shape;311;p53"/>
          <p:cNvSpPr txBox="1"/>
          <p:nvPr/>
        </p:nvSpPr>
        <p:spPr bwMode="auto">
          <a:xfrm>
            <a:off x="767400" y="4119449"/>
            <a:ext cx="189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feature vector </a:t>
            </a:r>
            <a:r>
              <a:rPr lang="en" sz="1800" b="1">
                <a:solidFill>
                  <a:schemeClr val="dk1"/>
                </a:solidFill>
              </a:rPr>
              <a:t>x</a:t>
            </a:r>
            <a:endParaRPr sz="1800" baseline="-25000">
              <a:solidFill>
                <a:schemeClr val="dk1"/>
              </a:solidFill>
            </a:endParaRPr>
          </a:p>
        </p:txBody>
      </p:sp>
      <p:sp>
        <p:nvSpPr>
          <p:cNvPr id="62492632" name="Google Shape;312;p53"/>
          <p:cNvSpPr/>
          <p:nvPr/>
        </p:nvSpPr>
        <p:spPr bwMode="auto">
          <a:xfrm>
            <a:off x="3459800" y="1282613"/>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807540814" name="Google Shape;313;p53"/>
          <p:cNvSpPr/>
          <p:nvPr/>
        </p:nvSpPr>
        <p:spPr bwMode="auto">
          <a:xfrm>
            <a:off x="3459800" y="1760708"/>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637137837" name="Google Shape;314;p53"/>
          <p:cNvSpPr/>
          <p:nvPr/>
        </p:nvSpPr>
        <p:spPr bwMode="auto">
          <a:xfrm>
            <a:off x="3459800" y="2238803"/>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771056200" name="Google Shape;315;p53"/>
          <p:cNvSpPr/>
          <p:nvPr/>
        </p:nvSpPr>
        <p:spPr bwMode="auto">
          <a:xfrm>
            <a:off x="3459800" y="2716898"/>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2111182527" name="Google Shape;316;p53"/>
          <p:cNvSpPr/>
          <p:nvPr/>
        </p:nvSpPr>
        <p:spPr bwMode="auto">
          <a:xfrm>
            <a:off x="3459800" y="3194993"/>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2054621880" name="Google Shape;317;p53"/>
          <p:cNvSpPr/>
          <p:nvPr/>
        </p:nvSpPr>
        <p:spPr bwMode="auto">
          <a:xfrm>
            <a:off x="3459800" y="3673088"/>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085246919" name="Google Shape;318;p53"/>
          <p:cNvSpPr txBox="1"/>
          <p:nvPr/>
        </p:nvSpPr>
        <p:spPr bwMode="auto">
          <a:xfrm>
            <a:off x="3384100" y="1721897"/>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0.17</a:t>
            </a:r>
            <a:endParaRPr sz="1300">
              <a:solidFill>
                <a:schemeClr val="dk1"/>
              </a:solidFill>
            </a:endParaRPr>
          </a:p>
        </p:txBody>
      </p:sp>
      <p:sp>
        <p:nvSpPr>
          <p:cNvPr id="75744912" name="Google Shape;319;p53"/>
          <p:cNvSpPr txBox="1"/>
          <p:nvPr/>
        </p:nvSpPr>
        <p:spPr bwMode="auto">
          <a:xfrm>
            <a:off x="3384100" y="124025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a:t>
            </a:r>
            <a:r>
              <a:rPr lang="en" sz="1300">
                <a:solidFill>
                  <a:schemeClr val="accent2"/>
                </a:solidFill>
              </a:rPr>
              <a:t>0.69</a:t>
            </a:r>
            <a:endParaRPr sz="1300">
              <a:solidFill>
                <a:schemeClr val="accent2"/>
              </a:solidFill>
            </a:endParaRPr>
          </a:p>
        </p:txBody>
      </p:sp>
      <p:sp>
        <p:nvSpPr>
          <p:cNvPr id="468159125" name="Google Shape;320;p53"/>
          <p:cNvSpPr txBox="1"/>
          <p:nvPr/>
        </p:nvSpPr>
        <p:spPr bwMode="auto">
          <a:xfrm>
            <a:off x="3384100" y="220354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a:t>
            </a:r>
            <a:r>
              <a:rPr lang="en" sz="1300">
                <a:solidFill>
                  <a:schemeClr val="accent2"/>
                </a:solidFill>
              </a:rPr>
              <a:t>0.99</a:t>
            </a:r>
            <a:endParaRPr sz="1300">
              <a:solidFill>
                <a:schemeClr val="accent2"/>
              </a:solidFill>
            </a:endParaRPr>
          </a:p>
        </p:txBody>
      </p:sp>
      <p:sp>
        <p:nvSpPr>
          <p:cNvPr id="1536371936" name="Google Shape;321;p53"/>
          <p:cNvSpPr txBox="1"/>
          <p:nvPr/>
        </p:nvSpPr>
        <p:spPr bwMode="auto">
          <a:xfrm>
            <a:off x="3384100" y="268519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3</a:t>
            </a:r>
            <a:r>
              <a:rPr lang="en" sz="1300">
                <a:solidFill>
                  <a:schemeClr val="dk1"/>
                </a:solidFill>
              </a:rPr>
              <a:t>.11</a:t>
            </a:r>
            <a:endParaRPr sz="1300">
              <a:solidFill>
                <a:schemeClr val="dk1"/>
              </a:solidFill>
            </a:endParaRPr>
          </a:p>
        </p:txBody>
      </p:sp>
      <p:sp>
        <p:nvSpPr>
          <p:cNvPr id="1468448194" name="Google Shape;322;p53"/>
          <p:cNvSpPr txBox="1"/>
          <p:nvPr/>
        </p:nvSpPr>
        <p:spPr bwMode="auto">
          <a:xfrm>
            <a:off x="3384100" y="316684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a:t>
            </a:r>
            <a:r>
              <a:rPr lang="en" sz="1300">
                <a:solidFill>
                  <a:schemeClr val="accent2"/>
                </a:solidFill>
              </a:rPr>
              <a:t>.25</a:t>
            </a:r>
            <a:endParaRPr sz="1300">
              <a:solidFill>
                <a:schemeClr val="accent2"/>
              </a:solidFill>
            </a:endParaRPr>
          </a:p>
        </p:txBody>
      </p:sp>
      <p:sp>
        <p:nvSpPr>
          <p:cNvPr id="1201599372" name="Google Shape;323;p53"/>
          <p:cNvSpPr txBox="1"/>
          <p:nvPr/>
        </p:nvSpPr>
        <p:spPr bwMode="auto">
          <a:xfrm>
            <a:off x="3384100" y="364848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1</a:t>
            </a:r>
            <a:r>
              <a:rPr lang="en" sz="1300">
                <a:solidFill>
                  <a:schemeClr val="dk1"/>
                </a:solidFill>
              </a:rPr>
              <a:t>.45</a:t>
            </a:r>
            <a:endParaRPr sz="1300">
              <a:solidFill>
                <a:schemeClr val="dk1"/>
              </a:solidFill>
            </a:endParaRPr>
          </a:p>
        </p:txBody>
      </p:sp>
      <p:cxnSp>
        <p:nvCxnSpPr>
          <p:cNvPr id="1545415994" name="Google Shape;324;p53"/>
          <p:cNvCxnSpPr>
            <a:stCxn id="1583753062" idx="3"/>
            <a:endCxn id="75744912" idx="1"/>
          </p:cNvCxnSpPr>
          <p:nvPr/>
        </p:nvCxnSpPr>
        <p:spPr bwMode="auto">
          <a:xfrm>
            <a:off x="2035650" y="1432688"/>
            <a:ext cx="1348500" cy="0"/>
          </a:xfrm>
          <a:prstGeom prst="straightConnector1">
            <a:avLst/>
          </a:prstGeom>
          <a:noFill/>
          <a:ln w="9525" cap="flat" cmpd="sng">
            <a:solidFill>
              <a:schemeClr val="dk2"/>
            </a:solidFill>
            <a:prstDash val="solid"/>
            <a:round/>
            <a:headEnd type="none" w="med" len="med"/>
            <a:tailEnd type="none" w="med" len="med"/>
          </a:ln>
        </p:spPr>
      </p:cxnSp>
      <p:cxnSp>
        <p:nvCxnSpPr>
          <p:cNvPr id="929706233" name="Google Shape;325;p53"/>
          <p:cNvCxnSpPr>
            <a:stCxn id="1759263596" idx="3"/>
            <a:endCxn id="1085246919" idx="1"/>
          </p:cNvCxnSpPr>
          <p:nvPr/>
        </p:nvCxnSpPr>
        <p:spPr bwMode="auto">
          <a:xfrm>
            <a:off x="2035650" y="1914335"/>
            <a:ext cx="1348500" cy="0"/>
          </a:xfrm>
          <a:prstGeom prst="straightConnector1">
            <a:avLst/>
          </a:prstGeom>
          <a:noFill/>
          <a:ln w="9525" cap="flat" cmpd="sng">
            <a:solidFill>
              <a:schemeClr val="dk2"/>
            </a:solidFill>
            <a:prstDash val="solid"/>
            <a:round/>
            <a:headEnd type="none" w="med" len="med"/>
            <a:tailEnd type="none" w="med" len="med"/>
          </a:ln>
        </p:spPr>
      </p:cxnSp>
      <p:cxnSp>
        <p:nvCxnSpPr>
          <p:cNvPr id="1656602739" name="Google Shape;326;p53"/>
          <p:cNvCxnSpPr>
            <a:stCxn id="1383513675" idx="3"/>
            <a:endCxn id="468159125" idx="1"/>
          </p:cNvCxnSpPr>
          <p:nvPr/>
        </p:nvCxnSpPr>
        <p:spPr bwMode="auto">
          <a:xfrm>
            <a:off x="2035650" y="2395983"/>
            <a:ext cx="1348500" cy="0"/>
          </a:xfrm>
          <a:prstGeom prst="straightConnector1">
            <a:avLst/>
          </a:prstGeom>
          <a:noFill/>
          <a:ln w="9525" cap="flat" cmpd="sng">
            <a:solidFill>
              <a:schemeClr val="dk2"/>
            </a:solidFill>
            <a:prstDash val="solid"/>
            <a:round/>
            <a:headEnd type="none" w="med" len="med"/>
            <a:tailEnd type="none" w="med" len="med"/>
          </a:ln>
        </p:spPr>
      </p:cxnSp>
      <p:cxnSp>
        <p:nvCxnSpPr>
          <p:cNvPr id="1391620693" name="Google Shape;327;p53"/>
          <p:cNvCxnSpPr>
            <a:stCxn id="85440640" idx="3"/>
            <a:endCxn id="1536371936" idx="1"/>
          </p:cNvCxnSpPr>
          <p:nvPr/>
        </p:nvCxnSpPr>
        <p:spPr bwMode="auto">
          <a:xfrm>
            <a:off x="2035650" y="2877630"/>
            <a:ext cx="1348500" cy="0"/>
          </a:xfrm>
          <a:prstGeom prst="straightConnector1">
            <a:avLst/>
          </a:prstGeom>
          <a:noFill/>
          <a:ln w="9525" cap="flat" cmpd="sng">
            <a:solidFill>
              <a:schemeClr val="dk2"/>
            </a:solidFill>
            <a:prstDash val="solid"/>
            <a:round/>
            <a:headEnd type="none" w="med" len="med"/>
            <a:tailEnd type="none" w="med" len="med"/>
          </a:ln>
        </p:spPr>
      </p:cxnSp>
      <p:cxnSp>
        <p:nvCxnSpPr>
          <p:cNvPr id="1331884860" name="Google Shape;328;p53"/>
          <p:cNvCxnSpPr>
            <a:stCxn id="1905459230" idx="3"/>
            <a:endCxn id="1468448194" idx="1"/>
          </p:cNvCxnSpPr>
          <p:nvPr/>
        </p:nvCxnSpPr>
        <p:spPr bwMode="auto">
          <a:xfrm>
            <a:off x="2035650" y="3359278"/>
            <a:ext cx="1348500" cy="0"/>
          </a:xfrm>
          <a:prstGeom prst="straightConnector1">
            <a:avLst/>
          </a:prstGeom>
          <a:noFill/>
          <a:ln w="9525" cap="flat" cmpd="sng">
            <a:solidFill>
              <a:schemeClr val="dk2"/>
            </a:solidFill>
            <a:prstDash val="solid"/>
            <a:round/>
            <a:headEnd type="none" w="med" len="med"/>
            <a:tailEnd type="none" w="med" len="med"/>
          </a:ln>
        </p:spPr>
      </p:cxnSp>
      <p:cxnSp>
        <p:nvCxnSpPr>
          <p:cNvPr id="1989843674" name="Google Shape;329;p53"/>
          <p:cNvCxnSpPr>
            <a:stCxn id="132409044" idx="3"/>
            <a:endCxn id="1201599372" idx="1"/>
          </p:cNvCxnSpPr>
          <p:nvPr/>
        </p:nvCxnSpPr>
        <p:spPr bwMode="auto">
          <a:xfrm>
            <a:off x="2035650" y="3840925"/>
            <a:ext cx="1348500" cy="0"/>
          </a:xfrm>
          <a:prstGeom prst="straightConnector1">
            <a:avLst/>
          </a:prstGeom>
          <a:noFill/>
          <a:ln w="9525" cap="flat" cmpd="sng">
            <a:solidFill>
              <a:schemeClr val="dk2"/>
            </a:solidFill>
            <a:prstDash val="solid"/>
            <a:round/>
            <a:headEnd type="none" w="med" len="med"/>
            <a:tailEnd type="none" w="med" len="med"/>
          </a:ln>
        </p:spPr>
      </p:cxnSp>
      <p:sp>
        <p:nvSpPr>
          <p:cNvPr id="1085499358" name="Google Shape;330;p53"/>
          <p:cNvSpPr/>
          <p:nvPr/>
        </p:nvSpPr>
        <p:spPr bwMode="auto">
          <a:xfrm>
            <a:off x="5332200" y="2406700"/>
            <a:ext cx="384900" cy="38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a:t>
            </a:r>
            <a:endParaRPr/>
          </a:p>
        </p:txBody>
      </p:sp>
      <p:cxnSp>
        <p:nvCxnSpPr>
          <p:cNvPr id="1245742519" name="Google Shape;331;p53"/>
          <p:cNvCxnSpPr>
            <a:endCxn id="1085499358" idx="1"/>
          </p:cNvCxnSpPr>
          <p:nvPr/>
        </p:nvCxnSpPr>
        <p:spPr bwMode="auto">
          <a:xfrm>
            <a:off x="4025367" y="1432567"/>
            <a:ext cx="1363200" cy="1030500"/>
          </a:xfrm>
          <a:prstGeom prst="straightConnector1">
            <a:avLst/>
          </a:prstGeom>
          <a:noFill/>
          <a:ln w="9525" cap="flat" cmpd="sng">
            <a:solidFill>
              <a:schemeClr val="dk2"/>
            </a:solidFill>
            <a:prstDash val="solid"/>
            <a:round/>
            <a:headEnd type="none" w="med" len="med"/>
            <a:tailEnd type="none" w="med" len="med"/>
          </a:ln>
        </p:spPr>
      </p:cxnSp>
      <p:cxnSp>
        <p:nvCxnSpPr>
          <p:cNvPr id="1056705031" name="Google Shape;332;p53"/>
          <p:cNvCxnSpPr>
            <a:stCxn id="1085246919" idx="3"/>
            <a:endCxn id="1085499358" idx="1"/>
          </p:cNvCxnSpPr>
          <p:nvPr/>
        </p:nvCxnSpPr>
        <p:spPr bwMode="auto">
          <a:xfrm>
            <a:off x="4025500" y="1914348"/>
            <a:ext cx="1363200" cy="548700"/>
          </a:xfrm>
          <a:prstGeom prst="straightConnector1">
            <a:avLst/>
          </a:prstGeom>
          <a:noFill/>
          <a:ln w="9525" cap="flat" cmpd="sng">
            <a:solidFill>
              <a:schemeClr val="dk2"/>
            </a:solidFill>
            <a:prstDash val="solid"/>
            <a:round/>
            <a:headEnd type="none" w="med" len="med"/>
            <a:tailEnd type="none" w="med" len="med"/>
          </a:ln>
        </p:spPr>
      </p:cxnSp>
      <p:cxnSp>
        <p:nvCxnSpPr>
          <p:cNvPr id="2128281276" name="Google Shape;333;p53"/>
          <p:cNvCxnSpPr>
            <a:stCxn id="468159125" idx="3"/>
            <a:endCxn id="1085499358" idx="2"/>
          </p:cNvCxnSpPr>
          <p:nvPr/>
        </p:nvCxnSpPr>
        <p:spPr bwMode="auto">
          <a:xfrm>
            <a:off x="4025500" y="2395995"/>
            <a:ext cx="1306800" cy="203100"/>
          </a:xfrm>
          <a:prstGeom prst="straightConnector1">
            <a:avLst/>
          </a:prstGeom>
          <a:noFill/>
          <a:ln w="9525" cap="flat" cmpd="sng">
            <a:solidFill>
              <a:schemeClr val="dk2"/>
            </a:solidFill>
            <a:prstDash val="solid"/>
            <a:round/>
            <a:headEnd type="none" w="med" len="med"/>
            <a:tailEnd type="none" w="med" len="med"/>
          </a:ln>
        </p:spPr>
      </p:cxnSp>
      <p:cxnSp>
        <p:nvCxnSpPr>
          <p:cNvPr id="841384315" name="Google Shape;334;p53"/>
          <p:cNvCxnSpPr>
            <a:stCxn id="1536371936" idx="3"/>
            <a:endCxn id="1085499358" idx="2"/>
          </p:cNvCxnSpPr>
          <p:nvPr/>
        </p:nvCxnSpPr>
        <p:spPr bwMode="auto">
          <a:xfrm rot="10800000" flipH="1">
            <a:off x="4025500" y="2599243"/>
            <a:ext cx="1306800" cy="278400"/>
          </a:xfrm>
          <a:prstGeom prst="straightConnector1">
            <a:avLst/>
          </a:prstGeom>
          <a:noFill/>
          <a:ln w="9525" cap="flat" cmpd="sng">
            <a:solidFill>
              <a:schemeClr val="dk2"/>
            </a:solidFill>
            <a:prstDash val="solid"/>
            <a:round/>
            <a:headEnd type="none" w="med" len="med"/>
            <a:tailEnd type="none" w="med" len="med"/>
          </a:ln>
        </p:spPr>
      </p:cxnSp>
      <p:cxnSp>
        <p:nvCxnSpPr>
          <p:cNvPr id="893078655" name="Google Shape;335;p53"/>
          <p:cNvCxnSpPr>
            <a:stCxn id="1468448194" idx="3"/>
            <a:endCxn id="1085499358" idx="3"/>
          </p:cNvCxnSpPr>
          <p:nvPr/>
        </p:nvCxnSpPr>
        <p:spPr bwMode="auto">
          <a:xfrm rot="10800000" flipH="1">
            <a:off x="4025500" y="2735290"/>
            <a:ext cx="1363200" cy="624000"/>
          </a:xfrm>
          <a:prstGeom prst="straightConnector1">
            <a:avLst/>
          </a:prstGeom>
          <a:noFill/>
          <a:ln w="9525" cap="flat" cmpd="sng">
            <a:solidFill>
              <a:schemeClr val="dk2"/>
            </a:solidFill>
            <a:prstDash val="solid"/>
            <a:round/>
            <a:headEnd type="none" w="med" len="med"/>
            <a:tailEnd type="none" w="med" len="med"/>
          </a:ln>
        </p:spPr>
      </p:cxnSp>
      <p:cxnSp>
        <p:nvCxnSpPr>
          <p:cNvPr id="722465194" name="Google Shape;336;p53"/>
          <p:cNvCxnSpPr>
            <a:stCxn id="1201599372" idx="3"/>
            <a:endCxn id="1085499358" idx="3"/>
          </p:cNvCxnSpPr>
          <p:nvPr/>
        </p:nvCxnSpPr>
        <p:spPr bwMode="auto">
          <a:xfrm rot="10800000" flipH="1">
            <a:off x="4025500" y="2735138"/>
            <a:ext cx="1363200" cy="1105800"/>
          </a:xfrm>
          <a:prstGeom prst="straightConnector1">
            <a:avLst/>
          </a:prstGeom>
          <a:noFill/>
          <a:ln w="9525" cap="flat" cmpd="sng">
            <a:solidFill>
              <a:schemeClr val="dk2"/>
            </a:solidFill>
            <a:prstDash val="solid"/>
            <a:round/>
            <a:headEnd type="none" w="med" len="med"/>
            <a:tailEnd type="none" w="med" len="med"/>
          </a:ln>
        </p:spPr>
      </p:cxnSp>
      <p:sp>
        <p:nvSpPr>
          <p:cNvPr id="1901510331" name="Google Shape;337;p53"/>
          <p:cNvSpPr txBox="1"/>
          <p:nvPr/>
        </p:nvSpPr>
        <p:spPr bwMode="auto">
          <a:xfrm>
            <a:off x="2221325" y="2082699"/>
            <a:ext cx="977100" cy="11082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500">
                <a:solidFill>
                  <a:schemeClr val="dk1"/>
                </a:solidFill>
              </a:rPr>
              <a:t>element-</a:t>
            </a:r>
            <a:endParaRPr sz="1500">
              <a:solidFill>
                <a:schemeClr val="dk1"/>
              </a:solidFill>
            </a:endParaRPr>
          </a:p>
          <a:p>
            <a:pPr marL="0" lvl="0" indent="0" algn="l" rtl="0">
              <a:spcBef>
                <a:spcPts val="0"/>
              </a:spcBef>
              <a:spcAft>
                <a:spcPts val="0"/>
              </a:spcAft>
              <a:buNone/>
              <a:defRPr/>
            </a:pPr>
            <a:r>
              <a:rPr lang="en" sz="1500">
                <a:solidFill>
                  <a:schemeClr val="dk1"/>
                </a:solidFill>
              </a:rPr>
              <a:t>wise </a:t>
            </a:r>
            <a:endParaRPr sz="1500">
              <a:solidFill>
                <a:schemeClr val="dk1"/>
              </a:solidFill>
            </a:endParaRPr>
          </a:p>
          <a:p>
            <a:pPr marL="0" lvl="0" indent="0" algn="l" rtl="0">
              <a:spcBef>
                <a:spcPts val="0"/>
              </a:spcBef>
              <a:spcAft>
                <a:spcPts val="0"/>
              </a:spcAft>
              <a:buNone/>
              <a:defRPr/>
            </a:pPr>
            <a:r>
              <a:rPr lang="en" sz="1500">
                <a:solidFill>
                  <a:schemeClr val="dk1"/>
                </a:solidFill>
              </a:rPr>
              <a:t>multipli-</a:t>
            </a:r>
            <a:endParaRPr sz="1500">
              <a:solidFill>
                <a:schemeClr val="dk1"/>
              </a:solidFill>
            </a:endParaRPr>
          </a:p>
          <a:p>
            <a:pPr marL="0" lvl="0" indent="0" algn="l" rtl="0">
              <a:spcBef>
                <a:spcPts val="0"/>
              </a:spcBef>
              <a:spcAft>
                <a:spcPts val="0"/>
              </a:spcAft>
              <a:buNone/>
              <a:defRPr/>
            </a:pPr>
            <a:r>
              <a:rPr lang="en" sz="1500">
                <a:solidFill>
                  <a:schemeClr val="dk1"/>
                </a:solidFill>
              </a:rPr>
              <a:t>cation </a:t>
            </a:r>
            <a:endParaRPr sz="1500">
              <a:solidFill>
                <a:schemeClr val="dk1"/>
              </a:solidFill>
            </a:endParaRPr>
          </a:p>
        </p:txBody>
      </p:sp>
      <p:sp>
        <p:nvSpPr>
          <p:cNvPr id="696469416" name="Google Shape;338;p53"/>
          <p:cNvSpPr/>
          <p:nvPr/>
        </p:nvSpPr>
        <p:spPr bwMode="auto">
          <a:xfrm>
            <a:off x="6030050" y="2406700"/>
            <a:ext cx="384900" cy="38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17504528" name="Google Shape;339;p53"/>
          <p:cNvSpPr txBox="1"/>
          <p:nvPr/>
        </p:nvSpPr>
        <p:spPr bwMode="auto">
          <a:xfrm>
            <a:off x="5993625" y="2406700"/>
            <a:ext cx="570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a:t>
            </a:r>
            <a:endParaRPr sz="1300">
              <a:solidFill>
                <a:schemeClr val="accent2"/>
              </a:solidFill>
            </a:endParaRPr>
          </a:p>
        </p:txBody>
      </p:sp>
      <p:sp>
        <p:nvSpPr>
          <p:cNvPr id="1021094778" name="Google Shape;340;p53"/>
          <p:cNvSpPr txBox="1"/>
          <p:nvPr/>
        </p:nvSpPr>
        <p:spPr bwMode="auto">
          <a:xfrm>
            <a:off x="5717100" y="2368300"/>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2101821989" name="Google Shape;341;p53"/>
          <p:cNvSpPr txBox="1"/>
          <p:nvPr/>
        </p:nvSpPr>
        <p:spPr bwMode="auto">
          <a:xfrm>
            <a:off x="3350650" y="4113025"/>
            <a:ext cx="4150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weights </a:t>
            </a:r>
            <a:r>
              <a:rPr lang="en" sz="1800" b="1">
                <a:solidFill>
                  <a:schemeClr val="dk1"/>
                </a:solidFill>
              </a:rPr>
              <a:t>w</a:t>
            </a:r>
            <a:r>
              <a:rPr lang="en" sz="1800">
                <a:solidFill>
                  <a:schemeClr val="dk1"/>
                </a:solidFill>
              </a:rPr>
              <a:t> and bias b</a:t>
            </a:r>
            <a:endParaRPr sz="1800">
              <a:solidFill>
                <a:schemeClr val="dk1"/>
              </a:solidFill>
            </a:endParaRPr>
          </a:p>
        </p:txBody>
      </p:sp>
      <p:sp>
        <p:nvSpPr>
          <p:cNvPr id="447065936" name="Google Shape;342;p53"/>
          <p:cNvSpPr/>
          <p:nvPr/>
        </p:nvSpPr>
        <p:spPr bwMode="auto">
          <a:xfrm>
            <a:off x="7169138" y="241900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056274972" name="Google Shape;343;p53"/>
          <p:cNvSpPr txBox="1"/>
          <p:nvPr/>
        </p:nvSpPr>
        <p:spPr bwMode="auto">
          <a:xfrm>
            <a:off x="7529575" y="2406700"/>
            <a:ext cx="8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output</a:t>
            </a:r>
            <a:endParaRPr sz="1300">
              <a:solidFill>
                <a:schemeClr val="accent2"/>
              </a:solidFill>
            </a:endParaRPr>
          </a:p>
        </p:txBody>
      </p:sp>
      <p:cxnSp>
        <p:nvCxnSpPr>
          <p:cNvPr id="1806571106" name="Google Shape;344;p53"/>
          <p:cNvCxnSpPr>
            <a:stCxn id="317504528" idx="3"/>
            <a:endCxn id="447065936" idx="2"/>
          </p:cNvCxnSpPr>
          <p:nvPr/>
        </p:nvCxnSpPr>
        <p:spPr bwMode="auto">
          <a:xfrm>
            <a:off x="6564225" y="2599150"/>
            <a:ext cx="604800" cy="0"/>
          </a:xfrm>
          <a:prstGeom prst="straightConnector1">
            <a:avLst/>
          </a:prstGeom>
          <a:noFill/>
          <a:ln w="9525" cap="flat" cmpd="sng">
            <a:solidFill>
              <a:schemeClr val="dk2"/>
            </a:solidFill>
            <a:prstDash val="solid"/>
            <a:round/>
            <a:headEnd type="none" w="med" len="med"/>
            <a:tailEnd type="none" w="med" len="med"/>
          </a:ln>
        </p:spPr>
      </p:cxnSp>
      <p:sp>
        <p:nvSpPr>
          <p:cNvPr id="1454639463" name="Google Shape;345;p53"/>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pic>
        <p:nvPicPr>
          <p:cNvPr id="918260239" name="Google Shape;346;p53"/>
          <p:cNvPicPr/>
          <p:nvPr/>
        </p:nvPicPr>
        <p:blipFill rotWithShape="1">
          <a:blip r:embed="rId3">
            <a:alphaModFix/>
          </a:blip>
          <a:stretch/>
        </p:blipFill>
        <p:spPr bwMode="auto">
          <a:xfrm>
            <a:off x="5765250" y="141163"/>
            <a:ext cx="3255900" cy="1180425"/>
          </a:xfrm>
          <a:prstGeom prst="rect">
            <a:avLst/>
          </a:prstGeom>
          <a:noFill/>
          <a:ln w="9525" cap="flat" cmpd="sng">
            <a:solidFill>
              <a:schemeClr val="dk1"/>
            </a:solidFill>
            <a:prstDash val="solid"/>
            <a:round/>
            <a:headEnd type="none" w="sm" len="sm"/>
            <a:tailEnd type="none" w="sm" len="sm"/>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7550825" name="Google Shape;351;p54"/>
          <p:cNvSpPr/>
          <p:nvPr/>
        </p:nvSpPr>
        <p:spPr bwMode="auto">
          <a:xfrm>
            <a:off x="2035650" y="1061550"/>
            <a:ext cx="1293300" cy="3090900"/>
          </a:xfrm>
          <a:prstGeom prst="roundRect">
            <a:avLst>
              <a:gd name="adj" fmla="val 59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981270856" name="Google Shape;352;p54"/>
          <p:cNvSpPr txBox="1"/>
          <p:nvPr/>
        </p:nvSpPr>
        <p:spPr bwMode="auto">
          <a:xfrm>
            <a:off x="2066163" y="1734647"/>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0.17</a:t>
            </a:r>
            <a:endParaRPr sz="1300">
              <a:solidFill>
                <a:schemeClr val="dk1"/>
              </a:solidFill>
            </a:endParaRPr>
          </a:p>
        </p:txBody>
      </p:sp>
      <p:sp>
        <p:nvSpPr>
          <p:cNvPr id="622288606" name="Google Shape;353;p54"/>
          <p:cNvSpPr txBox="1"/>
          <p:nvPr/>
        </p:nvSpPr>
        <p:spPr bwMode="auto">
          <a:xfrm>
            <a:off x="2066163" y="125300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-0.69</a:t>
            </a:r>
            <a:endParaRPr sz="1300">
              <a:solidFill>
                <a:schemeClr val="accent2"/>
              </a:solidFill>
            </a:endParaRPr>
          </a:p>
        </p:txBody>
      </p:sp>
      <p:sp>
        <p:nvSpPr>
          <p:cNvPr id="1604850919" name="Google Shape;354;p54"/>
          <p:cNvSpPr txBox="1"/>
          <p:nvPr/>
        </p:nvSpPr>
        <p:spPr bwMode="auto">
          <a:xfrm>
            <a:off x="2066163" y="221629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-0.99</a:t>
            </a:r>
            <a:endParaRPr sz="1300">
              <a:solidFill>
                <a:schemeClr val="accent2"/>
              </a:solidFill>
            </a:endParaRPr>
          </a:p>
        </p:txBody>
      </p:sp>
      <p:sp>
        <p:nvSpPr>
          <p:cNvPr id="1558048945" name="Google Shape;355;p54"/>
          <p:cNvSpPr txBox="1"/>
          <p:nvPr/>
        </p:nvSpPr>
        <p:spPr bwMode="auto">
          <a:xfrm>
            <a:off x="2066163" y="269794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3.11</a:t>
            </a:r>
            <a:endParaRPr sz="1300">
              <a:solidFill>
                <a:schemeClr val="dk1"/>
              </a:solidFill>
            </a:endParaRPr>
          </a:p>
        </p:txBody>
      </p:sp>
      <p:sp>
        <p:nvSpPr>
          <p:cNvPr id="1280944011" name="Google Shape;356;p54"/>
          <p:cNvSpPr txBox="1"/>
          <p:nvPr/>
        </p:nvSpPr>
        <p:spPr bwMode="auto">
          <a:xfrm>
            <a:off x="2066163" y="317959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-1.25</a:t>
            </a:r>
            <a:endParaRPr sz="1300">
              <a:solidFill>
                <a:schemeClr val="accent2"/>
              </a:solidFill>
            </a:endParaRPr>
          </a:p>
        </p:txBody>
      </p:sp>
      <p:sp>
        <p:nvSpPr>
          <p:cNvPr id="409683114" name="Google Shape;357;p54"/>
          <p:cNvSpPr txBox="1"/>
          <p:nvPr/>
        </p:nvSpPr>
        <p:spPr bwMode="auto">
          <a:xfrm>
            <a:off x="2066163" y="3661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1.45</a:t>
            </a:r>
            <a:endParaRPr sz="1300">
              <a:solidFill>
                <a:schemeClr val="dk1"/>
              </a:solidFill>
            </a:endParaRPr>
          </a:p>
        </p:txBody>
      </p:sp>
      <p:sp>
        <p:nvSpPr>
          <p:cNvPr id="888820456" name="Google Shape;358;p54"/>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A simplified drawing</a:t>
            </a:r>
            <a:endParaRPr/>
          </a:p>
        </p:txBody>
      </p:sp>
      <p:sp>
        <p:nvSpPr>
          <p:cNvPr id="700474868" name="Google Shape;359;p54"/>
          <p:cNvSpPr/>
          <p:nvPr/>
        </p:nvSpPr>
        <p:spPr bwMode="auto">
          <a:xfrm>
            <a:off x="1469950" y="128260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2044118067" name="Google Shape;360;p54"/>
          <p:cNvSpPr/>
          <p:nvPr/>
        </p:nvSpPr>
        <p:spPr bwMode="auto">
          <a:xfrm>
            <a:off x="1469950" y="176069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103384565" name="Google Shape;361;p54"/>
          <p:cNvSpPr/>
          <p:nvPr/>
        </p:nvSpPr>
        <p:spPr bwMode="auto">
          <a:xfrm>
            <a:off x="1469950" y="223879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904786710" name="Google Shape;362;p54"/>
          <p:cNvSpPr/>
          <p:nvPr/>
        </p:nvSpPr>
        <p:spPr bwMode="auto">
          <a:xfrm>
            <a:off x="1469950" y="271688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194510624" name="Google Shape;363;p54"/>
          <p:cNvSpPr/>
          <p:nvPr/>
        </p:nvSpPr>
        <p:spPr bwMode="auto">
          <a:xfrm>
            <a:off x="1469950" y="319498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688467269" name="Google Shape;364;p54"/>
          <p:cNvSpPr/>
          <p:nvPr/>
        </p:nvSpPr>
        <p:spPr bwMode="auto">
          <a:xfrm>
            <a:off x="1469950" y="367307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835131541" name="Google Shape;365;p54"/>
          <p:cNvSpPr txBox="1"/>
          <p:nvPr/>
        </p:nvSpPr>
        <p:spPr bwMode="auto">
          <a:xfrm>
            <a:off x="1394250" y="17218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1728744004" name="Google Shape;366;p54"/>
          <p:cNvSpPr txBox="1"/>
          <p:nvPr/>
        </p:nvSpPr>
        <p:spPr bwMode="auto">
          <a:xfrm>
            <a:off x="1394250" y="1240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1848847553" name="Google Shape;367;p54"/>
          <p:cNvSpPr txBox="1"/>
          <p:nvPr/>
        </p:nvSpPr>
        <p:spPr bwMode="auto">
          <a:xfrm>
            <a:off x="1394250" y="22035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342971967" name="Google Shape;368;p54"/>
          <p:cNvSpPr txBox="1"/>
          <p:nvPr/>
        </p:nvSpPr>
        <p:spPr bwMode="auto">
          <a:xfrm>
            <a:off x="1394250" y="26851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691219568" name="Google Shape;369;p54"/>
          <p:cNvSpPr txBox="1"/>
          <p:nvPr/>
        </p:nvSpPr>
        <p:spPr bwMode="auto">
          <a:xfrm>
            <a:off x="1394250" y="31668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1539729757" name="Google Shape;370;p54"/>
          <p:cNvSpPr txBox="1"/>
          <p:nvPr/>
        </p:nvSpPr>
        <p:spPr bwMode="auto">
          <a:xfrm>
            <a:off x="1394250" y="36484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1083321086" name="Google Shape;371;p54"/>
          <p:cNvSpPr txBox="1"/>
          <p:nvPr/>
        </p:nvSpPr>
        <p:spPr bwMode="auto">
          <a:xfrm>
            <a:off x="767400" y="4119449"/>
            <a:ext cx="1895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feature vector </a:t>
            </a:r>
            <a:r>
              <a:rPr lang="en" sz="1800" b="1">
                <a:solidFill>
                  <a:schemeClr val="dk1"/>
                </a:solidFill>
              </a:rPr>
              <a:t>x</a:t>
            </a:r>
            <a:endParaRPr sz="1800" baseline="-25000">
              <a:solidFill>
                <a:schemeClr val="dk1"/>
              </a:solidFill>
            </a:endParaRPr>
          </a:p>
        </p:txBody>
      </p:sp>
      <p:sp>
        <p:nvSpPr>
          <p:cNvPr id="1589355917" name="Google Shape;372;p54"/>
          <p:cNvSpPr/>
          <p:nvPr/>
        </p:nvSpPr>
        <p:spPr bwMode="auto">
          <a:xfrm>
            <a:off x="3329025" y="2414538"/>
            <a:ext cx="384900" cy="38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49534412" name="Google Shape;373;p54"/>
          <p:cNvSpPr txBox="1"/>
          <p:nvPr/>
        </p:nvSpPr>
        <p:spPr bwMode="auto">
          <a:xfrm>
            <a:off x="2943500" y="3288175"/>
            <a:ext cx="570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a:t>
            </a:r>
            <a:endParaRPr sz="1300">
              <a:solidFill>
                <a:schemeClr val="accent2"/>
              </a:solidFill>
            </a:endParaRPr>
          </a:p>
        </p:txBody>
      </p:sp>
      <p:sp>
        <p:nvSpPr>
          <p:cNvPr id="519453831" name="Google Shape;374;p54"/>
          <p:cNvSpPr txBox="1"/>
          <p:nvPr/>
        </p:nvSpPr>
        <p:spPr bwMode="auto">
          <a:xfrm>
            <a:off x="3019175" y="1180525"/>
            <a:ext cx="4150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weights </a:t>
            </a:r>
            <a:r>
              <a:rPr lang="en" sz="1800" b="1">
                <a:solidFill>
                  <a:schemeClr val="dk1"/>
                </a:solidFill>
              </a:rPr>
              <a:t>w</a:t>
            </a:r>
            <a:r>
              <a:rPr lang="en" sz="1800">
                <a:solidFill>
                  <a:schemeClr val="dk1"/>
                </a:solidFill>
              </a:rPr>
              <a:t> and bias b</a:t>
            </a:r>
            <a:endParaRPr sz="1800">
              <a:solidFill>
                <a:schemeClr val="dk1"/>
              </a:solidFill>
            </a:endParaRPr>
          </a:p>
        </p:txBody>
      </p:sp>
      <p:sp>
        <p:nvSpPr>
          <p:cNvPr id="2049848156" name="Google Shape;375;p54"/>
          <p:cNvSpPr txBox="1"/>
          <p:nvPr/>
        </p:nvSpPr>
        <p:spPr bwMode="auto">
          <a:xfrm>
            <a:off x="3847475" y="2414550"/>
            <a:ext cx="8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output</a:t>
            </a:r>
            <a:endParaRPr sz="1300">
              <a:solidFill>
                <a:schemeClr val="accent2"/>
              </a:solidFill>
            </a:endParaRPr>
          </a:p>
        </p:txBody>
      </p:sp>
      <p:cxnSp>
        <p:nvCxnSpPr>
          <p:cNvPr id="19206893" name="Google Shape;376;p54"/>
          <p:cNvCxnSpPr>
            <a:stCxn id="1728744004" idx="3"/>
            <a:endCxn id="1589355917" idx="1"/>
          </p:cNvCxnSpPr>
          <p:nvPr/>
        </p:nvCxnSpPr>
        <p:spPr bwMode="auto">
          <a:xfrm>
            <a:off x="2035650" y="1432688"/>
            <a:ext cx="1349700" cy="1038299"/>
          </a:xfrm>
          <a:prstGeom prst="straightConnector1">
            <a:avLst/>
          </a:prstGeom>
          <a:noFill/>
          <a:ln w="9525" cap="flat" cmpd="sng">
            <a:solidFill>
              <a:schemeClr val="dk2"/>
            </a:solidFill>
            <a:prstDash val="solid"/>
            <a:round/>
            <a:headEnd type="none" w="med" len="med"/>
            <a:tailEnd type="none" w="med" len="med"/>
          </a:ln>
        </p:spPr>
      </p:cxnSp>
      <p:cxnSp>
        <p:nvCxnSpPr>
          <p:cNvPr id="1503106739" name="Google Shape;377;p54"/>
          <p:cNvCxnSpPr>
            <a:stCxn id="1835131541" idx="3"/>
            <a:endCxn id="1589355917" idx="1"/>
          </p:cNvCxnSpPr>
          <p:nvPr/>
        </p:nvCxnSpPr>
        <p:spPr bwMode="auto">
          <a:xfrm>
            <a:off x="2035650" y="1914335"/>
            <a:ext cx="1349700" cy="556500"/>
          </a:xfrm>
          <a:prstGeom prst="straightConnector1">
            <a:avLst/>
          </a:prstGeom>
          <a:noFill/>
          <a:ln w="9525" cap="flat" cmpd="sng">
            <a:solidFill>
              <a:schemeClr val="dk2"/>
            </a:solidFill>
            <a:prstDash val="solid"/>
            <a:round/>
            <a:headEnd type="none" w="med" len="med"/>
            <a:tailEnd type="none" w="med" len="med"/>
          </a:ln>
        </p:spPr>
      </p:cxnSp>
      <p:cxnSp>
        <p:nvCxnSpPr>
          <p:cNvPr id="633888952" name="Google Shape;378;p54"/>
          <p:cNvCxnSpPr>
            <a:stCxn id="1848847553" idx="3"/>
            <a:endCxn id="1589355917" idx="2"/>
          </p:cNvCxnSpPr>
          <p:nvPr/>
        </p:nvCxnSpPr>
        <p:spPr bwMode="auto">
          <a:xfrm>
            <a:off x="2035650" y="2395983"/>
            <a:ext cx="1293300" cy="210900"/>
          </a:xfrm>
          <a:prstGeom prst="straightConnector1">
            <a:avLst/>
          </a:prstGeom>
          <a:noFill/>
          <a:ln w="9525" cap="flat" cmpd="sng">
            <a:solidFill>
              <a:schemeClr val="dk2"/>
            </a:solidFill>
            <a:prstDash val="solid"/>
            <a:round/>
            <a:headEnd type="none" w="med" len="med"/>
            <a:tailEnd type="none" w="med" len="med"/>
          </a:ln>
        </p:spPr>
      </p:cxnSp>
      <p:cxnSp>
        <p:nvCxnSpPr>
          <p:cNvPr id="1677306404" name="Google Shape;379;p54"/>
          <p:cNvCxnSpPr>
            <a:stCxn id="342971967" idx="3"/>
            <a:endCxn id="1589355917" idx="2"/>
          </p:cNvCxnSpPr>
          <p:nvPr/>
        </p:nvCxnSpPr>
        <p:spPr bwMode="auto">
          <a:xfrm rot="10800000" flipH="1">
            <a:off x="2035650" y="2607030"/>
            <a:ext cx="1293300" cy="270600"/>
          </a:xfrm>
          <a:prstGeom prst="straightConnector1">
            <a:avLst/>
          </a:prstGeom>
          <a:noFill/>
          <a:ln w="9525" cap="flat" cmpd="sng">
            <a:solidFill>
              <a:schemeClr val="dk2"/>
            </a:solidFill>
            <a:prstDash val="solid"/>
            <a:round/>
            <a:headEnd type="none" w="med" len="med"/>
            <a:tailEnd type="none" w="med" len="med"/>
          </a:ln>
        </p:spPr>
      </p:cxnSp>
      <p:cxnSp>
        <p:nvCxnSpPr>
          <p:cNvPr id="172883719" name="Google Shape;380;p54"/>
          <p:cNvCxnSpPr>
            <a:stCxn id="691219568" idx="3"/>
            <a:endCxn id="1589355917" idx="3"/>
          </p:cNvCxnSpPr>
          <p:nvPr/>
        </p:nvCxnSpPr>
        <p:spPr bwMode="auto">
          <a:xfrm rot="10800000" flipH="1">
            <a:off x="2035650" y="2743078"/>
            <a:ext cx="1349700" cy="616200"/>
          </a:xfrm>
          <a:prstGeom prst="straightConnector1">
            <a:avLst/>
          </a:prstGeom>
          <a:noFill/>
          <a:ln w="9525" cap="flat" cmpd="sng">
            <a:solidFill>
              <a:schemeClr val="dk2"/>
            </a:solidFill>
            <a:prstDash val="solid"/>
            <a:round/>
            <a:headEnd type="none" w="med" len="med"/>
            <a:tailEnd type="none" w="med" len="med"/>
          </a:ln>
        </p:spPr>
      </p:cxnSp>
      <p:cxnSp>
        <p:nvCxnSpPr>
          <p:cNvPr id="1335344582" name="Google Shape;381;p54"/>
          <p:cNvCxnSpPr>
            <a:stCxn id="1539729757" idx="3"/>
            <a:endCxn id="1589355917" idx="3"/>
          </p:cNvCxnSpPr>
          <p:nvPr/>
        </p:nvCxnSpPr>
        <p:spPr bwMode="auto">
          <a:xfrm rot="10800000" flipH="1">
            <a:off x="2035650" y="2742925"/>
            <a:ext cx="1349700" cy="1098000"/>
          </a:xfrm>
          <a:prstGeom prst="straightConnector1">
            <a:avLst/>
          </a:prstGeom>
          <a:noFill/>
          <a:ln w="9525" cap="flat" cmpd="sng">
            <a:solidFill>
              <a:schemeClr val="dk2"/>
            </a:solidFill>
            <a:prstDash val="solid"/>
            <a:round/>
            <a:headEnd type="none" w="med" len="med"/>
            <a:tailEnd type="none" w="med" len="med"/>
          </a:ln>
        </p:spPr>
      </p:cxnSp>
      <p:pic>
        <p:nvPicPr>
          <p:cNvPr id="1383275689" name="Google Shape;382;p54"/>
          <p:cNvPicPr/>
          <p:nvPr/>
        </p:nvPicPr>
        <p:blipFill rotWithShape="1">
          <a:blip r:embed="rId3">
            <a:alphaModFix/>
          </a:blip>
          <a:stretch/>
        </p:blipFill>
        <p:spPr bwMode="auto">
          <a:xfrm>
            <a:off x="4100000" y="3066188"/>
            <a:ext cx="4344299" cy="1575025"/>
          </a:xfrm>
          <a:prstGeom prst="rect">
            <a:avLst/>
          </a:prstGeom>
          <a:noFill/>
          <a:ln w="9525" cap="flat" cmpd="sng">
            <a:solidFill>
              <a:schemeClr val="dk2"/>
            </a:solidFill>
            <a:prstDash val="solid"/>
            <a:round/>
            <a:headEnd type="none" w="sm" len="sm"/>
            <a:tailEnd type="none" w="sm" len="sm"/>
          </a:ln>
        </p:spPr>
      </p:pic>
      <p:sp>
        <p:nvSpPr>
          <p:cNvPr id="2095000686" name="Google Shape;383;p54"/>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1910640" name="Google Shape;388;p55"/>
          <p:cNvSpPr txBox="1"/>
          <p:nvPr>
            <p:ph type="body" idx="1"/>
          </p:nvPr>
        </p:nvSpPr>
        <p:spPr bwMode="auto">
          <a:xfrm>
            <a:off x="311700" y="1152475"/>
            <a:ext cx="26802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The loss function encourage the weights to “separate” the different classes by a greater margin. </a:t>
            </a:r>
            <a:endParaRPr/>
          </a:p>
        </p:txBody>
      </p:sp>
      <p:pic>
        <p:nvPicPr>
          <p:cNvPr id="868264307" name="Google Shape;389;p55"/>
          <p:cNvPicPr/>
          <p:nvPr/>
        </p:nvPicPr>
        <p:blipFill rotWithShape="1">
          <a:blip r:embed="rId3">
            <a:alphaModFix/>
          </a:blip>
          <a:stretch/>
        </p:blipFill>
        <p:spPr bwMode="auto">
          <a:xfrm>
            <a:off x="3083875" y="445013"/>
            <a:ext cx="5908539" cy="3925774"/>
          </a:xfrm>
          <a:prstGeom prst="rect">
            <a:avLst/>
          </a:prstGeom>
          <a:noFill/>
          <a:ln>
            <a:noFill/>
          </a:ln>
        </p:spPr>
      </p:pic>
      <p:sp>
        <p:nvSpPr>
          <p:cNvPr id="1030268822" name="Google Shape;390;p55"/>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Loss function</a:t>
            </a:r>
            <a:endParaRPr/>
          </a:p>
        </p:txBody>
      </p:sp>
      <p:sp>
        <p:nvSpPr>
          <p:cNvPr id="2047072326" name="Google Shape;391;p55"/>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2695278" name="Google Shape;396;p56"/>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if it’s 10-classification?</a:t>
            </a:r>
            <a:endParaRPr/>
          </a:p>
        </p:txBody>
      </p:sp>
      <p:sp>
        <p:nvSpPr>
          <p:cNvPr id="147489483" name="Google Shape;397;p56"/>
          <p:cNvSpPr/>
          <p:nvPr/>
        </p:nvSpPr>
        <p:spPr bwMode="auto">
          <a:xfrm>
            <a:off x="2035650" y="1061550"/>
            <a:ext cx="1293300" cy="3090900"/>
          </a:xfrm>
          <a:prstGeom prst="roundRect">
            <a:avLst>
              <a:gd name="adj" fmla="val 59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43779087" name="Google Shape;398;p56"/>
          <p:cNvSpPr txBox="1"/>
          <p:nvPr/>
        </p:nvSpPr>
        <p:spPr bwMode="auto">
          <a:xfrm>
            <a:off x="2066163" y="1734647"/>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0.17</a:t>
            </a:r>
            <a:endParaRPr sz="1300">
              <a:solidFill>
                <a:schemeClr val="dk1"/>
              </a:solidFill>
            </a:endParaRPr>
          </a:p>
        </p:txBody>
      </p:sp>
      <p:sp>
        <p:nvSpPr>
          <p:cNvPr id="461518451" name="Google Shape;399;p56"/>
          <p:cNvSpPr txBox="1"/>
          <p:nvPr/>
        </p:nvSpPr>
        <p:spPr bwMode="auto">
          <a:xfrm>
            <a:off x="2066163" y="125300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-0.69</a:t>
            </a:r>
            <a:endParaRPr sz="1300">
              <a:solidFill>
                <a:schemeClr val="accent2"/>
              </a:solidFill>
            </a:endParaRPr>
          </a:p>
        </p:txBody>
      </p:sp>
      <p:sp>
        <p:nvSpPr>
          <p:cNvPr id="889617072" name="Google Shape;400;p56"/>
          <p:cNvSpPr txBox="1"/>
          <p:nvPr/>
        </p:nvSpPr>
        <p:spPr bwMode="auto">
          <a:xfrm>
            <a:off x="2066163" y="221629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-0.99</a:t>
            </a:r>
            <a:endParaRPr sz="1300">
              <a:solidFill>
                <a:schemeClr val="accent2"/>
              </a:solidFill>
            </a:endParaRPr>
          </a:p>
        </p:txBody>
      </p:sp>
      <p:sp>
        <p:nvSpPr>
          <p:cNvPr id="1577548652" name="Google Shape;401;p56"/>
          <p:cNvSpPr txBox="1"/>
          <p:nvPr/>
        </p:nvSpPr>
        <p:spPr bwMode="auto">
          <a:xfrm>
            <a:off x="2066163" y="269794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3.11</a:t>
            </a:r>
            <a:endParaRPr sz="1300">
              <a:solidFill>
                <a:schemeClr val="dk1"/>
              </a:solidFill>
            </a:endParaRPr>
          </a:p>
        </p:txBody>
      </p:sp>
      <p:sp>
        <p:nvSpPr>
          <p:cNvPr id="210024447" name="Google Shape;402;p56"/>
          <p:cNvSpPr txBox="1"/>
          <p:nvPr/>
        </p:nvSpPr>
        <p:spPr bwMode="auto">
          <a:xfrm>
            <a:off x="2066163" y="317959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-1.25</a:t>
            </a:r>
            <a:endParaRPr sz="1300">
              <a:solidFill>
                <a:schemeClr val="accent2"/>
              </a:solidFill>
            </a:endParaRPr>
          </a:p>
        </p:txBody>
      </p:sp>
      <p:sp>
        <p:nvSpPr>
          <p:cNvPr id="113437940" name="Google Shape;403;p56"/>
          <p:cNvSpPr txBox="1"/>
          <p:nvPr/>
        </p:nvSpPr>
        <p:spPr bwMode="auto">
          <a:xfrm>
            <a:off x="2066163" y="3661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1.45</a:t>
            </a:r>
            <a:endParaRPr sz="1300">
              <a:solidFill>
                <a:schemeClr val="dk1"/>
              </a:solidFill>
            </a:endParaRPr>
          </a:p>
        </p:txBody>
      </p:sp>
      <p:sp>
        <p:nvSpPr>
          <p:cNvPr id="1303866116" name="Google Shape;404;p56"/>
          <p:cNvSpPr/>
          <p:nvPr/>
        </p:nvSpPr>
        <p:spPr bwMode="auto">
          <a:xfrm>
            <a:off x="1469950" y="128260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958991242" name="Google Shape;405;p56"/>
          <p:cNvSpPr/>
          <p:nvPr/>
        </p:nvSpPr>
        <p:spPr bwMode="auto">
          <a:xfrm>
            <a:off x="1469950" y="176069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833472998" name="Google Shape;406;p56"/>
          <p:cNvSpPr/>
          <p:nvPr/>
        </p:nvSpPr>
        <p:spPr bwMode="auto">
          <a:xfrm>
            <a:off x="1469950" y="223879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017525266" name="Google Shape;407;p56"/>
          <p:cNvSpPr/>
          <p:nvPr/>
        </p:nvSpPr>
        <p:spPr bwMode="auto">
          <a:xfrm>
            <a:off x="1469950" y="271688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753123749" name="Google Shape;408;p56"/>
          <p:cNvSpPr/>
          <p:nvPr/>
        </p:nvSpPr>
        <p:spPr bwMode="auto">
          <a:xfrm>
            <a:off x="1469950" y="319498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557561296" name="Google Shape;409;p56"/>
          <p:cNvSpPr/>
          <p:nvPr/>
        </p:nvSpPr>
        <p:spPr bwMode="auto">
          <a:xfrm>
            <a:off x="1469950" y="367307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761479406" name="Google Shape;410;p56"/>
          <p:cNvSpPr txBox="1"/>
          <p:nvPr/>
        </p:nvSpPr>
        <p:spPr bwMode="auto">
          <a:xfrm>
            <a:off x="1394250" y="17218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377640969" name="Google Shape;411;p56"/>
          <p:cNvSpPr txBox="1"/>
          <p:nvPr/>
        </p:nvSpPr>
        <p:spPr bwMode="auto">
          <a:xfrm>
            <a:off x="1394250" y="1240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1733940312" name="Google Shape;412;p56"/>
          <p:cNvSpPr txBox="1"/>
          <p:nvPr/>
        </p:nvSpPr>
        <p:spPr bwMode="auto">
          <a:xfrm>
            <a:off x="1394250" y="22035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812591885" name="Google Shape;413;p56"/>
          <p:cNvSpPr txBox="1"/>
          <p:nvPr/>
        </p:nvSpPr>
        <p:spPr bwMode="auto">
          <a:xfrm>
            <a:off x="1394250" y="26851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1506316250" name="Google Shape;414;p56"/>
          <p:cNvSpPr txBox="1"/>
          <p:nvPr/>
        </p:nvSpPr>
        <p:spPr bwMode="auto">
          <a:xfrm>
            <a:off x="1394250" y="31668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309798271" name="Google Shape;415;p56"/>
          <p:cNvSpPr txBox="1"/>
          <p:nvPr/>
        </p:nvSpPr>
        <p:spPr bwMode="auto">
          <a:xfrm>
            <a:off x="1394250" y="36484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375605489" name="Google Shape;416;p56"/>
          <p:cNvSpPr/>
          <p:nvPr/>
        </p:nvSpPr>
        <p:spPr bwMode="auto">
          <a:xfrm>
            <a:off x="3329025" y="2414538"/>
            <a:ext cx="384900" cy="38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400606860" name="Google Shape;417;p56"/>
          <p:cNvSpPr txBox="1"/>
          <p:nvPr/>
        </p:nvSpPr>
        <p:spPr bwMode="auto">
          <a:xfrm>
            <a:off x="2943500" y="3288175"/>
            <a:ext cx="570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a:t>
            </a:r>
            <a:endParaRPr sz="1300">
              <a:solidFill>
                <a:schemeClr val="accent2"/>
              </a:solidFill>
            </a:endParaRPr>
          </a:p>
        </p:txBody>
      </p:sp>
      <p:sp>
        <p:nvSpPr>
          <p:cNvPr id="977913672" name="Google Shape;418;p56"/>
          <p:cNvSpPr txBox="1"/>
          <p:nvPr/>
        </p:nvSpPr>
        <p:spPr bwMode="auto">
          <a:xfrm>
            <a:off x="3847475" y="2414550"/>
            <a:ext cx="8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output</a:t>
            </a:r>
            <a:endParaRPr sz="1300">
              <a:solidFill>
                <a:schemeClr val="dk1"/>
              </a:solidFill>
            </a:endParaRPr>
          </a:p>
        </p:txBody>
      </p:sp>
      <p:cxnSp>
        <p:nvCxnSpPr>
          <p:cNvPr id="2026275022" name="Google Shape;419;p56"/>
          <p:cNvCxnSpPr>
            <a:stCxn id="377640969" idx="3"/>
            <a:endCxn id="375605489" idx="1"/>
          </p:cNvCxnSpPr>
          <p:nvPr/>
        </p:nvCxnSpPr>
        <p:spPr bwMode="auto">
          <a:xfrm>
            <a:off x="2035650" y="1432688"/>
            <a:ext cx="1349700" cy="1038299"/>
          </a:xfrm>
          <a:prstGeom prst="straightConnector1">
            <a:avLst/>
          </a:prstGeom>
          <a:noFill/>
          <a:ln w="9525" cap="flat" cmpd="sng">
            <a:solidFill>
              <a:schemeClr val="dk2"/>
            </a:solidFill>
            <a:prstDash val="solid"/>
            <a:round/>
            <a:headEnd type="none" w="med" len="med"/>
            <a:tailEnd type="none" w="med" len="med"/>
          </a:ln>
        </p:spPr>
      </p:cxnSp>
      <p:cxnSp>
        <p:nvCxnSpPr>
          <p:cNvPr id="1418080261" name="Google Shape;420;p56"/>
          <p:cNvCxnSpPr>
            <a:stCxn id="761479406" idx="3"/>
            <a:endCxn id="375605489" idx="1"/>
          </p:cNvCxnSpPr>
          <p:nvPr/>
        </p:nvCxnSpPr>
        <p:spPr bwMode="auto">
          <a:xfrm>
            <a:off x="2035650" y="1914335"/>
            <a:ext cx="1349700" cy="556500"/>
          </a:xfrm>
          <a:prstGeom prst="straightConnector1">
            <a:avLst/>
          </a:prstGeom>
          <a:noFill/>
          <a:ln w="9525" cap="flat" cmpd="sng">
            <a:solidFill>
              <a:schemeClr val="dk2"/>
            </a:solidFill>
            <a:prstDash val="solid"/>
            <a:round/>
            <a:headEnd type="none" w="med" len="med"/>
            <a:tailEnd type="none" w="med" len="med"/>
          </a:ln>
        </p:spPr>
      </p:cxnSp>
      <p:cxnSp>
        <p:nvCxnSpPr>
          <p:cNvPr id="1588346395" name="Google Shape;421;p56"/>
          <p:cNvCxnSpPr>
            <a:stCxn id="1733940312" idx="3"/>
            <a:endCxn id="375605489" idx="2"/>
          </p:cNvCxnSpPr>
          <p:nvPr/>
        </p:nvCxnSpPr>
        <p:spPr bwMode="auto">
          <a:xfrm>
            <a:off x="2035650" y="2395983"/>
            <a:ext cx="1293300" cy="210900"/>
          </a:xfrm>
          <a:prstGeom prst="straightConnector1">
            <a:avLst/>
          </a:prstGeom>
          <a:noFill/>
          <a:ln w="9525" cap="flat" cmpd="sng">
            <a:solidFill>
              <a:schemeClr val="dk2"/>
            </a:solidFill>
            <a:prstDash val="solid"/>
            <a:round/>
            <a:headEnd type="none" w="med" len="med"/>
            <a:tailEnd type="none" w="med" len="med"/>
          </a:ln>
        </p:spPr>
      </p:cxnSp>
      <p:cxnSp>
        <p:nvCxnSpPr>
          <p:cNvPr id="1353705330" name="Google Shape;422;p56"/>
          <p:cNvCxnSpPr>
            <a:stCxn id="812591885" idx="3"/>
            <a:endCxn id="375605489" idx="2"/>
          </p:cNvCxnSpPr>
          <p:nvPr/>
        </p:nvCxnSpPr>
        <p:spPr bwMode="auto">
          <a:xfrm rot="10800000" flipH="1">
            <a:off x="2035650" y="2607030"/>
            <a:ext cx="1293300" cy="270600"/>
          </a:xfrm>
          <a:prstGeom prst="straightConnector1">
            <a:avLst/>
          </a:prstGeom>
          <a:noFill/>
          <a:ln w="9525" cap="flat" cmpd="sng">
            <a:solidFill>
              <a:schemeClr val="dk2"/>
            </a:solidFill>
            <a:prstDash val="solid"/>
            <a:round/>
            <a:headEnd type="none" w="med" len="med"/>
            <a:tailEnd type="none" w="med" len="med"/>
          </a:ln>
        </p:spPr>
      </p:cxnSp>
      <p:cxnSp>
        <p:nvCxnSpPr>
          <p:cNvPr id="1471083722" name="Google Shape;423;p56"/>
          <p:cNvCxnSpPr>
            <a:stCxn id="1506316250" idx="3"/>
            <a:endCxn id="375605489" idx="3"/>
          </p:cNvCxnSpPr>
          <p:nvPr/>
        </p:nvCxnSpPr>
        <p:spPr bwMode="auto">
          <a:xfrm rot="10800000" flipH="1">
            <a:off x="2035650" y="2743078"/>
            <a:ext cx="1349700" cy="616200"/>
          </a:xfrm>
          <a:prstGeom prst="straightConnector1">
            <a:avLst/>
          </a:prstGeom>
          <a:noFill/>
          <a:ln w="9525" cap="flat" cmpd="sng">
            <a:solidFill>
              <a:schemeClr val="dk2"/>
            </a:solidFill>
            <a:prstDash val="solid"/>
            <a:round/>
            <a:headEnd type="none" w="med" len="med"/>
            <a:tailEnd type="none" w="med" len="med"/>
          </a:ln>
        </p:spPr>
      </p:cxnSp>
      <p:cxnSp>
        <p:nvCxnSpPr>
          <p:cNvPr id="1948954849" name="Google Shape;424;p56"/>
          <p:cNvCxnSpPr>
            <a:stCxn id="309798271" idx="3"/>
            <a:endCxn id="375605489" idx="3"/>
          </p:cNvCxnSpPr>
          <p:nvPr/>
        </p:nvCxnSpPr>
        <p:spPr bwMode="auto">
          <a:xfrm rot="10800000" flipH="1">
            <a:off x="2035650" y="2742925"/>
            <a:ext cx="1349700" cy="1098000"/>
          </a:xfrm>
          <a:prstGeom prst="straightConnector1">
            <a:avLst/>
          </a:prstGeom>
          <a:noFill/>
          <a:ln w="9525" cap="flat" cmpd="sng">
            <a:solidFill>
              <a:schemeClr val="dk2"/>
            </a:solidFill>
            <a:prstDash val="solid"/>
            <a:round/>
            <a:headEnd type="none" w="med" len="med"/>
            <a:tailEnd type="none" w="med" len="med"/>
          </a:ln>
        </p:spPr>
      </p:cxnSp>
      <p:sp>
        <p:nvSpPr>
          <p:cNvPr id="1772294489" name="Google Shape;425;p56"/>
          <p:cNvSpPr/>
          <p:nvPr/>
        </p:nvSpPr>
        <p:spPr bwMode="auto">
          <a:xfrm>
            <a:off x="3329025" y="1240238"/>
            <a:ext cx="384900" cy="384900"/>
          </a:xfrm>
          <a:prstGeom prst="ellipse">
            <a:avLst/>
          </a:prstGeom>
          <a:solidFill>
            <a:srgbClr val="FF0000"/>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026233970" name="Google Shape;426;p56"/>
          <p:cNvSpPr/>
          <p:nvPr/>
        </p:nvSpPr>
        <p:spPr bwMode="auto">
          <a:xfrm>
            <a:off x="3329025" y="3661238"/>
            <a:ext cx="384900" cy="384900"/>
          </a:xfrm>
          <a:prstGeom prst="ellipse">
            <a:avLst/>
          </a:prstGeom>
          <a:solidFill>
            <a:srgbClr val="00FF00"/>
          </a:solidFill>
          <a:ln w="952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723546434" name="Google Shape;427;p56"/>
          <p:cNvSpPr txBox="1"/>
          <p:nvPr/>
        </p:nvSpPr>
        <p:spPr bwMode="auto">
          <a:xfrm>
            <a:off x="3329025" y="1760700"/>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1937762469" name="Google Shape;428;p56"/>
          <p:cNvSpPr txBox="1"/>
          <p:nvPr/>
        </p:nvSpPr>
        <p:spPr bwMode="auto">
          <a:xfrm>
            <a:off x="3329025" y="3023638"/>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cxnSp>
        <p:nvCxnSpPr>
          <p:cNvPr id="240112214" name="Google Shape;429;p56"/>
          <p:cNvCxnSpPr>
            <a:stCxn id="377640969" idx="3"/>
            <a:endCxn id="1772294489" idx="2"/>
          </p:cNvCxnSpPr>
          <p:nvPr/>
        </p:nvCxnSpPr>
        <p:spPr bwMode="auto">
          <a:xfrm>
            <a:off x="2035650" y="1432688"/>
            <a:ext cx="1293300" cy="0"/>
          </a:xfrm>
          <a:prstGeom prst="straightConnector1">
            <a:avLst/>
          </a:prstGeom>
          <a:noFill/>
          <a:ln w="9525" cap="flat" cmpd="sng">
            <a:solidFill>
              <a:schemeClr val="accent2"/>
            </a:solidFill>
            <a:prstDash val="dash"/>
            <a:round/>
            <a:headEnd type="none" w="med" len="med"/>
            <a:tailEnd type="none" w="med" len="med"/>
          </a:ln>
        </p:spPr>
      </p:cxnSp>
      <p:cxnSp>
        <p:nvCxnSpPr>
          <p:cNvPr id="476846425" name="Google Shape;430;p56"/>
          <p:cNvCxnSpPr>
            <a:stCxn id="761479406" idx="3"/>
            <a:endCxn id="1772294489" idx="2"/>
          </p:cNvCxnSpPr>
          <p:nvPr/>
        </p:nvCxnSpPr>
        <p:spPr bwMode="auto">
          <a:xfrm rot="10800000" flipH="1">
            <a:off x="2035650" y="1432835"/>
            <a:ext cx="1293300" cy="481500"/>
          </a:xfrm>
          <a:prstGeom prst="straightConnector1">
            <a:avLst/>
          </a:prstGeom>
          <a:noFill/>
          <a:ln w="9525" cap="flat" cmpd="sng">
            <a:solidFill>
              <a:schemeClr val="accent2"/>
            </a:solidFill>
            <a:prstDash val="dash"/>
            <a:round/>
            <a:headEnd type="none" w="med" len="med"/>
            <a:tailEnd type="none" w="med" len="med"/>
          </a:ln>
        </p:spPr>
      </p:cxnSp>
      <p:cxnSp>
        <p:nvCxnSpPr>
          <p:cNvPr id="474222690" name="Google Shape;431;p56"/>
          <p:cNvCxnSpPr>
            <a:stCxn id="1733940312" idx="3"/>
            <a:endCxn id="1772294489" idx="2"/>
          </p:cNvCxnSpPr>
          <p:nvPr/>
        </p:nvCxnSpPr>
        <p:spPr bwMode="auto">
          <a:xfrm rot="10800000" flipH="1">
            <a:off x="2035650" y="1432683"/>
            <a:ext cx="1293300" cy="963300"/>
          </a:xfrm>
          <a:prstGeom prst="straightConnector1">
            <a:avLst/>
          </a:prstGeom>
          <a:noFill/>
          <a:ln w="9525" cap="flat" cmpd="sng">
            <a:solidFill>
              <a:schemeClr val="accent2"/>
            </a:solidFill>
            <a:prstDash val="dash"/>
            <a:round/>
            <a:headEnd type="none" w="med" len="med"/>
            <a:tailEnd type="none" w="med" len="med"/>
          </a:ln>
        </p:spPr>
      </p:cxnSp>
      <p:cxnSp>
        <p:nvCxnSpPr>
          <p:cNvPr id="2098396106" name="Google Shape;432;p56"/>
          <p:cNvCxnSpPr>
            <a:stCxn id="812591885" idx="3"/>
            <a:endCxn id="1772294489" idx="2"/>
          </p:cNvCxnSpPr>
          <p:nvPr/>
        </p:nvCxnSpPr>
        <p:spPr bwMode="auto">
          <a:xfrm rot="10800000" flipH="1">
            <a:off x="2035650" y="1432830"/>
            <a:ext cx="1293300" cy="1444800"/>
          </a:xfrm>
          <a:prstGeom prst="straightConnector1">
            <a:avLst/>
          </a:prstGeom>
          <a:noFill/>
          <a:ln w="9525" cap="flat" cmpd="sng">
            <a:solidFill>
              <a:schemeClr val="accent2"/>
            </a:solidFill>
            <a:prstDash val="dash"/>
            <a:round/>
            <a:headEnd type="none" w="med" len="med"/>
            <a:tailEnd type="none" w="med" len="med"/>
          </a:ln>
        </p:spPr>
      </p:cxnSp>
      <p:cxnSp>
        <p:nvCxnSpPr>
          <p:cNvPr id="415329207" name="Google Shape;433;p56"/>
          <p:cNvCxnSpPr>
            <a:stCxn id="1506316250" idx="3"/>
            <a:endCxn id="1772294489" idx="2"/>
          </p:cNvCxnSpPr>
          <p:nvPr/>
        </p:nvCxnSpPr>
        <p:spPr bwMode="auto">
          <a:xfrm rot="10800000" flipH="1">
            <a:off x="2035650" y="1432678"/>
            <a:ext cx="1293300" cy="1926600"/>
          </a:xfrm>
          <a:prstGeom prst="straightConnector1">
            <a:avLst/>
          </a:prstGeom>
          <a:noFill/>
          <a:ln w="9525" cap="flat" cmpd="sng">
            <a:solidFill>
              <a:schemeClr val="accent2"/>
            </a:solidFill>
            <a:prstDash val="dash"/>
            <a:round/>
            <a:headEnd type="none" w="med" len="med"/>
            <a:tailEnd type="none" w="med" len="med"/>
          </a:ln>
        </p:spPr>
      </p:cxnSp>
      <p:cxnSp>
        <p:nvCxnSpPr>
          <p:cNvPr id="1886987331" name="Google Shape;434;p56"/>
          <p:cNvCxnSpPr>
            <a:stCxn id="309798271" idx="3"/>
            <a:endCxn id="1772294489" idx="2"/>
          </p:cNvCxnSpPr>
          <p:nvPr/>
        </p:nvCxnSpPr>
        <p:spPr bwMode="auto">
          <a:xfrm rot="10800000" flipH="1">
            <a:off x="2035650" y="1432825"/>
            <a:ext cx="1293300" cy="2408100"/>
          </a:xfrm>
          <a:prstGeom prst="straightConnector1">
            <a:avLst/>
          </a:prstGeom>
          <a:noFill/>
          <a:ln w="9525" cap="flat" cmpd="sng">
            <a:solidFill>
              <a:schemeClr val="accent2"/>
            </a:solidFill>
            <a:prstDash val="dash"/>
            <a:round/>
            <a:headEnd type="none" w="med" len="med"/>
            <a:tailEnd type="none" w="med" len="med"/>
          </a:ln>
        </p:spPr>
      </p:cxnSp>
      <p:cxnSp>
        <p:nvCxnSpPr>
          <p:cNvPr id="2043986132" name="Google Shape;435;p56"/>
          <p:cNvCxnSpPr>
            <a:stCxn id="377640969" idx="3"/>
            <a:endCxn id="1026233970" idx="2"/>
          </p:cNvCxnSpPr>
          <p:nvPr/>
        </p:nvCxnSpPr>
        <p:spPr bwMode="auto">
          <a:xfrm>
            <a:off x="2035650" y="1432688"/>
            <a:ext cx="1293300" cy="2421000"/>
          </a:xfrm>
          <a:prstGeom prst="straightConnector1">
            <a:avLst/>
          </a:prstGeom>
          <a:noFill/>
          <a:ln w="9525" cap="flat" cmpd="sng">
            <a:solidFill>
              <a:srgbClr val="00FF00"/>
            </a:solidFill>
            <a:prstDash val="lgDash"/>
            <a:round/>
            <a:headEnd type="none" w="med" len="med"/>
            <a:tailEnd type="none" w="med" len="med"/>
          </a:ln>
        </p:spPr>
      </p:cxnSp>
      <p:cxnSp>
        <p:nvCxnSpPr>
          <p:cNvPr id="1148948637" name="Google Shape;436;p56"/>
          <p:cNvCxnSpPr>
            <a:stCxn id="761479406" idx="3"/>
            <a:endCxn id="1026233970" idx="3"/>
          </p:cNvCxnSpPr>
          <p:nvPr/>
        </p:nvCxnSpPr>
        <p:spPr bwMode="auto">
          <a:xfrm>
            <a:off x="2035650" y="1914335"/>
            <a:ext cx="1349700" cy="2075400"/>
          </a:xfrm>
          <a:prstGeom prst="straightConnector1">
            <a:avLst/>
          </a:prstGeom>
          <a:noFill/>
          <a:ln w="9525" cap="flat" cmpd="sng">
            <a:solidFill>
              <a:srgbClr val="00FF00"/>
            </a:solidFill>
            <a:prstDash val="lgDash"/>
            <a:round/>
            <a:headEnd type="none" w="med" len="med"/>
            <a:tailEnd type="none" w="med" len="med"/>
          </a:ln>
        </p:spPr>
      </p:cxnSp>
      <p:cxnSp>
        <p:nvCxnSpPr>
          <p:cNvPr id="771509191" name="Google Shape;437;p56"/>
          <p:cNvCxnSpPr>
            <a:stCxn id="1733940312" idx="3"/>
            <a:endCxn id="1026233970" idx="2"/>
          </p:cNvCxnSpPr>
          <p:nvPr/>
        </p:nvCxnSpPr>
        <p:spPr bwMode="auto">
          <a:xfrm>
            <a:off x="2035650" y="2395983"/>
            <a:ext cx="1293300" cy="1457700"/>
          </a:xfrm>
          <a:prstGeom prst="straightConnector1">
            <a:avLst/>
          </a:prstGeom>
          <a:noFill/>
          <a:ln w="9525" cap="flat" cmpd="sng">
            <a:solidFill>
              <a:srgbClr val="00FF00"/>
            </a:solidFill>
            <a:prstDash val="lgDash"/>
            <a:round/>
            <a:headEnd type="none" w="med" len="med"/>
            <a:tailEnd type="none" w="med" len="med"/>
          </a:ln>
        </p:spPr>
      </p:cxnSp>
      <p:cxnSp>
        <p:nvCxnSpPr>
          <p:cNvPr id="1173881151" name="Google Shape;438;p56"/>
          <p:cNvCxnSpPr>
            <a:stCxn id="812591885" idx="3"/>
            <a:endCxn id="1026233970" idx="2"/>
          </p:cNvCxnSpPr>
          <p:nvPr/>
        </p:nvCxnSpPr>
        <p:spPr bwMode="auto">
          <a:xfrm>
            <a:off x="2035650" y="2877630"/>
            <a:ext cx="1293300" cy="976200"/>
          </a:xfrm>
          <a:prstGeom prst="straightConnector1">
            <a:avLst/>
          </a:prstGeom>
          <a:noFill/>
          <a:ln w="9525" cap="flat" cmpd="sng">
            <a:solidFill>
              <a:srgbClr val="00FF00"/>
            </a:solidFill>
            <a:prstDash val="lgDash"/>
            <a:round/>
            <a:headEnd type="none" w="med" len="med"/>
            <a:tailEnd type="none" w="med" len="med"/>
          </a:ln>
        </p:spPr>
      </p:cxnSp>
      <p:cxnSp>
        <p:nvCxnSpPr>
          <p:cNvPr id="1548745473" name="Google Shape;439;p56"/>
          <p:cNvCxnSpPr>
            <a:stCxn id="1506316250" idx="3"/>
            <a:endCxn id="1026233970" idx="2"/>
          </p:cNvCxnSpPr>
          <p:nvPr/>
        </p:nvCxnSpPr>
        <p:spPr bwMode="auto">
          <a:xfrm>
            <a:off x="2035650" y="3359278"/>
            <a:ext cx="1293300" cy="494399"/>
          </a:xfrm>
          <a:prstGeom prst="straightConnector1">
            <a:avLst/>
          </a:prstGeom>
          <a:noFill/>
          <a:ln w="9525" cap="flat" cmpd="sng">
            <a:solidFill>
              <a:srgbClr val="00FF00"/>
            </a:solidFill>
            <a:prstDash val="lgDash"/>
            <a:round/>
            <a:headEnd type="none" w="med" len="med"/>
            <a:tailEnd type="none" w="med" len="med"/>
          </a:ln>
        </p:spPr>
      </p:cxnSp>
      <p:cxnSp>
        <p:nvCxnSpPr>
          <p:cNvPr id="955665071" name="Google Shape;440;p56"/>
          <p:cNvCxnSpPr>
            <a:stCxn id="309798271" idx="3"/>
            <a:endCxn id="1026233970" idx="2"/>
          </p:cNvCxnSpPr>
          <p:nvPr/>
        </p:nvCxnSpPr>
        <p:spPr bwMode="auto">
          <a:xfrm>
            <a:off x="2035650" y="3840925"/>
            <a:ext cx="1293300" cy="12900"/>
          </a:xfrm>
          <a:prstGeom prst="straightConnector1">
            <a:avLst/>
          </a:prstGeom>
          <a:noFill/>
          <a:ln w="9525" cap="flat" cmpd="sng">
            <a:solidFill>
              <a:srgbClr val="00FF00"/>
            </a:solidFill>
            <a:prstDash val="lgDash"/>
            <a:round/>
            <a:headEnd type="none" w="med" len="med"/>
            <a:tailEnd type="none" w="med" len="med"/>
          </a:ln>
        </p:spPr>
      </p:cxnSp>
      <p:sp>
        <p:nvSpPr>
          <p:cNvPr id="1173091143" name="Google Shape;441;p56"/>
          <p:cNvSpPr txBox="1"/>
          <p:nvPr/>
        </p:nvSpPr>
        <p:spPr bwMode="auto">
          <a:xfrm>
            <a:off x="8324825" y="17695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309072442" name="Google Shape;442;p56"/>
          <p:cNvSpPr txBox="1"/>
          <p:nvPr/>
        </p:nvSpPr>
        <p:spPr bwMode="auto">
          <a:xfrm>
            <a:off x="8324825" y="12879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193672235" name="Google Shape;443;p56"/>
          <p:cNvSpPr txBox="1"/>
          <p:nvPr/>
        </p:nvSpPr>
        <p:spPr bwMode="auto">
          <a:xfrm>
            <a:off x="8324825" y="22512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1643168793" name="Google Shape;444;p56"/>
          <p:cNvSpPr txBox="1"/>
          <p:nvPr/>
        </p:nvSpPr>
        <p:spPr bwMode="auto">
          <a:xfrm>
            <a:off x="8324825" y="27328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247794333" name="Google Shape;445;p56"/>
          <p:cNvSpPr txBox="1"/>
          <p:nvPr/>
        </p:nvSpPr>
        <p:spPr bwMode="auto">
          <a:xfrm>
            <a:off x="8324825" y="32145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1541053100" name="Google Shape;446;p56"/>
          <p:cNvSpPr txBox="1"/>
          <p:nvPr/>
        </p:nvSpPr>
        <p:spPr bwMode="auto">
          <a:xfrm>
            <a:off x="8324825" y="36961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1911241495" name="Google Shape;447;p56"/>
          <p:cNvSpPr/>
          <p:nvPr/>
        </p:nvSpPr>
        <p:spPr bwMode="auto">
          <a:xfrm>
            <a:off x="8324825" y="1175263"/>
            <a:ext cx="497100" cy="29400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118825705" name="Google Shape;448;p56"/>
          <p:cNvSpPr/>
          <p:nvPr/>
        </p:nvSpPr>
        <p:spPr bwMode="auto">
          <a:xfrm>
            <a:off x="5480525" y="2001400"/>
            <a:ext cx="2759700" cy="13365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cxnSp>
        <p:nvCxnSpPr>
          <p:cNvPr id="336176362" name="Google Shape;449;p56"/>
          <p:cNvCxnSpPr/>
          <p:nvPr/>
        </p:nvCxnSpPr>
        <p:spPr bwMode="auto">
          <a:xfrm>
            <a:off x="4597225" y="1021850"/>
            <a:ext cx="0" cy="3242700"/>
          </a:xfrm>
          <a:prstGeom prst="straightConnector1">
            <a:avLst/>
          </a:prstGeom>
          <a:noFill/>
          <a:ln w="28575" cap="flat" cmpd="sng">
            <a:solidFill>
              <a:schemeClr val="dk2"/>
            </a:solidFill>
            <a:prstDash val="solid"/>
            <a:round/>
            <a:headEnd type="none" w="med" len="med"/>
            <a:tailEnd type="none" w="med" len="med"/>
          </a:ln>
        </p:spPr>
      </p:cxnSp>
      <p:sp>
        <p:nvSpPr>
          <p:cNvPr id="978346040" name="Google Shape;450;p56"/>
          <p:cNvSpPr txBox="1"/>
          <p:nvPr/>
        </p:nvSpPr>
        <p:spPr bwMode="auto">
          <a:xfrm>
            <a:off x="8355600" y="722638"/>
            <a:ext cx="497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x</a:t>
            </a:r>
            <a:r>
              <a:rPr lang="en" sz="1800" baseline="30000">
                <a:solidFill>
                  <a:schemeClr val="dk1"/>
                </a:solidFill>
              </a:rPr>
              <a:t>k</a:t>
            </a:r>
            <a:endParaRPr sz="1800" baseline="30000">
              <a:solidFill>
                <a:schemeClr val="dk1"/>
              </a:solidFill>
            </a:endParaRPr>
          </a:p>
        </p:txBody>
      </p:sp>
      <p:sp>
        <p:nvSpPr>
          <p:cNvPr id="452428446" name="Google Shape;451;p56"/>
          <p:cNvSpPr txBox="1"/>
          <p:nvPr/>
        </p:nvSpPr>
        <p:spPr bwMode="auto">
          <a:xfrm>
            <a:off x="5544100" y="1989025"/>
            <a:ext cx="2696100" cy="10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chemeClr val="dk1"/>
                </a:solidFill>
              </a:rPr>
              <a:t>w</a:t>
            </a:r>
            <a:r>
              <a:rPr lang="en" sz="1800" baseline="-25000">
                <a:solidFill>
                  <a:schemeClr val="dk1"/>
                </a:solidFill>
              </a:rPr>
              <a:t>00</a:t>
            </a:r>
            <a:r>
              <a:rPr lang="en" sz="1800"/>
              <a:t>  w</a:t>
            </a:r>
            <a:r>
              <a:rPr lang="en" sz="1800" baseline="-25000"/>
              <a:t>01</a:t>
            </a:r>
            <a:r>
              <a:rPr lang="en" sz="1800"/>
              <a:t>  …   …</a:t>
            </a:r>
            <a:r>
              <a:rPr lang="en" sz="1800"/>
              <a:t>  …</a:t>
            </a:r>
            <a:r>
              <a:rPr lang="en" sz="1800"/>
              <a:t> </a:t>
            </a:r>
            <a:r>
              <a:rPr lang="en" sz="1800"/>
              <a:t>  </a:t>
            </a:r>
            <a:r>
              <a:rPr lang="en" sz="1800"/>
              <a:t> w</a:t>
            </a:r>
            <a:r>
              <a:rPr lang="en" sz="1800" baseline="-25000"/>
              <a:t>0k</a:t>
            </a:r>
            <a:endParaRPr/>
          </a:p>
          <a:p>
            <a:pPr marL="0" lvl="0" indent="0" algn="l" rtl="0">
              <a:spcBef>
                <a:spcPts val="0"/>
              </a:spcBef>
              <a:spcAft>
                <a:spcPts val="0"/>
              </a:spcAft>
              <a:buNone/>
              <a:defRPr/>
            </a:pPr>
            <a:r>
              <a:rPr lang="en"/>
              <a:t>…</a:t>
            </a:r>
            <a:endParaRPr/>
          </a:p>
          <a:p>
            <a:pPr marL="0" lvl="0" indent="0" algn="l" rtl="0">
              <a:spcBef>
                <a:spcPts val="0"/>
              </a:spcBef>
              <a:spcAft>
                <a:spcPts val="0"/>
              </a:spcAft>
              <a:buNone/>
              <a:defRPr/>
            </a:pPr>
            <a:r>
              <a:rPr lang="en"/>
              <a:t>-0.69 0.17 -0.99 3.11 -1.25 1.45</a:t>
            </a:r>
            <a:endParaRPr/>
          </a:p>
          <a:p>
            <a:pPr marL="0" lvl="0" indent="0" algn="l" rtl="0">
              <a:spcBef>
                <a:spcPts val="0"/>
              </a:spcBef>
              <a:spcAft>
                <a:spcPts val="0"/>
              </a:spcAft>
              <a:buNone/>
              <a:defRPr/>
            </a:pPr>
            <a:r>
              <a:rPr lang="en"/>
              <a:t>…</a:t>
            </a:r>
            <a:endParaRPr/>
          </a:p>
          <a:p>
            <a:pPr marL="0" lvl="0" indent="0" algn="l" rtl="0">
              <a:spcBef>
                <a:spcPts val="0"/>
              </a:spcBef>
              <a:spcAft>
                <a:spcPts val="0"/>
              </a:spcAft>
              <a:buNone/>
              <a:defRPr/>
            </a:pPr>
            <a:r>
              <a:rPr lang="en" sz="1800"/>
              <a:t>w</a:t>
            </a:r>
            <a:r>
              <a:rPr lang="en" sz="1800" baseline="-25000"/>
              <a:t>n0</a:t>
            </a:r>
            <a:r>
              <a:rPr lang="en" sz="1800"/>
              <a:t>  w</a:t>
            </a:r>
            <a:r>
              <a:rPr lang="en" sz="1800" baseline="-25000"/>
              <a:t>n1</a:t>
            </a:r>
            <a:r>
              <a:rPr lang="en" sz="1800"/>
              <a:t>  …   …   …   w</a:t>
            </a:r>
            <a:r>
              <a:rPr lang="en" sz="1800" baseline="-25000"/>
              <a:t>nk</a:t>
            </a:r>
            <a:endParaRPr sz="1800" baseline="-25000"/>
          </a:p>
        </p:txBody>
      </p:sp>
      <p:sp>
        <p:nvSpPr>
          <p:cNvPr id="152834342" name="Google Shape;452;p56"/>
          <p:cNvSpPr txBox="1"/>
          <p:nvPr/>
        </p:nvSpPr>
        <p:spPr bwMode="auto">
          <a:xfrm>
            <a:off x="6453275" y="1549475"/>
            <a:ext cx="749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w</a:t>
            </a:r>
            <a:r>
              <a:rPr lang="en" sz="1800" baseline="30000">
                <a:solidFill>
                  <a:schemeClr val="dk1"/>
                </a:solidFill>
              </a:rPr>
              <a:t>nxk</a:t>
            </a:r>
            <a:endParaRPr sz="1800" baseline="30000">
              <a:solidFill>
                <a:schemeClr val="dk1"/>
              </a:solidFill>
            </a:endParaRPr>
          </a:p>
        </p:txBody>
      </p:sp>
      <p:sp>
        <p:nvSpPr>
          <p:cNvPr id="767725008" name="Google Shape;453;p56"/>
          <p:cNvSpPr txBox="1"/>
          <p:nvPr/>
        </p:nvSpPr>
        <p:spPr bwMode="auto">
          <a:xfrm>
            <a:off x="1700075" y="4335475"/>
            <a:ext cx="214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Pictorial notation</a:t>
            </a:r>
            <a:endParaRPr sz="1800">
              <a:solidFill>
                <a:schemeClr val="dk1"/>
              </a:solidFill>
            </a:endParaRPr>
          </a:p>
        </p:txBody>
      </p:sp>
      <p:sp>
        <p:nvSpPr>
          <p:cNvPr id="1111502875" name="Google Shape;454;p56"/>
          <p:cNvSpPr txBox="1"/>
          <p:nvPr/>
        </p:nvSpPr>
        <p:spPr bwMode="auto">
          <a:xfrm>
            <a:off x="5378200" y="4335475"/>
            <a:ext cx="2483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Mathematical</a:t>
            </a:r>
            <a:r>
              <a:rPr lang="en" sz="1800">
                <a:solidFill>
                  <a:schemeClr val="dk1"/>
                </a:solidFill>
              </a:rPr>
              <a:t> notation</a:t>
            </a:r>
            <a:endParaRPr sz="1800">
              <a:solidFill>
                <a:schemeClr val="dk1"/>
              </a:solidFill>
            </a:endParaRPr>
          </a:p>
        </p:txBody>
      </p:sp>
      <p:sp>
        <p:nvSpPr>
          <p:cNvPr id="1641214589" name="Google Shape;455;p56"/>
          <p:cNvSpPr/>
          <p:nvPr/>
        </p:nvSpPr>
        <p:spPr bwMode="auto">
          <a:xfrm>
            <a:off x="4795250" y="2011175"/>
            <a:ext cx="384900" cy="13365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86252231" name="Google Shape;456;p56"/>
          <p:cNvSpPr txBox="1"/>
          <p:nvPr/>
        </p:nvSpPr>
        <p:spPr bwMode="auto">
          <a:xfrm>
            <a:off x="4723250" y="2038600"/>
            <a:ext cx="528900" cy="12620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b</a:t>
            </a:r>
            <a:r>
              <a:rPr lang="en" baseline="-25000">
                <a:solidFill>
                  <a:schemeClr val="dk1"/>
                </a:solidFill>
              </a:rPr>
              <a:t>0</a:t>
            </a:r>
            <a:endParaRPr baseline="-25000">
              <a:solidFill>
                <a:schemeClr val="dk1"/>
              </a:solidFill>
            </a:endParaRPr>
          </a:p>
          <a:p>
            <a:pPr marL="0" lvl="0" indent="0" algn="l" rtl="0">
              <a:spcBef>
                <a:spcPts val="0"/>
              </a:spcBef>
              <a:spcAft>
                <a:spcPts val="0"/>
              </a:spcAft>
              <a:buNone/>
              <a:defRPr/>
            </a:pPr>
            <a:r>
              <a:rPr lang="en">
                <a:solidFill>
                  <a:schemeClr val="dk1"/>
                </a:solidFill>
              </a:rPr>
              <a:t>…</a:t>
            </a:r>
            <a:endParaRPr>
              <a:solidFill>
                <a:schemeClr val="dk1"/>
              </a:solidFill>
            </a:endParaRPr>
          </a:p>
          <a:p>
            <a:pPr marL="0" lvl="0" indent="0" algn="l" rtl="0">
              <a:spcBef>
                <a:spcPts val="0"/>
              </a:spcBef>
              <a:spcAft>
                <a:spcPts val="0"/>
              </a:spcAft>
              <a:buNone/>
              <a:defRPr/>
            </a:pPr>
            <a:r>
              <a:rPr lang="en">
                <a:solidFill>
                  <a:schemeClr val="dk1"/>
                </a:solidFill>
              </a:rPr>
              <a:t>-1.2</a:t>
            </a:r>
            <a:endParaRPr>
              <a:solidFill>
                <a:schemeClr val="dk1"/>
              </a:solidFill>
            </a:endParaRPr>
          </a:p>
          <a:p>
            <a:pPr marL="0" lvl="0" indent="0" algn="l" rtl="0">
              <a:spcBef>
                <a:spcPts val="0"/>
              </a:spcBef>
              <a:spcAft>
                <a:spcPts val="0"/>
              </a:spcAft>
              <a:buNone/>
              <a:defRPr/>
            </a:pPr>
            <a:r>
              <a:rPr lang="en">
                <a:solidFill>
                  <a:schemeClr val="dk1"/>
                </a:solidFill>
              </a:rPr>
              <a:t>…</a:t>
            </a:r>
            <a:endParaRPr>
              <a:solidFill>
                <a:schemeClr val="dk1"/>
              </a:solidFill>
            </a:endParaRPr>
          </a:p>
          <a:p>
            <a:pPr marL="0" lvl="0" indent="0" algn="l" rtl="0">
              <a:spcBef>
                <a:spcPts val="0"/>
              </a:spcBef>
              <a:spcAft>
                <a:spcPts val="0"/>
              </a:spcAft>
              <a:buNone/>
              <a:defRPr/>
            </a:pPr>
            <a:r>
              <a:rPr lang="en">
                <a:solidFill>
                  <a:schemeClr val="dk1"/>
                </a:solidFill>
              </a:rPr>
              <a:t>b</a:t>
            </a:r>
            <a:r>
              <a:rPr lang="en" baseline="-25000">
                <a:solidFill>
                  <a:schemeClr val="dk1"/>
                </a:solidFill>
              </a:rPr>
              <a:t>n</a:t>
            </a:r>
            <a:endParaRPr baseline="-25000">
              <a:solidFill>
                <a:schemeClr val="dk1"/>
              </a:solidFill>
            </a:endParaRPr>
          </a:p>
        </p:txBody>
      </p:sp>
      <p:sp>
        <p:nvSpPr>
          <p:cNvPr id="1530947990" name="Google Shape;457;p56"/>
          <p:cNvSpPr txBox="1"/>
          <p:nvPr/>
        </p:nvSpPr>
        <p:spPr bwMode="auto">
          <a:xfrm>
            <a:off x="5165200" y="2445750"/>
            <a:ext cx="331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1128009284" name="Google Shape;458;p56"/>
          <p:cNvSpPr txBox="1"/>
          <p:nvPr/>
        </p:nvSpPr>
        <p:spPr bwMode="auto">
          <a:xfrm>
            <a:off x="4816900" y="1549475"/>
            <a:ext cx="528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b</a:t>
            </a:r>
            <a:r>
              <a:rPr lang="en" sz="1800" baseline="30000">
                <a:solidFill>
                  <a:schemeClr val="dk1"/>
                </a:solidFill>
              </a:rPr>
              <a:t>n</a:t>
            </a:r>
            <a:endParaRPr sz="1800" baseline="30000">
              <a:solidFill>
                <a:schemeClr val="dk1"/>
              </a:solidFill>
            </a:endParaRPr>
          </a:p>
        </p:txBody>
      </p:sp>
      <p:sp>
        <p:nvSpPr>
          <p:cNvPr id="178850222" name="Google Shape;459;p56"/>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9706038" name="Google Shape;464;p57"/>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if it’s 10-classification?</a:t>
            </a:r>
            <a:endParaRPr/>
          </a:p>
        </p:txBody>
      </p:sp>
      <p:sp>
        <p:nvSpPr>
          <p:cNvPr id="1337746463" name="Google Shape;465;p57"/>
          <p:cNvSpPr/>
          <p:nvPr/>
        </p:nvSpPr>
        <p:spPr bwMode="auto">
          <a:xfrm>
            <a:off x="2035650" y="1061550"/>
            <a:ext cx="1293300" cy="3090900"/>
          </a:xfrm>
          <a:prstGeom prst="roundRect">
            <a:avLst>
              <a:gd name="adj" fmla="val 59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04492852" name="Google Shape;466;p57"/>
          <p:cNvSpPr txBox="1"/>
          <p:nvPr/>
        </p:nvSpPr>
        <p:spPr bwMode="auto">
          <a:xfrm>
            <a:off x="2066163" y="1734647"/>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0.17</a:t>
            </a:r>
            <a:endParaRPr sz="1300">
              <a:solidFill>
                <a:schemeClr val="dk1"/>
              </a:solidFill>
            </a:endParaRPr>
          </a:p>
        </p:txBody>
      </p:sp>
      <p:sp>
        <p:nvSpPr>
          <p:cNvPr id="289545875" name="Google Shape;467;p57"/>
          <p:cNvSpPr txBox="1"/>
          <p:nvPr/>
        </p:nvSpPr>
        <p:spPr bwMode="auto">
          <a:xfrm>
            <a:off x="2066163" y="125300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-0.69</a:t>
            </a:r>
            <a:endParaRPr sz="1300">
              <a:solidFill>
                <a:schemeClr val="accent2"/>
              </a:solidFill>
            </a:endParaRPr>
          </a:p>
        </p:txBody>
      </p:sp>
      <p:sp>
        <p:nvSpPr>
          <p:cNvPr id="811013135" name="Google Shape;468;p57"/>
          <p:cNvSpPr txBox="1"/>
          <p:nvPr/>
        </p:nvSpPr>
        <p:spPr bwMode="auto">
          <a:xfrm>
            <a:off x="2066163" y="221629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-0.99</a:t>
            </a:r>
            <a:endParaRPr sz="1300">
              <a:solidFill>
                <a:schemeClr val="accent2"/>
              </a:solidFill>
            </a:endParaRPr>
          </a:p>
        </p:txBody>
      </p:sp>
      <p:sp>
        <p:nvSpPr>
          <p:cNvPr id="1631637866" name="Google Shape;469;p57"/>
          <p:cNvSpPr txBox="1"/>
          <p:nvPr/>
        </p:nvSpPr>
        <p:spPr bwMode="auto">
          <a:xfrm>
            <a:off x="2066163" y="269794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3.11</a:t>
            </a:r>
            <a:endParaRPr sz="1300">
              <a:solidFill>
                <a:schemeClr val="dk1"/>
              </a:solidFill>
            </a:endParaRPr>
          </a:p>
        </p:txBody>
      </p:sp>
      <p:sp>
        <p:nvSpPr>
          <p:cNvPr id="220168863" name="Google Shape;470;p57"/>
          <p:cNvSpPr txBox="1"/>
          <p:nvPr/>
        </p:nvSpPr>
        <p:spPr bwMode="auto">
          <a:xfrm>
            <a:off x="2066163" y="317959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-1.25</a:t>
            </a:r>
            <a:endParaRPr sz="1300">
              <a:solidFill>
                <a:schemeClr val="accent2"/>
              </a:solidFill>
            </a:endParaRPr>
          </a:p>
        </p:txBody>
      </p:sp>
      <p:sp>
        <p:nvSpPr>
          <p:cNvPr id="121967966" name="Google Shape;471;p57"/>
          <p:cNvSpPr txBox="1"/>
          <p:nvPr/>
        </p:nvSpPr>
        <p:spPr bwMode="auto">
          <a:xfrm>
            <a:off x="2066163" y="3661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1.45</a:t>
            </a:r>
            <a:endParaRPr sz="1300">
              <a:solidFill>
                <a:schemeClr val="dk1"/>
              </a:solidFill>
            </a:endParaRPr>
          </a:p>
        </p:txBody>
      </p:sp>
      <p:sp>
        <p:nvSpPr>
          <p:cNvPr id="262035991" name="Google Shape;472;p57"/>
          <p:cNvSpPr/>
          <p:nvPr/>
        </p:nvSpPr>
        <p:spPr bwMode="auto">
          <a:xfrm>
            <a:off x="1469950" y="128260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885427268" name="Google Shape;473;p57"/>
          <p:cNvSpPr/>
          <p:nvPr/>
        </p:nvSpPr>
        <p:spPr bwMode="auto">
          <a:xfrm>
            <a:off x="1469950" y="176069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2106601453" name="Google Shape;474;p57"/>
          <p:cNvSpPr/>
          <p:nvPr/>
        </p:nvSpPr>
        <p:spPr bwMode="auto">
          <a:xfrm>
            <a:off x="1469950" y="223879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773902176" name="Google Shape;475;p57"/>
          <p:cNvSpPr/>
          <p:nvPr/>
        </p:nvSpPr>
        <p:spPr bwMode="auto">
          <a:xfrm>
            <a:off x="1469950" y="271688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724493786" name="Google Shape;476;p57"/>
          <p:cNvSpPr/>
          <p:nvPr/>
        </p:nvSpPr>
        <p:spPr bwMode="auto">
          <a:xfrm>
            <a:off x="1469950" y="319498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604284963" name="Google Shape;477;p57"/>
          <p:cNvSpPr/>
          <p:nvPr/>
        </p:nvSpPr>
        <p:spPr bwMode="auto">
          <a:xfrm>
            <a:off x="1469950" y="367307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730287870" name="Google Shape;478;p57"/>
          <p:cNvSpPr txBox="1"/>
          <p:nvPr/>
        </p:nvSpPr>
        <p:spPr bwMode="auto">
          <a:xfrm>
            <a:off x="1394250" y="17218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1706066918" name="Google Shape;479;p57"/>
          <p:cNvSpPr txBox="1"/>
          <p:nvPr/>
        </p:nvSpPr>
        <p:spPr bwMode="auto">
          <a:xfrm>
            <a:off x="1394250" y="1240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1219593230" name="Google Shape;480;p57"/>
          <p:cNvSpPr txBox="1"/>
          <p:nvPr/>
        </p:nvSpPr>
        <p:spPr bwMode="auto">
          <a:xfrm>
            <a:off x="1394250" y="22035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1681877419" name="Google Shape;481;p57"/>
          <p:cNvSpPr txBox="1"/>
          <p:nvPr/>
        </p:nvSpPr>
        <p:spPr bwMode="auto">
          <a:xfrm>
            <a:off x="1394250" y="26851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2087870589" name="Google Shape;482;p57"/>
          <p:cNvSpPr txBox="1"/>
          <p:nvPr/>
        </p:nvSpPr>
        <p:spPr bwMode="auto">
          <a:xfrm>
            <a:off x="1394250" y="31668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1489378768" name="Google Shape;483;p57"/>
          <p:cNvSpPr txBox="1"/>
          <p:nvPr/>
        </p:nvSpPr>
        <p:spPr bwMode="auto">
          <a:xfrm>
            <a:off x="1394250" y="36484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1347557839" name="Google Shape;484;p57"/>
          <p:cNvSpPr/>
          <p:nvPr/>
        </p:nvSpPr>
        <p:spPr bwMode="auto">
          <a:xfrm>
            <a:off x="3329025" y="2414538"/>
            <a:ext cx="384900" cy="38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013733668" name="Google Shape;485;p57"/>
          <p:cNvSpPr txBox="1"/>
          <p:nvPr/>
        </p:nvSpPr>
        <p:spPr bwMode="auto">
          <a:xfrm>
            <a:off x="2943500" y="3288175"/>
            <a:ext cx="570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a:t>
            </a:r>
            <a:endParaRPr sz="1300">
              <a:solidFill>
                <a:schemeClr val="accent2"/>
              </a:solidFill>
            </a:endParaRPr>
          </a:p>
        </p:txBody>
      </p:sp>
      <p:sp>
        <p:nvSpPr>
          <p:cNvPr id="1848483654" name="Google Shape;486;p57"/>
          <p:cNvSpPr txBox="1"/>
          <p:nvPr/>
        </p:nvSpPr>
        <p:spPr bwMode="auto">
          <a:xfrm>
            <a:off x="3847475" y="2414550"/>
            <a:ext cx="8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output</a:t>
            </a:r>
            <a:endParaRPr sz="1300">
              <a:solidFill>
                <a:schemeClr val="dk1"/>
              </a:solidFill>
            </a:endParaRPr>
          </a:p>
        </p:txBody>
      </p:sp>
      <p:cxnSp>
        <p:nvCxnSpPr>
          <p:cNvPr id="1835718707" name="Google Shape;487;p57"/>
          <p:cNvCxnSpPr>
            <a:stCxn id="1706066918" idx="3"/>
            <a:endCxn id="1347557839" idx="1"/>
          </p:cNvCxnSpPr>
          <p:nvPr/>
        </p:nvCxnSpPr>
        <p:spPr bwMode="auto">
          <a:xfrm>
            <a:off x="2035650" y="1432688"/>
            <a:ext cx="1349700" cy="1038299"/>
          </a:xfrm>
          <a:prstGeom prst="straightConnector1">
            <a:avLst/>
          </a:prstGeom>
          <a:noFill/>
          <a:ln w="9525" cap="flat" cmpd="sng">
            <a:solidFill>
              <a:schemeClr val="dk2"/>
            </a:solidFill>
            <a:prstDash val="solid"/>
            <a:round/>
            <a:headEnd type="none" w="med" len="med"/>
            <a:tailEnd type="none" w="med" len="med"/>
          </a:ln>
        </p:spPr>
      </p:cxnSp>
      <p:cxnSp>
        <p:nvCxnSpPr>
          <p:cNvPr id="2138877091" name="Google Shape;488;p57"/>
          <p:cNvCxnSpPr>
            <a:stCxn id="1730287870" idx="3"/>
            <a:endCxn id="1347557839" idx="1"/>
          </p:cNvCxnSpPr>
          <p:nvPr/>
        </p:nvCxnSpPr>
        <p:spPr bwMode="auto">
          <a:xfrm>
            <a:off x="2035650" y="1914335"/>
            <a:ext cx="1349700" cy="556500"/>
          </a:xfrm>
          <a:prstGeom prst="straightConnector1">
            <a:avLst/>
          </a:prstGeom>
          <a:noFill/>
          <a:ln w="9525" cap="flat" cmpd="sng">
            <a:solidFill>
              <a:schemeClr val="dk2"/>
            </a:solidFill>
            <a:prstDash val="solid"/>
            <a:round/>
            <a:headEnd type="none" w="med" len="med"/>
            <a:tailEnd type="none" w="med" len="med"/>
          </a:ln>
        </p:spPr>
      </p:cxnSp>
      <p:cxnSp>
        <p:nvCxnSpPr>
          <p:cNvPr id="955094216" name="Google Shape;489;p57"/>
          <p:cNvCxnSpPr>
            <a:stCxn id="1219593230" idx="3"/>
            <a:endCxn id="1347557839" idx="2"/>
          </p:cNvCxnSpPr>
          <p:nvPr/>
        </p:nvCxnSpPr>
        <p:spPr bwMode="auto">
          <a:xfrm>
            <a:off x="2035650" y="2395983"/>
            <a:ext cx="1293300" cy="210900"/>
          </a:xfrm>
          <a:prstGeom prst="straightConnector1">
            <a:avLst/>
          </a:prstGeom>
          <a:noFill/>
          <a:ln w="9525" cap="flat" cmpd="sng">
            <a:solidFill>
              <a:schemeClr val="dk2"/>
            </a:solidFill>
            <a:prstDash val="solid"/>
            <a:round/>
            <a:headEnd type="none" w="med" len="med"/>
            <a:tailEnd type="none" w="med" len="med"/>
          </a:ln>
        </p:spPr>
      </p:cxnSp>
      <p:cxnSp>
        <p:nvCxnSpPr>
          <p:cNvPr id="691905165" name="Google Shape;490;p57"/>
          <p:cNvCxnSpPr>
            <a:stCxn id="1681877419" idx="3"/>
            <a:endCxn id="1347557839" idx="2"/>
          </p:cNvCxnSpPr>
          <p:nvPr/>
        </p:nvCxnSpPr>
        <p:spPr bwMode="auto">
          <a:xfrm rot="10800000" flipH="1">
            <a:off x="2035650" y="2607030"/>
            <a:ext cx="1293300" cy="270600"/>
          </a:xfrm>
          <a:prstGeom prst="straightConnector1">
            <a:avLst/>
          </a:prstGeom>
          <a:noFill/>
          <a:ln w="9525" cap="flat" cmpd="sng">
            <a:solidFill>
              <a:schemeClr val="dk2"/>
            </a:solidFill>
            <a:prstDash val="solid"/>
            <a:round/>
            <a:headEnd type="none" w="med" len="med"/>
            <a:tailEnd type="none" w="med" len="med"/>
          </a:ln>
        </p:spPr>
      </p:cxnSp>
      <p:cxnSp>
        <p:nvCxnSpPr>
          <p:cNvPr id="578561737" name="Google Shape;491;p57"/>
          <p:cNvCxnSpPr>
            <a:stCxn id="2087870589" idx="3"/>
            <a:endCxn id="1347557839" idx="3"/>
          </p:cNvCxnSpPr>
          <p:nvPr/>
        </p:nvCxnSpPr>
        <p:spPr bwMode="auto">
          <a:xfrm rot="10800000" flipH="1">
            <a:off x="2035650" y="2743078"/>
            <a:ext cx="1349700" cy="616200"/>
          </a:xfrm>
          <a:prstGeom prst="straightConnector1">
            <a:avLst/>
          </a:prstGeom>
          <a:noFill/>
          <a:ln w="9525" cap="flat" cmpd="sng">
            <a:solidFill>
              <a:schemeClr val="dk2"/>
            </a:solidFill>
            <a:prstDash val="solid"/>
            <a:round/>
            <a:headEnd type="none" w="med" len="med"/>
            <a:tailEnd type="none" w="med" len="med"/>
          </a:ln>
        </p:spPr>
      </p:cxnSp>
      <p:cxnSp>
        <p:nvCxnSpPr>
          <p:cNvPr id="337094507" name="Google Shape;492;p57"/>
          <p:cNvCxnSpPr>
            <a:stCxn id="1489378768" idx="3"/>
            <a:endCxn id="1347557839" idx="3"/>
          </p:cNvCxnSpPr>
          <p:nvPr/>
        </p:nvCxnSpPr>
        <p:spPr bwMode="auto">
          <a:xfrm rot="10800000" flipH="1">
            <a:off x="2035650" y="2742925"/>
            <a:ext cx="1349700" cy="1098000"/>
          </a:xfrm>
          <a:prstGeom prst="straightConnector1">
            <a:avLst/>
          </a:prstGeom>
          <a:noFill/>
          <a:ln w="9525" cap="flat" cmpd="sng">
            <a:solidFill>
              <a:schemeClr val="dk2"/>
            </a:solidFill>
            <a:prstDash val="solid"/>
            <a:round/>
            <a:headEnd type="none" w="med" len="med"/>
            <a:tailEnd type="none" w="med" len="med"/>
          </a:ln>
        </p:spPr>
      </p:cxnSp>
      <p:sp>
        <p:nvSpPr>
          <p:cNvPr id="1920909306" name="Google Shape;493;p57"/>
          <p:cNvSpPr/>
          <p:nvPr/>
        </p:nvSpPr>
        <p:spPr bwMode="auto">
          <a:xfrm>
            <a:off x="3329025" y="1240238"/>
            <a:ext cx="384900" cy="384900"/>
          </a:xfrm>
          <a:prstGeom prst="ellipse">
            <a:avLst/>
          </a:prstGeom>
          <a:solidFill>
            <a:srgbClr val="FF0000"/>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9430228" name="Google Shape;494;p57"/>
          <p:cNvSpPr/>
          <p:nvPr/>
        </p:nvSpPr>
        <p:spPr bwMode="auto">
          <a:xfrm>
            <a:off x="3329025" y="3661238"/>
            <a:ext cx="384900" cy="384900"/>
          </a:xfrm>
          <a:prstGeom prst="ellipse">
            <a:avLst/>
          </a:prstGeom>
          <a:solidFill>
            <a:srgbClr val="00FF00"/>
          </a:solidFill>
          <a:ln w="952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324800009" name="Google Shape;495;p57"/>
          <p:cNvSpPr txBox="1"/>
          <p:nvPr/>
        </p:nvSpPr>
        <p:spPr bwMode="auto">
          <a:xfrm>
            <a:off x="3329025" y="1760700"/>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563345531" name="Google Shape;496;p57"/>
          <p:cNvSpPr txBox="1"/>
          <p:nvPr/>
        </p:nvSpPr>
        <p:spPr bwMode="auto">
          <a:xfrm>
            <a:off x="3329025" y="3023638"/>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cxnSp>
        <p:nvCxnSpPr>
          <p:cNvPr id="1222808906" name="Google Shape;497;p57"/>
          <p:cNvCxnSpPr>
            <a:stCxn id="1706066918" idx="3"/>
            <a:endCxn id="1920909306" idx="2"/>
          </p:cNvCxnSpPr>
          <p:nvPr/>
        </p:nvCxnSpPr>
        <p:spPr bwMode="auto">
          <a:xfrm>
            <a:off x="2035650" y="1432688"/>
            <a:ext cx="1293300" cy="0"/>
          </a:xfrm>
          <a:prstGeom prst="straightConnector1">
            <a:avLst/>
          </a:prstGeom>
          <a:noFill/>
          <a:ln w="9525" cap="flat" cmpd="sng">
            <a:solidFill>
              <a:schemeClr val="accent2"/>
            </a:solidFill>
            <a:prstDash val="dash"/>
            <a:round/>
            <a:headEnd type="none" w="med" len="med"/>
            <a:tailEnd type="none" w="med" len="med"/>
          </a:ln>
        </p:spPr>
      </p:cxnSp>
      <p:cxnSp>
        <p:nvCxnSpPr>
          <p:cNvPr id="1103330967" name="Google Shape;498;p57"/>
          <p:cNvCxnSpPr>
            <a:stCxn id="1730287870" idx="3"/>
            <a:endCxn id="1920909306" idx="2"/>
          </p:cNvCxnSpPr>
          <p:nvPr/>
        </p:nvCxnSpPr>
        <p:spPr bwMode="auto">
          <a:xfrm rot="10800000" flipH="1">
            <a:off x="2035650" y="1432835"/>
            <a:ext cx="1293300" cy="481500"/>
          </a:xfrm>
          <a:prstGeom prst="straightConnector1">
            <a:avLst/>
          </a:prstGeom>
          <a:noFill/>
          <a:ln w="9525" cap="flat" cmpd="sng">
            <a:solidFill>
              <a:schemeClr val="accent2"/>
            </a:solidFill>
            <a:prstDash val="dash"/>
            <a:round/>
            <a:headEnd type="none" w="med" len="med"/>
            <a:tailEnd type="none" w="med" len="med"/>
          </a:ln>
        </p:spPr>
      </p:cxnSp>
      <p:cxnSp>
        <p:nvCxnSpPr>
          <p:cNvPr id="2092146475" name="Google Shape;499;p57"/>
          <p:cNvCxnSpPr>
            <a:stCxn id="1219593230" idx="3"/>
            <a:endCxn id="1920909306" idx="2"/>
          </p:cNvCxnSpPr>
          <p:nvPr/>
        </p:nvCxnSpPr>
        <p:spPr bwMode="auto">
          <a:xfrm rot="10800000" flipH="1">
            <a:off x="2035650" y="1432683"/>
            <a:ext cx="1293300" cy="963300"/>
          </a:xfrm>
          <a:prstGeom prst="straightConnector1">
            <a:avLst/>
          </a:prstGeom>
          <a:noFill/>
          <a:ln w="9525" cap="flat" cmpd="sng">
            <a:solidFill>
              <a:schemeClr val="accent2"/>
            </a:solidFill>
            <a:prstDash val="dash"/>
            <a:round/>
            <a:headEnd type="none" w="med" len="med"/>
            <a:tailEnd type="none" w="med" len="med"/>
          </a:ln>
        </p:spPr>
      </p:cxnSp>
      <p:cxnSp>
        <p:nvCxnSpPr>
          <p:cNvPr id="704060979" name="Google Shape;500;p57"/>
          <p:cNvCxnSpPr>
            <a:stCxn id="1681877419" idx="3"/>
            <a:endCxn id="1920909306" idx="2"/>
          </p:cNvCxnSpPr>
          <p:nvPr/>
        </p:nvCxnSpPr>
        <p:spPr bwMode="auto">
          <a:xfrm rot="10800000" flipH="1">
            <a:off x="2035650" y="1432830"/>
            <a:ext cx="1293300" cy="1444800"/>
          </a:xfrm>
          <a:prstGeom prst="straightConnector1">
            <a:avLst/>
          </a:prstGeom>
          <a:noFill/>
          <a:ln w="9525" cap="flat" cmpd="sng">
            <a:solidFill>
              <a:schemeClr val="accent2"/>
            </a:solidFill>
            <a:prstDash val="dash"/>
            <a:round/>
            <a:headEnd type="none" w="med" len="med"/>
            <a:tailEnd type="none" w="med" len="med"/>
          </a:ln>
        </p:spPr>
      </p:cxnSp>
      <p:cxnSp>
        <p:nvCxnSpPr>
          <p:cNvPr id="1797760933" name="Google Shape;501;p57"/>
          <p:cNvCxnSpPr>
            <a:stCxn id="2087870589" idx="3"/>
            <a:endCxn id="1920909306" idx="2"/>
          </p:cNvCxnSpPr>
          <p:nvPr/>
        </p:nvCxnSpPr>
        <p:spPr bwMode="auto">
          <a:xfrm rot="10800000" flipH="1">
            <a:off x="2035650" y="1432678"/>
            <a:ext cx="1293300" cy="1926600"/>
          </a:xfrm>
          <a:prstGeom prst="straightConnector1">
            <a:avLst/>
          </a:prstGeom>
          <a:noFill/>
          <a:ln w="9525" cap="flat" cmpd="sng">
            <a:solidFill>
              <a:schemeClr val="accent2"/>
            </a:solidFill>
            <a:prstDash val="dash"/>
            <a:round/>
            <a:headEnd type="none" w="med" len="med"/>
            <a:tailEnd type="none" w="med" len="med"/>
          </a:ln>
        </p:spPr>
      </p:cxnSp>
      <p:cxnSp>
        <p:nvCxnSpPr>
          <p:cNvPr id="153219641" name="Google Shape;502;p57"/>
          <p:cNvCxnSpPr>
            <a:stCxn id="1489378768" idx="3"/>
            <a:endCxn id="1920909306" idx="2"/>
          </p:cNvCxnSpPr>
          <p:nvPr/>
        </p:nvCxnSpPr>
        <p:spPr bwMode="auto">
          <a:xfrm rot="10800000" flipH="1">
            <a:off x="2035650" y="1432825"/>
            <a:ext cx="1293300" cy="2408100"/>
          </a:xfrm>
          <a:prstGeom prst="straightConnector1">
            <a:avLst/>
          </a:prstGeom>
          <a:noFill/>
          <a:ln w="9525" cap="flat" cmpd="sng">
            <a:solidFill>
              <a:schemeClr val="accent2"/>
            </a:solidFill>
            <a:prstDash val="dash"/>
            <a:round/>
            <a:headEnd type="none" w="med" len="med"/>
            <a:tailEnd type="none" w="med" len="med"/>
          </a:ln>
        </p:spPr>
      </p:cxnSp>
      <p:cxnSp>
        <p:nvCxnSpPr>
          <p:cNvPr id="485880242" name="Google Shape;503;p57"/>
          <p:cNvCxnSpPr>
            <a:stCxn id="1706066918" idx="3"/>
            <a:endCxn id="19430228" idx="2"/>
          </p:cNvCxnSpPr>
          <p:nvPr/>
        </p:nvCxnSpPr>
        <p:spPr bwMode="auto">
          <a:xfrm>
            <a:off x="2035650" y="1432688"/>
            <a:ext cx="1293300" cy="2421000"/>
          </a:xfrm>
          <a:prstGeom prst="straightConnector1">
            <a:avLst/>
          </a:prstGeom>
          <a:noFill/>
          <a:ln w="9525" cap="flat" cmpd="sng">
            <a:solidFill>
              <a:srgbClr val="00FF00"/>
            </a:solidFill>
            <a:prstDash val="lgDash"/>
            <a:round/>
            <a:headEnd type="none" w="med" len="med"/>
            <a:tailEnd type="none" w="med" len="med"/>
          </a:ln>
        </p:spPr>
      </p:cxnSp>
      <p:cxnSp>
        <p:nvCxnSpPr>
          <p:cNvPr id="519170425" name="Google Shape;504;p57"/>
          <p:cNvCxnSpPr>
            <a:stCxn id="1730287870" idx="3"/>
            <a:endCxn id="19430228" idx="3"/>
          </p:cNvCxnSpPr>
          <p:nvPr/>
        </p:nvCxnSpPr>
        <p:spPr bwMode="auto">
          <a:xfrm>
            <a:off x="2035650" y="1914335"/>
            <a:ext cx="1349700" cy="2075400"/>
          </a:xfrm>
          <a:prstGeom prst="straightConnector1">
            <a:avLst/>
          </a:prstGeom>
          <a:noFill/>
          <a:ln w="9525" cap="flat" cmpd="sng">
            <a:solidFill>
              <a:srgbClr val="00FF00"/>
            </a:solidFill>
            <a:prstDash val="lgDash"/>
            <a:round/>
            <a:headEnd type="none" w="med" len="med"/>
            <a:tailEnd type="none" w="med" len="med"/>
          </a:ln>
        </p:spPr>
      </p:cxnSp>
      <p:cxnSp>
        <p:nvCxnSpPr>
          <p:cNvPr id="827297034" name="Google Shape;505;p57"/>
          <p:cNvCxnSpPr>
            <a:stCxn id="1219593230" idx="3"/>
            <a:endCxn id="19430228" idx="2"/>
          </p:cNvCxnSpPr>
          <p:nvPr/>
        </p:nvCxnSpPr>
        <p:spPr bwMode="auto">
          <a:xfrm>
            <a:off x="2035650" y="2395983"/>
            <a:ext cx="1293300" cy="1457700"/>
          </a:xfrm>
          <a:prstGeom prst="straightConnector1">
            <a:avLst/>
          </a:prstGeom>
          <a:noFill/>
          <a:ln w="9525" cap="flat" cmpd="sng">
            <a:solidFill>
              <a:srgbClr val="00FF00"/>
            </a:solidFill>
            <a:prstDash val="lgDash"/>
            <a:round/>
            <a:headEnd type="none" w="med" len="med"/>
            <a:tailEnd type="none" w="med" len="med"/>
          </a:ln>
        </p:spPr>
      </p:cxnSp>
      <p:cxnSp>
        <p:nvCxnSpPr>
          <p:cNvPr id="1238409399" name="Google Shape;506;p57"/>
          <p:cNvCxnSpPr>
            <a:stCxn id="1681877419" idx="3"/>
            <a:endCxn id="19430228" idx="2"/>
          </p:cNvCxnSpPr>
          <p:nvPr/>
        </p:nvCxnSpPr>
        <p:spPr bwMode="auto">
          <a:xfrm>
            <a:off x="2035650" y="2877630"/>
            <a:ext cx="1293300" cy="976200"/>
          </a:xfrm>
          <a:prstGeom prst="straightConnector1">
            <a:avLst/>
          </a:prstGeom>
          <a:noFill/>
          <a:ln w="9525" cap="flat" cmpd="sng">
            <a:solidFill>
              <a:srgbClr val="00FF00"/>
            </a:solidFill>
            <a:prstDash val="lgDash"/>
            <a:round/>
            <a:headEnd type="none" w="med" len="med"/>
            <a:tailEnd type="none" w="med" len="med"/>
          </a:ln>
        </p:spPr>
      </p:cxnSp>
      <p:cxnSp>
        <p:nvCxnSpPr>
          <p:cNvPr id="129413920" name="Google Shape;507;p57"/>
          <p:cNvCxnSpPr>
            <a:stCxn id="2087870589" idx="3"/>
            <a:endCxn id="19430228" idx="2"/>
          </p:cNvCxnSpPr>
          <p:nvPr/>
        </p:nvCxnSpPr>
        <p:spPr bwMode="auto">
          <a:xfrm>
            <a:off x="2035650" y="3359278"/>
            <a:ext cx="1293300" cy="494399"/>
          </a:xfrm>
          <a:prstGeom prst="straightConnector1">
            <a:avLst/>
          </a:prstGeom>
          <a:noFill/>
          <a:ln w="9525" cap="flat" cmpd="sng">
            <a:solidFill>
              <a:srgbClr val="00FF00"/>
            </a:solidFill>
            <a:prstDash val="lgDash"/>
            <a:round/>
            <a:headEnd type="none" w="med" len="med"/>
            <a:tailEnd type="none" w="med" len="med"/>
          </a:ln>
        </p:spPr>
      </p:cxnSp>
      <p:cxnSp>
        <p:nvCxnSpPr>
          <p:cNvPr id="401722564" name="Google Shape;508;p57"/>
          <p:cNvCxnSpPr>
            <a:stCxn id="1489378768" idx="3"/>
            <a:endCxn id="19430228" idx="2"/>
          </p:cNvCxnSpPr>
          <p:nvPr/>
        </p:nvCxnSpPr>
        <p:spPr bwMode="auto">
          <a:xfrm>
            <a:off x="2035650" y="3840925"/>
            <a:ext cx="1293300" cy="12900"/>
          </a:xfrm>
          <a:prstGeom prst="straightConnector1">
            <a:avLst/>
          </a:prstGeom>
          <a:noFill/>
          <a:ln w="9525" cap="flat" cmpd="sng">
            <a:solidFill>
              <a:srgbClr val="00FF00"/>
            </a:solidFill>
            <a:prstDash val="lgDash"/>
            <a:round/>
            <a:headEnd type="none" w="med" len="med"/>
            <a:tailEnd type="none" w="med" len="med"/>
          </a:ln>
        </p:spPr>
      </p:cxnSp>
      <p:sp>
        <p:nvSpPr>
          <p:cNvPr id="1184665278" name="Google Shape;509;p57"/>
          <p:cNvSpPr txBox="1"/>
          <p:nvPr/>
        </p:nvSpPr>
        <p:spPr bwMode="auto">
          <a:xfrm>
            <a:off x="8324825" y="17695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1190490859" name="Google Shape;510;p57"/>
          <p:cNvSpPr txBox="1"/>
          <p:nvPr/>
        </p:nvSpPr>
        <p:spPr bwMode="auto">
          <a:xfrm>
            <a:off x="8324825" y="12879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1941236861" name="Google Shape;511;p57"/>
          <p:cNvSpPr txBox="1"/>
          <p:nvPr/>
        </p:nvSpPr>
        <p:spPr bwMode="auto">
          <a:xfrm>
            <a:off x="8324825" y="22512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140383132" name="Google Shape;512;p57"/>
          <p:cNvSpPr txBox="1"/>
          <p:nvPr/>
        </p:nvSpPr>
        <p:spPr bwMode="auto">
          <a:xfrm>
            <a:off x="8324825" y="27328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378929960" name="Google Shape;513;p57"/>
          <p:cNvSpPr txBox="1"/>
          <p:nvPr/>
        </p:nvSpPr>
        <p:spPr bwMode="auto">
          <a:xfrm>
            <a:off x="8324825" y="32145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1517315582" name="Google Shape;514;p57"/>
          <p:cNvSpPr txBox="1"/>
          <p:nvPr/>
        </p:nvSpPr>
        <p:spPr bwMode="auto">
          <a:xfrm>
            <a:off x="8324825" y="36961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364044596" name="Google Shape;515;p57"/>
          <p:cNvSpPr/>
          <p:nvPr/>
        </p:nvSpPr>
        <p:spPr bwMode="auto">
          <a:xfrm>
            <a:off x="8324825" y="1175263"/>
            <a:ext cx="497100" cy="29400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360612819" name="Google Shape;516;p57"/>
          <p:cNvSpPr/>
          <p:nvPr/>
        </p:nvSpPr>
        <p:spPr bwMode="auto">
          <a:xfrm>
            <a:off x="5480525" y="2001400"/>
            <a:ext cx="2759700" cy="13365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cxnSp>
        <p:nvCxnSpPr>
          <p:cNvPr id="76603857" name="Google Shape;517;p57"/>
          <p:cNvCxnSpPr/>
          <p:nvPr/>
        </p:nvCxnSpPr>
        <p:spPr bwMode="auto">
          <a:xfrm>
            <a:off x="4597225" y="1021850"/>
            <a:ext cx="0" cy="3242700"/>
          </a:xfrm>
          <a:prstGeom prst="straightConnector1">
            <a:avLst/>
          </a:prstGeom>
          <a:noFill/>
          <a:ln w="28575" cap="flat" cmpd="sng">
            <a:solidFill>
              <a:schemeClr val="dk2"/>
            </a:solidFill>
            <a:prstDash val="solid"/>
            <a:round/>
            <a:headEnd type="none" w="med" len="med"/>
            <a:tailEnd type="none" w="med" len="med"/>
          </a:ln>
        </p:spPr>
      </p:cxnSp>
      <p:sp>
        <p:nvSpPr>
          <p:cNvPr id="1659772147" name="Google Shape;518;p57"/>
          <p:cNvSpPr txBox="1"/>
          <p:nvPr/>
        </p:nvSpPr>
        <p:spPr bwMode="auto">
          <a:xfrm>
            <a:off x="8355600" y="722638"/>
            <a:ext cx="497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x</a:t>
            </a:r>
            <a:r>
              <a:rPr lang="en" sz="1800" baseline="30000">
                <a:solidFill>
                  <a:schemeClr val="dk1"/>
                </a:solidFill>
              </a:rPr>
              <a:t>k</a:t>
            </a:r>
            <a:endParaRPr sz="1800" baseline="30000">
              <a:solidFill>
                <a:schemeClr val="dk1"/>
              </a:solidFill>
            </a:endParaRPr>
          </a:p>
        </p:txBody>
      </p:sp>
      <p:sp>
        <p:nvSpPr>
          <p:cNvPr id="830629473" name="Google Shape;519;p57"/>
          <p:cNvSpPr txBox="1"/>
          <p:nvPr/>
        </p:nvSpPr>
        <p:spPr bwMode="auto">
          <a:xfrm>
            <a:off x="5544100" y="1989025"/>
            <a:ext cx="2696100" cy="10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chemeClr val="dk1"/>
                </a:solidFill>
              </a:rPr>
              <a:t>w</a:t>
            </a:r>
            <a:r>
              <a:rPr lang="en" sz="1800" baseline="-25000">
                <a:solidFill>
                  <a:schemeClr val="dk1"/>
                </a:solidFill>
              </a:rPr>
              <a:t>00</a:t>
            </a:r>
            <a:r>
              <a:rPr lang="en" sz="1800"/>
              <a:t>  w</a:t>
            </a:r>
            <a:r>
              <a:rPr lang="en" sz="1800" baseline="-25000"/>
              <a:t>01</a:t>
            </a:r>
            <a:r>
              <a:rPr lang="en" sz="1800"/>
              <a:t>  …   …  …    w</a:t>
            </a:r>
            <a:r>
              <a:rPr lang="en" sz="1800" baseline="-25000"/>
              <a:t>0k</a:t>
            </a:r>
            <a:endParaRPr/>
          </a:p>
          <a:p>
            <a:pPr marL="0" lvl="0" indent="0" algn="l" rtl="0">
              <a:spcBef>
                <a:spcPts val="0"/>
              </a:spcBef>
              <a:spcAft>
                <a:spcPts val="0"/>
              </a:spcAft>
              <a:buNone/>
              <a:defRPr/>
            </a:pPr>
            <a:r>
              <a:rPr lang="en"/>
              <a:t>…</a:t>
            </a:r>
            <a:endParaRPr/>
          </a:p>
          <a:p>
            <a:pPr marL="0" lvl="0" indent="0" algn="l" rtl="0">
              <a:spcBef>
                <a:spcPts val="0"/>
              </a:spcBef>
              <a:spcAft>
                <a:spcPts val="0"/>
              </a:spcAft>
              <a:buNone/>
              <a:defRPr/>
            </a:pPr>
            <a:r>
              <a:rPr lang="en"/>
              <a:t>-0.69 0.17 -0.99 3.11 -1.25 1.45</a:t>
            </a:r>
            <a:endParaRPr/>
          </a:p>
          <a:p>
            <a:pPr marL="0" lvl="0" indent="0" algn="l" rtl="0">
              <a:spcBef>
                <a:spcPts val="0"/>
              </a:spcBef>
              <a:spcAft>
                <a:spcPts val="0"/>
              </a:spcAft>
              <a:buNone/>
              <a:defRPr/>
            </a:pPr>
            <a:r>
              <a:rPr lang="en"/>
              <a:t>…</a:t>
            </a:r>
            <a:endParaRPr/>
          </a:p>
          <a:p>
            <a:pPr marL="0" lvl="0" indent="0" algn="l" rtl="0">
              <a:spcBef>
                <a:spcPts val="0"/>
              </a:spcBef>
              <a:spcAft>
                <a:spcPts val="0"/>
              </a:spcAft>
              <a:buNone/>
              <a:defRPr/>
            </a:pPr>
            <a:r>
              <a:rPr lang="en" sz="1800"/>
              <a:t>w</a:t>
            </a:r>
            <a:r>
              <a:rPr lang="en" sz="1800" baseline="-25000"/>
              <a:t>n0</a:t>
            </a:r>
            <a:r>
              <a:rPr lang="en" sz="1800"/>
              <a:t>  w</a:t>
            </a:r>
            <a:r>
              <a:rPr lang="en" sz="1800" baseline="-25000"/>
              <a:t>n1</a:t>
            </a:r>
            <a:r>
              <a:rPr lang="en" sz="1800"/>
              <a:t>  …   …   …   w</a:t>
            </a:r>
            <a:r>
              <a:rPr lang="en" sz="1800" baseline="-25000"/>
              <a:t>nk</a:t>
            </a:r>
            <a:endParaRPr sz="1800" baseline="-25000"/>
          </a:p>
        </p:txBody>
      </p:sp>
      <p:sp>
        <p:nvSpPr>
          <p:cNvPr id="464523751" name="Google Shape;520;p57"/>
          <p:cNvSpPr txBox="1"/>
          <p:nvPr/>
        </p:nvSpPr>
        <p:spPr bwMode="auto">
          <a:xfrm>
            <a:off x="6453275" y="1549475"/>
            <a:ext cx="749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w</a:t>
            </a:r>
            <a:r>
              <a:rPr lang="en" sz="1800" baseline="30000">
                <a:solidFill>
                  <a:schemeClr val="dk1"/>
                </a:solidFill>
              </a:rPr>
              <a:t>nxk</a:t>
            </a:r>
            <a:endParaRPr sz="1800" baseline="30000">
              <a:solidFill>
                <a:schemeClr val="dk1"/>
              </a:solidFill>
            </a:endParaRPr>
          </a:p>
        </p:txBody>
      </p:sp>
      <p:sp>
        <p:nvSpPr>
          <p:cNvPr id="2042189752" name="Google Shape;521;p57"/>
          <p:cNvSpPr txBox="1"/>
          <p:nvPr/>
        </p:nvSpPr>
        <p:spPr bwMode="auto">
          <a:xfrm>
            <a:off x="1700075" y="4335475"/>
            <a:ext cx="214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Pictorial notation</a:t>
            </a:r>
            <a:endParaRPr sz="1800">
              <a:solidFill>
                <a:schemeClr val="dk1"/>
              </a:solidFill>
            </a:endParaRPr>
          </a:p>
        </p:txBody>
      </p:sp>
      <p:sp>
        <p:nvSpPr>
          <p:cNvPr id="1280333486" name="Google Shape;522;p57"/>
          <p:cNvSpPr/>
          <p:nvPr/>
        </p:nvSpPr>
        <p:spPr bwMode="auto">
          <a:xfrm>
            <a:off x="4795250" y="2011175"/>
            <a:ext cx="384900" cy="13365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246567450" name="Google Shape;523;p57"/>
          <p:cNvSpPr txBox="1"/>
          <p:nvPr/>
        </p:nvSpPr>
        <p:spPr bwMode="auto">
          <a:xfrm>
            <a:off x="4723250" y="2038600"/>
            <a:ext cx="528900" cy="12620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b</a:t>
            </a:r>
            <a:r>
              <a:rPr lang="en" baseline="-25000">
                <a:solidFill>
                  <a:schemeClr val="dk1"/>
                </a:solidFill>
              </a:rPr>
              <a:t>0</a:t>
            </a:r>
            <a:endParaRPr baseline="-25000">
              <a:solidFill>
                <a:schemeClr val="dk1"/>
              </a:solidFill>
            </a:endParaRPr>
          </a:p>
          <a:p>
            <a:pPr marL="0" lvl="0" indent="0" algn="l" rtl="0">
              <a:spcBef>
                <a:spcPts val="0"/>
              </a:spcBef>
              <a:spcAft>
                <a:spcPts val="0"/>
              </a:spcAft>
              <a:buNone/>
              <a:defRPr/>
            </a:pPr>
            <a:r>
              <a:rPr lang="en">
                <a:solidFill>
                  <a:schemeClr val="dk1"/>
                </a:solidFill>
              </a:rPr>
              <a:t>…</a:t>
            </a:r>
            <a:endParaRPr>
              <a:solidFill>
                <a:schemeClr val="dk1"/>
              </a:solidFill>
            </a:endParaRPr>
          </a:p>
          <a:p>
            <a:pPr marL="0" lvl="0" indent="0" algn="l" rtl="0">
              <a:spcBef>
                <a:spcPts val="0"/>
              </a:spcBef>
              <a:spcAft>
                <a:spcPts val="0"/>
              </a:spcAft>
              <a:buNone/>
              <a:defRPr/>
            </a:pPr>
            <a:r>
              <a:rPr lang="en">
                <a:solidFill>
                  <a:schemeClr val="dk1"/>
                </a:solidFill>
              </a:rPr>
              <a:t>-1.2</a:t>
            </a:r>
            <a:endParaRPr>
              <a:solidFill>
                <a:schemeClr val="dk1"/>
              </a:solidFill>
            </a:endParaRPr>
          </a:p>
          <a:p>
            <a:pPr marL="0" lvl="0" indent="0" algn="l" rtl="0">
              <a:spcBef>
                <a:spcPts val="0"/>
              </a:spcBef>
              <a:spcAft>
                <a:spcPts val="0"/>
              </a:spcAft>
              <a:buNone/>
              <a:defRPr/>
            </a:pPr>
            <a:r>
              <a:rPr lang="en">
                <a:solidFill>
                  <a:schemeClr val="dk1"/>
                </a:solidFill>
              </a:rPr>
              <a:t>…</a:t>
            </a:r>
            <a:endParaRPr>
              <a:solidFill>
                <a:schemeClr val="dk1"/>
              </a:solidFill>
            </a:endParaRPr>
          </a:p>
          <a:p>
            <a:pPr marL="0" lvl="0" indent="0" algn="l" rtl="0">
              <a:spcBef>
                <a:spcPts val="0"/>
              </a:spcBef>
              <a:spcAft>
                <a:spcPts val="0"/>
              </a:spcAft>
              <a:buNone/>
              <a:defRPr/>
            </a:pPr>
            <a:r>
              <a:rPr lang="en">
                <a:solidFill>
                  <a:schemeClr val="dk1"/>
                </a:solidFill>
              </a:rPr>
              <a:t>b</a:t>
            </a:r>
            <a:r>
              <a:rPr lang="en" baseline="-25000">
                <a:solidFill>
                  <a:schemeClr val="dk1"/>
                </a:solidFill>
              </a:rPr>
              <a:t>n</a:t>
            </a:r>
            <a:endParaRPr baseline="-25000">
              <a:solidFill>
                <a:schemeClr val="dk1"/>
              </a:solidFill>
            </a:endParaRPr>
          </a:p>
        </p:txBody>
      </p:sp>
      <p:sp>
        <p:nvSpPr>
          <p:cNvPr id="1690675939" name="Google Shape;524;p57"/>
          <p:cNvSpPr txBox="1"/>
          <p:nvPr/>
        </p:nvSpPr>
        <p:spPr bwMode="auto">
          <a:xfrm>
            <a:off x="5165200" y="2445750"/>
            <a:ext cx="331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1994602836" name="Google Shape;525;p57"/>
          <p:cNvSpPr txBox="1"/>
          <p:nvPr/>
        </p:nvSpPr>
        <p:spPr bwMode="auto">
          <a:xfrm>
            <a:off x="4816900" y="1549475"/>
            <a:ext cx="528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b</a:t>
            </a:r>
            <a:r>
              <a:rPr lang="en" sz="1800" baseline="30000">
                <a:solidFill>
                  <a:schemeClr val="dk1"/>
                </a:solidFill>
              </a:rPr>
              <a:t>n</a:t>
            </a:r>
            <a:endParaRPr sz="1800" baseline="30000">
              <a:solidFill>
                <a:schemeClr val="dk1"/>
              </a:solidFill>
            </a:endParaRPr>
          </a:p>
        </p:txBody>
      </p:sp>
      <p:pic>
        <p:nvPicPr>
          <p:cNvPr id="67279251" name="Google Shape;526;p57"/>
          <p:cNvPicPr/>
          <p:nvPr/>
        </p:nvPicPr>
        <p:blipFill rotWithShape="1">
          <a:blip r:embed="rId3">
            <a:alphaModFix/>
          </a:blip>
          <a:stretch/>
        </p:blipFill>
        <p:spPr bwMode="auto">
          <a:xfrm>
            <a:off x="3859887" y="3564500"/>
            <a:ext cx="4452525" cy="1336500"/>
          </a:xfrm>
          <a:prstGeom prst="rect">
            <a:avLst/>
          </a:prstGeom>
          <a:noFill/>
          <a:ln>
            <a:noFill/>
          </a:ln>
        </p:spPr>
      </p:pic>
      <p:sp>
        <p:nvSpPr>
          <p:cNvPr id="50081142" name="Google Shape;527;p57"/>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15091774" name="Google Shape;532;p58" descr="What are the neurons, why are there layers, and what is the math underlying it?&#10;Help fund future projects: https://www.patreon.com/3blue1brown&#10;Written/interactive form of this series: https://www.3blue1brown.com/topics/neural-networks&#10;&#10;Additional funding for this project was provided by Amplify Partners&#10;&#10;Typo correction: At 14 minutes 45 seconds, the last index on the bias vector is n, when it's supposed to, in fact, be k.  Thanks for the sharp eyes that caught that!&#10;&#10;For those who want to learn more, I highly recommend the book by Michael Nielsen that introduces neural networks and deep learning: https://goo.gl/Zmczdy&#10;&#10;There are two neat things about this book.  First, it's available for free, so consider joining me in making a donation to Nielsen if you get something out of it.  And second, it's centered around walking through some code and data, which you can download yourself, and which covers the same example that I introduced in this video.  Yay for active learning!&#10;https://github.com/mnielsen/neural-networks-and-deep-learning&#10;&#10;I also highly recommend Chris Olah's blog: http://colah.github.io/&#10;&#10;For more videos, Welch Labs also has some great series on machine learning: &#10;https://youtu.be/i8D90DkCLhI&#10;https://youtu.be/bxe2T-V8XRs&#10;&#10;For those of you looking to go *even* deeper, check out the text &quot;Deep Learning&quot; by Goodfellow, Bengio, and Courville.  &#10;&#10;Also, the publication Distill is just utterly beautiful: https://distill.pub/&#10;&#10;Lion photo by Kevin Pluck&#10;&#10;Звуковая дорожка на русском языке: Влад Бурмистров.&#10;&#10;Thanks to these viewers for their contributions to translations&#10;German: @fpgro&#10;Hebrew: Omer Tuchfeld&#10;Hungarian: Máté Kaszap&#10;Italian: @teobucci, Teo Bucci&#10;&#10;-----------------&#10;Timeline: &#10;0:00 - Introduction example&#10;1:07 - Series preview&#10;2:42 - What are neurons?&#10;3:35 - Introducing layers&#10;5:31 - Why layers?&#10;8:38 - Edge detection example&#10;11:34 - Counting weights and biases&#10;12:30 - How learning relates&#10;13:26 - Notation and linear algebra&#10;15:17 - Recap&#10;16:27 - Some final words&#10;17:03 - ReLU vs Sigmoid&#10;&#10;Correction 14:45 - The final index on the bias vector should be &quot;k&quot;&#10;&#10;------------------&#10;Animations largely made using manim, a scrappy open source python library.  https://github.com/3b1b/manim&#10;&#10;If you want to check it out, I feel compelled to warn you that it's not the most well-documented tool, and has many other quirks you might expect in a library someone wrote with only their own use in mind.&#10;&#10;Music by Vincent Rubinetti.&#10;Download the music on Bandcamp:&#10;https://vincerubinetti.bandcamp.com/album/the-music-of-3blue1brown&#10;&#10;Stream the music on Spotify:&#10;https://open.spotify.com/album/1dVyjwS8FBqXhRunaG5W5u&#10;&#10;If you want to contribute translated subtitles or to help review those that have already been made by others and need approval, you can click the gear icon in the video and go to subtitles/cc, then &quot;add subtitles/cc&quot;.  I really appreciate those who do this, as it helps make the lessons accessible to more people.&#10;------------------&#10;&#10;3blue1brown is a channel about animating math, in all senses of the word animate.  And you know the drill with YouTube, if you want to stay posted on new videos, subscribe, and click the bell to receive notifications (if you're into that).&#10;&#10;If you are new to this channel and want to see more, a good place to start is this playlist: http://3b1b.co/recommended&#10;&#10;Various social media stuffs:&#10;Website: https://www.3blue1brown.com&#10;Twitter: https://twitter.com/3Blue1Brown&#10;Patreon: https://patreon.com/3blue1brown&#10;Facebook: https://www.facebook.com/3blue1brown&#10;Reddit: https://www.reddit.com/r/3Blue1Brown" title="But what is a neural network? | Deep learning chapter 1">
            <a:hlinkClick r:id="rId3"/>
          </p:cNvPr>
          <p:cNvPicPr/>
          <p:nvPr/>
        </p:nvPicPr>
        <p:blipFill rotWithShape="1">
          <a:blip r:embed="rId4">
            <a:alphaModFix/>
          </a:blip>
          <a:stretch/>
        </p:blipFill>
        <p:spPr bwMode="auto">
          <a:xfrm>
            <a:off x="0" y="0"/>
            <a:ext cx="9144000" cy="5143500"/>
          </a:xfrm>
          <a:prstGeom prst="rect">
            <a:avLst/>
          </a:prstGeom>
          <a:noFill/>
          <a:ln>
            <a:noFill/>
          </a:ln>
        </p:spPr>
      </p:pic>
      <p:sp>
        <p:nvSpPr>
          <p:cNvPr id="1093651972" name="Google Shape;533;p58"/>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dur="indefinite" restart="never" nodeType="tmRoot">
          <p:childTnLst>
            <p:seq concurrent="1" nextAc="seek">
              <p:cTn id="2" dur="indefinite" nodeType="mainSeq">
                <p:childTnLst>
                  <p:par>
                    <p:cTn fill="hold">
                      <p:stCondLst>
                        <p:cond delay="indefinite"/>
                      </p:stCondLst>
                      <p:childTnLst>
                        <p:par>
                          <p:cTn fill="hold">
                            <p:stCondLst>
                              <p:cond delay="0"/>
                            </p:stCondLst>
                            <p:childTnLst>
                              <p:par>
                                <p:cTn presetID="10" presetClass="entr" presetSubtype="0" fill="hold" nodeType="clickEffect">
                                  <p:stCondLst>
                                    <p:cond delay="0"/>
                                  </p:stCondLst>
                                  <p:childTnLst>
                                    <p:set>
                                      <p:cBhvr>
                                        <p:cTn dur="1" fill="hold">
                                          <p:stCondLst>
                                            <p:cond delay="0"/>
                                          </p:stCondLst>
                                        </p:cTn>
                                        <p:tgtEl>
                                          <p:spTgt spid="415091774"/>
                                        </p:tgtEl>
                                        <p:attrNameLst>
                                          <p:attrName>style.visibility</p:attrName>
                                        </p:attrNameLst>
                                      </p:cBhvr>
                                      <p:to>
                                        <p:strVal val="visible"/>
                                      </p:to>
                                    </p:set>
                                    <p:animEffect transition="in" filter="fade">
                                      <p:cBhvr>
                                        <p:cTn dur="1000"/>
                                        <p:tgtEl>
                                          <p:spTgt spid="4150917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4980508" name="Google Shape;538;p59"/>
          <p:cNvSpPr txBox="1"/>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if it’s 10-classification?</a:t>
            </a:r>
            <a:endParaRPr/>
          </a:p>
        </p:txBody>
      </p:sp>
      <p:sp>
        <p:nvSpPr>
          <p:cNvPr id="465305204" name="Google Shape;539;p59"/>
          <p:cNvSpPr/>
          <p:nvPr/>
        </p:nvSpPr>
        <p:spPr bwMode="auto">
          <a:xfrm>
            <a:off x="2035650" y="1061550"/>
            <a:ext cx="1293300" cy="3090900"/>
          </a:xfrm>
          <a:prstGeom prst="roundRect">
            <a:avLst>
              <a:gd name="adj" fmla="val 59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177554434" name="Google Shape;540;p59"/>
          <p:cNvSpPr txBox="1"/>
          <p:nvPr/>
        </p:nvSpPr>
        <p:spPr bwMode="auto">
          <a:xfrm>
            <a:off x="2066163" y="1734647"/>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0.17</a:t>
            </a:r>
            <a:endParaRPr sz="1300">
              <a:solidFill>
                <a:schemeClr val="dk1"/>
              </a:solidFill>
            </a:endParaRPr>
          </a:p>
        </p:txBody>
      </p:sp>
      <p:sp>
        <p:nvSpPr>
          <p:cNvPr id="621749716" name="Google Shape;541;p59"/>
          <p:cNvSpPr txBox="1"/>
          <p:nvPr/>
        </p:nvSpPr>
        <p:spPr bwMode="auto">
          <a:xfrm>
            <a:off x="2066163" y="125300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-0.69</a:t>
            </a:r>
            <a:endParaRPr sz="1300">
              <a:solidFill>
                <a:schemeClr val="accent2"/>
              </a:solidFill>
            </a:endParaRPr>
          </a:p>
        </p:txBody>
      </p:sp>
      <p:sp>
        <p:nvSpPr>
          <p:cNvPr id="236308693" name="Google Shape;542;p59"/>
          <p:cNvSpPr txBox="1"/>
          <p:nvPr/>
        </p:nvSpPr>
        <p:spPr bwMode="auto">
          <a:xfrm>
            <a:off x="2066163" y="221629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-0.99</a:t>
            </a:r>
            <a:endParaRPr sz="1300">
              <a:solidFill>
                <a:schemeClr val="accent2"/>
              </a:solidFill>
            </a:endParaRPr>
          </a:p>
        </p:txBody>
      </p:sp>
      <p:sp>
        <p:nvSpPr>
          <p:cNvPr id="713667717" name="Google Shape;543;p59"/>
          <p:cNvSpPr txBox="1"/>
          <p:nvPr/>
        </p:nvSpPr>
        <p:spPr bwMode="auto">
          <a:xfrm>
            <a:off x="2066163" y="269794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3.11</a:t>
            </a:r>
            <a:endParaRPr sz="1300">
              <a:solidFill>
                <a:schemeClr val="dk1"/>
              </a:solidFill>
            </a:endParaRPr>
          </a:p>
        </p:txBody>
      </p:sp>
      <p:sp>
        <p:nvSpPr>
          <p:cNvPr id="1519487482" name="Google Shape;544;p59"/>
          <p:cNvSpPr txBox="1"/>
          <p:nvPr/>
        </p:nvSpPr>
        <p:spPr bwMode="auto">
          <a:xfrm>
            <a:off x="2066163" y="317959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-1.25</a:t>
            </a:r>
            <a:endParaRPr sz="1300">
              <a:solidFill>
                <a:schemeClr val="accent2"/>
              </a:solidFill>
            </a:endParaRPr>
          </a:p>
        </p:txBody>
      </p:sp>
      <p:sp>
        <p:nvSpPr>
          <p:cNvPr id="946666272" name="Google Shape;545;p59"/>
          <p:cNvSpPr txBox="1"/>
          <p:nvPr/>
        </p:nvSpPr>
        <p:spPr bwMode="auto">
          <a:xfrm>
            <a:off x="2066163" y="3661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1.45</a:t>
            </a:r>
            <a:endParaRPr sz="1300">
              <a:solidFill>
                <a:schemeClr val="dk1"/>
              </a:solidFill>
            </a:endParaRPr>
          </a:p>
        </p:txBody>
      </p:sp>
      <p:sp>
        <p:nvSpPr>
          <p:cNvPr id="1805718368" name="Google Shape;546;p59"/>
          <p:cNvSpPr/>
          <p:nvPr/>
        </p:nvSpPr>
        <p:spPr bwMode="auto">
          <a:xfrm>
            <a:off x="1469950" y="128260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318740851" name="Google Shape;547;p59"/>
          <p:cNvSpPr/>
          <p:nvPr/>
        </p:nvSpPr>
        <p:spPr bwMode="auto">
          <a:xfrm>
            <a:off x="1469950" y="176069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995831423" name="Google Shape;548;p59"/>
          <p:cNvSpPr/>
          <p:nvPr/>
        </p:nvSpPr>
        <p:spPr bwMode="auto">
          <a:xfrm>
            <a:off x="1469950" y="223879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2140956196" name="Google Shape;549;p59"/>
          <p:cNvSpPr/>
          <p:nvPr/>
        </p:nvSpPr>
        <p:spPr bwMode="auto">
          <a:xfrm>
            <a:off x="1469950" y="271688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2066245492" name="Google Shape;550;p59"/>
          <p:cNvSpPr/>
          <p:nvPr/>
        </p:nvSpPr>
        <p:spPr bwMode="auto">
          <a:xfrm>
            <a:off x="1469950" y="3194980"/>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502775531" name="Google Shape;551;p59"/>
          <p:cNvSpPr/>
          <p:nvPr/>
        </p:nvSpPr>
        <p:spPr bwMode="auto">
          <a:xfrm>
            <a:off x="1469950" y="3673075"/>
            <a:ext cx="360300" cy="36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sz="1200"/>
          </a:p>
        </p:txBody>
      </p:sp>
      <p:sp>
        <p:nvSpPr>
          <p:cNvPr id="1554259419" name="Google Shape;552;p59"/>
          <p:cNvSpPr txBox="1"/>
          <p:nvPr/>
        </p:nvSpPr>
        <p:spPr bwMode="auto">
          <a:xfrm>
            <a:off x="1394250" y="17218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1396569624" name="Google Shape;553;p59"/>
          <p:cNvSpPr txBox="1"/>
          <p:nvPr/>
        </p:nvSpPr>
        <p:spPr bwMode="auto">
          <a:xfrm>
            <a:off x="1394250" y="12402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959133089" name="Google Shape;554;p59"/>
          <p:cNvSpPr txBox="1"/>
          <p:nvPr/>
        </p:nvSpPr>
        <p:spPr bwMode="auto">
          <a:xfrm>
            <a:off x="1394250" y="22035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1556153360" name="Google Shape;555;p59"/>
          <p:cNvSpPr txBox="1"/>
          <p:nvPr/>
        </p:nvSpPr>
        <p:spPr bwMode="auto">
          <a:xfrm>
            <a:off x="1394250" y="26851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964091665" name="Google Shape;556;p59"/>
          <p:cNvSpPr txBox="1"/>
          <p:nvPr/>
        </p:nvSpPr>
        <p:spPr bwMode="auto">
          <a:xfrm>
            <a:off x="1394250" y="31668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1566192848" name="Google Shape;557;p59"/>
          <p:cNvSpPr txBox="1"/>
          <p:nvPr/>
        </p:nvSpPr>
        <p:spPr bwMode="auto">
          <a:xfrm>
            <a:off x="1394250" y="36484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1710617475" name="Google Shape;558;p59"/>
          <p:cNvSpPr/>
          <p:nvPr/>
        </p:nvSpPr>
        <p:spPr bwMode="auto">
          <a:xfrm>
            <a:off x="3329025" y="2414538"/>
            <a:ext cx="384900" cy="38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474322269" name="Google Shape;559;p59"/>
          <p:cNvSpPr txBox="1"/>
          <p:nvPr/>
        </p:nvSpPr>
        <p:spPr bwMode="auto">
          <a:xfrm>
            <a:off x="2943500" y="3288175"/>
            <a:ext cx="570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accent2"/>
                </a:solidFill>
              </a:rPr>
              <a:t>-1.2</a:t>
            </a:r>
            <a:endParaRPr sz="1300">
              <a:solidFill>
                <a:schemeClr val="accent2"/>
              </a:solidFill>
            </a:endParaRPr>
          </a:p>
        </p:txBody>
      </p:sp>
      <p:sp>
        <p:nvSpPr>
          <p:cNvPr id="1165461396" name="Google Shape;560;p59"/>
          <p:cNvSpPr txBox="1"/>
          <p:nvPr/>
        </p:nvSpPr>
        <p:spPr bwMode="auto">
          <a:xfrm>
            <a:off x="3847475" y="2414550"/>
            <a:ext cx="855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output</a:t>
            </a:r>
            <a:endParaRPr sz="1300">
              <a:solidFill>
                <a:schemeClr val="dk1"/>
              </a:solidFill>
            </a:endParaRPr>
          </a:p>
        </p:txBody>
      </p:sp>
      <p:cxnSp>
        <p:nvCxnSpPr>
          <p:cNvPr id="1058112021" name="Google Shape;561;p59"/>
          <p:cNvCxnSpPr>
            <a:stCxn id="1396569624" idx="3"/>
            <a:endCxn id="1710617475" idx="1"/>
          </p:cNvCxnSpPr>
          <p:nvPr/>
        </p:nvCxnSpPr>
        <p:spPr bwMode="auto">
          <a:xfrm>
            <a:off x="2035650" y="1432688"/>
            <a:ext cx="1349700" cy="1038299"/>
          </a:xfrm>
          <a:prstGeom prst="straightConnector1">
            <a:avLst/>
          </a:prstGeom>
          <a:noFill/>
          <a:ln w="9525" cap="flat" cmpd="sng">
            <a:solidFill>
              <a:schemeClr val="dk2"/>
            </a:solidFill>
            <a:prstDash val="solid"/>
            <a:round/>
            <a:headEnd type="none" w="med" len="med"/>
            <a:tailEnd type="none" w="med" len="med"/>
          </a:ln>
        </p:spPr>
      </p:cxnSp>
      <p:cxnSp>
        <p:nvCxnSpPr>
          <p:cNvPr id="1114184439" name="Google Shape;562;p59"/>
          <p:cNvCxnSpPr>
            <a:stCxn id="1554259419" idx="3"/>
            <a:endCxn id="1710617475" idx="1"/>
          </p:cNvCxnSpPr>
          <p:nvPr/>
        </p:nvCxnSpPr>
        <p:spPr bwMode="auto">
          <a:xfrm>
            <a:off x="2035650" y="1914335"/>
            <a:ext cx="1349700" cy="556500"/>
          </a:xfrm>
          <a:prstGeom prst="straightConnector1">
            <a:avLst/>
          </a:prstGeom>
          <a:noFill/>
          <a:ln w="9525" cap="flat" cmpd="sng">
            <a:solidFill>
              <a:schemeClr val="dk2"/>
            </a:solidFill>
            <a:prstDash val="solid"/>
            <a:round/>
            <a:headEnd type="none" w="med" len="med"/>
            <a:tailEnd type="none" w="med" len="med"/>
          </a:ln>
        </p:spPr>
      </p:cxnSp>
      <p:cxnSp>
        <p:nvCxnSpPr>
          <p:cNvPr id="127082230" name="Google Shape;563;p59"/>
          <p:cNvCxnSpPr>
            <a:stCxn id="959133089" idx="3"/>
            <a:endCxn id="1710617475" idx="2"/>
          </p:cNvCxnSpPr>
          <p:nvPr/>
        </p:nvCxnSpPr>
        <p:spPr bwMode="auto">
          <a:xfrm>
            <a:off x="2035650" y="2395983"/>
            <a:ext cx="1293300" cy="210900"/>
          </a:xfrm>
          <a:prstGeom prst="straightConnector1">
            <a:avLst/>
          </a:prstGeom>
          <a:noFill/>
          <a:ln w="9525" cap="flat" cmpd="sng">
            <a:solidFill>
              <a:schemeClr val="dk2"/>
            </a:solidFill>
            <a:prstDash val="solid"/>
            <a:round/>
            <a:headEnd type="none" w="med" len="med"/>
            <a:tailEnd type="none" w="med" len="med"/>
          </a:ln>
        </p:spPr>
      </p:cxnSp>
      <p:cxnSp>
        <p:nvCxnSpPr>
          <p:cNvPr id="358177591" name="Google Shape;564;p59"/>
          <p:cNvCxnSpPr>
            <a:stCxn id="1556153360" idx="3"/>
            <a:endCxn id="1710617475" idx="2"/>
          </p:cNvCxnSpPr>
          <p:nvPr/>
        </p:nvCxnSpPr>
        <p:spPr bwMode="auto">
          <a:xfrm rot="10800000" flipH="1">
            <a:off x="2035650" y="2607030"/>
            <a:ext cx="1293300" cy="270600"/>
          </a:xfrm>
          <a:prstGeom prst="straightConnector1">
            <a:avLst/>
          </a:prstGeom>
          <a:noFill/>
          <a:ln w="9525" cap="flat" cmpd="sng">
            <a:solidFill>
              <a:schemeClr val="dk2"/>
            </a:solidFill>
            <a:prstDash val="solid"/>
            <a:round/>
            <a:headEnd type="none" w="med" len="med"/>
            <a:tailEnd type="none" w="med" len="med"/>
          </a:ln>
        </p:spPr>
      </p:cxnSp>
      <p:cxnSp>
        <p:nvCxnSpPr>
          <p:cNvPr id="1595366474" name="Google Shape;565;p59"/>
          <p:cNvCxnSpPr>
            <a:stCxn id="964091665" idx="3"/>
            <a:endCxn id="1710617475" idx="3"/>
          </p:cNvCxnSpPr>
          <p:nvPr/>
        </p:nvCxnSpPr>
        <p:spPr bwMode="auto">
          <a:xfrm rot="10800000" flipH="1">
            <a:off x="2035650" y="2743078"/>
            <a:ext cx="1349700" cy="616200"/>
          </a:xfrm>
          <a:prstGeom prst="straightConnector1">
            <a:avLst/>
          </a:prstGeom>
          <a:noFill/>
          <a:ln w="9525" cap="flat" cmpd="sng">
            <a:solidFill>
              <a:schemeClr val="dk2"/>
            </a:solidFill>
            <a:prstDash val="solid"/>
            <a:round/>
            <a:headEnd type="none" w="med" len="med"/>
            <a:tailEnd type="none" w="med" len="med"/>
          </a:ln>
        </p:spPr>
      </p:cxnSp>
      <p:cxnSp>
        <p:nvCxnSpPr>
          <p:cNvPr id="1332750209" name="Google Shape;566;p59"/>
          <p:cNvCxnSpPr>
            <a:stCxn id="1566192848" idx="3"/>
            <a:endCxn id="1710617475" idx="3"/>
          </p:cNvCxnSpPr>
          <p:nvPr/>
        </p:nvCxnSpPr>
        <p:spPr bwMode="auto">
          <a:xfrm rot="10800000" flipH="1">
            <a:off x="2035650" y="2742925"/>
            <a:ext cx="1349700" cy="1098000"/>
          </a:xfrm>
          <a:prstGeom prst="straightConnector1">
            <a:avLst/>
          </a:prstGeom>
          <a:noFill/>
          <a:ln w="9525" cap="flat" cmpd="sng">
            <a:solidFill>
              <a:schemeClr val="dk2"/>
            </a:solidFill>
            <a:prstDash val="solid"/>
            <a:round/>
            <a:headEnd type="none" w="med" len="med"/>
            <a:tailEnd type="none" w="med" len="med"/>
          </a:ln>
        </p:spPr>
      </p:cxnSp>
      <p:sp>
        <p:nvSpPr>
          <p:cNvPr id="637535791" name="Google Shape;567;p59"/>
          <p:cNvSpPr/>
          <p:nvPr/>
        </p:nvSpPr>
        <p:spPr bwMode="auto">
          <a:xfrm>
            <a:off x="3329025" y="1240238"/>
            <a:ext cx="384900" cy="384900"/>
          </a:xfrm>
          <a:prstGeom prst="ellipse">
            <a:avLst/>
          </a:prstGeom>
          <a:solidFill>
            <a:srgbClr val="FF0000"/>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533900395" name="Google Shape;568;p59"/>
          <p:cNvSpPr/>
          <p:nvPr/>
        </p:nvSpPr>
        <p:spPr bwMode="auto">
          <a:xfrm>
            <a:off x="3329025" y="3661238"/>
            <a:ext cx="384900" cy="384900"/>
          </a:xfrm>
          <a:prstGeom prst="ellipse">
            <a:avLst/>
          </a:prstGeom>
          <a:solidFill>
            <a:srgbClr val="00FF00"/>
          </a:solidFill>
          <a:ln w="952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435565826" name="Google Shape;569;p59"/>
          <p:cNvSpPr txBox="1"/>
          <p:nvPr/>
        </p:nvSpPr>
        <p:spPr bwMode="auto">
          <a:xfrm>
            <a:off x="3329025" y="1760700"/>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398522300" name="Google Shape;570;p59"/>
          <p:cNvSpPr txBox="1"/>
          <p:nvPr/>
        </p:nvSpPr>
        <p:spPr bwMode="auto">
          <a:xfrm>
            <a:off x="3329025" y="3023638"/>
            <a:ext cx="439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cxnSp>
        <p:nvCxnSpPr>
          <p:cNvPr id="1581913693" name="Google Shape;571;p59"/>
          <p:cNvCxnSpPr>
            <a:stCxn id="1396569624" idx="3"/>
            <a:endCxn id="637535791" idx="2"/>
          </p:cNvCxnSpPr>
          <p:nvPr/>
        </p:nvCxnSpPr>
        <p:spPr bwMode="auto">
          <a:xfrm>
            <a:off x="2035650" y="1432688"/>
            <a:ext cx="1293300" cy="0"/>
          </a:xfrm>
          <a:prstGeom prst="straightConnector1">
            <a:avLst/>
          </a:prstGeom>
          <a:noFill/>
          <a:ln w="9525" cap="flat" cmpd="sng">
            <a:solidFill>
              <a:schemeClr val="accent2"/>
            </a:solidFill>
            <a:prstDash val="dash"/>
            <a:round/>
            <a:headEnd type="none" w="med" len="med"/>
            <a:tailEnd type="none" w="med" len="med"/>
          </a:ln>
        </p:spPr>
      </p:cxnSp>
      <p:cxnSp>
        <p:nvCxnSpPr>
          <p:cNvPr id="1149218234" name="Google Shape;572;p59"/>
          <p:cNvCxnSpPr>
            <a:stCxn id="1554259419" idx="3"/>
            <a:endCxn id="637535791" idx="2"/>
          </p:cNvCxnSpPr>
          <p:nvPr/>
        </p:nvCxnSpPr>
        <p:spPr bwMode="auto">
          <a:xfrm rot="10800000" flipH="1">
            <a:off x="2035650" y="1432835"/>
            <a:ext cx="1293300" cy="481500"/>
          </a:xfrm>
          <a:prstGeom prst="straightConnector1">
            <a:avLst/>
          </a:prstGeom>
          <a:noFill/>
          <a:ln w="9525" cap="flat" cmpd="sng">
            <a:solidFill>
              <a:schemeClr val="accent2"/>
            </a:solidFill>
            <a:prstDash val="dash"/>
            <a:round/>
            <a:headEnd type="none" w="med" len="med"/>
            <a:tailEnd type="none" w="med" len="med"/>
          </a:ln>
        </p:spPr>
      </p:cxnSp>
      <p:cxnSp>
        <p:nvCxnSpPr>
          <p:cNvPr id="463533569" name="Google Shape;573;p59"/>
          <p:cNvCxnSpPr>
            <a:stCxn id="959133089" idx="3"/>
            <a:endCxn id="637535791" idx="2"/>
          </p:cNvCxnSpPr>
          <p:nvPr/>
        </p:nvCxnSpPr>
        <p:spPr bwMode="auto">
          <a:xfrm rot="10800000" flipH="1">
            <a:off x="2035650" y="1432683"/>
            <a:ext cx="1293300" cy="963300"/>
          </a:xfrm>
          <a:prstGeom prst="straightConnector1">
            <a:avLst/>
          </a:prstGeom>
          <a:noFill/>
          <a:ln w="9525" cap="flat" cmpd="sng">
            <a:solidFill>
              <a:schemeClr val="accent2"/>
            </a:solidFill>
            <a:prstDash val="dash"/>
            <a:round/>
            <a:headEnd type="none" w="med" len="med"/>
            <a:tailEnd type="none" w="med" len="med"/>
          </a:ln>
        </p:spPr>
      </p:cxnSp>
      <p:cxnSp>
        <p:nvCxnSpPr>
          <p:cNvPr id="1277182315" name="Google Shape;574;p59"/>
          <p:cNvCxnSpPr>
            <a:stCxn id="1556153360" idx="3"/>
            <a:endCxn id="637535791" idx="2"/>
          </p:cNvCxnSpPr>
          <p:nvPr/>
        </p:nvCxnSpPr>
        <p:spPr bwMode="auto">
          <a:xfrm rot="10800000" flipH="1">
            <a:off x="2035650" y="1432830"/>
            <a:ext cx="1293300" cy="1444800"/>
          </a:xfrm>
          <a:prstGeom prst="straightConnector1">
            <a:avLst/>
          </a:prstGeom>
          <a:noFill/>
          <a:ln w="9525" cap="flat" cmpd="sng">
            <a:solidFill>
              <a:schemeClr val="accent2"/>
            </a:solidFill>
            <a:prstDash val="dash"/>
            <a:round/>
            <a:headEnd type="none" w="med" len="med"/>
            <a:tailEnd type="none" w="med" len="med"/>
          </a:ln>
        </p:spPr>
      </p:cxnSp>
      <p:cxnSp>
        <p:nvCxnSpPr>
          <p:cNvPr id="1182093139" name="Google Shape;575;p59"/>
          <p:cNvCxnSpPr>
            <a:stCxn id="964091665" idx="3"/>
            <a:endCxn id="637535791" idx="2"/>
          </p:cNvCxnSpPr>
          <p:nvPr/>
        </p:nvCxnSpPr>
        <p:spPr bwMode="auto">
          <a:xfrm rot="10800000" flipH="1">
            <a:off x="2035650" y="1432678"/>
            <a:ext cx="1293300" cy="1926600"/>
          </a:xfrm>
          <a:prstGeom prst="straightConnector1">
            <a:avLst/>
          </a:prstGeom>
          <a:noFill/>
          <a:ln w="9525" cap="flat" cmpd="sng">
            <a:solidFill>
              <a:schemeClr val="accent2"/>
            </a:solidFill>
            <a:prstDash val="dash"/>
            <a:round/>
            <a:headEnd type="none" w="med" len="med"/>
            <a:tailEnd type="none" w="med" len="med"/>
          </a:ln>
        </p:spPr>
      </p:cxnSp>
      <p:cxnSp>
        <p:nvCxnSpPr>
          <p:cNvPr id="1274851081" name="Google Shape;576;p59"/>
          <p:cNvCxnSpPr>
            <a:stCxn id="1566192848" idx="3"/>
            <a:endCxn id="637535791" idx="2"/>
          </p:cNvCxnSpPr>
          <p:nvPr/>
        </p:nvCxnSpPr>
        <p:spPr bwMode="auto">
          <a:xfrm rot="10800000" flipH="1">
            <a:off x="2035650" y="1432825"/>
            <a:ext cx="1293300" cy="2408100"/>
          </a:xfrm>
          <a:prstGeom prst="straightConnector1">
            <a:avLst/>
          </a:prstGeom>
          <a:noFill/>
          <a:ln w="9525" cap="flat" cmpd="sng">
            <a:solidFill>
              <a:schemeClr val="accent2"/>
            </a:solidFill>
            <a:prstDash val="dash"/>
            <a:round/>
            <a:headEnd type="none" w="med" len="med"/>
            <a:tailEnd type="none" w="med" len="med"/>
          </a:ln>
        </p:spPr>
      </p:cxnSp>
      <p:cxnSp>
        <p:nvCxnSpPr>
          <p:cNvPr id="1706280447" name="Google Shape;577;p59"/>
          <p:cNvCxnSpPr>
            <a:stCxn id="1396569624" idx="3"/>
            <a:endCxn id="1533900395" idx="2"/>
          </p:cNvCxnSpPr>
          <p:nvPr/>
        </p:nvCxnSpPr>
        <p:spPr bwMode="auto">
          <a:xfrm>
            <a:off x="2035650" y="1432688"/>
            <a:ext cx="1293300" cy="2421000"/>
          </a:xfrm>
          <a:prstGeom prst="straightConnector1">
            <a:avLst/>
          </a:prstGeom>
          <a:noFill/>
          <a:ln w="9525" cap="flat" cmpd="sng">
            <a:solidFill>
              <a:srgbClr val="00FF00"/>
            </a:solidFill>
            <a:prstDash val="lgDash"/>
            <a:round/>
            <a:headEnd type="none" w="med" len="med"/>
            <a:tailEnd type="none" w="med" len="med"/>
          </a:ln>
        </p:spPr>
      </p:cxnSp>
      <p:cxnSp>
        <p:nvCxnSpPr>
          <p:cNvPr id="1522227109" name="Google Shape;578;p59"/>
          <p:cNvCxnSpPr>
            <a:stCxn id="1554259419" idx="3"/>
            <a:endCxn id="1533900395" idx="3"/>
          </p:cNvCxnSpPr>
          <p:nvPr/>
        </p:nvCxnSpPr>
        <p:spPr bwMode="auto">
          <a:xfrm>
            <a:off x="2035650" y="1914335"/>
            <a:ext cx="1349700" cy="2075400"/>
          </a:xfrm>
          <a:prstGeom prst="straightConnector1">
            <a:avLst/>
          </a:prstGeom>
          <a:noFill/>
          <a:ln w="9525" cap="flat" cmpd="sng">
            <a:solidFill>
              <a:srgbClr val="00FF00"/>
            </a:solidFill>
            <a:prstDash val="lgDash"/>
            <a:round/>
            <a:headEnd type="none" w="med" len="med"/>
            <a:tailEnd type="none" w="med" len="med"/>
          </a:ln>
        </p:spPr>
      </p:cxnSp>
      <p:cxnSp>
        <p:nvCxnSpPr>
          <p:cNvPr id="1783405793" name="Google Shape;579;p59"/>
          <p:cNvCxnSpPr>
            <a:stCxn id="959133089" idx="3"/>
            <a:endCxn id="1533900395" idx="2"/>
          </p:cNvCxnSpPr>
          <p:nvPr/>
        </p:nvCxnSpPr>
        <p:spPr bwMode="auto">
          <a:xfrm>
            <a:off x="2035650" y="2395983"/>
            <a:ext cx="1293300" cy="1457700"/>
          </a:xfrm>
          <a:prstGeom prst="straightConnector1">
            <a:avLst/>
          </a:prstGeom>
          <a:noFill/>
          <a:ln w="9525" cap="flat" cmpd="sng">
            <a:solidFill>
              <a:srgbClr val="00FF00"/>
            </a:solidFill>
            <a:prstDash val="lgDash"/>
            <a:round/>
            <a:headEnd type="none" w="med" len="med"/>
            <a:tailEnd type="none" w="med" len="med"/>
          </a:ln>
        </p:spPr>
      </p:cxnSp>
      <p:cxnSp>
        <p:nvCxnSpPr>
          <p:cNvPr id="803828267" name="Google Shape;580;p59"/>
          <p:cNvCxnSpPr>
            <a:stCxn id="1556153360" idx="3"/>
            <a:endCxn id="1533900395" idx="2"/>
          </p:cNvCxnSpPr>
          <p:nvPr/>
        </p:nvCxnSpPr>
        <p:spPr bwMode="auto">
          <a:xfrm>
            <a:off x="2035650" y="2877630"/>
            <a:ext cx="1293300" cy="976200"/>
          </a:xfrm>
          <a:prstGeom prst="straightConnector1">
            <a:avLst/>
          </a:prstGeom>
          <a:noFill/>
          <a:ln w="9525" cap="flat" cmpd="sng">
            <a:solidFill>
              <a:srgbClr val="00FF00"/>
            </a:solidFill>
            <a:prstDash val="lgDash"/>
            <a:round/>
            <a:headEnd type="none" w="med" len="med"/>
            <a:tailEnd type="none" w="med" len="med"/>
          </a:ln>
        </p:spPr>
      </p:cxnSp>
      <p:cxnSp>
        <p:nvCxnSpPr>
          <p:cNvPr id="1975135224" name="Google Shape;581;p59"/>
          <p:cNvCxnSpPr>
            <a:stCxn id="964091665" idx="3"/>
            <a:endCxn id="1533900395" idx="2"/>
          </p:cNvCxnSpPr>
          <p:nvPr/>
        </p:nvCxnSpPr>
        <p:spPr bwMode="auto">
          <a:xfrm>
            <a:off x="2035650" y="3359278"/>
            <a:ext cx="1293300" cy="494399"/>
          </a:xfrm>
          <a:prstGeom prst="straightConnector1">
            <a:avLst/>
          </a:prstGeom>
          <a:noFill/>
          <a:ln w="9525" cap="flat" cmpd="sng">
            <a:solidFill>
              <a:srgbClr val="00FF00"/>
            </a:solidFill>
            <a:prstDash val="lgDash"/>
            <a:round/>
            <a:headEnd type="none" w="med" len="med"/>
            <a:tailEnd type="none" w="med" len="med"/>
          </a:ln>
        </p:spPr>
      </p:cxnSp>
      <p:cxnSp>
        <p:nvCxnSpPr>
          <p:cNvPr id="381141068" name="Google Shape;582;p59"/>
          <p:cNvCxnSpPr>
            <a:stCxn id="1566192848" idx="3"/>
            <a:endCxn id="1533900395" idx="2"/>
          </p:cNvCxnSpPr>
          <p:nvPr/>
        </p:nvCxnSpPr>
        <p:spPr bwMode="auto">
          <a:xfrm>
            <a:off x="2035650" y="3840925"/>
            <a:ext cx="1293300" cy="12900"/>
          </a:xfrm>
          <a:prstGeom prst="straightConnector1">
            <a:avLst/>
          </a:prstGeom>
          <a:noFill/>
          <a:ln w="9525" cap="flat" cmpd="sng">
            <a:solidFill>
              <a:srgbClr val="00FF00"/>
            </a:solidFill>
            <a:prstDash val="lgDash"/>
            <a:round/>
            <a:headEnd type="none" w="med" len="med"/>
            <a:tailEnd type="none" w="med" len="med"/>
          </a:ln>
        </p:spPr>
      </p:cxnSp>
      <p:sp>
        <p:nvSpPr>
          <p:cNvPr id="2106639289" name="Google Shape;583;p59"/>
          <p:cNvSpPr txBox="1"/>
          <p:nvPr/>
        </p:nvSpPr>
        <p:spPr bwMode="auto">
          <a:xfrm>
            <a:off x="8324825" y="176958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0.46</a:t>
            </a:r>
            <a:endParaRPr sz="1300">
              <a:solidFill>
                <a:schemeClr val="dk1"/>
              </a:solidFill>
            </a:endParaRPr>
          </a:p>
        </p:txBody>
      </p:sp>
      <p:sp>
        <p:nvSpPr>
          <p:cNvPr id="721548112" name="Google Shape;584;p59"/>
          <p:cNvSpPr txBox="1"/>
          <p:nvPr/>
        </p:nvSpPr>
        <p:spPr bwMode="auto">
          <a:xfrm>
            <a:off x="8324825" y="128793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0.19</a:t>
            </a:r>
            <a:endParaRPr sz="1300">
              <a:solidFill>
                <a:schemeClr val="dk1"/>
              </a:solidFill>
            </a:endParaRPr>
          </a:p>
        </p:txBody>
      </p:sp>
      <p:sp>
        <p:nvSpPr>
          <p:cNvPr id="581985843" name="Google Shape;585;p59"/>
          <p:cNvSpPr txBox="1"/>
          <p:nvPr/>
        </p:nvSpPr>
        <p:spPr bwMode="auto">
          <a:xfrm>
            <a:off x="8324825" y="2251233"/>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0.05</a:t>
            </a:r>
            <a:endParaRPr sz="1300">
              <a:solidFill>
                <a:schemeClr val="dk1"/>
              </a:solidFill>
            </a:endParaRPr>
          </a:p>
        </p:txBody>
      </p:sp>
      <p:sp>
        <p:nvSpPr>
          <p:cNvPr id="2146436290" name="Google Shape;586;p59"/>
          <p:cNvSpPr txBox="1"/>
          <p:nvPr/>
        </p:nvSpPr>
        <p:spPr bwMode="auto">
          <a:xfrm>
            <a:off x="8324825" y="2732880"/>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0.31</a:t>
            </a:r>
            <a:endParaRPr sz="1300">
              <a:solidFill>
                <a:schemeClr val="dk1"/>
              </a:solidFill>
            </a:endParaRPr>
          </a:p>
        </p:txBody>
      </p:sp>
      <p:sp>
        <p:nvSpPr>
          <p:cNvPr id="1346932726" name="Google Shape;587;p59"/>
          <p:cNvSpPr txBox="1"/>
          <p:nvPr/>
        </p:nvSpPr>
        <p:spPr bwMode="auto">
          <a:xfrm>
            <a:off x="8324825" y="3214528"/>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0.25</a:t>
            </a:r>
            <a:endParaRPr sz="1300">
              <a:solidFill>
                <a:schemeClr val="dk1"/>
              </a:solidFill>
            </a:endParaRPr>
          </a:p>
        </p:txBody>
      </p:sp>
      <p:sp>
        <p:nvSpPr>
          <p:cNvPr id="867283273" name="Google Shape;588;p59"/>
          <p:cNvSpPr txBox="1"/>
          <p:nvPr/>
        </p:nvSpPr>
        <p:spPr bwMode="auto">
          <a:xfrm>
            <a:off x="8324825" y="3696175"/>
            <a:ext cx="641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300">
                <a:solidFill>
                  <a:schemeClr val="dk1"/>
                </a:solidFill>
              </a:rPr>
              <a:t>0.21</a:t>
            </a:r>
            <a:endParaRPr sz="1300">
              <a:solidFill>
                <a:schemeClr val="dk1"/>
              </a:solidFill>
            </a:endParaRPr>
          </a:p>
        </p:txBody>
      </p:sp>
      <p:sp>
        <p:nvSpPr>
          <p:cNvPr id="894159324" name="Google Shape;589;p59"/>
          <p:cNvSpPr/>
          <p:nvPr/>
        </p:nvSpPr>
        <p:spPr bwMode="auto">
          <a:xfrm>
            <a:off x="8324825" y="1175263"/>
            <a:ext cx="497100" cy="29400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834118209" name="Google Shape;590;p59"/>
          <p:cNvSpPr/>
          <p:nvPr/>
        </p:nvSpPr>
        <p:spPr bwMode="auto">
          <a:xfrm>
            <a:off x="5480525" y="2001400"/>
            <a:ext cx="2759700" cy="13365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cxnSp>
        <p:nvCxnSpPr>
          <p:cNvPr id="2010876370" name="Google Shape;591;p59"/>
          <p:cNvCxnSpPr/>
          <p:nvPr/>
        </p:nvCxnSpPr>
        <p:spPr bwMode="auto">
          <a:xfrm>
            <a:off x="4597225" y="1021850"/>
            <a:ext cx="0" cy="3242700"/>
          </a:xfrm>
          <a:prstGeom prst="straightConnector1">
            <a:avLst/>
          </a:prstGeom>
          <a:noFill/>
          <a:ln w="28575" cap="flat" cmpd="sng">
            <a:solidFill>
              <a:schemeClr val="dk2"/>
            </a:solidFill>
            <a:prstDash val="solid"/>
            <a:round/>
            <a:headEnd type="none" w="med" len="med"/>
            <a:tailEnd type="none" w="med" len="med"/>
          </a:ln>
        </p:spPr>
      </p:cxnSp>
      <p:sp>
        <p:nvSpPr>
          <p:cNvPr id="2112917675" name="Google Shape;592;p59"/>
          <p:cNvSpPr txBox="1"/>
          <p:nvPr/>
        </p:nvSpPr>
        <p:spPr bwMode="auto">
          <a:xfrm>
            <a:off x="8355600" y="722638"/>
            <a:ext cx="497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x</a:t>
            </a:r>
            <a:r>
              <a:rPr lang="en" sz="1800" baseline="30000">
                <a:solidFill>
                  <a:schemeClr val="dk1"/>
                </a:solidFill>
              </a:rPr>
              <a:t>k</a:t>
            </a:r>
            <a:endParaRPr sz="1800" baseline="30000">
              <a:solidFill>
                <a:schemeClr val="dk1"/>
              </a:solidFill>
            </a:endParaRPr>
          </a:p>
        </p:txBody>
      </p:sp>
      <p:sp>
        <p:nvSpPr>
          <p:cNvPr id="1908914396" name="Google Shape;593;p59"/>
          <p:cNvSpPr txBox="1"/>
          <p:nvPr/>
        </p:nvSpPr>
        <p:spPr bwMode="auto">
          <a:xfrm>
            <a:off x="5544100" y="1989025"/>
            <a:ext cx="2696100" cy="10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sz="1800">
                <a:solidFill>
                  <a:schemeClr val="dk1"/>
                </a:solidFill>
              </a:rPr>
              <a:t>w</a:t>
            </a:r>
            <a:r>
              <a:rPr lang="en" sz="1800" baseline="-25000">
                <a:solidFill>
                  <a:schemeClr val="dk1"/>
                </a:solidFill>
              </a:rPr>
              <a:t>00</a:t>
            </a:r>
            <a:r>
              <a:rPr lang="en" sz="1800"/>
              <a:t>  w</a:t>
            </a:r>
            <a:r>
              <a:rPr lang="en" sz="1800" baseline="-25000"/>
              <a:t>01</a:t>
            </a:r>
            <a:r>
              <a:rPr lang="en" sz="1800"/>
              <a:t>  …   …  …    w</a:t>
            </a:r>
            <a:r>
              <a:rPr lang="en" sz="1800" baseline="-25000"/>
              <a:t>0k</a:t>
            </a:r>
            <a:endParaRPr/>
          </a:p>
          <a:p>
            <a:pPr marL="0" lvl="0" indent="0" algn="l" rtl="0">
              <a:spcBef>
                <a:spcPts val="0"/>
              </a:spcBef>
              <a:spcAft>
                <a:spcPts val="0"/>
              </a:spcAft>
              <a:buNone/>
              <a:defRPr/>
            </a:pPr>
            <a:r>
              <a:rPr lang="en"/>
              <a:t>…</a:t>
            </a:r>
            <a:endParaRPr/>
          </a:p>
          <a:p>
            <a:pPr marL="0" lvl="0" indent="0" algn="l" rtl="0">
              <a:spcBef>
                <a:spcPts val="0"/>
              </a:spcBef>
              <a:spcAft>
                <a:spcPts val="0"/>
              </a:spcAft>
              <a:buNone/>
              <a:defRPr/>
            </a:pPr>
            <a:r>
              <a:rPr lang="en"/>
              <a:t>-0.69 0.17 -0.99 3.11 -1.25 1.45</a:t>
            </a:r>
            <a:endParaRPr/>
          </a:p>
          <a:p>
            <a:pPr marL="0" lvl="0" indent="0" algn="l" rtl="0">
              <a:spcBef>
                <a:spcPts val="0"/>
              </a:spcBef>
              <a:spcAft>
                <a:spcPts val="0"/>
              </a:spcAft>
              <a:buNone/>
              <a:defRPr/>
            </a:pPr>
            <a:r>
              <a:rPr lang="en"/>
              <a:t>…</a:t>
            </a:r>
            <a:endParaRPr/>
          </a:p>
          <a:p>
            <a:pPr marL="0" lvl="0" indent="0" algn="l" rtl="0">
              <a:spcBef>
                <a:spcPts val="0"/>
              </a:spcBef>
              <a:spcAft>
                <a:spcPts val="0"/>
              </a:spcAft>
              <a:buNone/>
              <a:defRPr/>
            </a:pPr>
            <a:r>
              <a:rPr lang="en" sz="1800"/>
              <a:t>w</a:t>
            </a:r>
            <a:r>
              <a:rPr lang="en" sz="1800" baseline="-25000"/>
              <a:t>n0</a:t>
            </a:r>
            <a:r>
              <a:rPr lang="en" sz="1800"/>
              <a:t>  w</a:t>
            </a:r>
            <a:r>
              <a:rPr lang="en" sz="1800" baseline="-25000"/>
              <a:t>n1</a:t>
            </a:r>
            <a:r>
              <a:rPr lang="en" sz="1800"/>
              <a:t>  …   …   …   w</a:t>
            </a:r>
            <a:r>
              <a:rPr lang="en" sz="1800" baseline="-25000"/>
              <a:t>nk</a:t>
            </a:r>
            <a:endParaRPr sz="1800" baseline="-25000"/>
          </a:p>
        </p:txBody>
      </p:sp>
      <p:sp>
        <p:nvSpPr>
          <p:cNvPr id="1640448329" name="Google Shape;594;p59"/>
          <p:cNvSpPr txBox="1"/>
          <p:nvPr/>
        </p:nvSpPr>
        <p:spPr bwMode="auto">
          <a:xfrm>
            <a:off x="6453275" y="1549475"/>
            <a:ext cx="749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w</a:t>
            </a:r>
            <a:r>
              <a:rPr lang="en" sz="1800" baseline="30000">
                <a:solidFill>
                  <a:schemeClr val="dk1"/>
                </a:solidFill>
              </a:rPr>
              <a:t>nxk</a:t>
            </a:r>
            <a:endParaRPr sz="1800" baseline="30000">
              <a:solidFill>
                <a:schemeClr val="dk1"/>
              </a:solidFill>
            </a:endParaRPr>
          </a:p>
        </p:txBody>
      </p:sp>
      <p:sp>
        <p:nvSpPr>
          <p:cNvPr id="57956119" name="Google Shape;595;p59"/>
          <p:cNvSpPr txBox="1"/>
          <p:nvPr/>
        </p:nvSpPr>
        <p:spPr bwMode="auto">
          <a:xfrm>
            <a:off x="1700075" y="4335475"/>
            <a:ext cx="214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Pictorial notation</a:t>
            </a:r>
            <a:endParaRPr sz="1800">
              <a:solidFill>
                <a:schemeClr val="dk1"/>
              </a:solidFill>
            </a:endParaRPr>
          </a:p>
        </p:txBody>
      </p:sp>
      <p:sp>
        <p:nvSpPr>
          <p:cNvPr id="922391182" name="Google Shape;596;p59"/>
          <p:cNvSpPr/>
          <p:nvPr/>
        </p:nvSpPr>
        <p:spPr bwMode="auto">
          <a:xfrm>
            <a:off x="4795250" y="2011175"/>
            <a:ext cx="384900" cy="1336500"/>
          </a:xfrm>
          <a:prstGeom prst="bracketPair">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29687744" name="Google Shape;597;p59"/>
          <p:cNvSpPr txBox="1"/>
          <p:nvPr/>
        </p:nvSpPr>
        <p:spPr bwMode="auto">
          <a:xfrm>
            <a:off x="4723250" y="2038600"/>
            <a:ext cx="528900" cy="12620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b</a:t>
            </a:r>
            <a:r>
              <a:rPr lang="en" baseline="-25000">
                <a:solidFill>
                  <a:schemeClr val="dk1"/>
                </a:solidFill>
              </a:rPr>
              <a:t>0</a:t>
            </a:r>
            <a:endParaRPr baseline="-25000">
              <a:solidFill>
                <a:schemeClr val="dk1"/>
              </a:solidFill>
            </a:endParaRPr>
          </a:p>
          <a:p>
            <a:pPr marL="0" lvl="0" indent="0" algn="l" rtl="0">
              <a:spcBef>
                <a:spcPts val="0"/>
              </a:spcBef>
              <a:spcAft>
                <a:spcPts val="0"/>
              </a:spcAft>
              <a:buNone/>
              <a:defRPr/>
            </a:pPr>
            <a:r>
              <a:rPr lang="en">
                <a:solidFill>
                  <a:schemeClr val="dk1"/>
                </a:solidFill>
              </a:rPr>
              <a:t>…</a:t>
            </a:r>
            <a:endParaRPr>
              <a:solidFill>
                <a:schemeClr val="dk1"/>
              </a:solidFill>
            </a:endParaRPr>
          </a:p>
          <a:p>
            <a:pPr marL="0" lvl="0" indent="0" algn="l" rtl="0">
              <a:spcBef>
                <a:spcPts val="0"/>
              </a:spcBef>
              <a:spcAft>
                <a:spcPts val="0"/>
              </a:spcAft>
              <a:buNone/>
              <a:defRPr/>
            </a:pPr>
            <a:r>
              <a:rPr lang="en">
                <a:solidFill>
                  <a:schemeClr val="dk1"/>
                </a:solidFill>
              </a:rPr>
              <a:t>-1.2</a:t>
            </a:r>
            <a:endParaRPr>
              <a:solidFill>
                <a:schemeClr val="dk1"/>
              </a:solidFill>
            </a:endParaRPr>
          </a:p>
          <a:p>
            <a:pPr marL="0" lvl="0" indent="0" algn="l" rtl="0">
              <a:spcBef>
                <a:spcPts val="0"/>
              </a:spcBef>
              <a:spcAft>
                <a:spcPts val="0"/>
              </a:spcAft>
              <a:buNone/>
              <a:defRPr/>
            </a:pPr>
            <a:r>
              <a:rPr lang="en">
                <a:solidFill>
                  <a:schemeClr val="dk1"/>
                </a:solidFill>
              </a:rPr>
              <a:t>…</a:t>
            </a:r>
            <a:endParaRPr>
              <a:solidFill>
                <a:schemeClr val="dk1"/>
              </a:solidFill>
            </a:endParaRPr>
          </a:p>
          <a:p>
            <a:pPr marL="0" lvl="0" indent="0" algn="l" rtl="0">
              <a:spcBef>
                <a:spcPts val="0"/>
              </a:spcBef>
              <a:spcAft>
                <a:spcPts val="0"/>
              </a:spcAft>
              <a:buNone/>
              <a:defRPr/>
            </a:pPr>
            <a:r>
              <a:rPr lang="en">
                <a:solidFill>
                  <a:schemeClr val="dk1"/>
                </a:solidFill>
              </a:rPr>
              <a:t>b</a:t>
            </a:r>
            <a:r>
              <a:rPr lang="en" baseline="-25000">
                <a:solidFill>
                  <a:schemeClr val="dk1"/>
                </a:solidFill>
              </a:rPr>
              <a:t>n</a:t>
            </a:r>
            <a:endParaRPr baseline="-25000">
              <a:solidFill>
                <a:schemeClr val="dk1"/>
              </a:solidFill>
            </a:endParaRPr>
          </a:p>
        </p:txBody>
      </p:sp>
      <p:sp>
        <p:nvSpPr>
          <p:cNvPr id="1060189936" name="Google Shape;598;p59"/>
          <p:cNvSpPr txBox="1"/>
          <p:nvPr/>
        </p:nvSpPr>
        <p:spPr bwMode="auto">
          <a:xfrm>
            <a:off x="5165200" y="2445750"/>
            <a:ext cx="331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a:t>
            </a:r>
            <a:endParaRPr sz="1800">
              <a:solidFill>
                <a:schemeClr val="dk1"/>
              </a:solidFill>
            </a:endParaRPr>
          </a:p>
        </p:txBody>
      </p:sp>
      <p:sp>
        <p:nvSpPr>
          <p:cNvPr id="890158448" name="Google Shape;599;p59"/>
          <p:cNvSpPr txBox="1"/>
          <p:nvPr/>
        </p:nvSpPr>
        <p:spPr bwMode="auto">
          <a:xfrm>
            <a:off x="4816900" y="1549475"/>
            <a:ext cx="528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b="1">
                <a:solidFill>
                  <a:schemeClr val="dk1"/>
                </a:solidFill>
              </a:rPr>
              <a:t>b</a:t>
            </a:r>
            <a:r>
              <a:rPr lang="en" sz="1800" baseline="30000">
                <a:solidFill>
                  <a:schemeClr val="dk1"/>
                </a:solidFill>
              </a:rPr>
              <a:t>n</a:t>
            </a:r>
            <a:endParaRPr sz="1800" baseline="30000">
              <a:solidFill>
                <a:schemeClr val="dk1"/>
              </a:solidFill>
            </a:endParaRPr>
          </a:p>
        </p:txBody>
      </p:sp>
      <p:pic>
        <p:nvPicPr>
          <p:cNvPr id="727510730" name="Google Shape;600;p59"/>
          <p:cNvPicPr/>
          <p:nvPr/>
        </p:nvPicPr>
        <p:blipFill rotWithShape="1">
          <a:blip r:embed="rId3">
            <a:alphaModFix/>
          </a:blip>
          <a:stretch/>
        </p:blipFill>
        <p:spPr bwMode="auto">
          <a:xfrm>
            <a:off x="3859887" y="3564500"/>
            <a:ext cx="4452525" cy="1336500"/>
          </a:xfrm>
          <a:prstGeom prst="rect">
            <a:avLst/>
          </a:prstGeom>
          <a:noFill/>
          <a:ln>
            <a:noFill/>
          </a:ln>
        </p:spPr>
      </p:pic>
      <p:sp>
        <p:nvSpPr>
          <p:cNvPr id="2093564417" name="Google Shape;601;p59"/>
          <p:cNvSpPr txBox="1"/>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7833354" name="Google Shape;606;p60"/>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should be the loss function for 10-classification?</a:t>
            </a:r>
            <a:endParaRPr/>
          </a:p>
        </p:txBody>
      </p:sp>
      <p:sp>
        <p:nvSpPr>
          <p:cNvPr id="1678363499" name="Google Shape;607;p60"/>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When the model is </a:t>
            </a:r>
            <a:r>
              <a:rPr lang="en"/>
              <a:t>randomly</a:t>
            </a:r>
            <a:r>
              <a:rPr lang="en"/>
              <a:t> initialized, what is the range of the output values?</a:t>
            </a:r>
            <a:endParaRPr/>
          </a:p>
          <a:p>
            <a:pPr marL="0" lvl="0" indent="0" algn="l" rtl="0">
              <a:spcBef>
                <a:spcPts val="360"/>
              </a:spcBef>
              <a:spcAft>
                <a:spcPts val="0"/>
              </a:spcAft>
              <a:buNone/>
              <a:defRPr/>
            </a:pPr>
            <a:endParaRPr/>
          </a:p>
          <a:p>
            <a:pPr marL="457200" lvl="0" indent="-342900" algn="l" rtl="0">
              <a:spcBef>
                <a:spcPts val="360"/>
              </a:spcBef>
              <a:spcAft>
                <a:spcPts val="0"/>
              </a:spcAft>
              <a:buSzPts val="1800"/>
              <a:buChar char="❏"/>
              <a:defRPr/>
            </a:pPr>
            <a:r>
              <a:rPr lang="en"/>
              <a:t>The desired output values should be the probability of each class</a:t>
            </a:r>
            <a:endParaRPr/>
          </a:p>
          <a:p>
            <a:pPr marL="0" lvl="0" indent="0" algn="l" rtl="0">
              <a:spcBef>
                <a:spcPts val="360"/>
              </a:spcBef>
              <a:spcAft>
                <a:spcPts val="0"/>
              </a:spcAft>
              <a:buNone/>
              <a:defRPr/>
            </a:pPr>
            <a:endParaRPr/>
          </a:p>
          <a:p>
            <a:pPr marL="0" lvl="0" indent="0" algn="l" rtl="0">
              <a:spcBef>
                <a:spcPts val="360"/>
              </a:spcBef>
              <a:spcAft>
                <a:spcPts val="0"/>
              </a:spcAft>
              <a:buNone/>
              <a:defRPr/>
            </a:pPr>
            <a:endParaRPr/>
          </a:p>
          <a:p>
            <a:pPr marL="457200" lvl="0" indent="-342900" algn="l" rtl="0">
              <a:spcBef>
                <a:spcPts val="360"/>
              </a:spcBef>
              <a:spcAft>
                <a:spcPts val="0"/>
              </a:spcAft>
              <a:buSzPts val="1800"/>
              <a:buChar char="❏"/>
              <a:defRPr/>
            </a:pPr>
            <a:r>
              <a:rPr lang="en"/>
              <a:t>Softmax function ensures a probability distribution</a:t>
            </a:r>
            <a:endParaRPr/>
          </a:p>
        </p:txBody>
      </p:sp>
      <p:pic>
        <p:nvPicPr>
          <p:cNvPr id="1106805199" name="Google Shape;608;p60"/>
          <p:cNvPicPr/>
          <p:nvPr/>
        </p:nvPicPr>
        <p:blipFill rotWithShape="1">
          <a:blip r:embed="rId3">
            <a:alphaModFix/>
          </a:blip>
          <a:srcRect l="50448" t="49464" r="0" b="0"/>
          <a:stretch/>
        </p:blipFill>
        <p:spPr bwMode="auto">
          <a:xfrm>
            <a:off x="6025170" y="2635656"/>
            <a:ext cx="2927800" cy="1983925"/>
          </a:xfrm>
          <a:prstGeom prst="rect">
            <a:avLst/>
          </a:prstGeom>
          <a:noFill/>
          <a:ln>
            <a:noFill/>
          </a:ln>
        </p:spPr>
      </p:pic>
      <p:sp>
        <p:nvSpPr>
          <p:cNvPr id="1670606977" name="Google Shape;609;p60"/>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642327" name="Google Shape;614;p61"/>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Cross entropy loss</a:t>
            </a:r>
            <a:endParaRPr/>
          </a:p>
        </p:txBody>
      </p:sp>
      <p:sp>
        <p:nvSpPr>
          <p:cNvPr id="1966905468" name="Google Shape;615;p61"/>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How to properly compare the difference between two distribution?</a:t>
            </a:r>
            <a:endParaRPr/>
          </a:p>
        </p:txBody>
      </p:sp>
      <p:sp>
        <p:nvSpPr>
          <p:cNvPr id="1896598957" name="Google Shape;616;p61"/>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pic>
        <p:nvPicPr>
          <p:cNvPr id="2022130524" name="Google Shape;617;p61"/>
          <p:cNvPicPr/>
          <p:nvPr/>
        </p:nvPicPr>
        <p:blipFill rotWithShape="1">
          <a:blip r:embed="rId3">
            <a:alphaModFix/>
          </a:blip>
          <a:stretch/>
        </p:blipFill>
        <p:spPr bwMode="auto">
          <a:xfrm>
            <a:off x="2559425" y="2427345"/>
            <a:ext cx="3437976" cy="6485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7278578" name="Google Shape;495;p79"/>
          <p:cNvSpPr txBox="1"/>
          <p:nvPr>
            <p:ph type="body" idx="1"/>
          </p:nvPr>
        </p:nvSpPr>
        <p:spPr bwMode="auto">
          <a:xfrm>
            <a:off x="1452874" y="4142799"/>
            <a:ext cx="5998799" cy="605099"/>
          </a:xfrm>
          <a:prstGeom prst="rect">
            <a:avLst/>
          </a:prstGeom>
        </p:spPr>
        <p:txBody>
          <a:bodyPr spcFirstLastPara="1" wrap="square" lIns="91423" tIns="45699" rIns="91423" bIns="45699" anchor="ctr" anchorCtr="0">
            <a:normAutofit/>
          </a:bodyPr>
          <a:lstStyle/>
          <a:p>
            <a:pPr marL="0" lvl="0" indent="0" algn="l" rtl="0">
              <a:spcBef>
                <a:spcPts val="279"/>
              </a:spcBef>
              <a:spcAft>
                <a:spcPts val="0"/>
              </a:spcAft>
              <a:buNone/>
              <a:defRPr/>
            </a:pPr>
            <a:r>
              <a:rPr lang="en"/>
              <a:t>The feedforward model</a:t>
            </a:r>
            <a:endParaRPr/>
          </a:p>
        </p:txBody>
      </p:sp>
      <p:sp>
        <p:nvSpPr>
          <p:cNvPr id="898779641" name="Google Shape;496;p79"/>
          <p:cNvSpPr txBox="1"/>
          <p:nvPr>
            <p:ph type="sldNum" idx="12"/>
          </p:nvPr>
        </p:nvSpPr>
        <p:spPr bwMode="auto">
          <a:xfrm>
            <a:off x="8472457" y="4663216"/>
            <a:ext cx="548699" cy="3935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89D68A30-3003-AA93-A28A-7363FDB3825A}" type="slidenum">
              <a:rPr lang="en" sz="800">
                <a:solidFill>
                  <a:srgbClr val="003B5C"/>
                </a:solidFill>
              </a:rPr>
              <a:t>47</a:t>
            </a:fld>
            <a:endParaRPr sz="800">
              <a:solidFill>
                <a:srgbClr val="003B5C"/>
              </a:solidFill>
            </a:endParaRPr>
          </a:p>
        </p:txBody>
      </p:sp>
      <p:sp>
        <p:nvSpPr>
          <p:cNvPr id="37141992" name="Google Shape;497;p79"/>
          <p:cNvSpPr txBox="1"/>
          <p:nvPr/>
        </p:nvSpPr>
        <p:spPr bwMode="auto">
          <a:xfrm>
            <a:off x="987549" y="965599"/>
            <a:ext cx="6554399" cy="26561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just" rtl="0">
              <a:lnSpc>
                <a:spcPct val="114999"/>
              </a:lnSpc>
              <a:spcBef>
                <a:spcPts val="0"/>
              </a:spcBef>
              <a:spcAft>
                <a:spcPts val="0"/>
              </a:spcAft>
              <a:buNone/>
              <a:defRPr/>
            </a:pPr>
            <a:r>
              <a:rPr lang="en" sz="1050">
                <a:solidFill>
                  <a:srgbClr val="AF00DB"/>
                </a:solidFill>
                <a:highlight>
                  <a:srgbClr val="FFFFFF"/>
                </a:highlight>
                <a:latin typeface="Courier New"/>
                <a:ea typeface="Courier New"/>
                <a:cs typeface="Courier New"/>
              </a:rPr>
              <a:t>import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torch</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nn</a:t>
            </a: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as</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nn </a:t>
            </a:r>
            <a:endParaRPr sz="1050">
              <a:solidFill>
                <a:srgbClr val="267F99"/>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r>
              <a:rPr lang="en" sz="1050">
                <a:solidFill>
                  <a:srgbClr val="0000FF"/>
                </a:solidFill>
                <a:highlight>
                  <a:srgbClr val="FFFFFF"/>
                </a:highlight>
                <a:latin typeface="Courier New"/>
                <a:ea typeface="Courier New"/>
                <a:cs typeface="Courier New"/>
              </a:rPr>
              <a:t>class</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BoWSpamClassifier</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nn</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Module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00FF"/>
                </a:solidFill>
                <a:highlight>
                  <a:srgbClr val="FFFFFF"/>
                </a:highlight>
                <a:latin typeface="Courier New"/>
                <a:ea typeface="Courier New"/>
                <a:cs typeface="Courier New"/>
              </a:rPr>
              <a:t>def</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__init__</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self</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in_features</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super</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__init__</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self</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linear</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nn</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Linear</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in_features</a:t>
            </a:r>
            <a:r>
              <a:rPr lang="en" sz="1050">
                <a:solidFill>
                  <a:srgbClr val="3B3B3B"/>
                </a:solidFill>
                <a:highlight>
                  <a:srgbClr val="FFFFFF"/>
                </a:highlight>
                <a:latin typeface="Courier New"/>
                <a:ea typeface="Courier New"/>
                <a:cs typeface="Courier New"/>
              </a:rPr>
              <a:t>, </a:t>
            </a:r>
            <a:r>
              <a:rPr lang="en" sz="1050">
                <a:solidFill>
                  <a:srgbClr val="098658"/>
                </a:solidFill>
                <a:highlight>
                  <a:srgbClr val="FFFFFF"/>
                </a:highlight>
                <a:latin typeface="Courier New"/>
                <a:ea typeface="Courier New"/>
                <a:cs typeface="Courier New"/>
              </a:rPr>
              <a:t>1</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00FF"/>
                </a:solidFill>
                <a:highlight>
                  <a:srgbClr val="FFFFFF"/>
                </a:highlight>
                <a:latin typeface="Courier New"/>
                <a:ea typeface="Courier New"/>
                <a:cs typeface="Courier New"/>
              </a:rPr>
              <a:t>def</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forward</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self</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x</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return</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self</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linear</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x</a:t>
            </a:r>
            <a:r>
              <a:rPr lang="en" sz="1050">
                <a:solidFill>
                  <a:srgbClr val="3B3B3B"/>
                </a:solidFill>
                <a:highlight>
                  <a:srgbClr val="FFFFFF"/>
                </a:highlight>
                <a:latin typeface="Courier New"/>
                <a:ea typeface="Courier New"/>
                <a:cs typeface="Courier New"/>
              </a:rPr>
              <a:t>).squeeze(</a:t>
            </a:r>
            <a:r>
              <a:rPr lang="en" sz="1050">
                <a:solidFill>
                  <a:srgbClr val="098658"/>
                </a:solidFill>
                <a:highlight>
                  <a:srgbClr val="FFFFFF"/>
                </a:highlight>
                <a:latin typeface="Courier New"/>
                <a:ea typeface="Courier New"/>
                <a:cs typeface="Courier New"/>
              </a:rPr>
              <a:t>1</a:t>
            </a:r>
            <a:r>
              <a:rPr lang="en" sz="1050">
                <a:solidFill>
                  <a:srgbClr val="3B3B3B"/>
                </a:solidFill>
                <a:highlight>
                  <a:srgbClr val="FFFFFF"/>
                </a:highlight>
                <a:latin typeface="Courier New"/>
                <a:ea typeface="Courier New"/>
                <a:cs typeface="Courier New"/>
              </a:rPr>
              <a:t>) 	</a:t>
            </a:r>
            <a:r>
              <a:rPr lang="en" sz="1050">
                <a:solidFill>
                  <a:srgbClr val="008000"/>
                </a:solidFill>
                <a:highlight>
                  <a:srgbClr val="FFFFFF"/>
                </a:highlight>
                <a:latin typeface="Courier New"/>
                <a:ea typeface="Courier New"/>
                <a:cs typeface="Courier New"/>
              </a:rPr>
              <a:t># logits (no sigmoid here) </a:t>
            </a:r>
            <a:endParaRPr sz="1050">
              <a:solidFill>
                <a:srgbClr val="008000"/>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r>
              <a:rPr lang="en" sz="1050">
                <a:solidFill>
                  <a:srgbClr val="001080"/>
                </a:solidFill>
                <a:highlight>
                  <a:srgbClr val="FFFFFF"/>
                </a:highlight>
                <a:latin typeface="Courier New"/>
                <a:ea typeface="Courier New"/>
                <a:cs typeface="Courier New"/>
              </a:rPr>
              <a:t>device</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torch</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device</a:t>
            </a:r>
            <a:r>
              <a:rPr lang="en" sz="1050">
                <a:solidFill>
                  <a:srgbClr val="3B3B3B"/>
                </a:solidFill>
                <a:highlight>
                  <a:srgbClr val="FFFFFF"/>
                </a:highlight>
                <a:latin typeface="Courier New"/>
                <a:ea typeface="Courier New"/>
                <a:cs typeface="Courier New"/>
              </a:rPr>
              <a:t>(</a:t>
            </a:r>
            <a:r>
              <a:rPr lang="en" sz="1050">
                <a:solidFill>
                  <a:srgbClr val="A31515"/>
                </a:solidFill>
                <a:highlight>
                  <a:srgbClr val="FFFFFF"/>
                </a:highlight>
                <a:latin typeface="Courier New"/>
                <a:ea typeface="Courier New"/>
                <a:cs typeface="Courier New"/>
              </a:rPr>
              <a:t>'cuda'</a:t>
            </a: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if</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torch</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cuda</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is_available</a:t>
            </a: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else</a:t>
            </a:r>
            <a:r>
              <a:rPr lang="en" sz="1050">
                <a:solidFill>
                  <a:srgbClr val="3B3B3B"/>
                </a:solidFill>
                <a:highlight>
                  <a:srgbClr val="FFFFFF"/>
                </a:highlight>
                <a:latin typeface="Courier New"/>
                <a:ea typeface="Courier New"/>
                <a:cs typeface="Courier New"/>
              </a:rPr>
              <a:t> </a:t>
            </a:r>
            <a:r>
              <a:rPr lang="en" sz="1050">
                <a:solidFill>
                  <a:srgbClr val="A31515"/>
                </a:solidFill>
                <a:highlight>
                  <a:srgbClr val="FFFFFF"/>
                </a:highlight>
                <a:latin typeface="Courier New"/>
                <a:ea typeface="Courier New"/>
                <a:cs typeface="Courier New"/>
              </a:rPr>
              <a:t>'cpu'</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001080"/>
                </a:solidFill>
                <a:highlight>
                  <a:srgbClr val="FFFFFF"/>
                </a:highlight>
                <a:latin typeface="Courier New"/>
                <a:ea typeface="Courier New"/>
                <a:cs typeface="Courier New"/>
              </a:rPr>
              <a:t>model</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BoWSpamClassifier</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vocab_size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001080"/>
                </a:solidFill>
                <a:highlight>
                  <a:srgbClr val="FFFFFF"/>
                </a:highlight>
                <a:latin typeface="Courier New"/>
                <a:ea typeface="Courier New"/>
                <a:cs typeface="Courier New"/>
              </a:rPr>
              <a:t>model</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to</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device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7344108" name="Google Shape;502;p80"/>
          <p:cNvSpPr txBox="1"/>
          <p:nvPr>
            <p:ph type="body" idx="1"/>
          </p:nvPr>
        </p:nvSpPr>
        <p:spPr bwMode="auto">
          <a:xfrm>
            <a:off x="2155124" y="4237899"/>
            <a:ext cx="5998799" cy="605099"/>
          </a:xfrm>
          <a:prstGeom prst="rect">
            <a:avLst/>
          </a:prstGeom>
        </p:spPr>
        <p:txBody>
          <a:bodyPr spcFirstLastPara="1" wrap="square" lIns="91423" tIns="45699" rIns="91423" bIns="45699" anchor="ctr" anchorCtr="0">
            <a:normAutofit/>
          </a:bodyPr>
          <a:lstStyle/>
          <a:p>
            <a:pPr marL="0" lvl="0" indent="0" algn="l" rtl="0">
              <a:spcBef>
                <a:spcPts val="279"/>
              </a:spcBef>
              <a:spcAft>
                <a:spcPts val="0"/>
              </a:spcAft>
              <a:buNone/>
              <a:defRPr/>
            </a:pPr>
            <a:r>
              <a:rPr lang="en"/>
              <a:t>The error function</a:t>
            </a:r>
            <a:endParaRPr/>
          </a:p>
        </p:txBody>
      </p:sp>
      <p:sp>
        <p:nvSpPr>
          <p:cNvPr id="120932569" name="Google Shape;503;p80"/>
          <p:cNvSpPr txBox="1"/>
          <p:nvPr>
            <p:ph type="sldNum" idx="12"/>
          </p:nvPr>
        </p:nvSpPr>
        <p:spPr bwMode="auto">
          <a:xfrm>
            <a:off x="8472457" y="4663216"/>
            <a:ext cx="548699" cy="3935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2AB8FEA0-A2F4-8523-B7C3-992DEFE9F647}" type="slidenum">
              <a:rPr lang="en"/>
              <a:t>48</a:t>
            </a:fld>
            <a:endParaRPr/>
          </a:p>
        </p:txBody>
      </p:sp>
      <p:sp>
        <p:nvSpPr>
          <p:cNvPr id="538070383" name="Google Shape;504;p80"/>
          <p:cNvSpPr txBox="1"/>
          <p:nvPr/>
        </p:nvSpPr>
        <p:spPr bwMode="auto">
          <a:xfrm>
            <a:off x="1280149" y="1590750"/>
            <a:ext cx="6444599" cy="981000"/>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just" rtl="0">
              <a:lnSpc>
                <a:spcPct val="114999"/>
              </a:lnSpc>
              <a:spcBef>
                <a:spcPts val="0"/>
              </a:spcBef>
              <a:spcAft>
                <a:spcPts val="0"/>
              </a:spcAft>
              <a:buNone/>
              <a:defRPr/>
            </a:pPr>
            <a:r>
              <a:rPr lang="en" sz="1050">
                <a:solidFill>
                  <a:srgbClr val="001080"/>
                </a:solidFill>
                <a:highlight>
                  <a:srgbClr val="FFFFFF"/>
                </a:highlight>
                <a:latin typeface="Courier New"/>
                <a:ea typeface="Courier New"/>
                <a:cs typeface="Courier New"/>
              </a:rPr>
              <a:t>pos_weight</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torch</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tensor</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len</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y_train</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y_train</a:t>
            </a:r>
            <a:r>
              <a:rPr lang="en" sz="1050">
                <a:solidFill>
                  <a:srgbClr val="3B3B3B"/>
                </a:solidFill>
                <a:highlight>
                  <a:srgbClr val="FFFFFF"/>
                </a:highlight>
                <a:latin typeface="Courier New"/>
                <a:ea typeface="Courier New"/>
                <a:cs typeface="Courier New"/>
              </a:rPr>
              <a:t>.sum())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y_train</a:t>
            </a:r>
            <a:r>
              <a:rPr lang="en" sz="1050">
                <a:solidFill>
                  <a:srgbClr val="3B3B3B"/>
                </a:solidFill>
                <a:highlight>
                  <a:srgbClr val="FFFFFF"/>
                </a:highlight>
                <a:latin typeface="Courier New"/>
                <a:ea typeface="Courier New"/>
                <a:cs typeface="Courier New"/>
              </a:rPr>
              <a:t>.sum() ])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001080"/>
                </a:solidFill>
                <a:highlight>
                  <a:srgbClr val="FFFFFF"/>
                </a:highlight>
                <a:latin typeface="Courier New"/>
                <a:ea typeface="Courier New"/>
                <a:cs typeface="Courier New"/>
              </a:rPr>
              <a:t>criterion</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nn</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BCEWithLogitsLoss</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pos_weight</a:t>
            </a:r>
            <a:r>
              <a:rPr lang="en" sz="1050">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pos_weight</a:t>
            </a:r>
            <a:r>
              <a:rPr lang="en" sz="1050">
                <a:solidFill>
                  <a:srgbClr val="3B3B3B"/>
                </a:solidFill>
                <a:highlight>
                  <a:srgbClr val="FFFFFF"/>
                </a:highlight>
                <a:latin typeface="Courier New"/>
                <a:ea typeface="Courier New"/>
                <a:cs typeface="Courier New"/>
              </a:rPr>
              <a:t>)  </a:t>
            </a:r>
            <a:r>
              <a:rPr lang="en" sz="1050">
                <a:solidFill>
                  <a:srgbClr val="008000"/>
                </a:solidFill>
                <a:highlight>
                  <a:srgbClr val="FFFFFF"/>
                </a:highlight>
                <a:latin typeface="Courier New"/>
                <a:ea typeface="Courier New"/>
                <a:cs typeface="Courier New"/>
              </a:rPr>
              <a:t># &gt;1 ⇒ penalise spam errors more </a:t>
            </a:r>
            <a:endParaRPr sz="1050">
              <a:solidFill>
                <a:srgbClr val="008000"/>
              </a:solidFill>
              <a:highlight>
                <a:srgbClr val="FFFFFF"/>
              </a:highlight>
              <a:latin typeface="Courier New"/>
              <a:ea typeface="Courier New"/>
              <a:cs typeface="Courier New"/>
            </a:endParaRPr>
          </a:p>
          <a:p>
            <a:pPr marL="0" lvl="0" indent="0" algn="just" rtl="0">
              <a:lnSpc>
                <a:spcPct val="114999"/>
              </a:lnSpc>
              <a:spcBef>
                <a:spcPts val="599"/>
              </a:spcBef>
              <a:spcAft>
                <a:spcPts val="1199"/>
              </a:spcAft>
              <a:buNone/>
              <a:defRPr/>
            </a:pPr>
            <a:r>
              <a:rPr lang="en" sz="1050">
                <a:solidFill>
                  <a:srgbClr val="001080"/>
                </a:solidFill>
                <a:highlight>
                  <a:srgbClr val="FFFFFF"/>
                </a:highlight>
                <a:latin typeface="Courier New"/>
                <a:ea typeface="Courier New"/>
                <a:cs typeface="Courier New"/>
              </a:rPr>
              <a:t>optimizer</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torch</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optim</a:t>
            </a:r>
            <a:r>
              <a:rPr lang="en" sz="1050">
                <a:solidFill>
                  <a:srgbClr val="3B3B3B"/>
                </a:solidFill>
                <a:highlight>
                  <a:srgbClr val="FFFFFF"/>
                </a:highlight>
                <a:latin typeface="Courier New"/>
                <a:ea typeface="Courier New"/>
                <a:cs typeface="Courier New"/>
              </a:rPr>
              <a:t>.</a:t>
            </a:r>
            <a:r>
              <a:rPr lang="en" sz="1050">
                <a:solidFill>
                  <a:srgbClr val="267F99"/>
                </a:solidFill>
                <a:highlight>
                  <a:srgbClr val="FFFFFF"/>
                </a:highlight>
                <a:latin typeface="Courier New"/>
                <a:ea typeface="Courier New"/>
                <a:cs typeface="Courier New"/>
              </a:rPr>
              <a:t>Adam</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model</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parameters</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lr</a:t>
            </a:r>
            <a:r>
              <a:rPr lang="en" sz="1050">
                <a:highlight>
                  <a:srgbClr val="FFFFFF"/>
                </a:highlight>
                <a:latin typeface="Courier New"/>
                <a:ea typeface="Courier New"/>
                <a:cs typeface="Courier New"/>
              </a:rPr>
              <a:t>=</a:t>
            </a:r>
            <a:r>
              <a:rPr lang="en" sz="1050">
                <a:solidFill>
                  <a:srgbClr val="098658"/>
                </a:solidFill>
                <a:highlight>
                  <a:srgbClr val="FFFFFF"/>
                </a:highlight>
                <a:latin typeface="Courier New"/>
                <a:ea typeface="Courier New"/>
                <a:cs typeface="Courier New"/>
              </a:rPr>
              <a:t>1e-3</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6665923" name="Google Shape;509;p81"/>
          <p:cNvSpPr txBox="1"/>
          <p:nvPr>
            <p:ph type="body" idx="1"/>
          </p:nvPr>
        </p:nvSpPr>
        <p:spPr bwMode="auto">
          <a:xfrm>
            <a:off x="1277325" y="4259849"/>
            <a:ext cx="5998799" cy="605099"/>
          </a:xfrm>
          <a:prstGeom prst="rect">
            <a:avLst/>
          </a:prstGeom>
        </p:spPr>
        <p:txBody>
          <a:bodyPr spcFirstLastPara="1" wrap="square" lIns="91423" tIns="45699" rIns="91423" bIns="45699" anchor="ctr" anchorCtr="0">
            <a:normAutofit/>
          </a:bodyPr>
          <a:lstStyle/>
          <a:p>
            <a:pPr marL="0" lvl="0" indent="0" algn="l" rtl="0">
              <a:spcBef>
                <a:spcPts val="279"/>
              </a:spcBef>
              <a:spcAft>
                <a:spcPts val="0"/>
              </a:spcAft>
              <a:buNone/>
              <a:defRPr/>
            </a:pPr>
            <a:r>
              <a:rPr lang="en"/>
              <a:t>One training iteration</a:t>
            </a:r>
            <a:endParaRPr/>
          </a:p>
        </p:txBody>
      </p:sp>
      <p:sp>
        <p:nvSpPr>
          <p:cNvPr id="1880417066" name="Google Shape;510;p81"/>
          <p:cNvSpPr txBox="1"/>
          <p:nvPr>
            <p:ph type="sldNum" idx="12"/>
          </p:nvPr>
        </p:nvSpPr>
        <p:spPr bwMode="auto">
          <a:xfrm>
            <a:off x="8472457" y="4663216"/>
            <a:ext cx="548699" cy="3935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66E1D7DD-F04C-3FE2-5C5D-E421CCC249A5}" type="slidenum">
              <a:rPr lang="en"/>
              <a:t>49</a:t>
            </a:fld>
            <a:endParaRPr/>
          </a:p>
        </p:txBody>
      </p:sp>
      <p:sp>
        <p:nvSpPr>
          <p:cNvPr id="283591832" name="Google Shape;511;p81"/>
          <p:cNvSpPr txBox="1"/>
          <p:nvPr/>
        </p:nvSpPr>
        <p:spPr bwMode="auto">
          <a:xfrm>
            <a:off x="3855124" y="175574"/>
            <a:ext cx="4520700" cy="4329000"/>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just" rtl="0">
              <a:lnSpc>
                <a:spcPct val="114999"/>
              </a:lnSpc>
              <a:spcBef>
                <a:spcPts val="0"/>
              </a:spcBef>
              <a:spcAft>
                <a:spcPts val="0"/>
              </a:spcAft>
              <a:buNone/>
              <a:defRPr/>
            </a:pPr>
            <a:r>
              <a:rPr lang="en" sz="1050">
                <a:solidFill>
                  <a:srgbClr val="0000FF"/>
                </a:solidFill>
                <a:highlight>
                  <a:srgbClr val="FFFFFF"/>
                </a:highlight>
                <a:latin typeface="Courier New"/>
                <a:ea typeface="Courier New"/>
                <a:cs typeface="Courier New"/>
              </a:rPr>
              <a:t>def</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run_epoch</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loader</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training</a:t>
            </a:r>
            <a:r>
              <a:rPr lang="en" sz="1050">
                <a:highlight>
                  <a:srgbClr val="FFFFFF"/>
                </a:highlight>
                <a:latin typeface="Courier New"/>
                <a:ea typeface="Courier New"/>
                <a:cs typeface="Courier New"/>
              </a:rPr>
              <a:t>=</a:t>
            </a:r>
            <a:r>
              <a:rPr lang="en" sz="1050">
                <a:solidFill>
                  <a:srgbClr val="0000FF"/>
                </a:solidFill>
                <a:highlight>
                  <a:srgbClr val="FFFFFF"/>
                </a:highlight>
                <a:latin typeface="Courier New"/>
                <a:ea typeface="Courier New"/>
                <a:cs typeface="Courier New"/>
              </a:rPr>
              <a:t>False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total_loss</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98658"/>
                </a:solidFill>
                <a:highlight>
                  <a:srgbClr val="FFFFFF"/>
                </a:highlight>
                <a:latin typeface="Courier New"/>
                <a:ea typeface="Courier New"/>
                <a:cs typeface="Courier New"/>
              </a:rPr>
              <a:t>0 </a:t>
            </a:r>
            <a:endParaRPr sz="1050">
              <a:solidFill>
                <a:srgbClr val="098658"/>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correct</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98658"/>
                </a:solidFill>
                <a:highlight>
                  <a:srgbClr val="FFFFFF"/>
                </a:highlight>
                <a:latin typeface="Courier New"/>
                <a:ea typeface="Courier New"/>
                <a:cs typeface="Courier New"/>
              </a:rPr>
              <a:t>0 </a:t>
            </a:r>
            <a:endParaRPr sz="1050">
              <a:solidFill>
                <a:srgbClr val="098658"/>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total</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98658"/>
                </a:solidFill>
                <a:highlight>
                  <a:srgbClr val="FFFFFF"/>
                </a:highlight>
                <a:latin typeface="Courier New"/>
                <a:ea typeface="Courier New"/>
                <a:cs typeface="Courier New"/>
              </a:rPr>
              <a:t>0 </a:t>
            </a:r>
            <a:endParaRPr sz="1050">
              <a:solidFill>
                <a:srgbClr val="098658"/>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for</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x</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in</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loader</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x</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x</a:t>
            </a:r>
            <a:r>
              <a:rPr lang="en" sz="1050">
                <a:solidFill>
                  <a:srgbClr val="3B3B3B"/>
                </a:solidFill>
                <a:highlight>
                  <a:srgbClr val="FFFFFF"/>
                </a:highlight>
                <a:latin typeface="Courier New"/>
                <a:ea typeface="Courier New"/>
                <a:cs typeface="Courier New"/>
              </a:rPr>
              <a:t>.to(</a:t>
            </a:r>
            <a:r>
              <a:rPr lang="en" sz="1050">
                <a:solidFill>
                  <a:srgbClr val="001080"/>
                </a:solidFill>
                <a:highlight>
                  <a:srgbClr val="FFFFFF"/>
                </a:highlight>
                <a:latin typeface="Courier New"/>
                <a:ea typeface="Courier New"/>
                <a:cs typeface="Courier New"/>
              </a:rPr>
              <a:t>device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.to(</a:t>
            </a:r>
            <a:r>
              <a:rPr lang="en" sz="1050">
                <a:solidFill>
                  <a:srgbClr val="001080"/>
                </a:solidFill>
                <a:highlight>
                  <a:srgbClr val="FFFFFF"/>
                </a:highlight>
                <a:latin typeface="Courier New"/>
                <a:ea typeface="Courier New"/>
                <a:cs typeface="Courier New"/>
              </a:rPr>
              <a:t>device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logits</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model</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x</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loss</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criterion</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logits</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if</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training</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optimizer</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zero_grad</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loss</a:t>
            </a:r>
            <a:r>
              <a:rPr lang="en" sz="1050">
                <a:solidFill>
                  <a:srgbClr val="3B3B3B"/>
                </a:solidFill>
                <a:highlight>
                  <a:srgbClr val="FFFFFF"/>
                </a:highlight>
                <a:latin typeface="Courier New"/>
                <a:ea typeface="Courier New"/>
                <a:cs typeface="Courier New"/>
              </a:rPr>
              <a:t>.backward()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optimizer</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step</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total_loss</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loss</a:t>
            </a:r>
            <a:r>
              <a:rPr lang="en" sz="1050">
                <a:solidFill>
                  <a:srgbClr val="3B3B3B"/>
                </a:solidFill>
                <a:highlight>
                  <a:srgbClr val="FFFFFF"/>
                </a:highlight>
                <a:latin typeface="Courier New"/>
                <a:ea typeface="Courier New"/>
                <a:cs typeface="Courier New"/>
              </a:rPr>
              <a:t>.item()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len</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preds</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torch</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sigmoid</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logits</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&gt;</a:t>
            </a:r>
            <a:r>
              <a:rPr lang="en" sz="1050">
                <a:solidFill>
                  <a:srgbClr val="3B3B3B"/>
                </a:solidFill>
                <a:highlight>
                  <a:srgbClr val="FFFFFF"/>
                </a:highlight>
                <a:latin typeface="Courier New"/>
                <a:ea typeface="Courier New"/>
                <a:cs typeface="Courier New"/>
              </a:rPr>
              <a:t> </a:t>
            </a:r>
            <a:r>
              <a:rPr lang="en" sz="1050">
                <a:solidFill>
                  <a:srgbClr val="098658"/>
                </a:solidFill>
                <a:highlight>
                  <a:srgbClr val="FFFFFF"/>
                </a:highlight>
                <a:latin typeface="Courier New"/>
                <a:ea typeface="Courier New"/>
                <a:cs typeface="Courier New"/>
              </a:rPr>
              <a:t>.5</a:t>
            </a:r>
            <a:r>
              <a:rPr lang="en" sz="1050">
                <a:solidFill>
                  <a:srgbClr val="3B3B3B"/>
                </a:solidFill>
                <a:highlight>
                  <a:srgbClr val="FFFFFF"/>
                </a:highlight>
                <a:latin typeface="Courier New"/>
                <a:ea typeface="Courier New"/>
                <a:cs typeface="Courier New"/>
              </a:rPr>
              <a:t>).</a:t>
            </a:r>
            <a:r>
              <a:rPr lang="en" sz="1050">
                <a:solidFill>
                  <a:srgbClr val="795E26"/>
                </a:solidFill>
                <a:highlight>
                  <a:srgbClr val="FFFFFF"/>
                </a:highlight>
                <a:latin typeface="Courier New"/>
                <a:ea typeface="Courier New"/>
                <a:cs typeface="Courier New"/>
              </a:rPr>
              <a:t>long</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correct</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preds</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.long()).sum().item()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total</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len</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y</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return</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total_loss</a:t>
            </a:r>
            <a:r>
              <a:rPr lang="en" sz="1050">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total</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correct</a:t>
            </a:r>
            <a:r>
              <a:rPr lang="en" sz="1050">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total </a:t>
            </a:r>
            <a:endParaRPr sz="1050">
              <a:solidFill>
                <a:srgbClr val="001080"/>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endParaRPr sz="1050">
              <a:solidFill>
                <a:srgbClr val="3B3B3B"/>
              </a:solidFill>
              <a:highlight>
                <a:srgbClr val="FFFFFF"/>
              </a:highlight>
              <a:latin typeface="Courier New"/>
              <a:ea typeface="Courier New"/>
              <a:cs typeface="Courier New"/>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5958795" name="Google Shape;516;p82"/>
          <p:cNvSpPr txBox="1"/>
          <p:nvPr>
            <p:ph type="body" idx="1"/>
          </p:nvPr>
        </p:nvSpPr>
        <p:spPr bwMode="auto">
          <a:xfrm>
            <a:off x="1760099" y="4245224"/>
            <a:ext cx="5998799" cy="605099"/>
          </a:xfrm>
          <a:prstGeom prst="rect">
            <a:avLst/>
          </a:prstGeom>
        </p:spPr>
        <p:txBody>
          <a:bodyPr spcFirstLastPara="1" wrap="square" lIns="91423" tIns="45699" rIns="91423" bIns="45699" anchor="ctr" anchorCtr="0">
            <a:normAutofit/>
          </a:bodyPr>
          <a:lstStyle/>
          <a:p>
            <a:pPr marL="0" lvl="0" indent="0" algn="l" rtl="0">
              <a:spcBef>
                <a:spcPts val="279"/>
              </a:spcBef>
              <a:spcAft>
                <a:spcPts val="0"/>
              </a:spcAft>
              <a:buNone/>
              <a:defRPr/>
            </a:pPr>
            <a:r>
              <a:rPr lang="en"/>
              <a:t>A few iterations</a:t>
            </a:r>
            <a:endParaRPr/>
          </a:p>
        </p:txBody>
      </p:sp>
      <p:sp>
        <p:nvSpPr>
          <p:cNvPr id="719311440" name="Google Shape;517;p82"/>
          <p:cNvSpPr txBox="1"/>
          <p:nvPr>
            <p:ph type="sldNum" idx="12"/>
          </p:nvPr>
        </p:nvSpPr>
        <p:spPr bwMode="auto">
          <a:xfrm>
            <a:off x="8472457" y="4663216"/>
            <a:ext cx="548699" cy="3935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None/>
              <a:defRPr/>
            </a:pPr>
            <a:fld id="{9494DB43-F3FC-06C4-D7DA-4BB7C51ECBF6}" type="slidenum">
              <a:rPr lang="en"/>
              <a:t>50</a:t>
            </a:fld>
            <a:endParaRPr/>
          </a:p>
        </p:txBody>
      </p:sp>
      <p:sp>
        <p:nvSpPr>
          <p:cNvPr id="1984252878" name="Google Shape;518;p82"/>
          <p:cNvSpPr txBox="1"/>
          <p:nvPr/>
        </p:nvSpPr>
        <p:spPr bwMode="auto">
          <a:xfrm>
            <a:off x="1203299" y="570600"/>
            <a:ext cx="6737400" cy="1302299"/>
          </a:xfrm>
          <a:prstGeom prst="rect">
            <a:avLst/>
          </a:prstGeom>
          <a:noFill/>
          <a:ln w="9525" cap="flat" cmpd="sng">
            <a:solidFill>
              <a:schemeClr val="dk1"/>
            </a:solidFill>
            <a:prstDash val="solid"/>
            <a:round/>
            <a:headEnd type="none" w="sm" len="sm"/>
            <a:tailEnd type="none" w="sm" len="sm"/>
          </a:ln>
        </p:spPr>
        <p:txBody>
          <a:bodyPr spcFirstLastPara="1" wrap="square" lIns="91423" tIns="91423" rIns="91423" bIns="91423" anchor="t" anchorCtr="0">
            <a:spAutoFit/>
          </a:bodyPr>
          <a:lstStyle/>
          <a:p>
            <a:pPr marL="0" lvl="0" indent="0" algn="just" rtl="0">
              <a:lnSpc>
                <a:spcPct val="114999"/>
              </a:lnSpc>
              <a:spcBef>
                <a:spcPts val="0"/>
              </a:spcBef>
              <a:spcAft>
                <a:spcPts val="0"/>
              </a:spcAft>
              <a:buNone/>
              <a:defRPr/>
            </a:pPr>
            <a:r>
              <a:rPr lang="en" sz="1050">
                <a:solidFill>
                  <a:srgbClr val="AF00DB"/>
                </a:solidFill>
                <a:highlight>
                  <a:srgbClr val="FFFFFF"/>
                </a:highlight>
                <a:latin typeface="Courier New"/>
                <a:ea typeface="Courier New"/>
                <a:cs typeface="Courier New"/>
              </a:rPr>
              <a:t>for</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epoch</a:t>
            </a:r>
            <a:r>
              <a:rPr lang="en" sz="1050">
                <a:solidFill>
                  <a:srgbClr val="3B3B3B"/>
                </a:solidFill>
                <a:highlight>
                  <a:srgbClr val="FFFFFF"/>
                </a:highlight>
                <a:latin typeface="Courier New"/>
                <a:ea typeface="Courier New"/>
                <a:cs typeface="Courier New"/>
              </a:rPr>
              <a:t> </a:t>
            </a:r>
            <a:r>
              <a:rPr lang="en" sz="1050">
                <a:solidFill>
                  <a:srgbClr val="AF00DB"/>
                </a:solidFill>
                <a:highlight>
                  <a:srgbClr val="FFFFFF"/>
                </a:highlight>
                <a:latin typeface="Courier New"/>
                <a:ea typeface="Courier New"/>
                <a:cs typeface="Courier New"/>
              </a:rPr>
              <a:t>in</a:t>
            </a:r>
            <a:r>
              <a:rPr lang="en" sz="1050">
                <a:solidFill>
                  <a:srgbClr val="3B3B3B"/>
                </a:solidFill>
                <a:highlight>
                  <a:srgbClr val="FFFFFF"/>
                </a:highlight>
                <a:latin typeface="Courier New"/>
                <a:ea typeface="Courier New"/>
                <a:cs typeface="Courier New"/>
              </a:rPr>
              <a:t> </a:t>
            </a:r>
            <a:r>
              <a:rPr lang="en" sz="1050">
                <a:solidFill>
                  <a:srgbClr val="267F99"/>
                </a:solidFill>
                <a:highlight>
                  <a:srgbClr val="FFFFFF"/>
                </a:highlight>
                <a:latin typeface="Courier New"/>
                <a:ea typeface="Courier New"/>
                <a:cs typeface="Courier New"/>
              </a:rPr>
              <a:t>range</a:t>
            </a:r>
            <a:r>
              <a:rPr lang="en" sz="1050">
                <a:solidFill>
                  <a:srgbClr val="3B3B3B"/>
                </a:solidFill>
                <a:highlight>
                  <a:srgbClr val="FFFFFF"/>
                </a:highlight>
                <a:latin typeface="Courier New"/>
                <a:ea typeface="Courier New"/>
                <a:cs typeface="Courier New"/>
              </a:rPr>
              <a:t>(</a:t>
            </a:r>
            <a:r>
              <a:rPr lang="en" sz="1050">
                <a:solidFill>
                  <a:srgbClr val="098658"/>
                </a:solidFill>
                <a:highlight>
                  <a:srgbClr val="FFFFFF"/>
                </a:highlight>
                <a:latin typeface="Courier New"/>
                <a:ea typeface="Courier New"/>
                <a:cs typeface="Courier New"/>
              </a:rPr>
              <a:t>10</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train_loss</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train_acc</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run_epoch</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train_loader</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training</a:t>
            </a:r>
            <a:r>
              <a:rPr lang="en" sz="1050">
                <a:highlight>
                  <a:srgbClr val="FFFFFF"/>
                </a:highlight>
                <a:latin typeface="Courier New"/>
                <a:ea typeface="Courier New"/>
                <a:cs typeface="Courier New"/>
              </a:rPr>
              <a:t>=</a:t>
            </a:r>
            <a:r>
              <a:rPr lang="en" sz="1050">
                <a:solidFill>
                  <a:srgbClr val="0000FF"/>
                </a:solidFill>
                <a:highlight>
                  <a:srgbClr val="FFFFFF"/>
                </a:highlight>
                <a:latin typeface="Courier New"/>
                <a:ea typeface="Courier New"/>
                <a:cs typeface="Courier New"/>
              </a:rPr>
              <a:t>True</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val_loss</a:t>
            </a:r>
            <a:r>
              <a:rPr lang="en" sz="1050">
                <a:solidFill>
                  <a:srgbClr val="3B3B3B"/>
                </a:solidFill>
                <a:highlight>
                  <a:srgbClr val="FFFFFF"/>
                </a:highlight>
                <a:latin typeface="Courier New"/>
                <a:ea typeface="Courier New"/>
                <a:cs typeface="Courier New"/>
              </a:rPr>
              <a:t>,   </a:t>
            </a:r>
            <a:r>
              <a:rPr lang="en" sz="1050">
                <a:solidFill>
                  <a:srgbClr val="001080"/>
                </a:solidFill>
                <a:highlight>
                  <a:srgbClr val="FFFFFF"/>
                </a:highlight>
                <a:latin typeface="Courier New"/>
                <a:ea typeface="Courier New"/>
                <a:cs typeface="Courier New"/>
              </a:rPr>
              <a:t>val_acc</a:t>
            </a:r>
            <a:r>
              <a:rPr lang="en" sz="1050">
                <a:solidFill>
                  <a:srgbClr val="3B3B3B"/>
                </a:solidFill>
                <a:highlight>
                  <a:srgbClr val="FFFFFF"/>
                </a:highlight>
                <a:latin typeface="Courier New"/>
                <a:ea typeface="Courier New"/>
                <a:cs typeface="Courier New"/>
              </a:rPr>
              <a:t> </a:t>
            </a:r>
            <a:r>
              <a:rPr lang="en" sz="1050">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run_epoch</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val_loader</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print</a:t>
            </a:r>
            <a:r>
              <a:rPr lang="en" sz="1050">
                <a:solidFill>
                  <a:srgbClr val="3B3B3B"/>
                </a:solidFill>
                <a:highlight>
                  <a:srgbClr val="FFFFFF"/>
                </a:highlight>
                <a:latin typeface="Courier New"/>
                <a:ea typeface="Courier New"/>
                <a:cs typeface="Courier New"/>
              </a:rPr>
              <a:t>(</a:t>
            </a:r>
            <a:r>
              <a:rPr lang="en" sz="1050">
                <a:solidFill>
                  <a:srgbClr val="0000FF"/>
                </a:solidFill>
                <a:highlight>
                  <a:srgbClr val="FFFFFF"/>
                </a:highlight>
                <a:latin typeface="Courier New"/>
                <a:ea typeface="Courier New"/>
                <a:cs typeface="Courier New"/>
              </a:rPr>
              <a:t>f</a:t>
            </a:r>
            <a:r>
              <a:rPr lang="en" sz="1050">
                <a:solidFill>
                  <a:srgbClr val="A31515"/>
                </a:solidFill>
                <a:highlight>
                  <a:srgbClr val="FFFFFF"/>
                </a:highlight>
                <a:latin typeface="Courier New"/>
                <a:ea typeface="Courier New"/>
                <a:cs typeface="Courier New"/>
              </a:rPr>
              <a:t>'E</a:t>
            </a:r>
            <a:r>
              <a:rPr lang="en" sz="1050">
                <a:solidFill>
                  <a:srgbClr val="0000FF"/>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epoch</a:t>
            </a:r>
            <a:r>
              <a:rPr lang="en" sz="1050">
                <a:solidFill>
                  <a:srgbClr val="0000FF"/>
                </a:solidFill>
                <a:highlight>
                  <a:srgbClr val="FFFFFF"/>
                </a:highlight>
                <a:latin typeface="Courier New"/>
                <a:ea typeface="Courier New"/>
                <a:cs typeface="Courier New"/>
              </a:rPr>
              <a:t>:02d}</a:t>
            </a:r>
            <a:r>
              <a:rPr lang="en" sz="1050">
                <a:solidFill>
                  <a:srgbClr val="A31515"/>
                </a:solidFill>
                <a:highlight>
                  <a:srgbClr val="FFFFFF"/>
                </a:highlight>
                <a:latin typeface="Courier New"/>
                <a:ea typeface="Courier New"/>
                <a:cs typeface="Courier New"/>
              </a:rPr>
              <a:t> train_loss=</a:t>
            </a:r>
            <a:r>
              <a:rPr lang="en" sz="1050">
                <a:solidFill>
                  <a:srgbClr val="0000FF"/>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train_loss</a:t>
            </a:r>
            <a:r>
              <a:rPr lang="en" sz="1050">
                <a:solidFill>
                  <a:srgbClr val="0000FF"/>
                </a:solidFill>
                <a:highlight>
                  <a:srgbClr val="FFFFFF"/>
                </a:highlight>
                <a:latin typeface="Courier New"/>
                <a:ea typeface="Courier New"/>
                <a:cs typeface="Courier New"/>
              </a:rPr>
              <a:t>:.4f}</a:t>
            </a:r>
            <a:r>
              <a:rPr lang="en" sz="1050">
                <a:solidFill>
                  <a:srgbClr val="A31515"/>
                </a:solidFill>
                <a:highlight>
                  <a:srgbClr val="FFFFFF"/>
                </a:highlight>
                <a:latin typeface="Courier New"/>
                <a:ea typeface="Courier New"/>
                <a:cs typeface="Courier New"/>
              </a:rPr>
              <a:t> val_acc=</a:t>
            </a:r>
            <a:r>
              <a:rPr lang="en" sz="1050">
                <a:solidFill>
                  <a:srgbClr val="0000FF"/>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val_acc</a:t>
            </a:r>
            <a:r>
              <a:rPr lang="en" sz="1050">
                <a:solidFill>
                  <a:srgbClr val="0000FF"/>
                </a:solidFill>
                <a:highlight>
                  <a:srgbClr val="FFFFFF"/>
                </a:highlight>
                <a:latin typeface="Courier New"/>
                <a:ea typeface="Courier New"/>
                <a:cs typeface="Courier New"/>
              </a:rPr>
              <a:t>:.4f}</a:t>
            </a:r>
            <a:r>
              <a:rPr lang="en" sz="1050">
                <a:solidFill>
                  <a:srgbClr val="A31515"/>
                </a:solidFill>
                <a:highlight>
                  <a:srgbClr val="FFFFFF"/>
                </a:highlight>
                <a:latin typeface="Courier New"/>
                <a:ea typeface="Courier New"/>
                <a:cs typeface="Courier New"/>
              </a:rPr>
              <a:t>'</a:t>
            </a:r>
            <a:r>
              <a:rPr lang="en" sz="1050">
                <a:solidFill>
                  <a:srgbClr val="3B3B3B"/>
                </a:solidFill>
                <a:highlight>
                  <a:srgbClr val="FFFFFF"/>
                </a:highlight>
                <a:latin typeface="Courier New"/>
                <a:ea typeface="Courier New"/>
                <a:cs typeface="Courier New"/>
              </a:rPr>
              <a:t>) </a:t>
            </a:r>
            <a:endParaRPr sz="1050">
              <a:solidFill>
                <a:srgbClr val="3B3B3B"/>
              </a:solidFill>
              <a:highlight>
                <a:srgbClr val="FFFFFF"/>
              </a:highlight>
              <a:latin typeface="Courier New"/>
              <a:ea typeface="Courier New"/>
              <a:cs typeface="Courier New"/>
            </a:endParaRPr>
          </a:p>
          <a:p>
            <a:pPr marL="0" lvl="0" indent="0" algn="just" rtl="0">
              <a:lnSpc>
                <a:spcPct val="114999"/>
              </a:lnSpc>
              <a:spcBef>
                <a:spcPts val="0"/>
              </a:spcBef>
              <a:spcAft>
                <a:spcPts val="0"/>
              </a:spcAft>
              <a:buNone/>
              <a:defRPr/>
            </a:pPr>
            <a:r>
              <a:rPr lang="en" sz="1200">
                <a:highlight>
                  <a:srgbClr val="FFFFFF"/>
                </a:highlight>
              </a:rPr>
              <a:t> </a:t>
            </a:r>
            <a:endParaRPr sz="1200">
              <a:highlight>
                <a:srgbClr val="FFFFFF"/>
              </a:highlight>
            </a:endParaRPr>
          </a:p>
          <a:p>
            <a:pPr marL="0" lvl="0" indent="0" algn="just" rtl="0">
              <a:lnSpc>
                <a:spcPct val="114999"/>
              </a:lnSpc>
              <a:spcBef>
                <a:spcPts val="0"/>
              </a:spcBef>
              <a:spcAft>
                <a:spcPts val="0"/>
              </a:spcAft>
              <a:buNone/>
              <a:defRPr/>
            </a:pPr>
            <a:r>
              <a:rPr lang="en" sz="1050">
                <a:solidFill>
                  <a:srgbClr val="795E26"/>
                </a:solidFill>
                <a:highlight>
                  <a:srgbClr val="FFFFFF"/>
                </a:highlight>
                <a:latin typeface="Courier New"/>
                <a:ea typeface="Courier New"/>
                <a:cs typeface="Courier New"/>
              </a:rPr>
              <a:t>print</a:t>
            </a:r>
            <a:r>
              <a:rPr lang="en" sz="1050">
                <a:solidFill>
                  <a:srgbClr val="3B3B3B"/>
                </a:solidFill>
                <a:highlight>
                  <a:srgbClr val="FFFFFF"/>
                </a:highlight>
                <a:latin typeface="Courier New"/>
                <a:ea typeface="Courier New"/>
                <a:cs typeface="Courier New"/>
              </a:rPr>
              <a:t>(</a:t>
            </a:r>
            <a:r>
              <a:rPr lang="en" sz="1050">
                <a:solidFill>
                  <a:srgbClr val="A31515"/>
                </a:solidFill>
                <a:highlight>
                  <a:srgbClr val="FFFFFF"/>
                </a:highlight>
                <a:latin typeface="Courier New"/>
                <a:ea typeface="Courier New"/>
                <a:cs typeface="Courier New"/>
              </a:rPr>
              <a:t>"Final test accuracy:"</a:t>
            </a:r>
            <a:r>
              <a:rPr lang="en" sz="1050">
                <a:solidFill>
                  <a:srgbClr val="3B3B3B"/>
                </a:solidFill>
                <a:highlight>
                  <a:srgbClr val="FFFFFF"/>
                </a:highlight>
                <a:latin typeface="Courier New"/>
                <a:ea typeface="Courier New"/>
                <a:cs typeface="Courier New"/>
              </a:rPr>
              <a:t>, </a:t>
            </a:r>
            <a:r>
              <a:rPr lang="en" sz="1050">
                <a:solidFill>
                  <a:srgbClr val="795E26"/>
                </a:solidFill>
                <a:highlight>
                  <a:srgbClr val="FFFFFF"/>
                </a:highlight>
                <a:latin typeface="Courier New"/>
                <a:ea typeface="Courier New"/>
                <a:cs typeface="Courier New"/>
              </a:rPr>
              <a:t>run_epoch</a:t>
            </a:r>
            <a:r>
              <a:rPr lang="en" sz="1050">
                <a:solidFill>
                  <a:srgbClr val="3B3B3B"/>
                </a:solidFill>
                <a:highlight>
                  <a:srgbClr val="FFFFFF"/>
                </a:highlight>
                <a:latin typeface="Courier New"/>
                <a:ea typeface="Courier New"/>
                <a:cs typeface="Courier New"/>
              </a:rPr>
              <a:t>(</a:t>
            </a:r>
            <a:r>
              <a:rPr lang="en" sz="1050">
                <a:solidFill>
                  <a:srgbClr val="001080"/>
                </a:solidFill>
                <a:highlight>
                  <a:srgbClr val="FFFFFF"/>
                </a:highlight>
                <a:latin typeface="Courier New"/>
                <a:ea typeface="Courier New"/>
                <a:cs typeface="Courier New"/>
              </a:rPr>
              <a:t>test_loader</a:t>
            </a:r>
            <a:r>
              <a:rPr lang="en" sz="1050">
                <a:solidFill>
                  <a:srgbClr val="3B3B3B"/>
                </a:solidFill>
                <a:highlight>
                  <a:srgbClr val="FFFFFF"/>
                </a:highlight>
                <a:latin typeface="Courier New"/>
                <a:ea typeface="Courier New"/>
                <a:cs typeface="Courier New"/>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1212015" name="Google Shape;523;p83"/>
          <p:cNvSpPr txBox="1"/>
          <p:nvPr>
            <p:ph type="body" idx="1"/>
          </p:nvPr>
        </p:nvSpPr>
        <p:spPr bwMode="auto">
          <a:xfrm>
            <a:off x="260224" y="1244723"/>
            <a:ext cx="3238200" cy="3013799"/>
          </a:xfrm>
          <a:prstGeom prst="rect">
            <a:avLst/>
          </a:prstGeom>
        </p:spPr>
        <p:txBody>
          <a:bodyPr spcFirstLastPara="1" wrap="square" lIns="91423" tIns="45699" rIns="91423" bIns="45699" anchor="t" anchorCtr="0">
            <a:normAutofit/>
          </a:bodyPr>
          <a:lstStyle/>
          <a:p>
            <a:pPr marL="0" lvl="0" indent="0" algn="l" rtl="0">
              <a:spcBef>
                <a:spcPts val="359"/>
              </a:spcBef>
              <a:spcAft>
                <a:spcPts val="0"/>
              </a:spcAft>
              <a:buNone/>
              <a:defRPr/>
            </a:pPr>
            <a:r>
              <a:rPr lang="en"/>
              <a:t>Suppose these data points are all we have, and we want to use them to access the algorithm’s performance on new unseen data</a:t>
            </a:r>
            <a:endParaRPr/>
          </a:p>
        </p:txBody>
      </p:sp>
      <p:sp>
        <p:nvSpPr>
          <p:cNvPr id="1201053507" name="Google Shape;524;p83"/>
          <p:cNvSpPr txBox="1"/>
          <p:nvPr>
            <p:ph type="sldNum" idx="12"/>
          </p:nvPr>
        </p:nvSpPr>
        <p:spPr bwMode="auto">
          <a:xfrm>
            <a:off x="6657975" y="4745734"/>
            <a:ext cx="2133599" cy="2738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Clr>
                <a:srgbClr val="000000"/>
              </a:buClr>
              <a:buFont typeface="Arial"/>
              <a:buNone/>
              <a:defRPr/>
            </a:pPr>
            <a:fld id="{39BFFAB7-9341-3323-5CBA-B41D180542B1}" type="slidenum">
              <a:rPr lang="en"/>
              <a:t>51</a:t>
            </a:fld>
            <a:endParaRPr/>
          </a:p>
        </p:txBody>
      </p:sp>
      <p:sp>
        <p:nvSpPr>
          <p:cNvPr id="2146498693" name="Google Shape;525;p83"/>
          <p:cNvSpPr txBox="1"/>
          <p:nvPr>
            <p:ph type="title"/>
          </p:nvPr>
        </p:nvSpPr>
        <p:spPr bwMode="auto">
          <a:xfrm>
            <a:off x="260226" y="344598"/>
            <a:ext cx="8531399" cy="823500"/>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Training, Validation and Test</a:t>
            </a:r>
            <a:endParaRPr/>
          </a:p>
        </p:txBody>
      </p:sp>
      <p:pic>
        <p:nvPicPr>
          <p:cNvPr id="494662272" name="Google Shape;526;p83"/>
          <p:cNvPicPr/>
          <p:nvPr/>
        </p:nvPicPr>
        <p:blipFill rotWithShape="1">
          <a:blip r:embed="rId3">
            <a:alphaModFix/>
          </a:blip>
          <a:stretch/>
        </p:blipFill>
        <p:spPr bwMode="auto">
          <a:xfrm>
            <a:off x="3650824" y="1320499"/>
            <a:ext cx="4427952" cy="327283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0238366" name="Google Shape;531;p84"/>
          <p:cNvSpPr txBox="1"/>
          <p:nvPr>
            <p:ph type="title"/>
          </p:nvPr>
        </p:nvSpPr>
        <p:spPr bwMode="auto">
          <a:xfrm>
            <a:off x="260226" y="344598"/>
            <a:ext cx="8531399" cy="823500"/>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Training, Validation and Test</a:t>
            </a:r>
            <a:endParaRPr/>
          </a:p>
        </p:txBody>
      </p:sp>
      <p:sp>
        <p:nvSpPr>
          <p:cNvPr id="289607947" name="Google Shape;532;p84"/>
          <p:cNvSpPr txBox="1"/>
          <p:nvPr>
            <p:ph type="body" idx="1"/>
          </p:nvPr>
        </p:nvSpPr>
        <p:spPr bwMode="auto">
          <a:xfrm>
            <a:off x="260224" y="1244723"/>
            <a:ext cx="8531399" cy="3013799"/>
          </a:xfrm>
          <a:prstGeom prst="rect">
            <a:avLst/>
          </a:prstGeom>
        </p:spPr>
        <p:txBody>
          <a:bodyPr spcFirstLastPara="1" wrap="square" lIns="91423" tIns="45699" rIns="91423" bIns="45699" anchor="t" anchorCtr="0">
            <a:normAutofit/>
          </a:bodyPr>
          <a:lstStyle/>
          <a:p>
            <a:pPr marL="0" lvl="0" indent="0" algn="l" rtl="0">
              <a:spcBef>
                <a:spcPts val="359"/>
              </a:spcBef>
              <a:spcAft>
                <a:spcPts val="0"/>
              </a:spcAft>
              <a:buNone/>
              <a:defRPr/>
            </a:pPr>
            <a:endParaRPr/>
          </a:p>
        </p:txBody>
      </p:sp>
      <p:sp>
        <p:nvSpPr>
          <p:cNvPr id="1317237835" name="Google Shape;533;p84"/>
          <p:cNvSpPr txBox="1"/>
          <p:nvPr>
            <p:ph type="sldNum" idx="12"/>
          </p:nvPr>
        </p:nvSpPr>
        <p:spPr bwMode="auto">
          <a:xfrm>
            <a:off x="6657975" y="4745734"/>
            <a:ext cx="2133599" cy="2738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Clr>
                <a:srgbClr val="000000"/>
              </a:buClr>
              <a:buFont typeface="Arial"/>
              <a:buNone/>
              <a:defRPr/>
            </a:pPr>
            <a:fld id="{C19F75FB-2E3D-D9B8-FD0A-B84E9FF11B61}" type="slidenum">
              <a:rPr lang="en"/>
              <a:t>52</a:t>
            </a:fld>
            <a:endParaRPr/>
          </a:p>
        </p:txBody>
      </p:sp>
      <p:pic>
        <p:nvPicPr>
          <p:cNvPr id="1344430071" name="Google Shape;534;p84"/>
          <p:cNvPicPr/>
          <p:nvPr/>
        </p:nvPicPr>
        <p:blipFill rotWithShape="1">
          <a:blip r:embed="rId3">
            <a:alphaModFix/>
          </a:blip>
          <a:stretch/>
        </p:blipFill>
        <p:spPr bwMode="auto">
          <a:xfrm>
            <a:off x="1937715" y="1244723"/>
            <a:ext cx="5176423" cy="317712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2541594" name="Google Shape;539;p85"/>
          <p:cNvSpPr txBox="1"/>
          <p:nvPr>
            <p:ph type="title"/>
          </p:nvPr>
        </p:nvSpPr>
        <p:spPr bwMode="auto">
          <a:xfrm>
            <a:off x="260226" y="344598"/>
            <a:ext cx="8531399" cy="823500"/>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Training, Validation and Test</a:t>
            </a:r>
            <a:endParaRPr/>
          </a:p>
        </p:txBody>
      </p:sp>
      <p:sp>
        <p:nvSpPr>
          <p:cNvPr id="132306146" name="Google Shape;540;p85"/>
          <p:cNvSpPr txBox="1"/>
          <p:nvPr>
            <p:ph type="body" idx="1"/>
          </p:nvPr>
        </p:nvSpPr>
        <p:spPr bwMode="auto">
          <a:xfrm>
            <a:off x="260224" y="1244723"/>
            <a:ext cx="8531399" cy="3013799"/>
          </a:xfrm>
          <a:prstGeom prst="rect">
            <a:avLst/>
          </a:prstGeom>
        </p:spPr>
        <p:txBody>
          <a:bodyPr spcFirstLastPara="1" wrap="square" lIns="91423" tIns="45699" rIns="91423" bIns="45699" anchor="t" anchorCtr="0">
            <a:normAutofit/>
          </a:bodyPr>
          <a:lstStyle/>
          <a:p>
            <a:pPr marL="0" lvl="0" indent="0" algn="l" rtl="0">
              <a:spcBef>
                <a:spcPts val="359"/>
              </a:spcBef>
              <a:spcAft>
                <a:spcPts val="0"/>
              </a:spcAft>
              <a:buNone/>
              <a:defRPr/>
            </a:pPr>
            <a:endParaRPr/>
          </a:p>
        </p:txBody>
      </p:sp>
      <p:sp>
        <p:nvSpPr>
          <p:cNvPr id="62519918" name="Google Shape;541;p85"/>
          <p:cNvSpPr txBox="1"/>
          <p:nvPr>
            <p:ph type="sldNum" idx="12"/>
          </p:nvPr>
        </p:nvSpPr>
        <p:spPr bwMode="auto">
          <a:xfrm>
            <a:off x="6657975" y="4745734"/>
            <a:ext cx="2133599" cy="2738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Clr>
                <a:srgbClr val="000000"/>
              </a:buClr>
              <a:buFont typeface="Arial"/>
              <a:buNone/>
              <a:defRPr/>
            </a:pPr>
            <a:fld id="{F37E1E4D-FE8A-15B3-7ECF-88E5902851B6}" type="slidenum">
              <a:rPr lang="en"/>
              <a:t>53</a:t>
            </a:fld>
            <a:endParaRPr/>
          </a:p>
        </p:txBody>
      </p:sp>
      <p:pic>
        <p:nvPicPr>
          <p:cNvPr id="666726401" name="Google Shape;542;p85"/>
          <p:cNvPicPr/>
          <p:nvPr/>
        </p:nvPicPr>
        <p:blipFill rotWithShape="1">
          <a:blip r:embed="rId3">
            <a:alphaModFix/>
          </a:blip>
          <a:stretch/>
        </p:blipFill>
        <p:spPr bwMode="auto">
          <a:xfrm>
            <a:off x="1956537" y="1174599"/>
            <a:ext cx="5138785" cy="31540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1368920" name="Google Shape;547;p86"/>
          <p:cNvSpPr txBox="1"/>
          <p:nvPr>
            <p:ph type="title"/>
          </p:nvPr>
        </p:nvSpPr>
        <p:spPr bwMode="auto">
          <a:xfrm>
            <a:off x="260226" y="344598"/>
            <a:ext cx="8531399" cy="823500"/>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Training, Validation and Test</a:t>
            </a:r>
            <a:endParaRPr/>
          </a:p>
        </p:txBody>
      </p:sp>
      <p:sp>
        <p:nvSpPr>
          <p:cNvPr id="1395799293" name="Google Shape;548;p86"/>
          <p:cNvSpPr txBox="1"/>
          <p:nvPr>
            <p:ph type="body" idx="1"/>
          </p:nvPr>
        </p:nvSpPr>
        <p:spPr bwMode="auto">
          <a:xfrm>
            <a:off x="260224" y="1244723"/>
            <a:ext cx="8531399" cy="3013799"/>
          </a:xfrm>
          <a:prstGeom prst="rect">
            <a:avLst/>
          </a:prstGeom>
        </p:spPr>
        <p:txBody>
          <a:bodyPr spcFirstLastPara="1" wrap="square" lIns="91423" tIns="45699" rIns="91423" bIns="45699" anchor="t" anchorCtr="0">
            <a:normAutofit/>
          </a:bodyPr>
          <a:lstStyle/>
          <a:p>
            <a:pPr marL="0" lvl="0" indent="0" algn="l" rtl="0">
              <a:spcBef>
                <a:spcPts val="359"/>
              </a:spcBef>
              <a:spcAft>
                <a:spcPts val="0"/>
              </a:spcAft>
              <a:buNone/>
              <a:defRPr/>
            </a:pPr>
            <a:endParaRPr/>
          </a:p>
        </p:txBody>
      </p:sp>
      <p:sp>
        <p:nvSpPr>
          <p:cNvPr id="558943589" name="Google Shape;549;p86"/>
          <p:cNvSpPr txBox="1"/>
          <p:nvPr>
            <p:ph type="sldNum" idx="12"/>
          </p:nvPr>
        </p:nvSpPr>
        <p:spPr bwMode="auto">
          <a:xfrm>
            <a:off x="6657975" y="4745734"/>
            <a:ext cx="2133599" cy="2738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Clr>
                <a:srgbClr val="000000"/>
              </a:buClr>
              <a:buFont typeface="Arial"/>
              <a:buNone/>
              <a:defRPr/>
            </a:pPr>
            <a:fld id="{ACB00282-841A-4C39-9B20-AED6B142008A}" type="slidenum">
              <a:rPr lang="en"/>
              <a:t>54</a:t>
            </a:fld>
            <a:endParaRPr/>
          </a:p>
        </p:txBody>
      </p:sp>
      <p:pic>
        <p:nvPicPr>
          <p:cNvPr id="1332951651" name="Google Shape;550;p86"/>
          <p:cNvPicPr/>
          <p:nvPr/>
        </p:nvPicPr>
        <p:blipFill rotWithShape="1">
          <a:blip r:embed="rId3">
            <a:alphaModFix/>
          </a:blip>
          <a:stretch/>
        </p:blipFill>
        <p:spPr bwMode="auto">
          <a:xfrm>
            <a:off x="2008188" y="1119663"/>
            <a:ext cx="5035474" cy="326392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0031493" name="Google Shape;555;p87"/>
          <p:cNvSpPr txBox="1"/>
          <p:nvPr>
            <p:ph type="title"/>
          </p:nvPr>
        </p:nvSpPr>
        <p:spPr bwMode="auto">
          <a:xfrm>
            <a:off x="260226" y="344598"/>
            <a:ext cx="8531399" cy="823500"/>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Training, Validation and Test</a:t>
            </a:r>
            <a:endParaRPr/>
          </a:p>
        </p:txBody>
      </p:sp>
      <p:sp>
        <p:nvSpPr>
          <p:cNvPr id="1274519000" name="Google Shape;556;p87"/>
          <p:cNvSpPr txBox="1"/>
          <p:nvPr>
            <p:ph type="body" idx="1"/>
          </p:nvPr>
        </p:nvSpPr>
        <p:spPr bwMode="auto">
          <a:xfrm>
            <a:off x="260224" y="2847048"/>
            <a:ext cx="8531399" cy="1411499"/>
          </a:xfrm>
          <a:prstGeom prst="rect">
            <a:avLst/>
          </a:prstGeom>
        </p:spPr>
        <p:txBody>
          <a:bodyPr spcFirstLastPara="1" wrap="square" lIns="91423" tIns="45699" rIns="91423" bIns="45699" anchor="t" anchorCtr="0">
            <a:normAutofit/>
          </a:bodyPr>
          <a:lstStyle/>
          <a:p>
            <a:pPr marL="0" lvl="0" indent="0" algn="l" rtl="0">
              <a:spcBef>
                <a:spcPts val="359"/>
              </a:spcBef>
              <a:spcAft>
                <a:spcPts val="0"/>
              </a:spcAft>
              <a:buNone/>
              <a:defRPr/>
            </a:pPr>
            <a:r>
              <a:rPr lang="en"/>
              <a:t>N-fold Cross-validation</a:t>
            </a:r>
            <a:endParaRPr/>
          </a:p>
          <a:p>
            <a:pPr marL="457200" lvl="0" indent="-342900" algn="l" rtl="0">
              <a:spcBef>
                <a:spcPts val="359"/>
              </a:spcBef>
              <a:spcAft>
                <a:spcPts val="0"/>
              </a:spcAft>
              <a:buSzPts val="1800"/>
              <a:buChar char="➢"/>
              <a:defRPr/>
            </a:pPr>
            <a:r>
              <a:rPr lang="en"/>
              <a:t>When N=m (training sample size), then it is called a leave-one-out validation.</a:t>
            </a:r>
            <a:endParaRPr/>
          </a:p>
        </p:txBody>
      </p:sp>
      <p:sp>
        <p:nvSpPr>
          <p:cNvPr id="506949951" name="Google Shape;557;p87"/>
          <p:cNvSpPr txBox="1"/>
          <p:nvPr>
            <p:ph type="sldNum" idx="12"/>
          </p:nvPr>
        </p:nvSpPr>
        <p:spPr bwMode="auto">
          <a:xfrm>
            <a:off x="6657975" y="4745734"/>
            <a:ext cx="2133599" cy="2738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Clr>
                <a:srgbClr val="000000"/>
              </a:buClr>
              <a:buFont typeface="Arial"/>
              <a:buNone/>
              <a:defRPr/>
            </a:pPr>
            <a:fld id="{5F11FC60-7EA2-4393-43B5-842411FC327A}" type="slidenum">
              <a:rPr lang="en"/>
              <a:t>55</a:t>
            </a:fld>
            <a:endParaRPr/>
          </a:p>
        </p:txBody>
      </p:sp>
      <p:pic>
        <p:nvPicPr>
          <p:cNvPr id="748291253" name="Google Shape;558;p87"/>
          <p:cNvPicPr/>
          <p:nvPr/>
        </p:nvPicPr>
        <p:blipFill rotWithShape="1">
          <a:blip r:embed="rId3">
            <a:alphaModFix/>
          </a:blip>
          <a:stretch/>
        </p:blipFill>
        <p:spPr bwMode="auto">
          <a:xfrm>
            <a:off x="1499937" y="1112596"/>
            <a:ext cx="6144124" cy="162704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724563" name="Google Shape;563;p88"/>
          <p:cNvSpPr txBox="1"/>
          <p:nvPr>
            <p:ph type="title"/>
          </p:nvPr>
        </p:nvSpPr>
        <p:spPr bwMode="auto">
          <a:xfrm>
            <a:off x="260226" y="344598"/>
            <a:ext cx="8531399" cy="823500"/>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Evaluation Metrics - Classification</a:t>
            </a:r>
            <a:endParaRPr/>
          </a:p>
        </p:txBody>
      </p:sp>
      <p:sp>
        <p:nvSpPr>
          <p:cNvPr id="1887049483" name="Google Shape;564;p88"/>
          <p:cNvSpPr txBox="1"/>
          <p:nvPr>
            <p:ph type="body" idx="1"/>
          </p:nvPr>
        </p:nvSpPr>
        <p:spPr bwMode="auto">
          <a:xfrm>
            <a:off x="260224" y="1244723"/>
            <a:ext cx="8531399" cy="3013799"/>
          </a:xfrm>
          <a:prstGeom prst="rect">
            <a:avLst/>
          </a:prstGeom>
        </p:spPr>
        <p:txBody>
          <a:bodyPr spcFirstLastPara="1" wrap="square" lIns="91423" tIns="45699" rIns="91423" bIns="45699" anchor="t" anchorCtr="0">
            <a:normAutofit/>
          </a:bodyPr>
          <a:lstStyle/>
          <a:p>
            <a:pPr marL="0" lvl="0" indent="0" algn="l" rtl="0">
              <a:spcBef>
                <a:spcPts val="359"/>
              </a:spcBef>
              <a:spcAft>
                <a:spcPts val="0"/>
              </a:spcAft>
              <a:buNone/>
              <a:defRPr/>
            </a:pPr>
            <a:endParaRPr/>
          </a:p>
        </p:txBody>
      </p:sp>
      <p:sp>
        <p:nvSpPr>
          <p:cNvPr id="711319704" name="Google Shape;565;p88"/>
          <p:cNvSpPr txBox="1"/>
          <p:nvPr>
            <p:ph type="sldNum" idx="12"/>
          </p:nvPr>
        </p:nvSpPr>
        <p:spPr bwMode="auto">
          <a:xfrm>
            <a:off x="6657975" y="4745734"/>
            <a:ext cx="2133599" cy="273899"/>
          </a:xfrm>
          <a:prstGeom prst="rect">
            <a:avLst/>
          </a:prstGeom>
        </p:spPr>
        <p:txBody>
          <a:bodyPr spcFirstLastPara="1" wrap="square" lIns="91423" tIns="45699" rIns="91423" bIns="45699" anchor="ctr" anchorCtr="0">
            <a:noAutofit/>
          </a:bodyPr>
          <a:lstStyle/>
          <a:p>
            <a:pPr marL="0" lvl="0" indent="0" algn="r" rtl="0">
              <a:spcBef>
                <a:spcPts val="0"/>
              </a:spcBef>
              <a:spcAft>
                <a:spcPts val="0"/>
              </a:spcAft>
              <a:buClr>
                <a:srgbClr val="000000"/>
              </a:buClr>
              <a:buFont typeface="Arial"/>
              <a:buNone/>
              <a:defRPr/>
            </a:pPr>
            <a:fld id="{34EACD4C-C963-C8F1-115F-AE18BC6D568F}" type="slidenum">
              <a:rPr lang="en"/>
              <a:t>56</a:t>
            </a:fld>
            <a:endParaRPr/>
          </a:p>
        </p:txBody>
      </p:sp>
      <p:pic>
        <p:nvPicPr>
          <p:cNvPr id="1212472004" name="Google Shape;566;p88"/>
          <p:cNvPicPr/>
          <p:nvPr/>
        </p:nvPicPr>
        <p:blipFill rotWithShape="1">
          <a:blip r:embed="rId3">
            <a:alphaModFix/>
          </a:blip>
          <a:stretch/>
        </p:blipFill>
        <p:spPr bwMode="auto">
          <a:xfrm>
            <a:off x="4906149" y="1413024"/>
            <a:ext cx="3317749" cy="2581774"/>
          </a:xfrm>
          <a:prstGeom prst="rect">
            <a:avLst/>
          </a:prstGeom>
          <a:noFill/>
          <a:ln>
            <a:noFill/>
          </a:ln>
        </p:spPr>
      </p:pic>
      <p:pic>
        <p:nvPicPr>
          <p:cNvPr id="97425853" name="Google Shape;567;p88"/>
          <p:cNvPicPr/>
          <p:nvPr/>
        </p:nvPicPr>
        <p:blipFill rotWithShape="1">
          <a:blip r:embed="rId4">
            <a:alphaModFix/>
          </a:blip>
          <a:stretch/>
        </p:blipFill>
        <p:spPr bwMode="auto">
          <a:xfrm>
            <a:off x="642949" y="1345424"/>
            <a:ext cx="3243649" cy="271697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9087390" name="Google Shape;628;p63"/>
          <p:cNvSpPr txBox="1"/>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Improving the model</a:t>
            </a:r>
            <a:endParaRPr/>
          </a:p>
        </p:txBody>
      </p:sp>
      <p:sp>
        <p:nvSpPr>
          <p:cNvPr id="961288563" name="Google Shape;629;p63"/>
          <p:cNvSpPr txBox="1"/>
          <p:nvPr>
            <p:ph type="subTitle" idx="1"/>
          </p:nvPr>
        </p:nvSpPr>
        <p:spPr bwMode="auto">
          <a:xfrm>
            <a:off x="253128" y="2456199"/>
            <a:ext cx="6400800" cy="1314600"/>
          </a:xfrm>
          <a:prstGeom prst="rect">
            <a:avLst/>
          </a:prstGeom>
        </p:spPr>
        <p:txBody>
          <a:bodyPr spcFirstLastPara="1" wrap="square" lIns="91425" tIns="45700" rIns="91425" bIns="45700" anchor="t" anchorCtr="0">
            <a:normAutofit/>
          </a:bodyPr>
          <a:lstStyle/>
          <a:p>
            <a:pPr marL="0" lvl="0" indent="0" algn="l" rtl="0">
              <a:spcBef>
                <a:spcPts val="400"/>
              </a:spcBef>
              <a:spcAft>
                <a:spcPts val="0"/>
              </a:spcAft>
              <a:buNone/>
              <a:defRPr/>
            </a:pPr>
            <a:endParaRPr/>
          </a:p>
        </p:txBody>
      </p:sp>
      <p:sp>
        <p:nvSpPr>
          <p:cNvPr id="293056801" name="Google Shape;630;p63"/>
          <p:cNvSpPr txBox="1"/>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31788442" name="Google Shape;635;p64"/>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Error analysis</a:t>
            </a:r>
            <a:endParaRPr/>
          </a:p>
        </p:txBody>
      </p:sp>
      <p:sp>
        <p:nvSpPr>
          <p:cNvPr id="1734506450" name="Google Shape;636;p64"/>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endParaRPr/>
          </a:p>
        </p:txBody>
      </p:sp>
      <p:sp>
        <p:nvSpPr>
          <p:cNvPr id="1011329012" name="Google Shape;637;p64"/>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
        <p:nvSpPr>
          <p:cNvPr id="1719393057" name="Google Shape;638;p64"/>
          <p:cNvSpPr txBox="1"/>
          <p:nvPr/>
        </p:nvSpPr>
        <p:spPr bwMode="auto">
          <a:xfrm>
            <a:off x="618600" y="2203525"/>
            <a:ext cx="7906800" cy="2055000"/>
          </a:xfrm>
          <a:prstGeom prst="rect">
            <a:avLst/>
          </a:prstGeom>
          <a:noFill/>
          <a:ln>
            <a:noFill/>
          </a:ln>
        </p:spPr>
        <p:txBody>
          <a:bodyPr spcFirstLastPara="1" wrap="square" lIns="91425" tIns="91425" rIns="91425" bIns="91425" anchor="t" anchorCtr="0">
            <a:spAutoFit/>
          </a:bodyPr>
          <a:lstStyle/>
          <a:p>
            <a:pPr marL="457200" lvl="0" indent="-314325" algn="l" rtl="0">
              <a:spcBef>
                <a:spcPts val="0"/>
              </a:spcBef>
              <a:spcAft>
                <a:spcPts val="0"/>
              </a:spcAft>
              <a:buClr>
                <a:srgbClr val="3B3B3B"/>
              </a:buClr>
              <a:buSzPts val="1350"/>
              <a:buFont typeface="Courier New"/>
              <a:buChar char="❏"/>
              <a:defRPr/>
            </a:pPr>
            <a:r>
              <a:rPr lang="en" sz="1350">
                <a:solidFill>
                  <a:srgbClr val="3B3B3B"/>
                </a:solidFill>
                <a:latin typeface="Courier New"/>
                <a:ea typeface="Courier New"/>
                <a:cs typeface="Courier New"/>
              </a:rPr>
              <a:t>Top spam tokens : ['free', 'txt', 'reply', 'stop', 'claim', 'mobile', 'www', 'uk', 'service', 'won', '50', 'text', '150p', 'prize', 'win', 'new', 'com', '18', 'cash', 'landline']</a:t>
            </a:r>
            <a:endParaRPr sz="1350">
              <a:solidFill>
                <a:srgbClr val="3B3B3B"/>
              </a:solidFill>
              <a:latin typeface="Courier New"/>
              <a:ea typeface="Courier New"/>
              <a:cs typeface="Courier New"/>
            </a:endParaRPr>
          </a:p>
          <a:p>
            <a:pPr marL="0" lvl="0" indent="0" algn="l" rtl="0">
              <a:spcBef>
                <a:spcPts val="0"/>
              </a:spcBef>
              <a:spcAft>
                <a:spcPts val="0"/>
              </a:spcAft>
              <a:buNone/>
              <a:defRPr/>
            </a:pPr>
            <a:endParaRPr sz="1350">
              <a:solidFill>
                <a:srgbClr val="3B3B3B"/>
              </a:solidFill>
              <a:latin typeface="Courier New"/>
              <a:ea typeface="Courier New"/>
              <a:cs typeface="Courier New"/>
            </a:endParaRPr>
          </a:p>
          <a:p>
            <a:pPr marL="0" lvl="0" indent="0" algn="l" rtl="0">
              <a:spcBef>
                <a:spcPts val="0"/>
              </a:spcBef>
              <a:spcAft>
                <a:spcPts val="0"/>
              </a:spcAft>
              <a:buNone/>
              <a:defRPr/>
            </a:pPr>
            <a:endParaRPr sz="1350">
              <a:solidFill>
                <a:srgbClr val="3B3B3B"/>
              </a:solidFill>
              <a:latin typeface="Courier New"/>
              <a:ea typeface="Courier New"/>
              <a:cs typeface="Courier New"/>
            </a:endParaRPr>
          </a:p>
          <a:p>
            <a:pPr marL="0" lvl="0" indent="0" algn="l" rtl="0">
              <a:spcBef>
                <a:spcPts val="0"/>
              </a:spcBef>
              <a:spcAft>
                <a:spcPts val="0"/>
              </a:spcAft>
              <a:buNone/>
              <a:defRPr/>
            </a:pPr>
            <a:endParaRPr sz="1350">
              <a:solidFill>
                <a:srgbClr val="3B3B3B"/>
              </a:solidFill>
              <a:latin typeface="Courier New"/>
              <a:ea typeface="Courier New"/>
              <a:cs typeface="Courier New"/>
            </a:endParaRPr>
          </a:p>
          <a:p>
            <a:pPr marL="457200" lvl="0" indent="-314325" algn="l" rtl="0">
              <a:spcBef>
                <a:spcPts val="0"/>
              </a:spcBef>
              <a:spcAft>
                <a:spcPts val="0"/>
              </a:spcAft>
              <a:buClr>
                <a:srgbClr val="3B3B3B"/>
              </a:buClr>
              <a:buSzPts val="1350"/>
              <a:buFont typeface="Courier New"/>
              <a:buChar char="❏"/>
              <a:defRPr/>
            </a:pPr>
            <a:r>
              <a:rPr lang="en" sz="1350">
                <a:solidFill>
                  <a:srgbClr val="3B3B3B"/>
                </a:solidFill>
                <a:latin typeface="Courier New"/>
                <a:ea typeface="Courier New"/>
                <a:cs typeface="Courier New"/>
              </a:rPr>
              <a:t>Top ham tokens  : ['ok', 'da', 'later', 'll', 'lt', 'gt', 'doing', 'home', 'lol', 'said', 'work', 'lor', 'lt gt', 'really', 'cos', 'way', 'thats', 'haha', 'told', 'fine']</a:t>
            </a:r>
            <a:endParaRPr sz="1700"/>
          </a:p>
        </p:txBody>
      </p:sp>
      <p:pic>
        <p:nvPicPr>
          <p:cNvPr id="164679213" name="Google Shape;639;p64"/>
          <p:cNvPicPr/>
          <p:nvPr/>
        </p:nvPicPr>
        <p:blipFill rotWithShape="1">
          <a:blip r:embed="rId3">
            <a:alphaModFix/>
          </a:blip>
          <a:stretch/>
        </p:blipFill>
        <p:spPr bwMode="auto">
          <a:xfrm>
            <a:off x="3516300" y="515222"/>
            <a:ext cx="5009100" cy="14951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2229659" name="Google Shape;644;p65"/>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Error analysis</a:t>
            </a:r>
            <a:endParaRPr/>
          </a:p>
        </p:txBody>
      </p:sp>
      <p:sp>
        <p:nvSpPr>
          <p:cNvPr id="399387382" name="Google Shape;645;p65"/>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graphicFrame>
        <p:nvGraphicFramePr>
          <p:cNvPr id="1335721997" name="Google Shape;646;p65"/>
          <p:cNvGraphicFramePr>
            <a:graphicFrameLocks xmlns:a="http://schemas.openxmlformats.org/drawingml/2006/main"/>
          </p:cNvGraphicFramePr>
          <p:nvPr/>
        </p:nvGraphicFramePr>
        <p:xfrm rot="0">
          <a:off x="311113" y="952500"/>
          <a:ext cx="3000000" cy="3000000"/>
        </p:xfrm>
        <a:graphic>
          <a:graphicData uri="http://schemas.openxmlformats.org/drawingml/2006/table">
            <a:tbl>
              <a:tblPr firstRow="0" firstCol="0" lastRow="0" lastCol="0" bandRow="0" bandCol="0">
                <a:tableStyleId>{7925C0D6-9F2F-4230-A678-8B0516A0E49D}</a:tableStyleId>
                <a:noFill/>
              </a:tblPr>
              <a:tblGrid>
                <a:gridCol w="438149"/>
                <a:gridCol w="514350"/>
                <a:gridCol w="495300"/>
                <a:gridCol w="714375"/>
                <a:gridCol w="6267450"/>
              </a:tblGrid>
              <a:tr h="12700">
                <a:tc>
                  <a:txBody>
                    <a:bodyPr/>
                    <a:p>
                      <a:pPr marL="0" lvl="0" indent="0" algn="r" rtl="0">
                        <a:lnSpc>
                          <a:spcPct val="114999"/>
                        </a:lnSpc>
                        <a:spcBef>
                          <a:spcPts val="0"/>
                        </a:spcBef>
                        <a:spcAft>
                          <a:spcPts val="0"/>
                        </a:spcAft>
                        <a:buNone/>
                        <a:defRPr/>
                      </a:pPr>
                      <a:endParaRPr sz="1000" b="1">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b="1">
                          <a:latin typeface="Spectral"/>
                          <a:ea typeface="Spectral"/>
                          <a:cs typeface="Spectral"/>
                        </a:rPr>
                        <a:t>label</a:t>
                      </a:r>
                      <a:endParaRPr sz="1000" b="1">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b="1">
                          <a:latin typeface="Spectral"/>
                          <a:ea typeface="Spectral"/>
                          <a:cs typeface="Spectral"/>
                        </a:rPr>
                        <a:t>pred</a:t>
                      </a:r>
                      <a:endParaRPr sz="1000" b="1">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b="1">
                          <a:latin typeface="Spectral"/>
                          <a:ea typeface="Spectral"/>
                          <a:cs typeface="Spectral"/>
                        </a:rPr>
                        <a:t>prob</a:t>
                      </a:r>
                      <a:endParaRPr sz="1000" b="1">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b="1">
                          <a:latin typeface="Spectral"/>
                          <a:ea typeface="Spectral"/>
                          <a:cs typeface="Spectral"/>
                        </a:rPr>
                        <a:t>text</a:t>
                      </a:r>
                      <a:endParaRPr sz="1000" b="1">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5046</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0.644196</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We have sent JD for Customer Service cum Accounts Executive to ur mail id, For details contact us</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700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0.580534</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K..u also dont msg or reply to his msg..</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1353</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0.575595</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Let Ur Heart Be Ur Compass Ur Mind Ur Map Ur Soul Ur Guide And U Will Never loose in world....gnun - Sent via WAY2SMS.COM</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3328</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0.526175</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what number do u live at? Is it 11?</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4357</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0.516998</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Great. So should i send you my account number.</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1460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0.508713</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Bought one ringtone and now getting texts costing 3 pound offering more tones etc</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2352</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0.505755</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Download as many ringtones as u like no restrictions, 1000s 2 choose. U can even send 2 yr buddys. Txt Sir to 80082 £3</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5449</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0.50094</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Latest News! Police station toilet stolen, cops have nothing to go on!</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3302</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0.482094</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RCT' THNQ Adrian for U text. Rgds Vatian</a:t>
                      </a:r>
                      <a:endParaRPr sz="1000">
                        <a:latin typeface="Spectral"/>
                        <a:ea typeface="Spectral"/>
                        <a:cs typeface="Spectral"/>
                      </a:endParaRPr>
                    </a:p>
                  </a:txBody>
                  <a:tcPr marL="63500" marR="63500" marT="63500" marB="63500"/>
                </a:tc>
              </a:tr>
              <a:tr h="12700">
                <a:tc>
                  <a:txBody>
                    <a:bodyPr/>
                    <a:p>
                      <a:pPr marL="0" lvl="0" indent="0" algn="r" rtl="0">
                        <a:lnSpc>
                          <a:spcPct val="114999"/>
                        </a:lnSpc>
                        <a:spcBef>
                          <a:spcPts val="0"/>
                        </a:spcBef>
                        <a:spcAft>
                          <a:spcPts val="0"/>
                        </a:spcAft>
                        <a:buNone/>
                        <a:defRPr/>
                      </a:pPr>
                      <a:r>
                        <a:rPr lang="en" sz="1000">
                          <a:latin typeface="Spectral"/>
                          <a:ea typeface="Spectral"/>
                          <a:cs typeface="Spectral"/>
                        </a:rPr>
                        <a:t>3272</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1</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a:t>
                      </a:r>
                      <a:endParaRPr sz="1000">
                        <a:latin typeface="Spectral"/>
                        <a:ea typeface="Spectral"/>
                        <a:cs typeface="Spectral"/>
                      </a:endParaRPr>
                    </a:p>
                  </a:txBody>
                  <a:tcPr marL="63500" marR="63500" marT="63500" marB="63500"/>
                </a:tc>
                <a:tc>
                  <a:txBody>
                    <a:bodyPr/>
                    <a:p>
                      <a:pPr marL="0" lvl="0" indent="0" algn="r" rtl="0">
                        <a:lnSpc>
                          <a:spcPct val="114999"/>
                        </a:lnSpc>
                        <a:spcBef>
                          <a:spcPts val="0"/>
                        </a:spcBef>
                        <a:spcAft>
                          <a:spcPts val="0"/>
                        </a:spcAft>
                        <a:buNone/>
                        <a:defRPr/>
                      </a:pPr>
                      <a:r>
                        <a:rPr lang="en" sz="1000">
                          <a:latin typeface="Spectral"/>
                          <a:ea typeface="Spectral"/>
                          <a:cs typeface="Spectral"/>
                        </a:rPr>
                        <a:t>0.478605</a:t>
                      </a:r>
                      <a:endParaRPr sz="1000">
                        <a:latin typeface="Spectral"/>
                        <a:ea typeface="Spectral"/>
                        <a:cs typeface="Spectral"/>
                      </a:endParaRPr>
                    </a:p>
                  </a:txBody>
                  <a:tcPr marL="63500" marR="63500" marT="63500" marB="63500"/>
                </a:tc>
                <a:tc>
                  <a:txBody>
                    <a:bodyPr/>
                    <a:p>
                      <a:pPr marL="0" lvl="0" indent="0" algn="l" rtl="0">
                        <a:lnSpc>
                          <a:spcPct val="114999"/>
                        </a:lnSpc>
                        <a:spcBef>
                          <a:spcPts val="0"/>
                        </a:spcBef>
                        <a:spcAft>
                          <a:spcPts val="0"/>
                        </a:spcAft>
                        <a:buNone/>
                        <a:defRPr/>
                      </a:pPr>
                      <a:r>
                        <a:rPr lang="en" sz="1000">
                          <a:latin typeface="Spectral"/>
                          <a:ea typeface="Spectral"/>
                          <a:cs typeface="Spectral"/>
                        </a:rPr>
                        <a:t>You have 1 new voicemail. Please call 08719181513.</a:t>
                      </a:r>
                      <a:endParaRPr sz="1000">
                        <a:latin typeface="Spectral"/>
                        <a:ea typeface="Spectral"/>
                        <a:cs typeface="Spectral"/>
                      </a:endParaRPr>
                    </a:p>
                  </a:txBody>
                  <a:tcPr marL="63500" marR="63500" marT="63500" marB="6350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0172927" name="Google Shape;651;p66"/>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feature vector</a:t>
            </a:r>
            <a:endParaRPr/>
          </a:p>
          <a:p>
            <a:pPr marL="457200" lvl="0" indent="-342900" algn="l" rtl="0">
              <a:spcBef>
                <a:spcPts val="0"/>
              </a:spcBef>
              <a:spcAft>
                <a:spcPts val="0"/>
              </a:spcAft>
              <a:buSzPts val="1800"/>
              <a:buChar char="❏"/>
              <a:defRPr/>
            </a:pPr>
            <a:r>
              <a:rPr lang="en"/>
              <a:t>model architecture</a:t>
            </a:r>
            <a:endParaRPr/>
          </a:p>
          <a:p>
            <a:pPr marL="457200" lvl="0" indent="-342900" algn="l" rtl="0">
              <a:spcBef>
                <a:spcPts val="0"/>
              </a:spcBef>
              <a:spcAft>
                <a:spcPts val="0"/>
              </a:spcAft>
              <a:buSzPts val="1800"/>
              <a:buChar char="❏"/>
              <a:defRPr/>
            </a:pPr>
            <a:r>
              <a:rPr lang="en"/>
              <a:t>training algorithm </a:t>
            </a:r>
            <a:endParaRPr/>
          </a:p>
          <a:p>
            <a:pPr marL="0" lvl="0" indent="0" algn="l" rtl="0">
              <a:spcBef>
                <a:spcPts val="360"/>
              </a:spcBef>
              <a:spcAft>
                <a:spcPts val="0"/>
              </a:spcAft>
              <a:buNone/>
              <a:defRPr/>
            </a:pPr>
            <a:endParaRPr/>
          </a:p>
          <a:p>
            <a:pPr marL="0" lvl="0" indent="0" algn="l" rtl="0">
              <a:spcBef>
                <a:spcPts val="360"/>
              </a:spcBef>
              <a:spcAft>
                <a:spcPts val="0"/>
              </a:spcAft>
              <a:buNone/>
              <a:defRPr/>
            </a:pPr>
            <a:r>
              <a:rPr lang="en"/>
              <a:t>Only if the dataset is fixed. </a:t>
            </a:r>
            <a:endParaRPr/>
          </a:p>
          <a:p>
            <a:pPr marL="0" lvl="0" indent="0" algn="l" rtl="0">
              <a:spcBef>
                <a:spcPts val="360"/>
              </a:spcBef>
              <a:spcAft>
                <a:spcPts val="0"/>
              </a:spcAft>
              <a:buNone/>
              <a:defRPr/>
            </a:pPr>
            <a:r>
              <a:rPr lang="en"/>
              <a:t>If we can get additional data, then data should be the highest priority. </a:t>
            </a:r>
            <a:endParaRPr/>
          </a:p>
        </p:txBody>
      </p:sp>
      <p:sp>
        <p:nvSpPr>
          <p:cNvPr id="884087351" name="Google Shape;652;p66"/>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we can do to improve the model …</a:t>
            </a:r>
            <a:endParaRPr/>
          </a:p>
        </p:txBody>
      </p:sp>
      <p:sp>
        <p:nvSpPr>
          <p:cNvPr id="889849720" name="Google Shape;653;p66"/>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8734772" name="Google Shape;658;p67"/>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Feature vector</a:t>
            </a:r>
            <a:endParaRPr/>
          </a:p>
        </p:txBody>
      </p:sp>
      <p:sp>
        <p:nvSpPr>
          <p:cNvPr id="195921987" name="Google Shape;659;p67"/>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Increase the vector dimension</a:t>
            </a:r>
            <a:endParaRPr/>
          </a:p>
          <a:p>
            <a:pPr marL="914400" lvl="1" indent="-342900" algn="l" rtl="0">
              <a:spcBef>
                <a:spcPts val="0"/>
              </a:spcBef>
              <a:spcAft>
                <a:spcPts val="0"/>
              </a:spcAft>
              <a:buSzPts val="1800"/>
              <a:buChar char="○"/>
              <a:defRPr/>
            </a:pPr>
            <a:r>
              <a:rPr lang="en"/>
              <a:t>include more features</a:t>
            </a:r>
            <a:endParaRPr/>
          </a:p>
          <a:p>
            <a:pPr marL="457200" lvl="0" indent="-342900" algn="l" rtl="0">
              <a:spcBef>
                <a:spcPts val="0"/>
              </a:spcBef>
              <a:spcAft>
                <a:spcPts val="0"/>
              </a:spcAft>
              <a:buSzPts val="1800"/>
              <a:buChar char="➢"/>
              <a:defRPr/>
            </a:pPr>
            <a:r>
              <a:rPr lang="en"/>
              <a:t>Manually change some dimensions</a:t>
            </a:r>
            <a:endParaRPr/>
          </a:p>
          <a:p>
            <a:pPr marL="914400" lvl="1" indent="-342900" algn="l" rtl="0">
              <a:spcBef>
                <a:spcPts val="0"/>
              </a:spcBef>
              <a:spcAft>
                <a:spcPts val="0"/>
              </a:spcAft>
              <a:buSzPts val="1800"/>
              <a:buChar char="○"/>
              <a:defRPr/>
            </a:pPr>
            <a:r>
              <a:rPr lang="en"/>
              <a:t>feature engineering</a:t>
            </a:r>
            <a:endParaRPr/>
          </a:p>
        </p:txBody>
      </p:sp>
      <p:sp>
        <p:nvSpPr>
          <p:cNvPr id="659319486" name="Google Shape;660;p67"/>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7515913" name="Google Shape;665;p68"/>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Training</a:t>
            </a:r>
            <a:r>
              <a:rPr lang="en"/>
              <a:t> algorithm</a:t>
            </a:r>
            <a:endParaRPr/>
          </a:p>
        </p:txBody>
      </p:sp>
      <p:sp>
        <p:nvSpPr>
          <p:cNvPr id="215067735" name="Google Shape;666;p68"/>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Learning rate</a:t>
            </a:r>
            <a:endParaRPr/>
          </a:p>
          <a:p>
            <a:pPr marL="914400" lvl="1" indent="-342900" algn="l" rtl="0">
              <a:spcBef>
                <a:spcPts val="0"/>
              </a:spcBef>
              <a:spcAft>
                <a:spcPts val="0"/>
              </a:spcAft>
              <a:buSzPts val="1800"/>
              <a:buChar char="○"/>
              <a:defRPr/>
            </a:pPr>
            <a:r>
              <a:rPr lang="en"/>
              <a:t>not </a:t>
            </a:r>
            <a:r>
              <a:rPr lang="en"/>
              <a:t>learning at the initial phase → change to a larger learning rate</a:t>
            </a:r>
            <a:endParaRPr/>
          </a:p>
          <a:p>
            <a:pPr marL="914400" lvl="1" indent="-342900" algn="l" rtl="0">
              <a:spcBef>
                <a:spcPts val="0"/>
              </a:spcBef>
              <a:spcAft>
                <a:spcPts val="0"/>
              </a:spcAft>
              <a:buSzPts val="1800"/>
              <a:buChar char="○"/>
              <a:defRPr/>
            </a:pPr>
            <a:r>
              <a:rPr lang="en"/>
              <a:t>not converging at the later phase → change to a smaller learning rate</a:t>
            </a:r>
            <a:endParaRPr/>
          </a:p>
          <a:p>
            <a:pPr marL="457200" lvl="0" indent="-342900" algn="l" rtl="0">
              <a:spcBef>
                <a:spcPts val="0"/>
              </a:spcBef>
              <a:spcAft>
                <a:spcPts val="0"/>
              </a:spcAft>
              <a:buSzPts val="1800"/>
              <a:buChar char="➢"/>
              <a:defRPr/>
            </a:pPr>
            <a:r>
              <a:rPr lang="en"/>
              <a:t>Parameter initialization</a:t>
            </a:r>
            <a:endParaRPr/>
          </a:p>
          <a:p>
            <a:pPr marL="914400" lvl="1" indent="-342900" algn="l" rtl="0">
              <a:spcBef>
                <a:spcPts val="0"/>
              </a:spcBef>
              <a:spcAft>
                <a:spcPts val="0"/>
              </a:spcAft>
              <a:buSzPts val="1800"/>
              <a:buChar char="○"/>
              <a:defRPr/>
            </a:pPr>
            <a:r>
              <a:rPr lang="en"/>
              <a:t>default method is good enough</a:t>
            </a:r>
            <a:endParaRPr/>
          </a:p>
          <a:p>
            <a:pPr marL="457200" lvl="0" indent="-342900" algn="l" rtl="0">
              <a:spcBef>
                <a:spcPts val="0"/>
              </a:spcBef>
              <a:spcAft>
                <a:spcPts val="0"/>
              </a:spcAft>
              <a:buSzPts val="1800"/>
              <a:buChar char="➢"/>
              <a:defRPr/>
            </a:pPr>
            <a:r>
              <a:rPr lang="en"/>
              <a:t>Adam or SGD</a:t>
            </a:r>
            <a:endParaRPr/>
          </a:p>
          <a:p>
            <a:pPr marL="914400" lvl="1" indent="-342900" algn="l" rtl="0">
              <a:spcBef>
                <a:spcPts val="0"/>
              </a:spcBef>
              <a:spcAft>
                <a:spcPts val="0"/>
              </a:spcAft>
              <a:buSzPts val="1800"/>
              <a:buChar char="○"/>
              <a:defRPr/>
            </a:pPr>
            <a:r>
              <a:rPr lang="en"/>
              <a:t>Adam is more robust</a:t>
            </a:r>
            <a:endParaRPr/>
          </a:p>
        </p:txBody>
      </p:sp>
      <p:sp>
        <p:nvSpPr>
          <p:cNvPr id="1999823830" name="Google Shape;667;p68"/>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274327" name="Google Shape;672;p69"/>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Model architecture</a:t>
            </a:r>
            <a:endParaRPr/>
          </a:p>
        </p:txBody>
      </p:sp>
      <p:sp>
        <p:nvSpPr>
          <p:cNvPr id="1982308339" name="Google Shape;673;p69"/>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Increase the number of layers</a:t>
            </a:r>
            <a:endParaRPr/>
          </a:p>
          <a:p>
            <a:pPr marL="914400" lvl="1" indent="-342900" algn="l" rtl="0">
              <a:spcBef>
                <a:spcPts val="0"/>
              </a:spcBef>
              <a:spcAft>
                <a:spcPts val="0"/>
              </a:spcAft>
              <a:buSzPts val="1800"/>
              <a:buChar char="○"/>
              <a:defRPr/>
            </a:pPr>
            <a:r>
              <a:rPr lang="en"/>
              <a:t>increase model capacity to store information</a:t>
            </a:r>
            <a:endParaRPr/>
          </a:p>
          <a:p>
            <a:pPr marL="914400" lvl="1" indent="-342900" algn="l" rtl="0">
              <a:spcBef>
                <a:spcPts val="0"/>
              </a:spcBef>
              <a:spcAft>
                <a:spcPts val="0"/>
              </a:spcAft>
              <a:buSzPts val="1800"/>
              <a:buChar char="○"/>
              <a:defRPr/>
            </a:pPr>
            <a:r>
              <a:rPr lang="en"/>
              <a:t>for smaller dataset, it is not a good idea, may lead to overfitting</a:t>
            </a:r>
            <a:endParaRPr/>
          </a:p>
          <a:p>
            <a:pPr marL="457200" lvl="0" indent="-342900" algn="l" rtl="0">
              <a:spcBef>
                <a:spcPts val="0"/>
              </a:spcBef>
              <a:spcAft>
                <a:spcPts val="0"/>
              </a:spcAft>
              <a:buSzPts val="1800"/>
              <a:buChar char="➢"/>
              <a:defRPr/>
            </a:pPr>
            <a:r>
              <a:rPr lang="en"/>
              <a:t>Increase the hidden state dimension</a:t>
            </a:r>
            <a:endParaRPr/>
          </a:p>
          <a:p>
            <a:pPr marL="914400" lvl="1" indent="-342900" algn="l" rtl="0">
              <a:spcBef>
                <a:spcPts val="0"/>
              </a:spcBef>
              <a:spcAft>
                <a:spcPts val="0"/>
              </a:spcAft>
              <a:buSzPts val="1800"/>
              <a:buChar char="○"/>
              <a:defRPr/>
            </a:pPr>
            <a:r>
              <a:rPr lang="en"/>
              <a:t>increase</a:t>
            </a:r>
            <a:r>
              <a:rPr lang="en"/>
              <a:t> model capacity</a:t>
            </a:r>
            <a:endParaRPr/>
          </a:p>
          <a:p>
            <a:pPr marL="914400" lvl="1" indent="-342900" algn="l" rtl="0">
              <a:spcBef>
                <a:spcPts val="0"/>
              </a:spcBef>
              <a:spcAft>
                <a:spcPts val="0"/>
              </a:spcAft>
              <a:buSzPts val="1800"/>
              <a:buChar char="○"/>
              <a:defRPr/>
            </a:pPr>
            <a:r>
              <a:rPr lang="en"/>
              <a:t>same as above</a:t>
            </a:r>
            <a:endParaRPr/>
          </a:p>
          <a:p>
            <a:pPr marL="457200" lvl="0" indent="-342900" algn="l" rtl="0">
              <a:spcBef>
                <a:spcPts val="0"/>
              </a:spcBef>
              <a:spcAft>
                <a:spcPts val="0"/>
              </a:spcAft>
              <a:buSzPts val="1800"/>
              <a:buChar char="➢"/>
              <a:defRPr/>
            </a:pPr>
            <a:r>
              <a:rPr lang="en"/>
              <a:t>Change to another model</a:t>
            </a:r>
            <a:endParaRPr/>
          </a:p>
        </p:txBody>
      </p:sp>
      <p:sp>
        <p:nvSpPr>
          <p:cNvPr id="734088026" name="Google Shape;674;p69"/>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20895878" name="Google Shape;679;p70"/>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Why change to a different model?</a:t>
            </a:r>
            <a:endParaRPr/>
          </a:p>
        </p:txBody>
      </p:sp>
      <p:sp>
        <p:nvSpPr>
          <p:cNvPr id="1356923757" name="Google Shape;680;p70"/>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The current model is a Bag-of-Word (BoW) model</a:t>
            </a:r>
            <a:endParaRPr/>
          </a:p>
          <a:p>
            <a:pPr marL="914400" lvl="1" indent="-342900" algn="l" rtl="0">
              <a:spcBef>
                <a:spcPts val="0"/>
              </a:spcBef>
              <a:spcAft>
                <a:spcPts val="0"/>
              </a:spcAft>
              <a:buSzPts val="1800"/>
              <a:buChar char="○"/>
              <a:defRPr/>
            </a:pPr>
            <a:r>
              <a:rPr lang="en"/>
              <a:t>no sequential ordering of the text</a:t>
            </a:r>
            <a:endParaRPr/>
          </a:p>
          <a:p>
            <a:pPr marL="457200" lvl="0" indent="-342900" algn="l" rtl="0">
              <a:spcBef>
                <a:spcPts val="0"/>
              </a:spcBef>
              <a:spcAft>
                <a:spcPts val="0"/>
              </a:spcAft>
              <a:buSzPts val="1800"/>
              <a:buChar char="➢"/>
              <a:defRPr/>
            </a:pPr>
            <a:r>
              <a:rPr lang="en"/>
              <a:t>Recurrent Neural Network (RNN) takes a </a:t>
            </a:r>
            <a:r>
              <a:rPr lang="en" b="1"/>
              <a:t>sequential</a:t>
            </a:r>
            <a:r>
              <a:rPr lang="en"/>
              <a:t> input of </a:t>
            </a:r>
            <a:r>
              <a:rPr lang="en" b="1"/>
              <a:t>any length</a:t>
            </a:r>
            <a:endParaRPr b="1"/>
          </a:p>
        </p:txBody>
      </p:sp>
      <p:sp>
        <p:nvSpPr>
          <p:cNvPr id="1702483290" name="Google Shape;681;p70"/>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
        <p:nvSpPr>
          <p:cNvPr id="1707376442" name="Google Shape;682;p70"/>
          <p:cNvSpPr txBox="1"/>
          <p:nvPr/>
        </p:nvSpPr>
        <p:spPr bwMode="auto">
          <a:xfrm>
            <a:off x="6649125" y="3704650"/>
            <a:ext cx="3294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a:t>
            </a:r>
            <a:endParaRPr/>
          </a:p>
        </p:txBody>
      </p:sp>
      <p:sp>
        <p:nvSpPr>
          <p:cNvPr id="1343327650" name="Google Shape;683;p70"/>
          <p:cNvSpPr/>
          <p:nvPr/>
        </p:nvSpPr>
        <p:spPr bwMode="auto">
          <a:xfrm>
            <a:off x="73287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692763900" name="Google Shape;684;p70"/>
          <p:cNvSpPr/>
          <p:nvPr/>
        </p:nvSpPr>
        <p:spPr bwMode="auto">
          <a:xfrm>
            <a:off x="131575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916889302" name="Google Shape;685;p70"/>
          <p:cNvSpPr/>
          <p:nvPr/>
        </p:nvSpPr>
        <p:spPr bwMode="auto">
          <a:xfrm>
            <a:off x="189863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217794124" name="Google Shape;686;p70"/>
          <p:cNvSpPr/>
          <p:nvPr/>
        </p:nvSpPr>
        <p:spPr bwMode="auto">
          <a:xfrm>
            <a:off x="248151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464258133" name="Google Shape;687;p70"/>
          <p:cNvSpPr/>
          <p:nvPr/>
        </p:nvSpPr>
        <p:spPr bwMode="auto">
          <a:xfrm>
            <a:off x="306439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256362304" name="Google Shape;688;p70"/>
          <p:cNvSpPr/>
          <p:nvPr/>
        </p:nvSpPr>
        <p:spPr bwMode="auto">
          <a:xfrm>
            <a:off x="364727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391502154" name="Google Shape;689;p70"/>
          <p:cNvSpPr/>
          <p:nvPr/>
        </p:nvSpPr>
        <p:spPr bwMode="auto">
          <a:xfrm>
            <a:off x="423015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823179073" name="Google Shape;690;p70"/>
          <p:cNvSpPr/>
          <p:nvPr/>
        </p:nvSpPr>
        <p:spPr bwMode="auto">
          <a:xfrm>
            <a:off x="481303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438293902" name="Google Shape;691;p70"/>
          <p:cNvSpPr/>
          <p:nvPr/>
        </p:nvSpPr>
        <p:spPr bwMode="auto">
          <a:xfrm>
            <a:off x="539591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1762464642" name="Google Shape;692;p70"/>
          <p:cNvSpPr/>
          <p:nvPr/>
        </p:nvSpPr>
        <p:spPr bwMode="auto">
          <a:xfrm>
            <a:off x="597879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995530757" name="Google Shape;693;p70"/>
          <p:cNvSpPr/>
          <p:nvPr/>
        </p:nvSpPr>
        <p:spPr bwMode="auto">
          <a:xfrm>
            <a:off x="6561675" y="3052500"/>
            <a:ext cx="437100" cy="3387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
        <p:nvSpPr>
          <p:cNvPr id="766625553" name="Google Shape;694;p70"/>
          <p:cNvSpPr txBox="1"/>
          <p:nvPr/>
        </p:nvSpPr>
        <p:spPr bwMode="auto">
          <a:xfrm>
            <a:off x="732875" y="3704650"/>
            <a:ext cx="5043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what</a:t>
            </a:r>
            <a:endParaRPr/>
          </a:p>
        </p:txBody>
      </p:sp>
      <p:sp>
        <p:nvSpPr>
          <p:cNvPr id="1566196706" name="Google Shape;695;p70"/>
          <p:cNvSpPr txBox="1"/>
          <p:nvPr/>
        </p:nvSpPr>
        <p:spPr bwMode="auto">
          <a:xfrm>
            <a:off x="1284175" y="3704650"/>
            <a:ext cx="6993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number</a:t>
            </a:r>
            <a:endParaRPr/>
          </a:p>
        </p:txBody>
      </p:sp>
      <p:sp>
        <p:nvSpPr>
          <p:cNvPr id="695223007" name="Google Shape;696;p70"/>
          <p:cNvSpPr txBox="1"/>
          <p:nvPr/>
        </p:nvSpPr>
        <p:spPr bwMode="auto">
          <a:xfrm>
            <a:off x="1983475" y="3704650"/>
            <a:ext cx="4371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do</a:t>
            </a:r>
            <a:endParaRPr/>
          </a:p>
        </p:txBody>
      </p:sp>
      <p:sp>
        <p:nvSpPr>
          <p:cNvPr id="1170950750" name="Google Shape;697;p70"/>
          <p:cNvSpPr txBox="1"/>
          <p:nvPr/>
        </p:nvSpPr>
        <p:spPr bwMode="auto">
          <a:xfrm>
            <a:off x="2603625" y="3704650"/>
            <a:ext cx="2601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u</a:t>
            </a:r>
            <a:endParaRPr/>
          </a:p>
        </p:txBody>
      </p:sp>
      <p:sp>
        <p:nvSpPr>
          <p:cNvPr id="2130740406" name="Google Shape;698;p70"/>
          <p:cNvSpPr txBox="1"/>
          <p:nvPr/>
        </p:nvSpPr>
        <p:spPr bwMode="auto">
          <a:xfrm>
            <a:off x="3098000" y="3704650"/>
            <a:ext cx="4371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live</a:t>
            </a:r>
            <a:endParaRPr/>
          </a:p>
        </p:txBody>
      </p:sp>
      <p:sp>
        <p:nvSpPr>
          <p:cNvPr id="1038396530" name="Google Shape;699;p70"/>
          <p:cNvSpPr txBox="1"/>
          <p:nvPr/>
        </p:nvSpPr>
        <p:spPr bwMode="auto">
          <a:xfrm>
            <a:off x="3734725" y="3704650"/>
            <a:ext cx="3294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at</a:t>
            </a:r>
            <a:endParaRPr/>
          </a:p>
        </p:txBody>
      </p:sp>
      <p:sp>
        <p:nvSpPr>
          <p:cNvPr id="586142016" name="Google Shape;700;p70"/>
          <p:cNvSpPr txBox="1"/>
          <p:nvPr/>
        </p:nvSpPr>
        <p:spPr bwMode="auto">
          <a:xfrm>
            <a:off x="4352250" y="3704650"/>
            <a:ext cx="2601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a:t>
            </a:r>
            <a:endParaRPr/>
          </a:p>
        </p:txBody>
      </p:sp>
      <p:sp>
        <p:nvSpPr>
          <p:cNvPr id="431640908" name="Google Shape;701;p70"/>
          <p:cNvSpPr txBox="1"/>
          <p:nvPr/>
        </p:nvSpPr>
        <p:spPr bwMode="auto">
          <a:xfrm>
            <a:off x="4900475" y="3704650"/>
            <a:ext cx="3294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Is</a:t>
            </a:r>
            <a:endParaRPr/>
          </a:p>
        </p:txBody>
      </p:sp>
      <p:sp>
        <p:nvSpPr>
          <p:cNvPr id="1446019113" name="Google Shape;702;p70"/>
          <p:cNvSpPr txBox="1"/>
          <p:nvPr/>
        </p:nvSpPr>
        <p:spPr bwMode="auto">
          <a:xfrm>
            <a:off x="5518000" y="3704650"/>
            <a:ext cx="3765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it</a:t>
            </a:r>
            <a:endParaRPr/>
          </a:p>
        </p:txBody>
      </p:sp>
      <p:sp>
        <p:nvSpPr>
          <p:cNvPr id="1584912092" name="Google Shape;703;p70"/>
          <p:cNvSpPr txBox="1"/>
          <p:nvPr/>
        </p:nvSpPr>
        <p:spPr bwMode="auto">
          <a:xfrm>
            <a:off x="6066225" y="3704650"/>
            <a:ext cx="329400" cy="338700"/>
          </a:xfrm>
          <a:prstGeom prst="rect">
            <a:avLst/>
          </a:prstGeom>
          <a:noFill/>
          <a:ln>
            <a:noFill/>
          </a:ln>
        </p:spPr>
        <p:txBody>
          <a:bodyPr spcFirstLastPara="1" wrap="square" lIns="91425" tIns="91425" rIns="91425" bIns="91425" anchor="t" anchorCtr="0">
            <a:spAutoFit/>
          </a:bodyPr>
          <a:lstStyle/>
          <a:p>
            <a:pPr marL="0" lvl="0" indent="0" algn="l" rtl="0">
              <a:lnSpc>
                <a:spcPct val="114999"/>
              </a:lnSpc>
              <a:spcBef>
                <a:spcPts val="0"/>
              </a:spcBef>
              <a:spcAft>
                <a:spcPts val="0"/>
              </a:spcAft>
              <a:buNone/>
              <a:defRPr/>
            </a:pPr>
            <a:r>
              <a:rPr lang="en" sz="1000">
                <a:latin typeface="Spectral"/>
                <a:ea typeface="Spectral"/>
                <a:cs typeface="Spectral"/>
              </a:rPr>
              <a:t>11</a:t>
            </a:r>
            <a:endParaRPr/>
          </a:p>
        </p:txBody>
      </p:sp>
      <p:cxnSp>
        <p:nvCxnSpPr>
          <p:cNvPr id="2024473091" name="Google Shape;704;p70"/>
          <p:cNvCxnSpPr>
            <a:endCxn id="692763900" idx="1"/>
          </p:cNvCxnSpPr>
          <p:nvPr/>
        </p:nvCxnSpPr>
        <p:spPr bwMode="auto">
          <a:xfrm>
            <a:off x="116995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544862324" name="Google Shape;705;p70"/>
          <p:cNvCxnSpPr>
            <a:stCxn id="692763900" idx="3"/>
            <a:endCxn id="916889302" idx="1"/>
          </p:cNvCxnSpPr>
          <p:nvPr/>
        </p:nvCxnSpPr>
        <p:spPr bwMode="auto">
          <a:xfrm>
            <a:off x="175285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1971320944" name="Google Shape;706;p70"/>
          <p:cNvCxnSpPr>
            <a:stCxn id="916889302" idx="3"/>
            <a:endCxn id="217794124" idx="1"/>
          </p:cNvCxnSpPr>
          <p:nvPr/>
        </p:nvCxnSpPr>
        <p:spPr bwMode="auto">
          <a:xfrm>
            <a:off x="233573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326837591" name="Google Shape;707;p70"/>
          <p:cNvCxnSpPr>
            <a:stCxn id="217794124" idx="3"/>
            <a:endCxn id="464258133" idx="1"/>
          </p:cNvCxnSpPr>
          <p:nvPr/>
        </p:nvCxnSpPr>
        <p:spPr bwMode="auto">
          <a:xfrm>
            <a:off x="291861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1221437215" name="Google Shape;708;p70"/>
          <p:cNvCxnSpPr>
            <a:stCxn id="464258133" idx="3"/>
            <a:endCxn id="1256362304" idx="1"/>
          </p:cNvCxnSpPr>
          <p:nvPr/>
        </p:nvCxnSpPr>
        <p:spPr bwMode="auto">
          <a:xfrm>
            <a:off x="350149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1875156455" name="Google Shape;709;p70"/>
          <p:cNvCxnSpPr>
            <a:stCxn id="1256362304" idx="3"/>
            <a:endCxn id="391502154" idx="1"/>
          </p:cNvCxnSpPr>
          <p:nvPr/>
        </p:nvCxnSpPr>
        <p:spPr bwMode="auto">
          <a:xfrm>
            <a:off x="408437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1164493399" name="Google Shape;710;p70"/>
          <p:cNvCxnSpPr>
            <a:stCxn id="391502154" idx="3"/>
            <a:endCxn id="1823179073" idx="1"/>
          </p:cNvCxnSpPr>
          <p:nvPr/>
        </p:nvCxnSpPr>
        <p:spPr bwMode="auto">
          <a:xfrm>
            <a:off x="466725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1357515177" name="Google Shape;711;p70"/>
          <p:cNvCxnSpPr>
            <a:stCxn id="1823179073" idx="3"/>
            <a:endCxn id="1438293902" idx="1"/>
          </p:cNvCxnSpPr>
          <p:nvPr/>
        </p:nvCxnSpPr>
        <p:spPr bwMode="auto">
          <a:xfrm>
            <a:off x="525013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307899269" name="Google Shape;712;p70"/>
          <p:cNvCxnSpPr>
            <a:stCxn id="1438293902" idx="3"/>
            <a:endCxn id="1762464642" idx="1"/>
          </p:cNvCxnSpPr>
          <p:nvPr/>
        </p:nvCxnSpPr>
        <p:spPr bwMode="auto">
          <a:xfrm>
            <a:off x="5833015" y="3221850"/>
            <a:ext cx="145800" cy="0"/>
          </a:xfrm>
          <a:prstGeom prst="straightConnector1">
            <a:avLst/>
          </a:prstGeom>
          <a:noFill/>
          <a:ln w="9525" cap="flat" cmpd="sng">
            <a:solidFill>
              <a:schemeClr val="dk2"/>
            </a:solidFill>
            <a:prstDash val="solid"/>
            <a:round/>
            <a:headEnd type="none" w="med" len="med"/>
            <a:tailEnd type="triangle" w="med" len="med"/>
          </a:ln>
        </p:spPr>
      </p:cxnSp>
      <p:cxnSp>
        <p:nvCxnSpPr>
          <p:cNvPr id="194633318" name="Google Shape;713;p70"/>
          <p:cNvCxnSpPr>
            <a:endCxn id="995530757" idx="1"/>
          </p:cNvCxnSpPr>
          <p:nvPr/>
        </p:nvCxnSpPr>
        <p:spPr bwMode="auto">
          <a:xfrm>
            <a:off x="6415875" y="3221850"/>
            <a:ext cx="145800" cy="0"/>
          </a:xfrm>
          <a:prstGeom prst="straightConnector1">
            <a:avLst/>
          </a:prstGeom>
          <a:noFill/>
          <a:ln w="9525" cap="flat" cmpd="sng">
            <a:solidFill>
              <a:schemeClr val="dk2"/>
            </a:solidFill>
            <a:prstDash val="solid"/>
            <a:round/>
            <a:headEnd type="none" w="med" len="med"/>
            <a:tailEnd type="triangle" w="med" len="med"/>
          </a:ln>
        </p:spPr>
      </p:cxnSp>
      <p:sp>
        <p:nvSpPr>
          <p:cNvPr id="844630713" name="Google Shape;714;p70"/>
          <p:cNvSpPr txBox="1"/>
          <p:nvPr/>
        </p:nvSpPr>
        <p:spPr bwMode="auto">
          <a:xfrm>
            <a:off x="6998775" y="2340900"/>
            <a:ext cx="1815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rgbClr val="4A86E8"/>
                </a:solidFill>
              </a:rPr>
              <a:t>ham</a:t>
            </a:r>
            <a:r>
              <a:rPr lang="en" sz="1800">
                <a:solidFill>
                  <a:schemeClr val="dk1"/>
                </a:solidFill>
              </a:rPr>
              <a:t> or </a:t>
            </a:r>
            <a:r>
              <a:rPr lang="en" sz="1800">
                <a:solidFill>
                  <a:schemeClr val="accent2"/>
                </a:solidFill>
              </a:rPr>
              <a:t>spam</a:t>
            </a:r>
            <a:r>
              <a:rPr lang="en" sz="1800">
                <a:solidFill>
                  <a:schemeClr val="dk1"/>
                </a:solidFill>
              </a:rPr>
              <a:t>?</a:t>
            </a:r>
            <a:endParaRPr sz="1800">
              <a:solidFill>
                <a:schemeClr val="dk1"/>
              </a:solidFill>
            </a:endParaRPr>
          </a:p>
        </p:txBody>
      </p:sp>
      <p:cxnSp>
        <p:nvCxnSpPr>
          <p:cNvPr id="1521480339" name="Google Shape;715;p70"/>
          <p:cNvCxnSpPr>
            <a:stCxn id="995530757" idx="3"/>
            <a:endCxn id="844630713" idx="2"/>
          </p:cNvCxnSpPr>
          <p:nvPr/>
        </p:nvCxnSpPr>
        <p:spPr bwMode="auto">
          <a:xfrm rot="10800000" flipH="1">
            <a:off x="6998775" y="2802450"/>
            <a:ext cx="907799" cy="419400"/>
          </a:xfrm>
          <a:prstGeom prst="curvedConnector2">
            <a:avLst/>
          </a:prstGeom>
          <a:noFill/>
          <a:ln w="9525" cap="flat" cmpd="sng">
            <a:solidFill>
              <a:schemeClr val="dk2"/>
            </a:solidFill>
            <a:prstDash val="solid"/>
            <a:round/>
            <a:headEnd type="none" w="med" len="med"/>
            <a:tailEnd type="triangle" w="med" len="med"/>
          </a:ln>
        </p:spPr>
      </p:cxnSp>
      <p:sp>
        <p:nvSpPr>
          <p:cNvPr id="855097500" name="Google Shape;716;p70"/>
          <p:cNvSpPr txBox="1"/>
          <p:nvPr/>
        </p:nvSpPr>
        <p:spPr bwMode="auto">
          <a:xfrm>
            <a:off x="4230150" y="4258525"/>
            <a:ext cx="3872700" cy="615600"/>
          </a:xfrm>
          <a:prstGeom prst="rect">
            <a:avLst/>
          </a:prstGeom>
          <a:noFill/>
          <a:ln w="9525" cap="flat" cmpd="sng">
            <a:solidFill>
              <a:srgbClr val="C9DAF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It </a:t>
            </a:r>
            <a:r>
              <a:rPr lang="en">
                <a:solidFill>
                  <a:schemeClr val="dk1"/>
                </a:solidFill>
              </a:rPr>
              <a:t>would be great if the last state represents a summary of the entire input text.</a:t>
            </a:r>
            <a:endParaRPr>
              <a:solidFill>
                <a:schemeClr val="dk1"/>
              </a:solidFill>
            </a:endParaRPr>
          </a:p>
        </p:txBody>
      </p:sp>
      <p:cxnSp>
        <p:nvCxnSpPr>
          <p:cNvPr id="460334030" name="Google Shape;717;p70"/>
          <p:cNvCxnSpPr>
            <a:stCxn id="855097500" idx="0"/>
            <a:endCxn id="995530757" idx="2"/>
          </p:cNvCxnSpPr>
          <p:nvPr/>
        </p:nvCxnSpPr>
        <p:spPr bwMode="auto">
          <a:xfrm rot="-5400000">
            <a:off x="6039750" y="3517975"/>
            <a:ext cx="867299" cy="613800"/>
          </a:xfrm>
          <a:prstGeom prst="curvedConnector3">
            <a:avLst>
              <a:gd name="adj1" fmla="val 50001"/>
            </a:avLst>
          </a:prstGeom>
          <a:noFill/>
          <a:ln w="9525" cap="flat" cmpd="sng">
            <a:solidFill>
              <a:schemeClr val="dk2"/>
            </a:solidFill>
            <a:prstDash val="dot"/>
            <a:round/>
            <a:headEnd type="none" w="med" len="med"/>
            <a:tailEnd type="stealth"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3513210" name="Title 1"/>
          <p:cNvSpPr>
            <a:spLocks noGrp="1"/>
          </p:cNvSpPr>
          <p:nvPr>
            <p:ph type="title"/>
          </p:nvPr>
        </p:nvSpPr>
        <p:spPr bwMode="auto"/>
        <p:txBody>
          <a:bodyPr/>
          <a:lstStyle/>
          <a:p>
            <a:pPr>
              <a:defRPr/>
            </a:pPr>
            <a:r>
              <a:rPr/>
              <a:t>Segment 5 — The Fixed-Context Limitation</a:t>
            </a:r>
            <a:endParaRPr/>
          </a:p>
        </p:txBody>
      </p:sp>
      <p:sp>
        <p:nvSpPr>
          <p:cNvPr id="797097420" name="Text Placeholder 2"/>
          <p:cNvSpPr>
            <a:spLocks noGrp="1"/>
          </p:cNvSpPr>
          <p:nvPr>
            <p:ph type="body" idx="1"/>
          </p:nvPr>
        </p:nvSpPr>
        <p:spPr bwMode="auto"/>
        <p:txBody>
          <a:bodyPr/>
          <a:lstStyle/>
          <a:p>
            <a:pPr>
              <a:defRPr/>
            </a:pPr>
            <a:r>
              <a:rPr/>
              <a:t>The feedforward LM only uses the last k words</a:t>
            </a:r>
            <a:endParaRPr/>
          </a:p>
          <a:p>
            <a:pPr>
              <a:defRPr/>
            </a:pPr>
            <a:r>
              <a:rPr/>
              <a:t>Relevant context can be 20, 50, or 500 words back</a:t>
            </a:r>
            <a:endParaRPr/>
          </a:p>
          <a:p>
            <a:pPr>
              <a:defRPr/>
            </a:pPr>
            <a:r>
              <a:rPr/>
              <a:t>We need a model that reads the entire sequence → Recurrent Neural Networks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1170645" name="Title 1"/>
          <p:cNvSpPr>
            <a:spLocks noGrp="1"/>
          </p:cNvSpPr>
          <p:nvPr>
            <p:ph type="title"/>
          </p:nvPr>
        </p:nvSpPr>
        <p:spPr bwMode="auto"/>
        <p:txBody>
          <a:bodyPr/>
          <a:lstStyle/>
          <a:p>
            <a:pPr>
              <a:defRPr/>
            </a:pPr>
            <a:r>
              <a:rPr/>
              <a:t>Recurrent Neural Networks</a:t>
            </a:r>
            <a:endParaRPr/>
          </a:p>
        </p:txBody>
      </p:sp>
      <p:sp>
        <p:nvSpPr>
          <p:cNvPr id="1974314891" name="Text Placeholder 2"/>
          <p:cNvSpPr>
            <a:spLocks noGrp="1"/>
          </p:cNvSpPr>
          <p:nvPr>
            <p:ph type="body" idx="1"/>
          </p:nvPr>
        </p:nvSpPr>
        <p:spPr bwMode="auto"/>
        <p:txBody>
          <a:bodyPr/>
          <a:lstStyle/>
          <a:p>
            <a:pPr>
              <a:defRPr/>
            </a:pPr>
            <a:r>
              <a:rPr/>
              <a:t>At each time step t, the RNN:</a:t>
            </a:r>
            <a:endParaRPr/>
          </a:p>
          <a:p>
            <a:pPr lvl="1">
              <a:defRPr/>
            </a:pPr>
            <a:r>
              <a:rPr/>
              <a:t>1. Takes the current input xₜ (the embedding of word wₜ)</a:t>
            </a:r>
            <a:endParaRPr/>
          </a:p>
          <a:p>
            <a:pPr lvl="1">
              <a:defRPr/>
            </a:pPr>
            <a:r>
              <a:rPr/>
              <a:t>2. Takes the previous hidden state hₜ₋₁ (a summary of everything seen so far)</a:t>
            </a:r>
            <a:endParaRPr/>
          </a:p>
          <a:p>
            <a:pPr lvl="1">
              <a:defRPr/>
            </a:pPr>
            <a:r>
              <a:rPr/>
              <a:t>3. Produces the new hidden state: hₜ = tanh(Wxₜ + Uhₜ₋₁ + b)</a:t>
            </a:r>
            <a:endParaRPr/>
          </a:p>
          <a:p>
            <a:pPr>
              <a:defRPr/>
            </a:pPr>
            <a:r>
              <a:rPr/>
              <a:t>Same weight matrices W and U applied at every time step — this is what makes it "recurrent"</a:t>
            </a:r>
            <a:endParaRPr/>
          </a:p>
          <a:p>
            <a:pPr>
              <a:defRPr/>
            </a:pPr>
            <a:r>
              <a:rPr/>
              <a:t>Unrolled through time: a chain of cells sharing weights, hₜ passed from cell t to cell t+1</a:t>
            </a:r>
            <a:endParaRPr/>
          </a:p>
          <a:p>
            <a:pPr>
              <a:defRPr/>
            </a:pPr>
            <a:r>
              <a:rPr/>
              <a:t>For classification: use the final hidden state hₜ as a document representation → linear classifier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6859983" name="Google Shape;722;p71"/>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How to interpret a RNN</a:t>
            </a:r>
            <a:endParaRPr/>
          </a:p>
        </p:txBody>
      </p:sp>
      <p:sp>
        <p:nvSpPr>
          <p:cNvPr id="1237547020" name="Google Shape;723;p71"/>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endParaRPr/>
          </a:p>
        </p:txBody>
      </p:sp>
      <p:sp>
        <p:nvSpPr>
          <p:cNvPr id="1817066632" name="Google Shape;724;p71"/>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pic>
        <p:nvPicPr>
          <p:cNvPr id="1133698958" name="Google Shape;725;p71"/>
          <p:cNvPicPr/>
          <p:nvPr/>
        </p:nvPicPr>
        <p:blipFill rotWithShape="1">
          <a:blip r:embed="rId3">
            <a:alphaModFix/>
          </a:blip>
          <a:stretch/>
        </p:blipFill>
        <p:spPr bwMode="auto">
          <a:xfrm>
            <a:off x="659900" y="1621439"/>
            <a:ext cx="5081549" cy="1900624"/>
          </a:xfrm>
          <a:prstGeom prst="rect">
            <a:avLst/>
          </a:prstGeom>
          <a:noFill/>
          <a:ln>
            <a:noFill/>
          </a:ln>
        </p:spPr>
      </p:pic>
      <p:pic>
        <p:nvPicPr>
          <p:cNvPr id="70642525" name="Google Shape;726;p71"/>
          <p:cNvPicPr/>
          <p:nvPr/>
        </p:nvPicPr>
        <p:blipFill rotWithShape="1">
          <a:blip r:embed="rId4">
            <a:alphaModFix/>
          </a:blip>
          <a:stretch/>
        </p:blipFill>
        <p:spPr bwMode="auto">
          <a:xfrm>
            <a:off x="1261775" y="3827125"/>
            <a:ext cx="3643301" cy="4835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5101472" name="Google Shape;731;p72"/>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How many parameters are there in RNN?</a:t>
            </a:r>
            <a:endParaRPr/>
          </a:p>
        </p:txBody>
      </p:sp>
      <p:sp>
        <p:nvSpPr>
          <p:cNvPr id="1878838036" name="Google Shape;732;p72"/>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endParaRPr/>
          </a:p>
        </p:txBody>
      </p:sp>
      <p:sp>
        <p:nvSpPr>
          <p:cNvPr id="758382333" name="Google Shape;733;p72"/>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pic>
        <p:nvPicPr>
          <p:cNvPr id="233853977" name="Google Shape;734;p72"/>
          <p:cNvPicPr/>
          <p:nvPr/>
        </p:nvPicPr>
        <p:blipFill rotWithShape="1">
          <a:blip r:embed="rId3">
            <a:alphaModFix/>
          </a:blip>
          <a:stretch/>
        </p:blipFill>
        <p:spPr bwMode="auto">
          <a:xfrm>
            <a:off x="659900" y="1621439"/>
            <a:ext cx="5081549" cy="190062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8140095" name="Google Shape;739;p73"/>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is a suitable hidden state size?</a:t>
            </a:r>
            <a:endParaRPr/>
          </a:p>
        </p:txBody>
      </p:sp>
      <p:sp>
        <p:nvSpPr>
          <p:cNvPr id="382780749" name="Google Shape;740;p73"/>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endParaRPr/>
          </a:p>
        </p:txBody>
      </p:sp>
      <p:sp>
        <p:nvSpPr>
          <p:cNvPr id="1064682146" name="Google Shape;741;p73"/>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pic>
        <p:nvPicPr>
          <p:cNvPr id="383488676" name="Google Shape;742;p73"/>
          <p:cNvPicPr/>
          <p:nvPr/>
        </p:nvPicPr>
        <p:blipFill rotWithShape="1">
          <a:blip r:embed="rId3">
            <a:alphaModFix/>
          </a:blip>
          <a:stretch/>
        </p:blipFill>
        <p:spPr bwMode="auto">
          <a:xfrm>
            <a:off x="659900" y="1621439"/>
            <a:ext cx="5081549" cy="190062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9916216" name="Google Shape;747;p74"/>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What else do we need?</a:t>
            </a:r>
            <a:endParaRPr/>
          </a:p>
        </p:txBody>
      </p:sp>
      <p:sp>
        <p:nvSpPr>
          <p:cNvPr id="559480290" name="Google Shape;748;p74"/>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endParaRPr/>
          </a:p>
        </p:txBody>
      </p:sp>
      <p:sp>
        <p:nvSpPr>
          <p:cNvPr id="2042781077" name="Google Shape;749;p74"/>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pic>
        <p:nvPicPr>
          <p:cNvPr id="522652289" name="Google Shape;750;p74"/>
          <p:cNvPicPr/>
          <p:nvPr/>
        </p:nvPicPr>
        <p:blipFill rotWithShape="1">
          <a:blip r:embed="rId3">
            <a:alphaModFix/>
          </a:blip>
          <a:stretch/>
        </p:blipFill>
        <p:spPr bwMode="auto">
          <a:xfrm>
            <a:off x="659900" y="1621439"/>
            <a:ext cx="5081549" cy="190062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8737951" name="Google Shape;437;p69"/>
          <p:cNvSpPr txBox="1"/>
          <p:nvPr>
            <p:ph type="title"/>
          </p:nvPr>
        </p:nvSpPr>
        <p:spPr bwMode="auto">
          <a:xfrm>
            <a:off x="311698" y="445023"/>
            <a:ext cx="8520598" cy="572698"/>
          </a:xfrm>
          <a:prstGeom prst="rect">
            <a:avLst/>
          </a:prstGeom>
        </p:spPr>
        <p:txBody>
          <a:bodyPr spcFirstLastPara="1" wrap="square" lIns="91422" tIns="45698" rIns="91422" bIns="45698" anchor="ctr" anchorCtr="0">
            <a:noAutofit/>
          </a:bodyPr>
          <a:lstStyle/>
          <a:p>
            <a:pPr marL="0" lvl="0" indent="0" algn="l" rtl="0">
              <a:spcBef>
                <a:spcPts val="0"/>
              </a:spcBef>
              <a:spcAft>
                <a:spcPts val="0"/>
              </a:spcAft>
              <a:buNone/>
              <a:defRPr/>
            </a:pPr>
            <a:r>
              <a:rPr lang="en"/>
              <a:t>How to train a language model?</a:t>
            </a:r>
            <a:endParaRPr/>
          </a:p>
        </p:txBody>
      </p:sp>
      <p:sp>
        <p:nvSpPr>
          <p:cNvPr id="195262789" name="Google Shape;438;p69"/>
          <p:cNvSpPr txBox="1"/>
          <p:nvPr>
            <p:ph type="body" idx="1"/>
          </p:nvPr>
        </p:nvSpPr>
        <p:spPr bwMode="auto">
          <a:xfrm>
            <a:off x="311698" y="1152472"/>
            <a:ext cx="8520598" cy="3416400"/>
          </a:xfrm>
          <a:prstGeom prst="rect">
            <a:avLst/>
          </a:prstGeom>
        </p:spPr>
        <p:txBody>
          <a:bodyPr spcFirstLastPara="1" wrap="square" lIns="91422" tIns="45698" rIns="91422" bIns="45698" anchor="t" anchorCtr="0">
            <a:normAutofit/>
          </a:bodyPr>
          <a:lstStyle/>
          <a:p>
            <a:pPr marL="457200" lvl="0" indent="-342900" algn="l" rtl="0">
              <a:spcBef>
                <a:spcPts val="278"/>
              </a:spcBef>
              <a:spcAft>
                <a:spcPts val="0"/>
              </a:spcAft>
              <a:buSzPts val="1800"/>
              <a:buChar char="❏"/>
              <a:defRPr/>
            </a:pPr>
            <a:r>
              <a:rPr lang="en"/>
              <a:t>Just like how to train a spam email classifier. </a:t>
            </a:r>
            <a:endParaRPr/>
          </a:p>
          <a:p>
            <a:pPr marL="457200" lvl="0" indent="-342900" algn="l" rtl="0">
              <a:spcBef>
                <a:spcPts val="0"/>
              </a:spcBef>
              <a:spcAft>
                <a:spcPts val="0"/>
              </a:spcAft>
              <a:buSzPts val="1800"/>
              <a:buChar char="❏"/>
              <a:defRPr/>
            </a:pPr>
            <a:r>
              <a:rPr lang="en"/>
              <a:t>In this case it is V-classification problem</a:t>
            </a:r>
            <a:endParaRPr/>
          </a:p>
        </p:txBody>
      </p:sp>
      <p:pic>
        <p:nvPicPr>
          <p:cNvPr id="1825926191" name="Google Shape;439;p69"/>
          <p:cNvPicPr/>
          <p:nvPr/>
        </p:nvPicPr>
        <p:blipFill rotWithShape="1">
          <a:blip r:embed="rId3">
            <a:alphaModFix/>
          </a:blip>
          <a:stretch/>
        </p:blipFill>
        <p:spPr bwMode="auto">
          <a:xfrm>
            <a:off x="1958998" y="2130598"/>
            <a:ext cx="5225997" cy="1962298"/>
          </a:xfrm>
          <a:prstGeom prst="rect">
            <a:avLst/>
          </a:prstGeom>
          <a:noFill/>
          <a:ln>
            <a:noFill/>
          </a:ln>
        </p:spPr>
      </p:pic>
      <p:sp>
        <p:nvSpPr>
          <p:cNvPr id="1100911586" name="Google Shape;440;p69"/>
          <p:cNvSpPr txBox="1"/>
          <p:nvPr/>
        </p:nvSpPr>
        <p:spPr bwMode="auto">
          <a:xfrm>
            <a:off x="7107598" y="1497537"/>
            <a:ext cx="8123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point</a:t>
            </a:r>
            <a:endParaRPr sz="1800">
              <a:solidFill>
                <a:schemeClr val="dk1"/>
              </a:solidFill>
            </a:endParaRPr>
          </a:p>
        </p:txBody>
      </p:sp>
      <p:sp>
        <p:nvSpPr>
          <p:cNvPr id="1947931026" name="Google Shape;441;p69"/>
          <p:cNvSpPr txBox="1"/>
          <p:nvPr/>
        </p:nvSpPr>
        <p:spPr bwMode="auto">
          <a:xfrm>
            <a:off x="1696798" y="4385936"/>
            <a:ext cx="8123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go</a:t>
            </a:r>
            <a:endParaRPr sz="1800">
              <a:solidFill>
                <a:schemeClr val="dk1"/>
              </a:solidFill>
            </a:endParaRPr>
          </a:p>
        </p:txBody>
      </p:sp>
      <p:sp>
        <p:nvSpPr>
          <p:cNvPr id="209963758" name="Google Shape;442;p69"/>
          <p:cNvSpPr txBox="1"/>
          <p:nvPr/>
        </p:nvSpPr>
        <p:spPr bwMode="auto">
          <a:xfrm>
            <a:off x="3466800" y="4385936"/>
            <a:ext cx="8123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until</a:t>
            </a:r>
            <a:endParaRPr sz="1800">
              <a:solidFill>
                <a:schemeClr val="dk1"/>
              </a:solidFill>
            </a:endParaRPr>
          </a:p>
        </p:txBody>
      </p:sp>
      <p:sp>
        <p:nvSpPr>
          <p:cNvPr id="1818778233" name="Google Shape;443;p69"/>
          <p:cNvSpPr txBox="1"/>
          <p:nvPr/>
        </p:nvSpPr>
        <p:spPr bwMode="auto">
          <a:xfrm>
            <a:off x="5236798" y="4385948"/>
            <a:ext cx="9695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jurong</a:t>
            </a:r>
            <a:endParaRPr sz="1800">
              <a:solidFill>
                <a:schemeClr val="dk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904130" name="Google Shape;448;p70"/>
          <p:cNvSpPr txBox="1"/>
          <p:nvPr>
            <p:ph type="title"/>
          </p:nvPr>
        </p:nvSpPr>
        <p:spPr bwMode="auto">
          <a:xfrm>
            <a:off x="311698" y="445023"/>
            <a:ext cx="8520598" cy="572698"/>
          </a:xfrm>
          <a:prstGeom prst="rect">
            <a:avLst/>
          </a:prstGeom>
        </p:spPr>
        <p:txBody>
          <a:bodyPr spcFirstLastPara="1" wrap="square" lIns="91422" tIns="45698" rIns="91422" bIns="45698" anchor="ctr" anchorCtr="0">
            <a:noAutofit/>
          </a:bodyPr>
          <a:lstStyle/>
          <a:p>
            <a:pPr marL="0" lvl="0" indent="0" algn="l" rtl="0">
              <a:spcBef>
                <a:spcPts val="0"/>
              </a:spcBef>
              <a:spcAft>
                <a:spcPts val="0"/>
              </a:spcAft>
              <a:buNone/>
              <a:defRPr/>
            </a:pPr>
            <a:r>
              <a:rPr lang="en"/>
              <a:t>Language Modeling Objective</a:t>
            </a:r>
            <a:endParaRPr/>
          </a:p>
        </p:txBody>
      </p:sp>
      <p:pic>
        <p:nvPicPr>
          <p:cNvPr id="108604434" name="Google Shape;449;p70"/>
          <p:cNvPicPr/>
          <p:nvPr/>
        </p:nvPicPr>
        <p:blipFill rotWithShape="1">
          <a:blip r:embed="rId3">
            <a:alphaModFix/>
          </a:blip>
          <a:stretch/>
        </p:blipFill>
        <p:spPr bwMode="auto">
          <a:xfrm>
            <a:off x="792598" y="2118048"/>
            <a:ext cx="4664999" cy="1751647"/>
          </a:xfrm>
          <a:prstGeom prst="rect">
            <a:avLst/>
          </a:prstGeom>
          <a:noFill/>
          <a:ln>
            <a:noFill/>
          </a:ln>
        </p:spPr>
      </p:pic>
      <p:sp>
        <p:nvSpPr>
          <p:cNvPr id="1821890678" name="Google Shape;450;p70"/>
          <p:cNvSpPr txBox="1"/>
          <p:nvPr/>
        </p:nvSpPr>
        <p:spPr bwMode="auto">
          <a:xfrm>
            <a:off x="4817998" y="1526337"/>
            <a:ext cx="8123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point</a:t>
            </a:r>
            <a:endParaRPr sz="1800">
              <a:solidFill>
                <a:schemeClr val="dk1"/>
              </a:solidFill>
            </a:endParaRPr>
          </a:p>
        </p:txBody>
      </p:sp>
      <p:sp>
        <p:nvSpPr>
          <p:cNvPr id="1807391213" name="Google Shape;451;p70"/>
          <p:cNvSpPr txBox="1"/>
          <p:nvPr/>
        </p:nvSpPr>
        <p:spPr bwMode="auto">
          <a:xfrm>
            <a:off x="544798" y="3946736"/>
            <a:ext cx="8123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go</a:t>
            </a:r>
            <a:endParaRPr sz="1800">
              <a:solidFill>
                <a:schemeClr val="dk1"/>
              </a:solidFill>
            </a:endParaRPr>
          </a:p>
        </p:txBody>
      </p:sp>
      <p:sp>
        <p:nvSpPr>
          <p:cNvPr id="2007949609" name="Google Shape;452;p70"/>
          <p:cNvSpPr txBox="1"/>
          <p:nvPr/>
        </p:nvSpPr>
        <p:spPr bwMode="auto">
          <a:xfrm>
            <a:off x="2127600" y="3946736"/>
            <a:ext cx="8123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until</a:t>
            </a:r>
            <a:endParaRPr sz="1800">
              <a:solidFill>
                <a:schemeClr val="dk1"/>
              </a:solidFill>
            </a:endParaRPr>
          </a:p>
        </p:txBody>
      </p:sp>
      <p:sp>
        <p:nvSpPr>
          <p:cNvPr id="40639881" name="Google Shape;453;p70"/>
          <p:cNvSpPr txBox="1"/>
          <p:nvPr/>
        </p:nvSpPr>
        <p:spPr bwMode="auto">
          <a:xfrm>
            <a:off x="3652798" y="3946748"/>
            <a:ext cx="969598" cy="461700"/>
          </a:xfrm>
          <a:prstGeom prst="rect">
            <a:avLst/>
          </a:prstGeom>
          <a:noFill/>
          <a:ln w="9525" cap="flat" cmpd="sng">
            <a:solidFill>
              <a:schemeClr val="dk1"/>
            </a:solidFill>
            <a:prstDash val="solid"/>
            <a:round/>
            <a:headEnd type="none" w="sm" len="sm"/>
            <a:tailEnd type="none" w="sm" len="sm"/>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jurong</a:t>
            </a:r>
            <a:endParaRPr sz="1800">
              <a:solidFill>
                <a:schemeClr val="dk1"/>
              </a:solidFill>
            </a:endParaRPr>
          </a:p>
        </p:txBody>
      </p:sp>
      <p:cxnSp>
        <p:nvCxnSpPr>
          <p:cNvPr id="1279279533" name="Google Shape;454;p70"/>
          <p:cNvCxnSpPr/>
          <p:nvPr/>
        </p:nvCxnSpPr>
        <p:spPr bwMode="auto">
          <a:xfrm>
            <a:off x="5976000" y="2138400"/>
            <a:ext cx="2599200" cy="0"/>
          </a:xfrm>
          <a:prstGeom prst="straightConnector1">
            <a:avLst/>
          </a:prstGeom>
          <a:noFill/>
          <a:ln w="9525" cap="flat" cmpd="sng">
            <a:solidFill>
              <a:schemeClr val="dk2"/>
            </a:solidFill>
            <a:prstDash val="solid"/>
            <a:round/>
            <a:headEnd type="none" w="med" len="med"/>
            <a:tailEnd type="none" w="med" len="med"/>
          </a:ln>
        </p:spPr>
      </p:cxnSp>
      <p:sp>
        <p:nvSpPr>
          <p:cNvPr id="2133646608" name="Google Shape;455;p70"/>
          <p:cNvSpPr/>
          <p:nvPr/>
        </p:nvSpPr>
        <p:spPr bwMode="auto">
          <a:xfrm>
            <a:off x="6358198" y="1771200"/>
            <a:ext cx="158400" cy="36719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97105336" name="Google Shape;456;p70"/>
          <p:cNvSpPr/>
          <p:nvPr/>
        </p:nvSpPr>
        <p:spPr bwMode="auto">
          <a:xfrm>
            <a:off x="6516954" y="1430598"/>
            <a:ext cx="158400" cy="707697"/>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1521877244" name="Google Shape;457;p70"/>
          <p:cNvSpPr/>
          <p:nvPr/>
        </p:nvSpPr>
        <p:spPr bwMode="auto">
          <a:xfrm>
            <a:off x="6675706" y="1930748"/>
            <a:ext cx="158400" cy="20759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209791055" name="Google Shape;458;p70"/>
          <p:cNvSpPr/>
          <p:nvPr/>
        </p:nvSpPr>
        <p:spPr bwMode="auto">
          <a:xfrm>
            <a:off x="6834462" y="1875573"/>
            <a:ext cx="158400" cy="26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640531471" name="Google Shape;459;p70"/>
          <p:cNvSpPr/>
          <p:nvPr/>
        </p:nvSpPr>
        <p:spPr bwMode="auto">
          <a:xfrm>
            <a:off x="6993216" y="2077848"/>
            <a:ext cx="158400" cy="6059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1158348665" name="Google Shape;460;p70"/>
          <p:cNvSpPr/>
          <p:nvPr/>
        </p:nvSpPr>
        <p:spPr bwMode="auto">
          <a:xfrm>
            <a:off x="7151973" y="2118048"/>
            <a:ext cx="158400" cy="2039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144367275" name="Google Shape;461;p70"/>
          <p:cNvSpPr/>
          <p:nvPr/>
        </p:nvSpPr>
        <p:spPr bwMode="auto">
          <a:xfrm>
            <a:off x="7310727" y="1875600"/>
            <a:ext cx="158400" cy="26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1625448889" name="Google Shape;462;p70"/>
          <p:cNvSpPr/>
          <p:nvPr/>
        </p:nvSpPr>
        <p:spPr bwMode="auto">
          <a:xfrm>
            <a:off x="7469479" y="1916023"/>
            <a:ext cx="158400" cy="222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1295325478" name="Google Shape;463;p70"/>
          <p:cNvSpPr/>
          <p:nvPr/>
        </p:nvSpPr>
        <p:spPr bwMode="auto">
          <a:xfrm>
            <a:off x="7628234" y="1565698"/>
            <a:ext cx="158400" cy="57269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386119417" name="Google Shape;464;p70"/>
          <p:cNvSpPr/>
          <p:nvPr/>
        </p:nvSpPr>
        <p:spPr bwMode="auto">
          <a:xfrm>
            <a:off x="7786989" y="2033723"/>
            <a:ext cx="158400" cy="104698"/>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830017427" name="Google Shape;465;p70"/>
          <p:cNvSpPr/>
          <p:nvPr/>
        </p:nvSpPr>
        <p:spPr bwMode="auto">
          <a:xfrm>
            <a:off x="7945743" y="1676700"/>
            <a:ext cx="158400" cy="461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85645752" name="Google Shape;466;p70"/>
          <p:cNvSpPr/>
          <p:nvPr/>
        </p:nvSpPr>
        <p:spPr bwMode="auto">
          <a:xfrm>
            <a:off x="8104500" y="1875600"/>
            <a:ext cx="158400" cy="262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980264207" name="Google Shape;467;p70"/>
          <p:cNvSpPr txBox="1"/>
          <p:nvPr/>
        </p:nvSpPr>
        <p:spPr bwMode="auto">
          <a:xfrm>
            <a:off x="6344298" y="794373"/>
            <a:ext cx="503698" cy="353998"/>
          </a:xfrm>
          <a:prstGeom prst="rect">
            <a:avLst/>
          </a:prstGeom>
          <a:noFill/>
          <a:ln>
            <a:noFill/>
          </a:ln>
        </p:spPr>
        <p:txBody>
          <a:bodyPr spcFirstLastPara="1" wrap="square" lIns="91422" tIns="91422" rIns="91422" bIns="91422" anchor="t" anchorCtr="0">
            <a:spAutoFit/>
          </a:bodyPr>
          <a:lstStyle/>
          <a:p>
            <a:pPr marL="0" lvl="0" indent="0" algn="l" rtl="0">
              <a:spcBef>
                <a:spcPts val="0"/>
              </a:spcBef>
              <a:spcAft>
                <a:spcPts val="0"/>
              </a:spcAft>
              <a:buNone/>
              <a:defRPr/>
            </a:pPr>
            <a:r>
              <a:rPr lang="en" sz="1100">
                <a:solidFill>
                  <a:schemeClr val="dk1"/>
                </a:solidFill>
              </a:rPr>
              <a:t>west</a:t>
            </a:r>
            <a:endParaRPr sz="1100">
              <a:solidFill>
                <a:schemeClr val="dk1"/>
              </a:solidFill>
            </a:endParaRPr>
          </a:p>
        </p:txBody>
      </p:sp>
      <p:sp>
        <p:nvSpPr>
          <p:cNvPr id="712630549" name="Google Shape;468;p70"/>
          <p:cNvSpPr txBox="1"/>
          <p:nvPr/>
        </p:nvSpPr>
        <p:spPr bwMode="auto">
          <a:xfrm>
            <a:off x="7416099" y="794373"/>
            <a:ext cx="503698" cy="353998"/>
          </a:xfrm>
          <a:prstGeom prst="rect">
            <a:avLst/>
          </a:prstGeom>
          <a:noFill/>
          <a:ln>
            <a:noFill/>
          </a:ln>
        </p:spPr>
        <p:txBody>
          <a:bodyPr spcFirstLastPara="1" wrap="square" lIns="91422" tIns="91422" rIns="91422" bIns="91422" anchor="t" anchorCtr="0">
            <a:spAutoFit/>
          </a:bodyPr>
          <a:lstStyle/>
          <a:p>
            <a:pPr marL="0" lvl="0" indent="0" algn="l" rtl="0">
              <a:spcBef>
                <a:spcPts val="0"/>
              </a:spcBef>
              <a:spcAft>
                <a:spcPts val="0"/>
              </a:spcAft>
              <a:buNone/>
              <a:defRPr/>
            </a:pPr>
            <a:r>
              <a:rPr lang="en" sz="1100">
                <a:solidFill>
                  <a:schemeClr val="dk1"/>
                </a:solidFill>
              </a:rPr>
              <a:t>east</a:t>
            </a:r>
            <a:endParaRPr sz="1100">
              <a:solidFill>
                <a:schemeClr val="dk1"/>
              </a:solidFill>
            </a:endParaRPr>
          </a:p>
        </p:txBody>
      </p:sp>
      <p:sp>
        <p:nvSpPr>
          <p:cNvPr id="1911148211" name="Google Shape;469;p70"/>
          <p:cNvSpPr txBox="1"/>
          <p:nvPr/>
        </p:nvSpPr>
        <p:spPr bwMode="auto">
          <a:xfrm>
            <a:off x="7807548" y="1017722"/>
            <a:ext cx="503698" cy="353998"/>
          </a:xfrm>
          <a:prstGeom prst="rect">
            <a:avLst/>
          </a:prstGeom>
          <a:noFill/>
          <a:ln>
            <a:noFill/>
          </a:ln>
        </p:spPr>
        <p:txBody>
          <a:bodyPr spcFirstLastPara="1" wrap="square" lIns="91422" tIns="91422" rIns="91422" bIns="91422" anchor="t" anchorCtr="0">
            <a:spAutoFit/>
          </a:bodyPr>
          <a:lstStyle/>
          <a:p>
            <a:pPr marL="0" lvl="0" indent="0" algn="l" rtl="0">
              <a:spcBef>
                <a:spcPts val="0"/>
              </a:spcBef>
              <a:spcAft>
                <a:spcPts val="0"/>
              </a:spcAft>
              <a:buNone/>
              <a:defRPr/>
            </a:pPr>
            <a:r>
              <a:rPr lang="en" sz="1100">
                <a:solidFill>
                  <a:schemeClr val="dk1"/>
                </a:solidFill>
              </a:rPr>
              <a:t>point</a:t>
            </a:r>
            <a:endParaRPr sz="1100">
              <a:solidFill>
                <a:schemeClr val="dk1"/>
              </a:solidFill>
            </a:endParaRPr>
          </a:p>
        </p:txBody>
      </p:sp>
      <p:cxnSp>
        <p:nvCxnSpPr>
          <p:cNvPr id="996513471" name="Google Shape;470;p70"/>
          <p:cNvCxnSpPr>
            <a:endCxn id="97105336" idx="0"/>
          </p:cNvCxnSpPr>
          <p:nvPr/>
        </p:nvCxnSpPr>
        <p:spPr bwMode="auto">
          <a:xfrm>
            <a:off x="6575454" y="1051698"/>
            <a:ext cx="20698" cy="378900"/>
          </a:xfrm>
          <a:prstGeom prst="straightConnector1">
            <a:avLst/>
          </a:prstGeom>
          <a:noFill/>
          <a:ln w="9525" cap="flat" cmpd="sng">
            <a:solidFill>
              <a:schemeClr val="dk2"/>
            </a:solidFill>
            <a:prstDash val="solid"/>
            <a:round/>
            <a:headEnd type="none" w="med" len="med"/>
            <a:tailEnd type="stealth" w="med" len="med"/>
          </a:ln>
        </p:spPr>
      </p:cxnSp>
      <p:cxnSp>
        <p:nvCxnSpPr>
          <p:cNvPr id="710109776" name="Google Shape;471;p70"/>
          <p:cNvCxnSpPr>
            <a:endCxn id="1295325478" idx="0"/>
          </p:cNvCxnSpPr>
          <p:nvPr/>
        </p:nvCxnSpPr>
        <p:spPr bwMode="auto">
          <a:xfrm>
            <a:off x="7660334" y="1055398"/>
            <a:ext cx="47098" cy="510300"/>
          </a:xfrm>
          <a:prstGeom prst="straightConnector1">
            <a:avLst/>
          </a:prstGeom>
          <a:noFill/>
          <a:ln w="9525" cap="flat" cmpd="sng">
            <a:solidFill>
              <a:schemeClr val="dk2"/>
            </a:solidFill>
            <a:prstDash val="solid"/>
            <a:round/>
            <a:headEnd type="none" w="med" len="med"/>
            <a:tailEnd type="stealth" w="med" len="med"/>
          </a:ln>
        </p:spPr>
      </p:cxnSp>
      <p:cxnSp>
        <p:nvCxnSpPr>
          <p:cNvPr id="957700902" name="Google Shape;472;p70"/>
          <p:cNvCxnSpPr>
            <a:endCxn id="830017427" idx="0"/>
          </p:cNvCxnSpPr>
          <p:nvPr/>
        </p:nvCxnSpPr>
        <p:spPr bwMode="auto">
          <a:xfrm>
            <a:off x="8017143" y="1276200"/>
            <a:ext cx="7798" cy="400500"/>
          </a:xfrm>
          <a:prstGeom prst="straightConnector1">
            <a:avLst/>
          </a:prstGeom>
          <a:noFill/>
          <a:ln w="9525" cap="flat" cmpd="sng">
            <a:solidFill>
              <a:schemeClr val="dk2"/>
            </a:solidFill>
            <a:prstDash val="solid"/>
            <a:round/>
            <a:headEnd type="none" w="med" len="med"/>
            <a:tailEnd type="stealth" w="med" len="med"/>
          </a:ln>
        </p:spPr>
      </p:cxnSp>
      <p:sp>
        <p:nvSpPr>
          <p:cNvPr id="2056798528" name="Google Shape;473;p70"/>
          <p:cNvSpPr/>
          <p:nvPr/>
        </p:nvSpPr>
        <p:spPr bwMode="auto">
          <a:xfrm rot="-5400000">
            <a:off x="7095600" y="1345500"/>
            <a:ext cx="360000" cy="20925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398002894" name="Google Shape;474;p70"/>
          <p:cNvSpPr txBox="1"/>
          <p:nvPr/>
        </p:nvSpPr>
        <p:spPr bwMode="auto">
          <a:xfrm>
            <a:off x="6480675" y="2711097"/>
            <a:ext cx="2135998" cy="738898"/>
          </a:xfrm>
          <a:prstGeom prst="rect">
            <a:avLst/>
          </a:prstGeom>
          <a:noFill/>
          <a:ln>
            <a:noFill/>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No of classes = vocabulary size</a:t>
            </a:r>
            <a:endParaRPr sz="1800">
              <a:solidFill>
                <a:schemeClr val="dk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4982930" name="Google Shape;761;p76"/>
          <p:cNvSpPr txBox="1"/>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Recap on RNN</a:t>
            </a:r>
            <a:endParaRPr/>
          </a:p>
        </p:txBody>
      </p:sp>
      <p:sp>
        <p:nvSpPr>
          <p:cNvPr id="1051111991" name="Google Shape;762;p76"/>
          <p:cNvSpPr txBox="1"/>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Take sequential input of any length</a:t>
            </a:r>
            <a:endParaRPr/>
          </a:p>
          <a:p>
            <a:pPr marL="457200" lvl="0" indent="-342900" algn="l" rtl="0">
              <a:spcBef>
                <a:spcPts val="0"/>
              </a:spcBef>
              <a:spcAft>
                <a:spcPts val="0"/>
              </a:spcAft>
              <a:buSzPts val="1800"/>
              <a:buChar char="❏"/>
              <a:defRPr/>
            </a:pPr>
            <a:r>
              <a:rPr lang="en"/>
              <a:t>Apply the same weights on each step</a:t>
            </a:r>
            <a:endParaRPr/>
          </a:p>
          <a:p>
            <a:pPr marL="457200" lvl="0" indent="-342900" algn="l" rtl="0">
              <a:spcBef>
                <a:spcPts val="0"/>
              </a:spcBef>
              <a:spcAft>
                <a:spcPts val="0"/>
              </a:spcAft>
              <a:buSzPts val="1800"/>
              <a:buChar char="❏"/>
              <a:defRPr/>
            </a:pPr>
            <a:r>
              <a:rPr lang="en"/>
              <a:t>Can optionally produce output on each step</a:t>
            </a:r>
            <a:endParaRPr/>
          </a:p>
          <a:p>
            <a:pPr marL="0" lvl="0" indent="0" algn="l" rtl="0">
              <a:spcBef>
                <a:spcPts val="360"/>
              </a:spcBef>
              <a:spcAft>
                <a:spcPts val="0"/>
              </a:spcAft>
              <a:buNone/>
              <a:defRPr/>
            </a:pPr>
            <a:endParaRPr/>
          </a:p>
          <a:p>
            <a:pPr marL="457200" lvl="0" indent="-342900" algn="l" rtl="0">
              <a:spcBef>
                <a:spcPts val="360"/>
              </a:spcBef>
              <a:spcAft>
                <a:spcPts val="0"/>
              </a:spcAft>
              <a:buSzPts val="1800"/>
              <a:buChar char="➢"/>
              <a:defRPr/>
            </a:pPr>
            <a:r>
              <a:rPr lang="en"/>
              <a:t>Recurrent Neural Network ≠ Language Model</a:t>
            </a:r>
            <a:endParaRPr/>
          </a:p>
          <a:p>
            <a:pPr marL="457200" lvl="0" indent="-342900" algn="l" rtl="0">
              <a:spcBef>
                <a:spcPts val="0"/>
              </a:spcBef>
              <a:spcAft>
                <a:spcPts val="0"/>
              </a:spcAft>
              <a:buSzPts val="1800"/>
              <a:buChar char="➢"/>
              <a:defRPr/>
            </a:pPr>
            <a:r>
              <a:rPr lang="en"/>
              <a:t>There are more ‘powerful’ RNNs like LSTM, GRU</a:t>
            </a:r>
            <a:endParaRPr/>
          </a:p>
        </p:txBody>
      </p:sp>
      <p:sp>
        <p:nvSpPr>
          <p:cNvPr id="421344219" name="Google Shape;763;p76"/>
          <p:cNvSpPr txBox="1"/>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8540340" name="Title 1"/>
          <p:cNvSpPr>
            <a:spLocks noGrp="1"/>
          </p:cNvSpPr>
          <p:nvPr>
            <p:ph type="title"/>
          </p:nvPr>
        </p:nvSpPr>
        <p:spPr bwMode="auto"/>
        <p:txBody>
          <a:bodyPr/>
          <a:lstStyle/>
          <a:p>
            <a:pPr>
              <a:defRPr/>
            </a:pPr>
            <a:r>
              <a:rPr/>
              <a:t>The Vanishing Gradient Problem</a:t>
            </a:r>
            <a:endParaRPr/>
          </a:p>
        </p:txBody>
      </p:sp>
      <p:sp>
        <p:nvSpPr>
          <p:cNvPr id="268152968" name="Text Placeholder 2"/>
          <p:cNvSpPr>
            <a:spLocks noGrp="1"/>
          </p:cNvSpPr>
          <p:nvPr>
            <p:ph type="body" idx="1"/>
          </p:nvPr>
        </p:nvSpPr>
        <p:spPr bwMode="auto"/>
        <p:txBody>
          <a:bodyPr/>
          <a:lstStyle/>
          <a:p>
            <a:pPr>
              <a:defRPr/>
            </a:pPr>
            <a:r>
              <a:rPr/>
              <a:t>Backpropagating through time: the gradient at step t passes through every cell from t to now</a:t>
            </a:r>
            <a:endParaRPr/>
          </a:p>
          <a:p>
            <a:pPr lvl="1">
              <a:defRPr/>
            </a:pPr>
            <a:r>
              <a:rPr/>
              <a:t>At each step it is multiplied by the weight matrix and the derivative of tanh</a:t>
            </a:r>
            <a:endParaRPr/>
          </a:p>
          <a:p>
            <a:pPr>
              <a:defRPr/>
            </a:pPr>
            <a:r>
              <a:rPr/>
              <a:t>If those multiplied quantities are &lt; 1 (common), the gradient shrinks exponentially</a:t>
            </a:r>
            <a:endParaRPr/>
          </a:p>
          <a:p>
            <a:pPr lvl="1">
              <a:defRPr/>
            </a:pPr>
            <a:r>
              <a:rPr/>
              <a:t>After 50 steps, the gradient from the first word is effectively zero</a:t>
            </a:r>
            <a:endParaRPr/>
          </a:p>
          <a:p>
            <a:pPr>
              <a:defRPr/>
            </a:pPr>
            <a:r>
              <a:rPr/>
              <a:t>Consequence: an RNN encoding "The dog that chased the cats in the park runs fast" will likely forget the subject is "dog" by the time it reaches "runs"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2136349" name="Title 1"/>
          <p:cNvSpPr>
            <a:spLocks noGrp="1"/>
          </p:cNvSpPr>
          <p:nvPr>
            <p:ph type="title"/>
          </p:nvPr>
        </p:nvSpPr>
        <p:spPr bwMode="auto"/>
        <p:txBody>
          <a:bodyPr/>
          <a:lstStyle/>
          <a:p>
            <a:pPr>
              <a:defRPr/>
            </a:pPr>
            <a:r>
              <a:rPr/>
              <a:t>Anchor Moment — Thought Experiment</a:t>
            </a:r>
            <a:endParaRPr/>
          </a:p>
        </p:txBody>
      </p:sp>
      <p:sp>
        <p:nvSpPr>
          <p:cNvPr id="576695215" name="Text Placeholder 2"/>
          <p:cNvSpPr>
            <a:spLocks noGrp="1"/>
          </p:cNvSpPr>
          <p:nvPr>
            <p:ph type="body" idx="1"/>
          </p:nvPr>
        </p:nvSpPr>
        <p:spPr bwMode="auto"/>
        <p:txBody>
          <a:bodyPr/>
          <a:lstStyle/>
          <a:p>
            <a:pPr>
              <a:defRPr/>
            </a:pPr>
            <a:r>
              <a:rPr/>
              <a:t>Hidden state dimension = 128. After 100 words, how much of the first word’s information survives in h₁₀₀?</a:t>
            </a:r>
            <a:endParaRPr/>
          </a:p>
          <a:p>
            <a:pPr>
              <a:defRPr/>
            </a:pPr>
            <a:r>
              <a:rPr/>
              <a:t>Depends on the specific weights — but for a vanilla RNN, likely very little</a:t>
            </a:r>
            <a:endParaRPr/>
          </a:p>
          <a:p>
            <a:pPr lvl="1">
              <a:defRPr/>
            </a:pPr>
            <a:r>
              <a:rPr/>
              <a:t>The gradient signal is too weak to meaningfully update the first word’s embedding</a:t>
            </a:r>
            <a:endParaRPr/>
          </a:p>
          <a:p>
            <a:pPr>
              <a:defRPr/>
            </a:pPr>
            <a:r>
              <a:rPr/>
              <a:t>This motivates LSTM and GRU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4546928" name="Google Shape;348;p58"/>
          <p:cNvSpPr txBox="1"/>
          <p:nvPr>
            <p:ph type="body" idx="1"/>
          </p:nvPr>
        </p:nvSpPr>
        <p:spPr bwMode="auto">
          <a:xfrm>
            <a:off x="311699" y="1152473"/>
            <a:ext cx="8520599" cy="3416400"/>
          </a:xfrm>
          <a:prstGeom prst="rect">
            <a:avLst/>
          </a:prstGeom>
        </p:spPr>
        <p:txBody>
          <a:bodyPr spcFirstLastPara="1" wrap="square" lIns="91423" tIns="45699" rIns="91423" bIns="45699" anchor="t" anchorCtr="0">
            <a:normAutofit/>
          </a:bodyPr>
          <a:lstStyle/>
          <a:p>
            <a:pPr marL="457200" lvl="0" indent="-342900" algn="l" rtl="0">
              <a:spcBef>
                <a:spcPts val="279"/>
              </a:spcBef>
              <a:spcAft>
                <a:spcPts val="0"/>
              </a:spcAft>
              <a:buSzPts val="1800"/>
              <a:buChar char="•"/>
              <a:defRPr/>
            </a:pPr>
            <a:r>
              <a:rPr lang="en"/>
              <a:t>Layers are defined by non-linearity</a:t>
            </a:r>
            <a:endParaRPr/>
          </a:p>
          <a:p>
            <a:pPr marL="457200" lvl="0" indent="-342900" algn="l" rtl="0">
              <a:spcBef>
                <a:spcPts val="0"/>
              </a:spcBef>
              <a:spcAft>
                <a:spcPts val="0"/>
              </a:spcAft>
              <a:buSzPts val="1800"/>
              <a:buChar char="•"/>
              <a:defRPr/>
            </a:pPr>
            <a:r>
              <a:rPr lang="en"/>
              <a:t>Information highway</a:t>
            </a:r>
            <a:endParaRPr/>
          </a:p>
        </p:txBody>
      </p:sp>
      <p:pic>
        <p:nvPicPr>
          <p:cNvPr id="886369919" name="Google Shape;349;p58"/>
          <p:cNvPicPr/>
          <p:nvPr/>
        </p:nvPicPr>
        <p:blipFill rotWithShape="1">
          <a:blip r:embed="rId3">
            <a:alphaModFix/>
          </a:blip>
          <a:stretch/>
        </p:blipFill>
        <p:spPr bwMode="auto">
          <a:xfrm>
            <a:off x="1958999" y="2130599"/>
            <a:ext cx="5225998" cy="1962299"/>
          </a:xfrm>
          <a:prstGeom prst="rect">
            <a:avLst/>
          </a:prstGeom>
          <a:noFill/>
          <a:ln>
            <a:noFill/>
          </a:ln>
        </p:spPr>
      </p:pic>
      <p:sp>
        <p:nvSpPr>
          <p:cNvPr id="982533975" name="Google Shape;350;p58"/>
          <p:cNvSpPr txBox="1"/>
          <p:nvPr>
            <p:ph type="title"/>
          </p:nvPr>
        </p:nvSpPr>
        <p:spPr bwMode="auto">
          <a:xfrm>
            <a:off x="311699" y="445024"/>
            <a:ext cx="8520599" cy="572699"/>
          </a:xfrm>
          <a:prstGeom prst="rect">
            <a:avLst/>
          </a:prstGeom>
        </p:spPr>
        <p:txBody>
          <a:bodyPr spcFirstLastPara="1" wrap="square" lIns="91423" tIns="45699" rIns="91423" bIns="45699" anchor="ctr" anchorCtr="0">
            <a:noAutofit/>
          </a:bodyPr>
          <a:lstStyle/>
          <a:p>
            <a:pPr marL="0" lvl="0" indent="0" algn="l" rtl="0">
              <a:spcBef>
                <a:spcPts val="0"/>
              </a:spcBef>
              <a:spcAft>
                <a:spcPts val="0"/>
              </a:spcAft>
              <a:buNone/>
              <a:defRPr/>
            </a:pPr>
            <a:r>
              <a:rPr lang="en"/>
              <a:t>LSTM vs RNN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6431493" name="Title 1"/>
          <p:cNvSpPr>
            <a:spLocks noGrp="1"/>
          </p:cNvSpPr>
          <p:nvPr>
            <p:ph type="title"/>
          </p:nvPr>
        </p:nvSpPr>
        <p:spPr bwMode="auto"/>
        <p:txBody>
          <a:bodyPr/>
          <a:lstStyle/>
          <a:p>
            <a:pPr>
              <a:defRPr/>
            </a:pPr>
            <a:r>
              <a:rPr/>
              <a:t>GRU — Gated Recurrent Unit</a:t>
            </a:r>
            <a:endParaRPr/>
          </a:p>
        </p:txBody>
      </p:sp>
      <p:sp>
        <p:nvSpPr>
          <p:cNvPr id="1595755302" name="Text Placeholder 2"/>
          <p:cNvSpPr>
            <a:spLocks noGrp="1"/>
          </p:cNvSpPr>
          <p:nvPr>
            <p:ph type="body" idx="1"/>
          </p:nvPr>
        </p:nvSpPr>
        <p:spPr bwMode="auto"/>
        <p:txBody>
          <a:bodyPr/>
          <a:lstStyle/>
          <a:p>
            <a:pPr>
              <a:defRPr/>
            </a:pPr>
            <a:r>
              <a:rPr/>
              <a:t>LSTM: forget / input / output gates; a cell state "highway" — additions instead of multiplications</a:t>
            </a:r>
            <a:endParaRPr/>
          </a:p>
          <a:p>
            <a:pPr>
              <a:defRPr/>
            </a:pPr>
            <a:r>
              <a:rPr/>
              <a:t>GRU: a simplified LSTM with two gates</a:t>
            </a:r>
            <a:endParaRPr/>
          </a:p>
          <a:p>
            <a:pPr lvl="1">
              <a:defRPr/>
            </a:pPr>
            <a:r>
              <a:rPr/>
              <a:t>rₜ = sigmoid(Wᵣxₜ + Uᵣhₜ₋₁)      — reset gate</a:t>
            </a:r>
            <a:endParaRPr/>
          </a:p>
          <a:p>
            <a:pPr lvl="1">
              <a:defRPr/>
            </a:pPr>
            <a:r>
              <a:rPr/>
              <a:t>zₜ = sigmoid(Wᵤxₜ + Uᵤhₜ₋₁)      — update gate</a:t>
            </a:r>
            <a:endParaRPr/>
          </a:p>
          <a:p>
            <a:pPr lvl="1">
              <a:defRPr/>
            </a:pPr>
            <a:r>
              <a:rPr/>
              <a:t>h̃ₜ = tanh(Wxₜ + U(rₜ ⊙ hₜ₋₁))    — candidate state</a:t>
            </a:r>
            <a:endParaRPr/>
          </a:p>
          <a:p>
            <a:pPr lvl="1">
              <a:defRPr/>
            </a:pPr>
            <a:r>
              <a:rPr/>
              <a:t>hₜ = (1−zₜ) ⊙ hₜ₋₁ + zₜ ⊙ h̃ₜ    — new state</a:t>
            </a:r>
            <a:endParaRPr/>
          </a:p>
          <a:p>
            <a:pPr>
              <a:defRPr/>
            </a:pPr>
            <a:r>
              <a:rPr/>
              <a:t>When zₜ ≈ 0, hₜ₋₁ carries forward unchanged — the gradient flows through without decay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8038342" name="Title 1"/>
          <p:cNvSpPr>
            <a:spLocks noGrp="1"/>
          </p:cNvSpPr>
          <p:nvPr>
            <p:ph type="title"/>
          </p:nvPr>
        </p:nvSpPr>
        <p:spPr bwMode="auto"/>
        <p:txBody>
          <a:bodyPr/>
          <a:lstStyle/>
          <a:p>
            <a:pPr>
              <a:defRPr/>
            </a:pPr>
            <a:r>
              <a:rPr/>
              <a:t>Anchor Moment — Quick Check</a:t>
            </a:r>
            <a:endParaRPr/>
          </a:p>
        </p:txBody>
      </p:sp>
      <p:sp>
        <p:nvSpPr>
          <p:cNvPr id="1008315837" name="Text Placeholder 2"/>
          <p:cNvSpPr>
            <a:spLocks noGrp="1"/>
          </p:cNvSpPr>
          <p:nvPr>
            <p:ph type="body" idx="1"/>
          </p:nvPr>
        </p:nvSpPr>
        <p:spPr bwMode="auto"/>
        <p:txBody>
          <a:bodyPr/>
          <a:lstStyle/>
          <a:p>
            <a:pPr>
              <a:defRPr/>
            </a:pPr>
            <a:r>
              <a:rPr/>
              <a:t>If zₜ = 0 for all time steps: hₜ = hₜ₋₁ — the GRU always keeps the old hidden state</a:t>
            </a:r>
            <a:endParaRPr/>
          </a:p>
          <a:p>
            <a:pPr>
              <a:defRPr/>
            </a:pPr>
            <a:r>
              <a:rPr/>
              <a:t>If zₜ = 1 for all time steps: hₜ = h̃ₜ — the GRU always replaces the state with the candidate</a:t>
            </a:r>
            <a:endParaRPr/>
          </a:p>
          <a:p>
            <a:pPr>
              <a:defRPr/>
            </a:pPr>
            <a:r>
              <a:rPr/>
              <a:t>The GRU learns to interpolate between these extremes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9113630" name="Title 1"/>
          <p:cNvSpPr>
            <a:spLocks noGrp="1"/>
          </p:cNvSpPr>
          <p:nvPr>
            <p:ph type="title"/>
          </p:nvPr>
        </p:nvSpPr>
        <p:spPr bwMode="auto"/>
        <p:txBody>
          <a:bodyPr/>
          <a:lstStyle/>
          <a:p>
            <a:pPr>
              <a:defRPr/>
            </a:pPr>
            <a:r>
              <a:rPr/>
              <a:t>Segment 6 — Unidirectional vs. Bidirectional GRU</a:t>
            </a:r>
            <a:endParaRPr/>
          </a:p>
        </p:txBody>
      </p:sp>
      <p:sp>
        <p:nvSpPr>
          <p:cNvPr id="1601055013" name="Text Placeholder 2"/>
          <p:cNvSpPr>
            <a:spLocks noGrp="1"/>
          </p:cNvSpPr>
          <p:nvPr>
            <p:ph type="body" idx="1"/>
          </p:nvPr>
        </p:nvSpPr>
        <p:spPr bwMode="auto"/>
        <p:txBody>
          <a:bodyPr/>
          <a:lstStyle/>
          <a:p>
            <a:pPr>
              <a:defRPr/>
            </a:pPr>
            <a:r>
              <a:rPr/>
              <a:t>Unidirectional: reads left-to-right; the final hidden state summarises the sequence, but has seen early words many steps ago</a:t>
            </a:r>
            <a:endParaRPr/>
          </a:p>
          <a:p>
            <a:pPr>
              <a:defRPr/>
            </a:pPr>
            <a:r>
              <a:rPr/>
              <a:t>Bidirectional: runs two GRUs — one left-to-right, one right-to-left — and concatenates their final hidden states</a:t>
            </a:r>
            <a:endParaRPr/>
          </a:p>
          <a:p>
            <a:pPr lvl="1">
              <a:defRPr/>
            </a:pPr>
            <a:r>
              <a:rPr/>
              <a:t>Captures both what came before and what comes after each position, from each direction’s "final" perspective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9433280" name="Title 1"/>
          <p:cNvSpPr>
            <a:spLocks noGrp="1"/>
          </p:cNvSpPr>
          <p:nvPr>
            <p:ph type="title"/>
          </p:nvPr>
        </p:nvSpPr>
        <p:spPr bwMode="auto"/>
        <p:txBody>
          <a:bodyPr/>
          <a:lstStyle/>
          <a:p>
            <a:pPr>
              <a:defRPr/>
            </a:pPr>
            <a:r>
              <a:rPr/>
              <a:t>PyTorch Details for the Lab</a:t>
            </a:r>
            <a:endParaRPr/>
          </a:p>
        </p:txBody>
      </p:sp>
      <p:sp>
        <p:nvSpPr>
          <p:cNvPr id="1479811213" name="Text Placeholder 2"/>
          <p:cNvSpPr>
            <a:spLocks noGrp="1"/>
          </p:cNvSpPr>
          <p:nvPr>
            <p:ph type="body" idx="1"/>
          </p:nvPr>
        </p:nvSpPr>
        <p:spPr bwMode="auto"/>
        <p:txBody>
          <a:bodyPr/>
          <a:lstStyle/>
          <a:p>
            <a:pPr>
              <a:defRPr/>
            </a:pPr>
            <a:r>
              <a:rPr/>
              <a:t>nn.Embedding(vocab_size, dim): a lookup table — integer index in, embedding vector out</a:t>
            </a:r>
            <a:endParaRPr/>
          </a:p>
          <a:p>
            <a:pPr>
              <a:defRPr/>
            </a:pPr>
            <a:r>
              <a:rPr/>
              <a:t>nn.GRU(input_size, hidden_size, bidirectional=True, batch_first=True):</a:t>
            </a:r>
            <a:endParaRPr/>
          </a:p>
          <a:p>
            <a:pPr lvl="1">
              <a:defRPr/>
            </a:pPr>
            <a:r>
              <a:rPr/>
              <a:t>returns output (all hidden states) and h_n (final hidden state)</a:t>
            </a:r>
            <a:endParaRPr/>
          </a:p>
          <a:p>
            <a:pPr lvl="1">
              <a:defRPr/>
            </a:pPr>
            <a:r>
              <a:rPr/>
              <a:t>bidirectional h_n has shape (2, batch, hidden_size): index 0 = forward, index 1 = backward</a:t>
            </a:r>
            <a:endParaRPr/>
          </a:p>
          <a:p>
            <a:pPr>
              <a:defRPr/>
            </a:pPr>
            <a:r>
              <a:rPr/>
              <a:t>torch.cat([h_n[0], h_n[1]], dim=-1): concatenate along the last dim → (batch, 256)</a:t>
            </a:r>
            <a:endParaRPr/>
          </a:p>
          <a:p>
            <a:pPr>
              <a:defRPr/>
            </a:pPr>
            <a:r>
              <a:rPr/>
              <a:t>CrossEntropyLoss: combines log-softmax and negative log-likelihood — takes raw logits, not probabilities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9013642" name="Title 1"/>
          <p:cNvSpPr>
            <a:spLocks noGrp="1"/>
          </p:cNvSpPr>
          <p:nvPr>
            <p:ph type="title"/>
          </p:nvPr>
        </p:nvSpPr>
        <p:spPr bwMode="auto"/>
        <p:txBody>
          <a:bodyPr/>
          <a:lstStyle/>
          <a:p>
            <a:pPr>
              <a:defRPr/>
            </a:pPr>
            <a:r>
              <a:rPr/>
              <a:t>Why Train Embeddings From Scratch (Not GloVe)</a:t>
            </a:r>
            <a:endParaRPr/>
          </a:p>
        </p:txBody>
      </p:sp>
      <p:sp>
        <p:nvSpPr>
          <p:cNvPr id="1397156557" name="Text Placeholder 2"/>
          <p:cNvSpPr>
            <a:spLocks noGrp="1"/>
          </p:cNvSpPr>
          <p:nvPr>
            <p:ph type="body" idx="1"/>
          </p:nvPr>
        </p:nvSpPr>
        <p:spPr bwMode="auto"/>
        <p:txBody>
          <a:bodyPr/>
          <a:lstStyle/>
          <a:p>
            <a:pPr>
              <a:defRPr/>
            </a:pPr>
            <a:r>
              <a:rPr/>
              <a:t>GloVe gives fixed embeddings that do not update during training</a:t>
            </a:r>
            <a:endParaRPr/>
          </a:p>
          <a:p>
            <a:pPr>
              <a:defRPr/>
            </a:pPr>
            <a:r>
              <a:rPr/>
              <a:t>A learned embedding layer updates its weights through backpropagation — it adapts to the specific task</a:t>
            </a:r>
            <a:endParaRPr/>
          </a:p>
          <a:p>
            <a:pPr>
              <a:defRPr/>
            </a:pPr>
            <a:r>
              <a:rPr/>
              <a:t>For news topic classification, task-specific embeddings can outperform generic GloVe embeddings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1319815" name="Title 1"/>
          <p:cNvSpPr>
            <a:spLocks noGrp="1"/>
          </p:cNvSpPr>
          <p:nvPr>
            <p:ph type="title"/>
          </p:nvPr>
        </p:nvSpPr>
        <p:spPr bwMode="auto"/>
        <p:txBody>
          <a:bodyPr/>
          <a:lstStyle/>
          <a:p>
            <a:pPr>
              <a:defRPr/>
            </a:pPr>
            <a:r>
              <a:rPr/>
              <a:t>Segment 7 — Generating Text from a Language Model</a:t>
            </a:r>
            <a:endParaRPr/>
          </a:p>
        </p:txBody>
      </p:sp>
      <p:sp>
        <p:nvSpPr>
          <p:cNvPr id="776908322" name="Text Placeholder 2"/>
          <p:cNvSpPr>
            <a:spLocks noGrp="1"/>
          </p:cNvSpPr>
          <p:nvPr>
            <p:ph type="body" idx="1"/>
          </p:nvPr>
        </p:nvSpPr>
        <p:spPr bwMode="auto"/>
        <p:txBody>
          <a:bodyPr/>
          <a:lstStyle/>
          <a:p>
            <a:pPr>
              <a:defRPr/>
            </a:pPr>
            <a:r>
              <a:rPr/>
              <a:t>A trained LM (feedforward, RNN, or GRU) gives P(next word | everything so far) at each step</a:t>
            </a:r>
            <a:endParaRPr/>
          </a:p>
          <a:p>
            <a:pPr>
              <a:defRPr/>
            </a:pPr>
            <a:r>
              <a:rPr/>
              <a:t>To generate text: sample a word, feed it back in as input, repeat</a:t>
            </a:r>
            <a:endParaRPr/>
          </a:p>
          <a:p>
            <a:pPr>
              <a:defRPr/>
            </a:pPr>
            <a:r>
              <a:rPr/>
              <a:t>Greedy decoding: at each step, pick the single highest-probability word, feed it back in, repeat</a:t>
            </a:r>
            <a:endParaRPr/>
          </a:p>
          <a:p>
            <a:pPr lvl="1">
              <a:defRPr/>
            </a:pPr>
            <a:r>
              <a:rPr/>
              <a:t>Locally greedy in the same way as tagging each word with its individually-best POS tag (Segment 2) — fails the same way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8916523" name="Google Shape;491;p73"/>
          <p:cNvSpPr txBox="1"/>
          <p:nvPr>
            <p:ph type="title"/>
          </p:nvPr>
        </p:nvSpPr>
        <p:spPr bwMode="auto">
          <a:xfrm>
            <a:off x="311698" y="445023"/>
            <a:ext cx="8520598" cy="572698"/>
          </a:xfrm>
          <a:prstGeom prst="rect">
            <a:avLst/>
          </a:prstGeom>
        </p:spPr>
        <p:txBody>
          <a:bodyPr spcFirstLastPara="1" wrap="square" lIns="91422" tIns="45698" rIns="91422" bIns="45698" anchor="ctr" anchorCtr="0">
            <a:noAutofit/>
          </a:bodyPr>
          <a:lstStyle/>
          <a:p>
            <a:pPr marL="0" lvl="0" indent="0" algn="l" rtl="0">
              <a:spcBef>
                <a:spcPts val="0"/>
              </a:spcBef>
              <a:spcAft>
                <a:spcPts val="0"/>
              </a:spcAft>
              <a:buNone/>
              <a:defRPr/>
            </a:pPr>
            <a:r>
              <a:rPr lang="en"/>
              <a:t>Decoding</a:t>
            </a:r>
            <a:endParaRPr/>
          </a:p>
        </p:txBody>
      </p:sp>
      <p:sp>
        <p:nvSpPr>
          <p:cNvPr id="1116543642" name="Google Shape;492;p73"/>
          <p:cNvSpPr txBox="1"/>
          <p:nvPr>
            <p:ph type="body" idx="1"/>
          </p:nvPr>
        </p:nvSpPr>
        <p:spPr bwMode="auto">
          <a:xfrm>
            <a:off x="311698" y="1152472"/>
            <a:ext cx="8520598" cy="3416400"/>
          </a:xfrm>
          <a:prstGeom prst="rect">
            <a:avLst/>
          </a:prstGeom>
        </p:spPr>
        <p:txBody>
          <a:bodyPr spcFirstLastPara="1" wrap="square" lIns="91422" tIns="45698" rIns="91422" bIns="45698" anchor="t" anchorCtr="0">
            <a:normAutofit/>
          </a:bodyPr>
          <a:lstStyle/>
          <a:p>
            <a:pPr marL="0" lvl="0" indent="0" algn="l" rtl="0">
              <a:spcBef>
                <a:spcPts val="278"/>
              </a:spcBef>
              <a:spcAft>
                <a:spcPts val="0"/>
              </a:spcAft>
              <a:buNone/>
              <a:defRPr/>
            </a:pPr>
            <a:r>
              <a:rPr lang="en"/>
              <a:t>What is a greedy decoding algorithm?</a:t>
            </a:r>
            <a:endParaRPr/>
          </a:p>
          <a:p>
            <a:pPr marL="0" lvl="0" indent="0" algn="l" rtl="0">
              <a:spcBef>
                <a:spcPts val="278"/>
              </a:spcBef>
              <a:spcAft>
                <a:spcPts val="0"/>
              </a:spcAft>
              <a:buNone/>
              <a:defRPr/>
            </a:pPr>
            <a:endParaRPr/>
          </a:p>
          <a:p>
            <a:pPr marL="0" lvl="0" indent="0" algn="l" rtl="0">
              <a:spcBef>
                <a:spcPts val="278"/>
              </a:spcBef>
              <a:spcAft>
                <a:spcPts val="0"/>
              </a:spcAft>
              <a:buNone/>
              <a:defRPr/>
            </a:pPr>
            <a:endParaRPr/>
          </a:p>
          <a:p>
            <a:pPr marL="0" lvl="0" indent="0" algn="l" rtl="0">
              <a:spcBef>
                <a:spcPts val="278"/>
              </a:spcBef>
              <a:spcAft>
                <a:spcPts val="0"/>
              </a:spcAft>
              <a:buNone/>
              <a:defRPr/>
            </a:pPr>
            <a:endParaRPr/>
          </a:p>
          <a:p>
            <a:pPr marL="0" lvl="0" indent="0" algn="l" rtl="0">
              <a:spcBef>
                <a:spcPts val="278"/>
              </a:spcBef>
              <a:spcAft>
                <a:spcPts val="0"/>
              </a:spcAft>
              <a:buNone/>
              <a:defRPr/>
            </a:pPr>
            <a:r>
              <a:rPr lang="en"/>
              <a:t>To generate the most likely next token based on the preceding context.</a:t>
            </a:r>
            <a:endParaRPr/>
          </a:p>
        </p:txBody>
      </p:sp>
      <p:pic>
        <p:nvPicPr>
          <p:cNvPr id="1878590799" name="Google Shape;493;p73"/>
          <p:cNvPicPr/>
          <p:nvPr/>
        </p:nvPicPr>
        <p:blipFill rotWithShape="1">
          <a:blip r:embed="rId3">
            <a:alphaModFix/>
          </a:blip>
          <a:stretch/>
        </p:blipFill>
        <p:spPr bwMode="auto">
          <a:xfrm>
            <a:off x="1295708" y="1667871"/>
            <a:ext cx="6552579" cy="57269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0010576" name="Google Shape;498;p74"/>
          <p:cNvSpPr txBox="1"/>
          <p:nvPr>
            <p:ph type="title"/>
          </p:nvPr>
        </p:nvSpPr>
        <p:spPr bwMode="auto">
          <a:xfrm>
            <a:off x="311698" y="445023"/>
            <a:ext cx="8520598" cy="572698"/>
          </a:xfrm>
          <a:prstGeom prst="rect">
            <a:avLst/>
          </a:prstGeom>
        </p:spPr>
        <p:txBody>
          <a:bodyPr spcFirstLastPara="1" wrap="square" lIns="91422" tIns="45698" rIns="91422" bIns="45698" anchor="ctr" anchorCtr="0">
            <a:noAutofit/>
          </a:bodyPr>
          <a:lstStyle/>
          <a:p>
            <a:pPr marL="0" lvl="0" indent="0" algn="l" rtl="0">
              <a:spcBef>
                <a:spcPts val="0"/>
              </a:spcBef>
              <a:spcAft>
                <a:spcPts val="0"/>
              </a:spcAft>
              <a:buNone/>
              <a:defRPr/>
            </a:pPr>
            <a:r>
              <a:rPr lang="en"/>
              <a:t>Beam</a:t>
            </a:r>
            <a:endParaRPr/>
          </a:p>
        </p:txBody>
      </p:sp>
      <p:sp>
        <p:nvSpPr>
          <p:cNvPr id="1507867131" name="Google Shape;499;p74"/>
          <p:cNvSpPr txBox="1"/>
          <p:nvPr>
            <p:ph type="body" idx="1"/>
          </p:nvPr>
        </p:nvSpPr>
        <p:spPr bwMode="auto">
          <a:xfrm>
            <a:off x="311698" y="1152472"/>
            <a:ext cx="2998800" cy="3416400"/>
          </a:xfrm>
          <a:prstGeom prst="rect">
            <a:avLst/>
          </a:prstGeom>
        </p:spPr>
        <p:txBody>
          <a:bodyPr spcFirstLastPara="1" wrap="square" lIns="91422" tIns="45698" rIns="91422" bIns="45698" anchor="t" anchorCtr="0">
            <a:normAutofit/>
          </a:bodyPr>
          <a:lstStyle/>
          <a:p>
            <a:pPr marL="457200" lvl="0" indent="-342900" algn="l" rtl="0">
              <a:spcBef>
                <a:spcPts val="278"/>
              </a:spcBef>
              <a:spcAft>
                <a:spcPts val="0"/>
              </a:spcAft>
              <a:buSzPts val="1800"/>
              <a:buChar char="➢"/>
              <a:defRPr/>
            </a:pPr>
            <a:r>
              <a:rPr lang="en"/>
              <a:t>What is a beam search?</a:t>
            </a:r>
            <a:endParaRPr/>
          </a:p>
          <a:p>
            <a:pPr marL="457200" lvl="0" indent="-342900" algn="l" rtl="0">
              <a:spcBef>
                <a:spcPts val="0"/>
              </a:spcBef>
              <a:spcAft>
                <a:spcPts val="0"/>
              </a:spcAft>
              <a:buSzPts val="1800"/>
              <a:buChar char="➢"/>
              <a:defRPr/>
            </a:pPr>
            <a:r>
              <a:rPr lang="en"/>
              <a:t>Take into consideration of the future word and keep the top candidates</a:t>
            </a:r>
            <a:endParaRPr/>
          </a:p>
          <a:p>
            <a:pPr marL="457200" lvl="0" indent="-342900" algn="l" rtl="0">
              <a:spcBef>
                <a:spcPts val="0"/>
              </a:spcBef>
              <a:spcAft>
                <a:spcPts val="0"/>
              </a:spcAft>
              <a:buSzPts val="1800"/>
              <a:buChar char="➢"/>
              <a:defRPr/>
            </a:pPr>
            <a:r>
              <a:rPr lang="en"/>
              <a:t>A pruned search space</a:t>
            </a:r>
            <a:endParaRPr/>
          </a:p>
          <a:p>
            <a:pPr marL="457200" lvl="0" indent="-342900" algn="l" rtl="0">
              <a:spcBef>
                <a:spcPts val="0"/>
              </a:spcBef>
              <a:spcAft>
                <a:spcPts val="0"/>
              </a:spcAft>
              <a:buSzPts val="1800"/>
              <a:buChar char="➢"/>
              <a:defRPr/>
            </a:pPr>
            <a:r>
              <a:rPr lang="en"/>
              <a:t>Computationally expensive for larger vocab size, beam size and depth</a:t>
            </a:r>
            <a:endParaRPr/>
          </a:p>
        </p:txBody>
      </p:sp>
      <p:pic>
        <p:nvPicPr>
          <p:cNvPr id="1519025357" name="Google Shape;500;p74"/>
          <p:cNvPicPr/>
          <p:nvPr/>
        </p:nvPicPr>
        <p:blipFill rotWithShape="1">
          <a:blip r:embed="rId3">
            <a:alphaModFix/>
          </a:blip>
          <a:stretch/>
        </p:blipFill>
        <p:spPr bwMode="auto">
          <a:xfrm>
            <a:off x="3348274" y="1199722"/>
            <a:ext cx="5307923" cy="24882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6087739" name="Google Shape;505;p75"/>
          <p:cNvSpPr txBox="1"/>
          <p:nvPr>
            <p:ph type="title"/>
          </p:nvPr>
        </p:nvSpPr>
        <p:spPr bwMode="auto">
          <a:xfrm>
            <a:off x="311698" y="445023"/>
            <a:ext cx="8520598" cy="572698"/>
          </a:xfrm>
          <a:prstGeom prst="rect">
            <a:avLst/>
          </a:prstGeom>
        </p:spPr>
        <p:txBody>
          <a:bodyPr spcFirstLastPara="1" wrap="square" lIns="91422" tIns="45698" rIns="91422" bIns="45698" anchor="ctr" anchorCtr="0">
            <a:noAutofit/>
          </a:bodyPr>
          <a:lstStyle/>
          <a:p>
            <a:pPr marL="0" lvl="0" indent="0" algn="l" rtl="0">
              <a:spcBef>
                <a:spcPts val="0"/>
              </a:spcBef>
              <a:spcAft>
                <a:spcPts val="0"/>
              </a:spcAft>
              <a:buNone/>
              <a:defRPr/>
            </a:pPr>
            <a:r>
              <a:rPr lang="en"/>
              <a:t>Temperature</a:t>
            </a:r>
            <a:endParaRPr/>
          </a:p>
        </p:txBody>
      </p:sp>
      <p:sp>
        <p:nvSpPr>
          <p:cNvPr id="1837950046" name="Google Shape;506;p75"/>
          <p:cNvSpPr txBox="1"/>
          <p:nvPr>
            <p:ph type="body" idx="1"/>
          </p:nvPr>
        </p:nvSpPr>
        <p:spPr bwMode="auto">
          <a:xfrm>
            <a:off x="311698" y="1152472"/>
            <a:ext cx="8520598" cy="3416400"/>
          </a:xfrm>
          <a:prstGeom prst="rect">
            <a:avLst/>
          </a:prstGeom>
        </p:spPr>
        <p:txBody>
          <a:bodyPr spcFirstLastPara="1" wrap="square" lIns="91422" tIns="45698" rIns="91422" bIns="45698" anchor="t" anchorCtr="0">
            <a:normAutofit/>
          </a:bodyPr>
          <a:lstStyle/>
          <a:p>
            <a:pPr marL="457200" lvl="0" indent="-342900" algn="l" rtl="0">
              <a:spcBef>
                <a:spcPts val="278"/>
              </a:spcBef>
              <a:spcAft>
                <a:spcPts val="0"/>
              </a:spcAft>
              <a:buSzPts val="1800"/>
              <a:buChar char="❖"/>
              <a:defRPr/>
            </a:pPr>
            <a:r>
              <a:rPr lang="en"/>
              <a:t>For larger models that are </a:t>
            </a:r>
            <a:endParaRPr/>
          </a:p>
          <a:p>
            <a:pPr marL="914400" lvl="1" indent="-330198" algn="l" rtl="0">
              <a:spcBef>
                <a:spcPts val="0"/>
              </a:spcBef>
              <a:spcAft>
                <a:spcPts val="0"/>
              </a:spcAft>
              <a:buSzPts val="1600"/>
              <a:buChar char="➢"/>
              <a:defRPr/>
            </a:pPr>
            <a:r>
              <a:rPr lang="en"/>
              <a:t>well trained</a:t>
            </a:r>
            <a:endParaRPr/>
          </a:p>
          <a:p>
            <a:pPr marL="914400" lvl="1" indent="-330198" algn="l" rtl="0">
              <a:spcBef>
                <a:spcPts val="0"/>
              </a:spcBef>
              <a:spcAft>
                <a:spcPts val="0"/>
              </a:spcAft>
              <a:buSzPts val="1600"/>
              <a:buChar char="➢"/>
              <a:defRPr/>
            </a:pPr>
            <a:r>
              <a:rPr lang="en"/>
              <a:t>with larger vocabulary size</a:t>
            </a:r>
            <a:endParaRPr/>
          </a:p>
          <a:p>
            <a:pPr marL="457200" lvl="0" indent="-342900" algn="l" rtl="0">
              <a:spcBef>
                <a:spcPts val="0"/>
              </a:spcBef>
              <a:spcAft>
                <a:spcPts val="0"/>
              </a:spcAft>
              <a:buSzPts val="1800"/>
              <a:buChar char="❖"/>
              <a:defRPr/>
            </a:pPr>
            <a:r>
              <a:rPr lang="en"/>
              <a:t>Temperature can be a good way to increase variations in generated outputs</a:t>
            </a:r>
            <a:endParaRPr/>
          </a:p>
        </p:txBody>
      </p:sp>
      <p:pic>
        <p:nvPicPr>
          <p:cNvPr id="180777472" name="Google Shape;507;p75"/>
          <p:cNvPicPr/>
          <p:nvPr/>
        </p:nvPicPr>
        <p:blipFill rotWithShape="1">
          <a:blip r:embed="rId3">
            <a:alphaModFix/>
          </a:blip>
          <a:stretch/>
        </p:blipFill>
        <p:spPr bwMode="auto">
          <a:xfrm>
            <a:off x="1886023" y="2503296"/>
            <a:ext cx="5371948" cy="105047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670914" name="Title 1"/>
          <p:cNvSpPr>
            <a:spLocks noGrp="1"/>
          </p:cNvSpPr>
          <p:nvPr>
            <p:ph type="title"/>
          </p:nvPr>
        </p:nvSpPr>
        <p:spPr bwMode="auto"/>
        <p:txBody>
          <a:bodyPr/>
          <a:lstStyle/>
          <a:p>
            <a:pPr>
              <a:defRPr/>
            </a:pPr>
            <a:r>
              <a:rPr/>
              <a:t>Anchor Moment — Quick Check</a:t>
            </a:r>
            <a:endParaRPr/>
          </a:p>
        </p:txBody>
      </p:sp>
      <p:sp>
        <p:nvSpPr>
          <p:cNvPr id="446961315" name="Text Placeholder 2"/>
          <p:cNvSpPr>
            <a:spLocks noGrp="1"/>
          </p:cNvSpPr>
          <p:nvPr>
            <p:ph type="body" idx="1"/>
          </p:nvPr>
        </p:nvSpPr>
        <p:spPr bwMode="auto"/>
        <p:txBody>
          <a:bodyPr/>
          <a:lstStyle/>
          <a:p>
            <a:pPr>
              <a:defRPr/>
            </a:pPr>
            <a:r>
              <a:rPr/>
              <a:t>If beam width k = 1, what does beam search reduce to?</a:t>
            </a:r>
            <a:endParaRPr/>
          </a:p>
          <a:p>
            <a:pPr lvl="1">
              <a:defRPr/>
            </a:pPr>
            <a:r>
              <a:rPr/>
              <a:t>Greedy decoding</a:t>
            </a:r>
            <a:endParaRPr/>
          </a:p>
          <a:p>
            <a:pPr>
              <a:defRPr/>
            </a:pPr>
            <a:r>
              <a:rPr/>
              <a:t>As k → vocabulary size (effectively no pruning), what does it approach?</a:t>
            </a:r>
            <a:endParaRPr/>
          </a:p>
          <a:p>
            <a:pPr lvl="1">
              <a:defRPr/>
            </a:pPr>
            <a:r>
              <a:rPr/>
              <a:t>Exhaustive search over all sequences — intractable in practice, which is exactly why we need a beam width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4103109" name="Title 1"/>
          <p:cNvSpPr>
            <a:spLocks noGrp="1"/>
          </p:cNvSpPr>
          <p:nvPr>
            <p:ph type="title"/>
          </p:nvPr>
        </p:nvSpPr>
        <p:spPr bwMode="auto"/>
        <p:txBody>
          <a:bodyPr/>
          <a:lstStyle/>
          <a:p>
            <a:pPr>
              <a:defRPr/>
            </a:pPr>
            <a:r>
              <a:rPr/>
              <a:t>Common Student Errors (1/2)</a:t>
            </a:r>
            <a:endParaRPr/>
          </a:p>
        </p:txBody>
      </p:sp>
      <p:sp>
        <p:nvSpPr>
          <p:cNvPr id="2110607307" name="Text Placeholder 2"/>
          <p:cNvSpPr>
            <a:spLocks noGrp="1"/>
          </p:cNvSpPr>
          <p:nvPr>
            <p:ph type="body" idx="1"/>
          </p:nvPr>
        </p:nvSpPr>
        <p:spPr bwMode="auto"/>
        <p:txBody>
          <a:bodyPr/>
          <a:lstStyle/>
          <a:p>
            <a:pPr>
              <a:defRPr/>
            </a:pPr>
            <a:r>
              <a:rPr/>
              <a:t>Error 1: Confusing Viterbi with the forward algorithm</a:t>
            </a:r>
            <a:endParaRPr/>
          </a:p>
          <a:p>
            <a:pPr lvl="1">
              <a:defRPr/>
            </a:pPr>
            <a:r>
              <a:rPr/>
              <a:t>Viterbi = argmax over paths; forward algorithm = sum over all paths. Both use DP, but max vs sum.</a:t>
            </a:r>
            <a:endParaRPr/>
          </a:p>
          <a:p>
            <a:pPr>
              <a:defRPr/>
            </a:pPr>
            <a:r>
              <a:rPr/>
              <a:t>Error 2: Putting the emission term inside the max over previous tags</a:t>
            </a:r>
            <a:endParaRPr/>
          </a:p>
          <a:p>
            <a:pPr lvl="1">
              <a:defRPr/>
            </a:pPr>
            <a:r>
              <a:rPr/>
              <a:t>emit doesn’t depend on prev_tag, so it’s added once, after the loop, not inside it</a:t>
            </a:r>
            <a:endParaRPr/>
          </a:p>
          <a:p>
            <a:pPr>
              <a:defRPr/>
            </a:pPr>
            <a:r>
              <a:rPr/>
              <a:t>Error 3: Forgetting to backtrack — reporting only the final tag</a:t>
            </a:r>
            <a:endParaRPr/>
          </a:p>
          <a:p>
            <a:pPr lvl="1">
              <a:defRPr/>
            </a:pPr>
            <a:r>
              <a:rPr/>
              <a:t>The backpointer list is what makes the full sequence recoverable, not just the last tag</a:t>
            </a:r>
            <a:endParaRPr/>
          </a:p>
          <a:p>
            <a:pPr>
              <a:defRPr/>
            </a:pPr>
            <a:r>
              <a:rPr/>
              <a:t>Error 4: Using output[:, -1, :] instead of h_n</a:t>
            </a:r>
            <a:endParaRPr/>
          </a:p>
          <a:p>
            <a:pPr lvl="1">
              <a:defRPr/>
            </a:pPr>
            <a:r>
              <a:rPr/>
              <a:t>For a bidirectional GRU, the backward direction’s "final" state is at position 0, not T — use h_n[0] and h_n[1]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2602026" name="Title 1"/>
          <p:cNvSpPr>
            <a:spLocks noGrp="1"/>
          </p:cNvSpPr>
          <p:nvPr>
            <p:ph type="title"/>
          </p:nvPr>
        </p:nvSpPr>
        <p:spPr bwMode="auto"/>
        <p:txBody>
          <a:bodyPr/>
          <a:lstStyle/>
          <a:p>
            <a:pPr>
              <a:defRPr/>
            </a:pPr>
            <a:r>
              <a:rPr/>
              <a:t>Common Student Errors (2/2)</a:t>
            </a:r>
            <a:endParaRPr/>
          </a:p>
        </p:txBody>
      </p:sp>
      <p:sp>
        <p:nvSpPr>
          <p:cNvPr id="501981566" name="Text Placeholder 2"/>
          <p:cNvSpPr>
            <a:spLocks noGrp="1"/>
          </p:cNvSpPr>
          <p:nvPr>
            <p:ph type="body" idx="1"/>
          </p:nvPr>
        </p:nvSpPr>
        <p:spPr bwMode="auto"/>
        <p:txBody>
          <a:bodyPr/>
          <a:lstStyle/>
          <a:p>
            <a:pPr>
              <a:defRPr/>
            </a:pPr>
            <a:r>
              <a:rPr/>
              <a:t>Error 5: Initialising the embedding layer with GloVe weights</a:t>
            </a:r>
            <a:endParaRPr/>
          </a:p>
          <a:p>
            <a:pPr lvl="1">
              <a:defRPr/>
            </a:pPr>
            <a:r>
              <a:rPr/>
              <a:t>TMA Q4 requires training the embedding from scratch — GloVe init would overlap with Q2b and be unfair</a:t>
            </a:r>
            <a:endParaRPr/>
          </a:p>
          <a:p>
            <a:pPr>
              <a:defRPr/>
            </a:pPr>
            <a:r>
              <a:rPr/>
              <a:t>Error 6: Treating CrossEntropyLoss as requiring probabilities</a:t>
            </a:r>
            <a:endParaRPr/>
          </a:p>
          <a:p>
            <a:pPr lvl="1">
              <a:defRPr/>
            </a:pPr>
            <a:r>
              <a:rPr/>
              <a:t>nn.CrossEntropyLoss takes raw logits; applying F.softmax() first gives incorrect gradients</a:t>
            </a:r>
            <a:endParaRPr/>
          </a:p>
          <a:p>
            <a:pPr>
              <a:defRPr/>
            </a:pPr>
            <a:r>
              <a:rPr/>
              <a:t>Error 7: Assuming beam search finds the globally optimal sequence, the way Viterbi does</a:t>
            </a:r>
            <a:endParaRPr/>
          </a:p>
          <a:p>
            <a:pPr lvl="1">
              <a:defRPr/>
            </a:pPr>
            <a:r>
              <a:rPr/>
              <a:t>Beam search is a heuristic pruning strategy — it can discard the true best sequence if it doesn’t make the top-k cut early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8334042" name="Google Shape;512;p76"/>
          <p:cNvSpPr txBox="1"/>
          <p:nvPr/>
        </p:nvSpPr>
        <p:spPr bwMode="auto">
          <a:xfrm>
            <a:off x="3779698" y="2340900"/>
            <a:ext cx="1584599" cy="461700"/>
          </a:xfrm>
          <a:prstGeom prst="rect">
            <a:avLst/>
          </a:prstGeom>
          <a:noFill/>
          <a:ln>
            <a:noFill/>
          </a:ln>
        </p:spPr>
        <p:txBody>
          <a:bodyPr spcFirstLastPara="1" wrap="square" lIns="91423" tIns="91423" rIns="91423" bIns="91423" anchor="t" anchorCtr="0">
            <a:spAutoFit/>
          </a:bodyPr>
          <a:lstStyle/>
          <a:p>
            <a:pPr marL="0" lvl="0" indent="0" algn="ctr" rtl="0">
              <a:spcBef>
                <a:spcPts val="0"/>
              </a:spcBef>
              <a:spcAft>
                <a:spcPts val="0"/>
              </a:spcAft>
              <a:buNone/>
              <a:defRPr/>
            </a:pPr>
            <a:r>
              <a:rPr lang="en" sz="1800">
                <a:solidFill>
                  <a:schemeClr val="lt2"/>
                </a:solidFill>
              </a:rPr>
              <a:t>Thank you</a:t>
            </a:r>
            <a:endParaRPr sz="1800">
              <a:solidFill>
                <a:schemeClr val="lt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Custom 16">
      <a:dk1>
        <a:srgbClr val="003B5C"/>
      </a:dk1>
      <a:lt1>
        <a:srgbClr val="FFFFFF"/>
      </a:lt1>
      <a:dk2>
        <a:srgbClr val="003B5C"/>
      </a:dk2>
      <a:lt2>
        <a:srgbClr val="FFFFFF"/>
      </a:lt2>
      <a:accent1>
        <a:srgbClr val="003B5C"/>
      </a:accent1>
      <a:accent2>
        <a:srgbClr val="DA291C"/>
      </a:accent2>
      <a:accent3>
        <a:srgbClr val="99D6EA"/>
      </a:accent3>
      <a:accent4>
        <a:srgbClr val="C8C9C7"/>
      </a:accent4>
      <a:accent5>
        <a:srgbClr val="FFFFFF"/>
      </a:accent5>
      <a:accent6>
        <a:srgbClr val="FFFFFF"/>
      </a:accent6>
      <a:hlink>
        <a:srgbClr val="0000FF"/>
      </a:hlink>
      <a:folHlink>
        <a:srgbClr val="800080"/>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67</Slides>
  <Notes>67</Notes>
  <HiddenSlides>0</HiddenSlides>
  <MMClips>2</MMClips>
  <ScaleCrop>0</ScaleCrop>
  <HeadingPairs>
    <vt:vector size="4" baseType="variant">
      <vt:variant>
        <vt:lpstr>Theme</vt:lpstr>
      </vt:variant>
      <vt:variant>
        <vt:i4>1</vt:i4>
      </vt:variant>
      <vt:variant>
        <vt:lpstr>Slide Titles</vt:lpstr>
      </vt:variant>
      <vt:variant>
        <vt:i4>67</vt:i4>
      </vt:variant>
    </vt:vector>
  </HeadingPairs>
  <TitlesOfParts>
    <vt:vector size="6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4</cp:revision>
  <dcterms:modified xsi:type="dcterms:W3CDTF">2026-08-08T11:56:32Z</dcterms:modified>
</cp:coreProperties>
</file>