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144000" cy="5143500" type="screen16x9"/>
  <p:notesSz cx="6858000" cy="9144000"/>
  <p:embeddedFontLst>
    <p:embeddedFont>
      <p:font typeface="Lucida Sans" panose="020B0602030504020204" pitchFamily="34" charset="77"/>
      <p:regular r:id="rId49"/>
      <p:bold r:id="rId50"/>
      <p:italic r:id="rId51"/>
      <p:boldItalic r:id="rId52"/>
    </p:embeddedFont>
    <p:embeddedFont>
      <p:font typeface="Montserrat Medium" panose="00000600000000000000" pitchFamily="2" charset="77"/>
      <p:regular r:id="rId53"/>
      <p: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028"/>
  </p:normalViewPr>
  <p:slideViewPr>
    <p:cSldViewPr snapToGrid="0">
      <p:cViewPr varScale="1">
        <p:scale>
          <a:sx n="113" d="100"/>
          <a:sy n="113" d="100"/>
        </p:scale>
        <p:origin x="1504" y="168"/>
      </p:cViewPr>
      <p:guideLst>
        <p:guide orient="horz" pos="1620"/>
        <p:guide pos="2880"/>
      </p:guideLst>
    </p:cSldViewPr>
  </p:slideViewPr>
  <p:notesTextViewPr>
    <p:cViewPr>
      <p:scale>
        <a:sx n="1" d="1"/>
        <a:sy n="1" d="1"/>
      </p:scale>
      <p:origin x="0" y="-392"/>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826096651" name="Google Shape;3;n"/>
          <p:cNvSpPr>
            <a:spLocks noGrp="1" noRot="1" noChangeAspect="1"/>
          </p:cNvSpPr>
          <p:nvPr>
            <p:ph type="sldImg" idx="2"/>
          </p:nvPr>
        </p:nvSpPr>
        <p:spPr bwMode="auto">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822140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950513217" name="Google Shape;281;p:notes"/>
          <p:cNvSpPr>
            <a:spLocks noGrp="1" noRot="1" noChangeAspect="1"/>
          </p:cNvSpPr>
          <p:nvPr>
            <p:ph type="sldImg" idx="2"/>
          </p:nvPr>
        </p:nvSpPr>
        <p:spPr bwMode="auto">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11650" name="Google Shape;282;p: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[~2 min]</a:t>
            </a:r>
          </a:p>
          <a:p>
            <a:endParaRPr dirty="0"/>
          </a:p>
          <a:p>
            <a:r>
              <a:rPr dirty="0"/>
              <a:t>Welcome to ICT 304. The subtitle matters more than the code: NLP Foundation for Generative AI. Not "Introduction to Generative AI." Foundation.</a:t>
            </a:r>
          </a:p>
          <a:p>
            <a:endParaRPr dirty="0"/>
          </a:p>
          <a:p>
            <a:r>
              <a:rPr dirty="0"/>
              <a:t>Everyone in this room has used a large language model. Most of you could build something useful with one by Friday without attending a single lecture. So why are we here? Because the gap between people who use these systems and people who can diagnose, evaluate and improve them is where every job worth having sits. That gap is made of the material in this module.</a:t>
            </a:r>
          </a:p>
          <a:p>
            <a:endParaRPr dirty="0"/>
          </a:p>
          <a:p>
            <a:r>
              <a:rPr dirty="0"/>
              <a:t>A quick word about me before we start, and then we'll get straight into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147521313" name="Google Shape;287;g37833d67588_0_0: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981639" name="Google Shape;288;g37833d67588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[~7 min]</a:t>
            </a:r>
          </a:p>
          <a:p>
            <a:r>
              <a:rPr dirty="0"/>
              <a:t>Read the first bullet as a build order, not a menu. Word embeddings, feed-forward networks, recurrent networks, attention, then encoder-decoder and Transformers. Every step on that list exists because the previous one broke on something. If you understand why attention had to be invented, the Transformer is almost boring. If you skip straight to Transformers, you </a:t>
            </a:r>
            <a:r>
              <a:rPr dirty="0" err="1"/>
              <a:t>memorise</a:t>
            </a:r>
            <a:r>
              <a:rPr dirty="0"/>
              <a:t> a diagram.</a:t>
            </a:r>
          </a:p>
          <a:p>
            <a:r>
              <a:rPr dirty="0"/>
              <a:t>Encoder-decoder is 2014, and the Transformer paper is 2017. What is recent is the scale, not the architecture. Hold on to that distinction — it will come up in your assessments.</a:t>
            </a:r>
          </a:p>
          <a:p>
            <a:r>
              <a:rPr dirty="0"/>
              <a:t>Second bullet — the big-picture view of human language. Students undervalue this one and later wish they hadn't. Language is ambiguous, compositional, and infinite in a way images are not. A model that says something fluent and wrong is a specific engineering failure, and you need vocabulary for it. We spend a whole section on that today.</a:t>
            </a:r>
          </a:p>
          <a:p>
            <a:r>
              <a:rPr dirty="0"/>
              <a:t>Third bullet — you will write </a:t>
            </a:r>
            <a:r>
              <a:rPr dirty="0" err="1"/>
              <a:t>PyTorch</a:t>
            </a:r>
            <a:r>
              <a:rPr dirty="0"/>
              <a:t>. Not read it, write it. Word meaning, dependency parsing, document classification, machine translation, question answering.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104851217" name="Google Shape;294;g37833d67588_0_13: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857897" name="Google Shape;295;g37833d67588_0_13: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[~1 min]</a:t>
            </a:r>
          </a:p>
          <a:p>
            <a:r>
              <a:rPr dirty="0"/>
              <a:t>Before any technical content, we need to agree on how you are going to work in this module. This section is about the tools you will use every day and what I expect from you when you use them. It is not a tangent.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844807211" name="Google Shape;301;g37833d67588_0_24: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0373370" name="Google Shape;302;g37833d67588_0_24: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[~4 min]</a:t>
            </a:r>
          </a:p>
          <a:p>
            <a:r>
              <a:rPr dirty="0"/>
              <a:t>June 2025. Base44 — six months old, one owner, no co-founder — sells to Wix for eighty million dollars in cash.</a:t>
            </a:r>
          </a:p>
          <a:p>
            <a:r>
              <a:rPr dirty="0"/>
              <a:t>Let me be careful about the lesson here. The lesson is not "ship fast with AI and get rich." Outliers make bad curricula. The lesson is that the bottleneck moved. Three years ago the constraint on a product like this was implementation headcount. It is not anymore.</a:t>
            </a:r>
          </a:p>
          <a:p>
            <a:r>
              <a:rPr dirty="0"/>
              <a:t>So the question becomes: if implementation is cheap, what is expensive?</a:t>
            </a:r>
          </a:p>
          <a:p>
            <a:r>
              <a:rPr dirty="0"/>
              <a:t>Have a think about that. I will answer it in three slides.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344246319" name="Google Shape;308;g37833d67588_0_29: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4996529" name="Google Shape;309;g37833d67588_0_29: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[~4 min]</a:t>
            </a:r>
          </a:p>
          <a:p>
            <a:r>
              <a:rPr dirty="0"/>
              <a:t>This is </a:t>
            </a:r>
            <a:r>
              <a:rPr dirty="0" err="1"/>
              <a:t>Karpathy's</a:t>
            </a:r>
            <a:r>
              <a:rPr dirty="0"/>
              <a:t> coinage. Vibe coding means you stop reading the diffs. You describe what you want, you accept what comes back, and you keep going.</a:t>
            </a:r>
          </a:p>
          <a:p>
            <a:r>
              <a:rPr dirty="0"/>
              <a:t>That is fine for a weekend project. It is a career-limiting habit for anything with users, and I will explain why when we get to assessment.</a:t>
            </a:r>
          </a:p>
          <a:p>
            <a:r>
              <a:rPr dirty="0"/>
              <a:t>Let me play a couple of minutes of this and then we'll move 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2088599301" name="Google Shape;315;g37833d67588_0_18: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731237" name="Google Shape;316;g37833d67588_0_18: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[~5 min]</a:t>
            </a:r>
          </a:p>
          <a:p>
            <a:r>
              <a:rPr dirty="0"/>
              <a:t>Two modes here, and the real difference is about who holds the plan.</a:t>
            </a:r>
          </a:p>
          <a:p>
            <a:r>
              <a:rPr dirty="0"/>
              <a:t>The left column is pair programming — Copilot, Cursor, Windsurf. The tool is reactive. It completes what you started. You hold the plan and it accelerates your typing. It is a very good junior partner and a very bad architect.</a:t>
            </a:r>
          </a:p>
          <a:p>
            <a:r>
              <a:rPr dirty="0"/>
              <a:t>The right column is peer programming — Codex, Jules. You hand over a goal and it works autonomously. It holds a plan. That is genuinely different, and it fails differently: instead of one wrong line you get a confidently wrong hundred lines, wired together, that runs.</a:t>
            </a:r>
          </a:p>
          <a:p>
            <a:r>
              <a:rPr dirty="0"/>
              <a:t>Here is the working split I would suggest, and it is what I use myself: architecture decisions with the strongest model you have, in a conversation, deliberately — and execution delegated. The model that writes your code should not be the model that decides your design. Keep those two separate and you will debug half as much.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513555068" name="Google Shape;323;g37833d67588_0_34: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9629405" name="Google Shape;324;g37833d67588_0_34: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[~5 min]</a:t>
            </a:r>
          </a:p>
          <a:p>
            <a:r>
              <a:rPr dirty="0"/>
              <a:t>This answers the question I left open three slides ago. If implementation is cheap, value moves upstream. Three things.</a:t>
            </a:r>
          </a:p>
          <a:p>
            <a:r>
              <a:rPr dirty="0"/>
              <a:t>Be the creator of tools, not the consumer. Consumers of AI tools are a commodity. Builders are not.</a:t>
            </a:r>
          </a:p>
          <a:p>
            <a:r>
              <a:rPr dirty="0"/>
              <a:t>Own the problem. The scarce skill is knowing which problem is worth solving and what "solved" actually means. No model will tell you that.</a:t>
            </a:r>
          </a:p>
          <a:p>
            <a:r>
              <a:rPr dirty="0"/>
              <a:t>Discover problems. Nobody hands you a well-specified ticket in the real world.</a:t>
            </a:r>
          </a:p>
          <a:p>
            <a:r>
              <a:rPr dirty="0"/>
              <a:t>Second half of the slide — piece everything together. You now have extreme breadth available to you. You can go deep quickly in a field you have never touched. The constraint is no longer knowledge access; it is judgment and nerve. That is what "be brave" means. Practically: attempt things one level beyond what you think you can do, because the cost of attempting has collapsed.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86300014" name="Google Shape;330;g37833d67588_0_64: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1842813" name="Google Shape;331;g37833d67588_0_64: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[~1 min]</a:t>
            </a:r>
          </a:p>
          <a:p>
            <a:r>
              <a:rPr dirty="0"/>
              <a:t>Now the part that affects your grade. Please pay more attention to this section than the last 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972213807" name="Google Shape;337;g37833d67588_0_69: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441696" name="Google Shape;338;g37833d67588_0_69: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[~9 min]</a:t>
            </a:r>
          </a:p>
          <a:p>
            <a:r>
              <a:rPr dirty="0"/>
              <a:t>Bullet by bullet, because you need to know exactly what is permitted.</a:t>
            </a:r>
          </a:p>
          <a:p>
            <a:r>
              <a:rPr dirty="0"/>
              <a:t>Programming with Gemini and OpenAI — permitted and expected. I am not going to pretend you will not use them. Using them well is part of the skill I am assessing.</a:t>
            </a:r>
          </a:p>
          <a:p>
            <a:r>
              <a:rPr dirty="0"/>
              <a:t>Focus on the enduring concepts, frameworks and schemas. Do not burn a week on syntax you can look up. That does not mean don't understand your code. If you submit something you cannot explain line by line, you have failed the assessment even if it runs.</a:t>
            </a:r>
          </a:p>
          <a:p>
            <a:r>
              <a:rPr dirty="0"/>
              <a:t>Assessment focuses on consistency and progression. I am not only marking the final artefact. I am looking at the commit history. Twenty commits over eight weeks tells me a story. One commit at 2am the night before tells me a different story, and I will believe it.</a:t>
            </a:r>
          </a:p>
          <a:p>
            <a:r>
              <a:rPr dirty="0"/>
              <a:t>Don't lose sight of your goal. Concretely: when you pick your project, pick something you would still want to exist if it were not graded.</a:t>
            </a:r>
          </a:p>
          <a:p>
            <a:r>
              <a:rPr dirty="0"/>
              <a:t>Someone is about to ask whether they can just have the AI write it. The answer: use it however you like, I will ask you to explain any part of it, and the commit history has to show a human learning. Those three constraints together are the policy.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789429994" name="Google Shape;344;g3783e683079_0_0: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073306" name="Google Shape;345;g3783e683079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[~1 min]</a:t>
            </a:r>
          </a:p>
          <a:p>
            <a:r>
              <a:rPr dirty="0"/>
              <a:t>Gear change. The rest of today is fundamentals. Some of you have seen this material before — sit with it anyway, because I am going to set up notation we use all semester.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232587887" name="Google Shape;350;g37833d67588_0_124: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1439403" name="Google Shape;351;g37833d67588_0_124: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[~4 min]</a:t>
            </a:r>
          </a:p>
          <a:p>
            <a:r>
              <a:rPr dirty="0"/>
              <a:t>The definition on the slide is deliberately dry. The load-bearing word is "examples."</a:t>
            </a:r>
          </a:p>
          <a:p>
            <a:r>
              <a:rPr dirty="0"/>
              <a:t>Classical programming: you write the rules, data goes in, answers come out. Machine learning: data and answers go in, and the rules come out. That inversion is the entire idea.</a:t>
            </a:r>
          </a:p>
          <a:p>
            <a:r>
              <a:rPr dirty="0"/>
              <a:t>Note the last line — examples can come from nature, be handcrafted by humans, or be generated by another algorithm. That third one used to be a footnote. It is now a major research area: synthetic data, distillation, self-instruct. Remember that this line was on a slide in week one.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506709509" name="Google Shape;357;g37833d67588_0_130: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085514" name="Google Shape;358;g37833d67588_0_13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[~3 min]</a:t>
            </a:r>
          </a:p>
          <a:p>
            <a:r>
              <a:rPr dirty="0"/>
              <a:t>I am not going to read this list. I want you to notice one thing about it.</a:t>
            </a:r>
          </a:p>
          <a:p>
            <a:r>
              <a:rPr dirty="0"/>
              <a:t>Speech, faces, handwriting, objects — those four output a category. House price outputs a number. That is a different kind of problem, and the distinction has a name. Hold the thought for one slide.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578373527" name="Google Shape;365;g37833d67588_0_137: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472365" name="Google Shape;366;g37833d67588_0_137: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[~6 min]</a:t>
            </a:r>
          </a:p>
          <a:p>
            <a:r>
              <a:rPr dirty="0"/>
              <a:t>Four types on the left. The two-by-two grid on the right is the better artefact, and it is the thing to </a:t>
            </a:r>
            <a:r>
              <a:rPr dirty="0" err="1"/>
              <a:t>memorise</a:t>
            </a:r>
            <a:r>
              <a:rPr dirty="0"/>
              <a:t>.</a:t>
            </a:r>
          </a:p>
          <a:p>
            <a:r>
              <a:rPr dirty="0"/>
              <a:t>Columns: do you have labels? Supervised, yes. Unsupervised, no.</a:t>
            </a:r>
          </a:p>
          <a:p>
            <a:r>
              <a:rPr dirty="0"/>
              <a:t>Rows: is the output discrete or continuous?</a:t>
            </a:r>
          </a:p>
          <a:p>
            <a:r>
              <a:rPr dirty="0"/>
              <a:t>Discrete plus labels is classification. Continuous plus labels is regression. Discrete without labels is clustering. Continuous without labels is dimensionality reduction. That is your house price question from the last slide, answered.</a:t>
            </a:r>
          </a:p>
          <a:p>
            <a:r>
              <a:rPr dirty="0"/>
              <a:t>Two of the types on the left are not in the grid. Semi-supervised — a few labels, mostly not. Extremely common in practice, because labelling is expensive. Reinforcement learning — no labels at all, just a reward signal from an environment. RL does not fit the grid because it is a different problem shape: sequential decisions rather than one-shot predictions. It is also how RLHF works, so we will come back to it.</a:t>
            </a:r>
          </a:p>
          <a:p>
            <a:r>
              <a:rPr dirty="0"/>
              <a:t>One more thing, and please write it in, because it is not on the slide. Where does language modelling sit? A language model is trained supervised — predict the next token, and the label is the next token. But nobody labelled anything; the label came free from the raw text. That is self-supervised learning, and it is the reason we can train on the internet.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679190683" name="Google Shape;373;g37833d67588_0_160: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7926611" name="Google Shape;374;g37833d67588_0_16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[~4 min]</a:t>
            </a:r>
          </a:p>
          <a:p>
            <a:r>
              <a:rPr dirty="0"/>
              <a:t>Left panel: training. Data plus known labels go into the model, and we learn parameters.</a:t>
            </a:r>
          </a:p>
          <a:p>
            <a:r>
              <a:rPr dirty="0"/>
              <a:t>The right panel is labelled "Training" as well — that is a typo on the slide. It should say inference, or testing. Data goes in, no labels, a prediction comes out, using the parameters we already learned.</a:t>
            </a:r>
          </a:p>
          <a:p>
            <a:r>
              <a:rPr dirty="0"/>
              <a:t>The distinction is not pedantic. The single most common mistake in applied machine learning is letting information from the right-hand box leak into the left-hand box. We will name that properly when we get to data splits.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224814277" name="Google Shape;381;g37833d67588_0_145: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0075394" name="Google Shape;382;g37833d67588_0_14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[~6 min]</a:t>
            </a:r>
          </a:p>
          <a:p>
            <a:r>
              <a:rPr dirty="0"/>
              <a:t>Slow down here. This is the notation for the semester.</a:t>
            </a:r>
          </a:p>
          <a:p>
            <a:r>
              <a:rPr dirty="0"/>
              <a:t>The dataset is a collection of m labelled examples, each one a pair: x-</a:t>
            </a:r>
            <a:r>
              <a:rPr dirty="0" err="1"/>
              <a:t>i</a:t>
            </a:r>
            <a:r>
              <a:rPr dirty="0"/>
              <a:t> and y-</a:t>
            </a:r>
            <a:r>
              <a:rPr dirty="0" err="1"/>
              <a:t>i</a:t>
            </a:r>
            <a:r>
              <a:rPr dirty="0"/>
              <a:t>.</a:t>
            </a:r>
          </a:p>
          <a:p>
            <a:r>
              <a:rPr dirty="0"/>
              <a:t>Each x-</a:t>
            </a:r>
            <a:r>
              <a:rPr dirty="0" err="1"/>
              <a:t>i</a:t>
            </a:r>
            <a:r>
              <a:rPr dirty="0"/>
              <a:t> is a feature vector — d numbers, each describing the example somehow. d is the dimensionality.</a:t>
            </a:r>
          </a:p>
          <a:p>
            <a:r>
              <a:rPr dirty="0"/>
              <a:t>y-</a:t>
            </a:r>
            <a:r>
              <a:rPr dirty="0" err="1"/>
              <a:t>i</a:t>
            </a:r>
            <a:r>
              <a:rPr dirty="0"/>
              <a:t> is the label: either an element of a finite set of classes, or a real number. Classification or regression — the same split from two slides ago.</a:t>
            </a:r>
          </a:p>
          <a:p>
            <a:r>
              <a:rPr dirty="0"/>
              <a:t>Two numbers to keep straight all semester. m is how many examples you have. d is how many features each one has. When somebody says "more data," ask which one they are increasing.</a:t>
            </a:r>
          </a:p>
          <a:p>
            <a:r>
              <a:rPr dirty="0"/>
              <a:t>And here is the question this whole module answers: text is not numbers. A sentence is not a vector. So how do we get from an email to an x? That is the second half of today, and honestly, that is the module.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188096061" name="Google Shape;390;g37833d67588_0_150: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335526" name="Google Shape;391;g37833d67588_0_15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[~4 min]</a:t>
            </a:r>
          </a:p>
          <a:p>
            <a:r>
              <a:rPr dirty="0"/>
              <a:t>Concrete version. Examples are emails, classes are spam and not-spam. Classification — discrete output. Zero or one, spam or ham.</a:t>
            </a:r>
          </a:p>
          <a:p>
            <a:r>
              <a:rPr dirty="0"/>
              <a:t>Let me read the message on the slide out loud, because it is genuinely funny in 2026.</a:t>
            </a:r>
          </a:p>
          <a:p>
            <a:r>
              <a:rPr dirty="0"/>
              <a:t>Notice what makes it spam to you: "Free," "win," a </a:t>
            </a:r>
            <a:r>
              <a:rPr dirty="0" err="1"/>
              <a:t>shortcode</a:t>
            </a:r>
            <a:r>
              <a:rPr dirty="0"/>
              <a:t>, a premium-rate number, "T&amp;C's apply." Those are features. You just did feature engineering in your head in about half a second. That is the thing we are going to try to automate.</a:t>
            </a:r>
          </a:p>
          <a:p>
            <a:r>
              <a:rPr dirty="0"/>
              <a:t>And hold on to the word "ham." It is the standard term for non-spam, it predates the field, and nobody is entirely sure why.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904901194" name="Google Shape;400;g37833d67588_0_155: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069618" name="Google Shape;401;g37833d67588_0_15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[~5 min]</a:t>
            </a:r>
          </a:p>
          <a:p>
            <a:r>
              <a:rPr dirty="0"/>
              <a:t>Two features — </a:t>
            </a:r>
            <a:r>
              <a:rPr dirty="0" err="1"/>
              <a:t>tumour</a:t>
            </a:r>
            <a:r>
              <a:rPr dirty="0"/>
              <a:t> size on the x-axis, age on the y-axis. Two classes. Two candidate decision boundaries drawn: a straight line and a curve.</a:t>
            </a:r>
          </a:p>
          <a:p>
            <a:r>
              <a:rPr dirty="0"/>
              <a:t>Which one is better?</a:t>
            </a:r>
          </a:p>
          <a:p>
            <a:r>
              <a:rPr dirty="0"/>
              <a:t>[Take answers. Most will say the curve.]</a:t>
            </a:r>
          </a:p>
          <a:p>
            <a:r>
              <a:rPr dirty="0"/>
              <a:t>The curve fits the training data better. Whether it is better depends entirely on data you have not seen. That is the overfitting question, and it is the central tension in this field.</a:t>
            </a:r>
          </a:p>
          <a:p>
            <a:r>
              <a:rPr dirty="0"/>
              <a:t>One more thing, and it matters. This is a medical example, so the two errors are not equal. Calling a malignant </a:t>
            </a:r>
            <a:r>
              <a:rPr dirty="0" err="1"/>
              <a:t>tumour</a:t>
            </a:r>
            <a:r>
              <a:rPr dirty="0"/>
              <a:t> benign is not the same mistake as calling a benign </a:t>
            </a:r>
            <a:r>
              <a:rPr dirty="0" err="1"/>
              <a:t>tumour</a:t>
            </a:r>
            <a:r>
              <a:rPr dirty="0"/>
              <a:t> malignant. Accuracy treats them identically. Keep that discomfort — you will need it every time you report a number.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2064461764" name="Google Shape;408;g3783e683079_0_315: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5080309" name="Google Shape;409;g3783e683079_0_31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[~4 min]</a:t>
            </a:r>
          </a:p>
          <a:p>
            <a:r>
              <a:rPr dirty="0"/>
              <a:t>Same setup, labels removed. Just the x's, m of them.</a:t>
            </a:r>
          </a:p>
          <a:p>
            <a:r>
              <a:rPr dirty="0"/>
              <a:t>The goal: take a feature vector and either transform it into another vector, or into a value, such that the result solves some practical problem.</a:t>
            </a:r>
          </a:p>
          <a:p>
            <a:r>
              <a:rPr dirty="0"/>
              <a:t>That definition sounds vague because it is. Unsupervised learning is a much less well-posed problem — there is no answer key, so "did it work?" is a genuinely hard question.</a:t>
            </a:r>
          </a:p>
          <a:p>
            <a:r>
              <a:rPr dirty="0"/>
              <a:t>Flag for later: "transforms it into another vector" is exactly what an embedding is. Word2Vec, which we cover in week three, is unsupervised learning by this definition.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24118106" name="Google Shape;416;g3783e683079_0_321: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1257468" name="Google Shape;417;g3783e683079_0_32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[~2 min]</a:t>
            </a:r>
          </a:p>
          <a:p>
            <a:r>
              <a:rPr dirty="0"/>
              <a:t>Same data, twice. On the left I have told you the </a:t>
            </a:r>
            <a:r>
              <a:rPr dirty="0" err="1"/>
              <a:t>colours</a:t>
            </a:r>
            <a:r>
              <a:rPr dirty="0"/>
              <a:t>. On the right I have not. That is the whole difference — and everything downstream follows from whether somebody paid to label your data.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204506410" name="Google Shape;424;g3783e683079_0_327: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6939383" name="Google Shape;425;g3783e683079_0_327: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[~4 min]</a:t>
            </a:r>
          </a:p>
          <a:p>
            <a:r>
              <a:rPr dirty="0"/>
              <a:t>Unsupervised learning on the same points: discover the underlying structure. Two clusters found.</a:t>
            </a:r>
          </a:p>
          <a:p>
            <a:r>
              <a:rPr dirty="0"/>
              <a:t>Look at the overlap in the middle — the clusters intersect. Two honest observations. First, real clusters overlap, so hard assignment is often a lie, which is why soft clustering exists. Second, and more important: nothing here says these clusters are malignant and benign. The algorithm found structure. What that structure means is your interpretation, and interpretation is where people over-claim.</a:t>
            </a:r>
          </a:p>
          <a:p>
            <a:r>
              <a:rPr dirty="0"/>
              <a:t>When we do topic modelling later, this warning comes back word for word.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655492240" name="Google Shape;431;g3783e683079_0_333: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6267910" name="Google Shape;432;g3783e683079_0_333: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[~1 min]</a:t>
            </a:r>
          </a:p>
          <a:p>
            <a:r>
              <a:rPr dirty="0"/>
              <a:t>That is the machine learning scaffolding. Now let's put language into it, and be precise about what NLP actually 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r>
              <a:rPr dirty="0"/>
              <a:t>[~5 min]</a:t>
            </a:r>
          </a:p>
          <a:p>
            <a:r>
              <a:rPr dirty="0"/>
              <a:t>NLP sits at the intersection of linguistics, computer science and statistics. The goal is to enable machines to process, understand and generate human language.</a:t>
            </a:r>
          </a:p>
          <a:p>
            <a:r>
              <a:rPr dirty="0"/>
              <a:t>The more useful part of this slide is the second half — what NLP is not.</a:t>
            </a:r>
          </a:p>
          <a:p>
            <a:r>
              <a:rPr dirty="0"/>
              <a:t>Computer vision: images, not text. Different data, and a much less ambiguous signal.</a:t>
            </a:r>
          </a:p>
          <a:p>
            <a:r>
              <a:rPr dirty="0"/>
              <a:t>Classical symbolic AI: rule-based logical inference. Historically overlapping with NLP, and we will see why it lost.</a:t>
            </a:r>
          </a:p>
          <a:p>
            <a:r>
              <a:rPr dirty="0"/>
              <a:t>Information retrieval: finding documents, not understanding them. This one is subtle and important, because search is the application people most often mistake for language understanding. A search engine that returns the right page has not understood your question. It has matched it.</a:t>
            </a:r>
          </a:p>
          <a:p>
            <a:r>
              <a:rPr dirty="0"/>
              <a:t>Keep that boundary in mind — it is exactly the boundary that retrieval-augmented generation tries to blur.</a:t>
            </a:r>
          </a:p>
        </p:txBody>
      </p:sp>
      <p:sp>
        <p:nvSpPr>
          <p:cNvPr id="4" name="Slide Number Placeholder 3"/>
          <p:cNvSpPr>
            <a:spLocks noGrp="1"/>
          </p:cNvSpPr>
          <p:nvPr>
            <p:ph type="sldNum" sz="quarter" idx="10"/>
          </p:nvPr>
        </p:nvSpPr>
        <p:spPr bwMode="auto"/>
        <p:txBody>
          <a:bodyPr/>
          <a:lstStyle/>
          <a:p>
            <a:pPr>
              <a:defRPr/>
            </a:pPr>
            <a:fld id="{A7869DBF-0122-43B2-68BC-DA1C77A83DF1}"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r>
              <a:rPr dirty="0"/>
              <a:t>[~7 min]</a:t>
            </a:r>
          </a:p>
          <a:p>
            <a:r>
              <a:rPr dirty="0"/>
              <a:t>Five task types. This is the taxonomy I want you to be able to reproduce from memory, because every system you meet for the rest of the course is one of these.</a:t>
            </a:r>
          </a:p>
          <a:p>
            <a:r>
              <a:rPr dirty="0"/>
              <a:t>Text classification — one label for a whole document. Spam, sentiment. Simplest output shape.</a:t>
            </a:r>
          </a:p>
          <a:p>
            <a:r>
              <a:rPr dirty="0"/>
              <a:t>Sequence labelling — one label per token. POS tagging, named entity recognition. The output is the same length as the input.</a:t>
            </a:r>
          </a:p>
          <a:p>
            <a:r>
              <a:rPr dirty="0"/>
              <a:t>Structured prediction — a structure over the whole input. Dependency parsing, coreference. Now the output is a graph, not a list, and evaluation gets harder.</a:t>
            </a:r>
          </a:p>
          <a:p>
            <a:r>
              <a:rPr dirty="0"/>
              <a:t>Language generation — produce new text. Translation, </a:t>
            </a:r>
            <a:r>
              <a:rPr dirty="0" err="1"/>
              <a:t>summarisation</a:t>
            </a:r>
            <a:r>
              <a:rPr dirty="0"/>
              <a:t>, dialogue. </a:t>
            </a:r>
            <a:r>
              <a:rPr lang="en-SG" dirty="0"/>
              <a:t>The output length is not determined by the input length. This is one reason encoder–decoder architectures became especially useful for tasks such as machine translation and summarisation.</a:t>
            </a:r>
            <a:endParaRPr dirty="0"/>
          </a:p>
          <a:p>
            <a:r>
              <a:rPr dirty="0"/>
              <a:t>Question answering — and notice it splits in two. Extractive: find the span in a document. Generative: produce the answer. Those are very different problems with very different failure modes. An extractive system can be wrong; a generative system can be wrong and invent the evidence.</a:t>
            </a:r>
          </a:p>
          <a:p>
            <a:r>
              <a:rPr dirty="0"/>
              <a:t>Notice the tasks are ordered by how constrained the output is. Constrained outputs are easier to evaluate. That ordering is not an accident and it will keep coming back.</a:t>
            </a:r>
          </a:p>
        </p:txBody>
      </p:sp>
      <p:sp>
        <p:nvSpPr>
          <p:cNvPr id="4" name="Slide Number Placeholder 3"/>
          <p:cNvSpPr>
            <a:spLocks noGrp="1"/>
          </p:cNvSpPr>
          <p:nvPr>
            <p:ph type="sldNum" sz="quarter" idx="10"/>
          </p:nvPr>
        </p:nvSpPr>
        <p:spPr bwMode="auto"/>
        <p:txBody>
          <a:bodyPr/>
          <a:lstStyle/>
          <a:p>
            <a:pPr>
              <a:defRPr/>
            </a:pPr>
            <a:fld id="{D42FEC72-D26F-53AE-D71D-34AAC876C00F}"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30929687" name="Slide Image Placeholder 1"/>
          <p:cNvSpPr>
            <a:spLocks noGrp="1" noRot="1" noChangeAspect="1"/>
          </p:cNvSpPr>
          <p:nvPr>
            <p:ph type="sldImg"/>
          </p:nvPr>
        </p:nvSpPr>
        <p:spPr bwMode="auto">
          <a:xfrm>
            <a:off x="381000" y="685800"/>
            <a:ext cx="6096000" cy="3429000"/>
          </a:xfrm>
        </p:spPr>
      </p:sp>
      <p:sp>
        <p:nvSpPr>
          <p:cNvPr id="127535199" name="Notes Placeholder 2"/>
          <p:cNvSpPr>
            <a:spLocks noGrp="1"/>
          </p:cNvSpPr>
          <p:nvPr>
            <p:ph type="body" idx="1"/>
          </p:nvPr>
        </p:nvSpPr>
        <p:spPr bwMode="auto"/>
        <p:txBody>
          <a:bodyPr/>
          <a:lstStyle/>
          <a:p>
            <a:r>
              <a:rPr dirty="0"/>
              <a:t>[~1 min]</a:t>
            </a:r>
          </a:p>
          <a:p>
            <a:r>
              <a:rPr dirty="0"/>
              <a:t>Now the part that makes language different from every other kind of data. This is the conceptual heart of week one.</a:t>
            </a:r>
          </a:p>
        </p:txBody>
      </p:sp>
      <p:sp>
        <p:nvSpPr>
          <p:cNvPr id="126543058" name="Slide Number Placeholder 3"/>
          <p:cNvSpPr>
            <a:spLocks noGrp="1"/>
          </p:cNvSpPr>
          <p:nvPr>
            <p:ph type="sldNum" sz="quarter" idx="10"/>
          </p:nvPr>
        </p:nvSpPr>
        <p:spPr bwMode="auto"/>
        <p:txBody>
          <a:bodyPr/>
          <a:lstStyle/>
          <a:p>
            <a:pPr>
              <a:defRPr/>
            </a:pPr>
            <a:fld id="{CC83D8CF-439E-B0E3-0C5B-93AA9302311E}"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35128893" name="Slide Image Placeholder 1"/>
          <p:cNvSpPr>
            <a:spLocks noGrp="1" noRot="1" noChangeAspect="1"/>
          </p:cNvSpPr>
          <p:nvPr>
            <p:ph type="sldImg"/>
          </p:nvPr>
        </p:nvSpPr>
        <p:spPr bwMode="auto">
          <a:xfrm>
            <a:off x="381000" y="685800"/>
            <a:ext cx="6096000" cy="3429000"/>
          </a:xfrm>
        </p:spPr>
      </p:sp>
      <p:sp>
        <p:nvSpPr>
          <p:cNvPr id="1163958213" name="Notes Placeholder 2"/>
          <p:cNvSpPr>
            <a:spLocks noGrp="1"/>
          </p:cNvSpPr>
          <p:nvPr>
            <p:ph type="body" idx="1"/>
          </p:nvPr>
        </p:nvSpPr>
        <p:spPr bwMode="auto"/>
        <p:txBody>
          <a:bodyPr/>
          <a:lstStyle/>
          <a:p>
            <a:r>
              <a:rPr dirty="0"/>
              <a:t>[~8 min]</a:t>
            </a:r>
          </a:p>
          <a:p>
            <a:r>
              <a:rPr dirty="0"/>
              <a:t>Five kinds of ambiguity, and I want to work them rather than read them.</a:t>
            </a:r>
          </a:p>
          <a:p>
            <a:r>
              <a:rPr dirty="0"/>
              <a:t>Lexical: "bank." Financial institution or river bank? One word, two meanings, and you resolved it instantly from context you were not conscious of using.</a:t>
            </a:r>
          </a:p>
          <a:p>
            <a:r>
              <a:rPr dirty="0"/>
              <a:t>Syntactic: "I saw the man with the telescope." Who has the telescope? The grammar genuinely permits both. This is not a badly written sentence; it is a correctly written sentence with two parse trees.</a:t>
            </a:r>
          </a:p>
          <a:p>
            <a:r>
              <a:rPr dirty="0"/>
              <a:t>Semantic: "Every student read a book." Same book, or one each? Both readings are grammatical and the difference is a quantifier scope — and it changes how many books exist.</a:t>
            </a:r>
          </a:p>
          <a:p>
            <a:r>
              <a:rPr dirty="0"/>
              <a:t>Coreference: "Mary told Sue she was late." Who was late? Nothing in the sentence resolves it. You need context, or you need to guess.</a:t>
            </a:r>
          </a:p>
          <a:p>
            <a:r>
              <a:rPr dirty="0"/>
              <a:t>World knowledge: "The chicken was too hot to eat." You know the chicken is food and not an animal in distress. Nothing in the syntax tells you that. You brought it.</a:t>
            </a:r>
          </a:p>
          <a:p>
            <a:r>
              <a:rPr dirty="0"/>
              <a:t>Here is the point. Every one of these is trivial for you and hard for a machine, and in every case the thing that resolved it was knowledge that was not in the string. That is why language is hard.</a:t>
            </a:r>
          </a:p>
        </p:txBody>
      </p:sp>
      <p:sp>
        <p:nvSpPr>
          <p:cNvPr id="1056268114" name="Slide Number Placeholder 3"/>
          <p:cNvSpPr>
            <a:spLocks noGrp="1"/>
          </p:cNvSpPr>
          <p:nvPr>
            <p:ph type="sldNum" sz="quarter" idx="10"/>
          </p:nvPr>
        </p:nvSpPr>
        <p:spPr bwMode="auto"/>
        <p:txBody>
          <a:bodyPr/>
          <a:lstStyle/>
          <a:p>
            <a:pPr>
              <a:defRPr/>
            </a:pPr>
            <a:fld id="{62C3B364-0573-0E43-F96D-0F087B01FAD1}"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17848924" name="Slide Image Placeholder 1"/>
          <p:cNvSpPr>
            <a:spLocks noGrp="1" noRot="1" noChangeAspect="1"/>
          </p:cNvSpPr>
          <p:nvPr>
            <p:ph type="sldImg"/>
          </p:nvPr>
        </p:nvSpPr>
        <p:spPr bwMode="auto">
          <a:xfrm>
            <a:off x="381000" y="685800"/>
            <a:ext cx="6096000" cy="3429000"/>
          </a:xfrm>
        </p:spPr>
      </p:sp>
      <p:sp>
        <p:nvSpPr>
          <p:cNvPr id="1792265970" name="Notes Placeholder 2"/>
          <p:cNvSpPr>
            <a:spLocks noGrp="1"/>
          </p:cNvSpPr>
          <p:nvPr>
            <p:ph type="body" idx="1"/>
          </p:nvPr>
        </p:nvSpPr>
        <p:spPr bwMode="auto"/>
        <p:txBody>
          <a:bodyPr/>
          <a:lstStyle/>
          <a:p>
            <a:r>
              <a:rPr dirty="0"/>
              <a:t>[~7 min]</a:t>
            </a:r>
          </a:p>
          <a:p>
            <a:r>
              <a:rPr dirty="0"/>
              <a:t>"Time flies like an arrow; fruit flies like a banana."</a:t>
            </a:r>
          </a:p>
          <a:p>
            <a:r>
              <a:rPr dirty="0"/>
              <a:t>The joke works because "flies" flips from verb to noun and "like" flips from preposition to verb between the two clauses. And notice what resolves it: you know fruit flies are insects. Grammar alone does not get you there. World knowledge does.</a:t>
            </a:r>
          </a:p>
          <a:p>
            <a:r>
              <a:rPr dirty="0"/>
              <a:t>Second half of the slide, and this is the honest bit. Pattern matching is not understanding. A model can learn "Paris is the capital of France," and it will assert a false claim with exactly the same confidence if that claim appeared in its training data. There is no internal flag that distinguishes the two. That is worth sitting with.</a:t>
            </a:r>
          </a:p>
          <a:p>
            <a:r>
              <a:rPr dirty="0"/>
              <a:t>So what would understanding actually require? Grounding in the physical world. Common-sense reasoning. Distinguishing an assertion from an implication.</a:t>
            </a:r>
          </a:p>
          <a:p>
            <a:r>
              <a:rPr dirty="0"/>
              <a:t>No model today fully achieves this. I want to be straight with you about that in week one, because you will spend the next eleven weeks building things that are extremely useful and are still not doing the thing the marketing says they are doing. Holding both of those at once is the professional skill.</a:t>
            </a:r>
          </a:p>
        </p:txBody>
      </p:sp>
      <p:sp>
        <p:nvSpPr>
          <p:cNvPr id="1257320149" name="Slide Number Placeholder 3"/>
          <p:cNvSpPr>
            <a:spLocks noGrp="1"/>
          </p:cNvSpPr>
          <p:nvPr>
            <p:ph type="sldNum" sz="quarter" idx="10"/>
          </p:nvPr>
        </p:nvSpPr>
        <p:spPr bwMode="auto"/>
        <p:txBody>
          <a:bodyPr/>
          <a:lstStyle/>
          <a:p>
            <a:pPr>
              <a:defRPr/>
            </a:pPr>
            <a:fld id="{54812390-88AC-3896-4B04-1858D73E8B68}"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361672" name="Slide Image Placeholder 1"/>
          <p:cNvSpPr>
            <a:spLocks noGrp="1" noRot="1" noChangeAspect="1"/>
          </p:cNvSpPr>
          <p:nvPr>
            <p:ph type="sldImg"/>
          </p:nvPr>
        </p:nvSpPr>
        <p:spPr bwMode="auto">
          <a:xfrm>
            <a:off x="381000" y="685800"/>
            <a:ext cx="6096000" cy="3429000"/>
          </a:xfrm>
        </p:spPr>
      </p:sp>
      <p:sp>
        <p:nvSpPr>
          <p:cNvPr id="996294111" name="Notes Placeholder 2"/>
          <p:cNvSpPr>
            <a:spLocks noGrp="1"/>
          </p:cNvSpPr>
          <p:nvPr>
            <p:ph type="body" idx="1"/>
          </p:nvPr>
        </p:nvSpPr>
        <p:spPr bwMode="auto"/>
        <p:txBody>
          <a:bodyPr/>
          <a:lstStyle/>
          <a:p>
            <a:r>
              <a:rPr dirty="0"/>
              <a:t>[~5 min]</a:t>
            </a:r>
          </a:p>
          <a:p>
            <a:r>
              <a:rPr dirty="0"/>
              <a:t>This is the map for the whole module. Four stages.</a:t>
            </a:r>
          </a:p>
          <a:p>
            <a:r>
              <a:rPr dirty="0"/>
              <a:t>Raw text — the original string, exactly as written, including the typos and the emoji and the inconsistent whitespace.</a:t>
            </a:r>
          </a:p>
          <a:p>
            <a:r>
              <a:rPr dirty="0"/>
              <a:t>Tokens — text split into units a model can consume. That is the second half of today.</a:t>
            </a:r>
          </a:p>
          <a:p>
            <a:r>
              <a:rPr dirty="0"/>
              <a:t>Representations — tokens turned into vectors a model can compute with. Weeks three and nine.</a:t>
            </a:r>
          </a:p>
          <a:p>
            <a:r>
              <a:rPr dirty="0"/>
              <a:t>Task output — the label, span or sequence the model produces.</a:t>
            </a:r>
          </a:p>
          <a:p>
            <a:r>
              <a:rPr dirty="0"/>
              <a:t>Every system we build in this course lives somewhere on this stack. When something breaks — and things will break in your TMA — the first diagnostic question is always: which stage did this go wrong at? Most people jump straight to the model. Most of the time it is stage one or stage two.</a:t>
            </a:r>
          </a:p>
        </p:txBody>
      </p:sp>
      <p:sp>
        <p:nvSpPr>
          <p:cNvPr id="1599560479" name="Slide Number Placeholder 3"/>
          <p:cNvSpPr>
            <a:spLocks noGrp="1"/>
          </p:cNvSpPr>
          <p:nvPr>
            <p:ph type="sldNum" sz="quarter" idx="10"/>
          </p:nvPr>
        </p:nvSpPr>
        <p:spPr bwMode="auto"/>
        <p:txBody>
          <a:bodyPr/>
          <a:lstStyle/>
          <a:p>
            <a:pPr>
              <a:defRPr/>
            </a:pPr>
            <a:fld id="{72E5F46D-E289-6584-BC55-5D1E4141B31E}"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52053081" name="Slide Image Placeholder 1"/>
          <p:cNvSpPr>
            <a:spLocks noGrp="1" noRot="1" noChangeAspect="1"/>
          </p:cNvSpPr>
          <p:nvPr>
            <p:ph type="sldImg"/>
          </p:nvPr>
        </p:nvSpPr>
        <p:spPr bwMode="auto">
          <a:xfrm>
            <a:off x="381000" y="685800"/>
            <a:ext cx="6096000" cy="3429000"/>
          </a:xfrm>
        </p:spPr>
      </p:sp>
      <p:sp>
        <p:nvSpPr>
          <p:cNvPr id="885062417" name="Notes Placeholder 2"/>
          <p:cNvSpPr>
            <a:spLocks noGrp="1"/>
          </p:cNvSpPr>
          <p:nvPr>
            <p:ph type="body" idx="1"/>
          </p:nvPr>
        </p:nvSpPr>
        <p:spPr bwMode="auto"/>
        <p:txBody>
          <a:bodyPr/>
          <a:lstStyle/>
          <a:p>
            <a:r>
              <a:rPr dirty="0"/>
              <a:t>[~1 min]</a:t>
            </a:r>
          </a:p>
          <a:p>
            <a:r>
              <a:rPr dirty="0"/>
              <a:t>Quick history. Four eras, about six minutes, and the reason I am doing it is that each era failed in a way that explains the next one.</a:t>
            </a:r>
          </a:p>
        </p:txBody>
      </p:sp>
      <p:sp>
        <p:nvSpPr>
          <p:cNvPr id="273685878" name="Slide Number Placeholder 3"/>
          <p:cNvSpPr>
            <a:spLocks noGrp="1"/>
          </p:cNvSpPr>
          <p:nvPr>
            <p:ph type="sldNum" sz="quarter" idx="10"/>
          </p:nvPr>
        </p:nvSpPr>
        <p:spPr bwMode="auto"/>
        <p:txBody>
          <a:bodyPr/>
          <a:lstStyle/>
          <a:p>
            <a:pPr>
              <a:defRPr/>
            </a:pPr>
            <a:fld id="{E97DEC0C-7968-55DE-0B00-FBDB2F82DF26}"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34803758" name="Slide Image Placeholder 1"/>
          <p:cNvSpPr>
            <a:spLocks noGrp="1" noRot="1" noChangeAspect="1"/>
          </p:cNvSpPr>
          <p:nvPr>
            <p:ph type="sldImg"/>
          </p:nvPr>
        </p:nvSpPr>
        <p:spPr bwMode="auto">
          <a:xfrm>
            <a:off x="381000" y="685800"/>
            <a:ext cx="6096000" cy="3429000"/>
          </a:xfrm>
        </p:spPr>
      </p:sp>
      <p:sp>
        <p:nvSpPr>
          <p:cNvPr id="1048619869" name="Notes Placeholder 2"/>
          <p:cNvSpPr>
            <a:spLocks noGrp="1"/>
          </p:cNvSpPr>
          <p:nvPr>
            <p:ph type="body" idx="1"/>
          </p:nvPr>
        </p:nvSpPr>
        <p:spPr bwMode="auto"/>
        <p:txBody>
          <a:bodyPr/>
          <a:lstStyle/>
          <a:p>
            <a:r>
              <a:rPr dirty="0"/>
              <a:t>[~7 min]</a:t>
            </a:r>
          </a:p>
          <a:p>
            <a:r>
              <a:rPr dirty="0"/>
              <a:t>Rule-based, 1950s to 1990s. Handcrafted grammars and pattern matching. ELIZA in 1966 simulated a therapist by reflecting your questions back at you, and people genuinely confided in it. Brittle the moment you stepped outside its rules. Why it failed: you cannot hand-write enough rules to cover a language.</a:t>
            </a:r>
          </a:p>
          <a:p>
            <a:r>
              <a:rPr dirty="0"/>
              <a:t>Statistical NLP, 1990s to 2010s. Learn the patterns from corpora instead. Hidden Markov Models, n-gram language models. Data-driven, but shallow — an n-gram model has no idea what a word means, only what tends to follow it. Why it failed: no </a:t>
            </a:r>
            <a:r>
              <a:rPr dirty="0" err="1"/>
              <a:t>generalisation</a:t>
            </a:r>
            <a:r>
              <a:rPr dirty="0"/>
              <a:t> between similar words.</a:t>
            </a:r>
          </a:p>
          <a:p>
            <a:r>
              <a:rPr dirty="0"/>
              <a:t>Neural NLP, 2013 to 2018. Word embeddings — Word2Vec, </a:t>
            </a:r>
            <a:r>
              <a:rPr dirty="0" err="1"/>
              <a:t>GloVe</a:t>
            </a:r>
            <a:r>
              <a:rPr dirty="0"/>
              <a:t> — recurrent networks, sequence-to-sequence with attention. Now representations are learned from data, and "good" and "great" finally live near each other. Why it hit a ceiling: recurrence is sequential, so it does not </a:t>
            </a:r>
            <a:r>
              <a:rPr dirty="0" err="1"/>
              <a:t>parallelise</a:t>
            </a:r>
            <a:r>
              <a:rPr dirty="0"/>
              <a:t>, and long-range dependencies decay.</a:t>
            </a:r>
          </a:p>
          <a:p>
            <a:r>
              <a:rPr dirty="0"/>
              <a:t>Pre-trained language models, 2018 to now. BERT, GPT, T5. Pre-train on a massive corpus, then fine-tune for your task. The insight is that most of what a model needs to know about language is task-independent, so learn it once.</a:t>
            </a:r>
          </a:p>
          <a:p>
            <a:r>
              <a:rPr dirty="0"/>
              <a:t>Four eras, and each transition is a specific failure being fixed. That is the shape of the story.</a:t>
            </a:r>
          </a:p>
        </p:txBody>
      </p:sp>
      <p:sp>
        <p:nvSpPr>
          <p:cNvPr id="960764873" name="Slide Number Placeholder 3"/>
          <p:cNvSpPr>
            <a:spLocks noGrp="1"/>
          </p:cNvSpPr>
          <p:nvPr>
            <p:ph type="sldNum" sz="quarter" idx="10"/>
          </p:nvPr>
        </p:nvSpPr>
        <p:spPr bwMode="auto"/>
        <p:txBody>
          <a:bodyPr/>
          <a:lstStyle/>
          <a:p>
            <a:pPr>
              <a:defRPr/>
            </a:pPr>
            <a:fld id="{AC8D98AD-4E60-84C8-28D5-E21705D06D33}" type="slidenum">
              <a:r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02973343" name="Slide Image Placeholder 1"/>
          <p:cNvSpPr>
            <a:spLocks noGrp="1" noRot="1" noChangeAspect="1"/>
          </p:cNvSpPr>
          <p:nvPr>
            <p:ph type="sldImg"/>
          </p:nvPr>
        </p:nvSpPr>
        <p:spPr bwMode="auto">
          <a:xfrm>
            <a:off x="381000" y="685800"/>
            <a:ext cx="6096000" cy="3429000"/>
          </a:xfrm>
        </p:spPr>
      </p:sp>
      <p:sp>
        <p:nvSpPr>
          <p:cNvPr id="1220339321" name="Notes Placeholder 2"/>
          <p:cNvSpPr>
            <a:spLocks noGrp="1"/>
          </p:cNvSpPr>
          <p:nvPr>
            <p:ph type="body" idx="1"/>
          </p:nvPr>
        </p:nvSpPr>
        <p:spPr bwMode="auto"/>
        <p:txBody>
          <a:bodyPr/>
          <a:lstStyle/>
          <a:p>
            <a:r>
              <a:rPr dirty="0"/>
              <a:t>[~4 min]</a:t>
            </a:r>
          </a:p>
          <a:p>
            <a:r>
              <a:rPr dirty="0"/>
              <a:t>Where this course sits. ICT304 covers the full arc across weeks one to twelve.</a:t>
            </a:r>
          </a:p>
          <a:p>
            <a:r>
              <a:rPr dirty="0"/>
              <a:t>Your TMA, weeks one to six, sits in the statistical and early neural era. Your ECA, weeks nine to twelve, sits in the pre-trained transformer era. So the two assessments are not arbitrary chunks — they are the two halves of the history you just saw.</a:t>
            </a:r>
          </a:p>
          <a:p>
            <a:r>
              <a:rPr dirty="0"/>
              <a:t>Quick question for the room: what does GPT stand for?</a:t>
            </a:r>
          </a:p>
          <a:p>
            <a:r>
              <a:rPr dirty="0"/>
              <a:t>Generative, Pre-trained, Transformer. And look at how the module is built: Generative is week seven onward, Pre-trained is week nine, Transformer is week eight. By the time you have finished week nine, you will be able to explain all three words from first principles. That is the design of the course in one acronym.</a:t>
            </a:r>
          </a:p>
        </p:txBody>
      </p:sp>
      <p:sp>
        <p:nvSpPr>
          <p:cNvPr id="1120109126" name="Slide Number Placeholder 3"/>
          <p:cNvSpPr>
            <a:spLocks noGrp="1"/>
          </p:cNvSpPr>
          <p:nvPr>
            <p:ph type="sldNum" sz="quarter" idx="10"/>
          </p:nvPr>
        </p:nvSpPr>
        <p:spPr bwMode="auto"/>
        <p:txBody>
          <a:bodyPr/>
          <a:lstStyle/>
          <a:p>
            <a:pPr>
              <a:defRPr/>
            </a:pPr>
            <a:fld id="{987D3F1E-E9C3-F575-87B2-87CDB63DF43A}" type="slidenum">
              <a:rP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r>
              <a:rPr dirty="0"/>
              <a:t>[~5 min]</a:t>
            </a:r>
          </a:p>
          <a:p>
            <a:r>
              <a:rPr dirty="0"/>
              <a:t>Three pitfalls, and I raise them now because I will see all three in your submissions if I do not.</a:t>
            </a:r>
          </a:p>
          <a:p>
            <a:r>
              <a:rPr dirty="0"/>
              <a:t>Conflating NLP with chatbots. Chatbots are one application. Most NLP is invisible — spam filters, autocorrect, search ranking. You use twenty NLP systems before lunch and notice none of them.</a:t>
            </a:r>
          </a:p>
          <a:p>
            <a:r>
              <a:rPr dirty="0"/>
              <a:t>Treating understanding as binary. Do not ask "does the model understand." Ask what it can do and how it fails. The second question has answers; the first one does not.</a:t>
            </a:r>
          </a:p>
          <a:p>
            <a:r>
              <a:rPr dirty="0"/>
              <a:t>Underestimating </a:t>
            </a:r>
            <a:r>
              <a:rPr dirty="0" err="1"/>
              <a:t>tokenisation</a:t>
            </a:r>
            <a:r>
              <a:rPr dirty="0"/>
              <a:t>. text-dot-split looks fine right up until it meets "don't", or a number, or a URL. That is the whole next section</a:t>
            </a:r>
            <a:r>
              <a:rPr lang="en-US" dirty="0"/>
              <a:t>– important to understand</a:t>
            </a:r>
            <a:endParaRPr dirty="0"/>
          </a:p>
        </p:txBody>
      </p:sp>
      <p:sp>
        <p:nvSpPr>
          <p:cNvPr id="4" name="Slide Number Placeholder 3"/>
          <p:cNvSpPr>
            <a:spLocks noGrp="1"/>
          </p:cNvSpPr>
          <p:nvPr>
            <p:ph type="sldNum" sz="quarter" idx="10"/>
          </p:nvPr>
        </p:nvSpPr>
        <p:spPr bwMode="auto"/>
        <p:txBody>
          <a:bodyPr/>
          <a:lstStyle/>
          <a:p>
            <a:pPr>
              <a:defRPr/>
            </a:pPr>
            <a:fld id="{1442FBC4-C2BB-DACF-18FB-CA562681692C}" type="slidenum">
              <a:rP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900153632" name="Google Shape;470;g3783e683079_0_385: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8745380" name="Google Shape;471;g3783e683079_0_38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rPr dirty="0"/>
              <a:t>[~1 min]</a:t>
            </a:r>
          </a:p>
          <a:p>
            <a:r>
              <a:rPr dirty="0"/>
              <a:t>Break here if we need one. Then: stage two of the pipeline. We have been saying "word" all morning as though it is obvious what one is. It is not.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76862499" name="Slide Image Placeholder 1"/>
          <p:cNvSpPr>
            <a:spLocks noGrp="1" noRot="1" noChangeAspect="1"/>
          </p:cNvSpPr>
          <p:nvPr>
            <p:ph type="sldImg"/>
          </p:nvPr>
        </p:nvSpPr>
        <p:spPr bwMode="auto">
          <a:xfrm>
            <a:off x="381000" y="685800"/>
            <a:ext cx="6096000" cy="3429000"/>
          </a:xfrm>
        </p:spPr>
      </p:sp>
      <p:sp>
        <p:nvSpPr>
          <p:cNvPr id="1883285909" name="Notes Placeholder 2"/>
          <p:cNvSpPr>
            <a:spLocks noGrp="1"/>
          </p:cNvSpPr>
          <p:nvPr>
            <p:ph type="body" idx="1"/>
          </p:nvPr>
        </p:nvSpPr>
        <p:spPr bwMode="auto"/>
        <p:txBody>
          <a:bodyPr/>
          <a:lstStyle/>
          <a:p>
            <a:r>
              <a:rPr dirty="0"/>
              <a:t>[~9 min]</a:t>
            </a:r>
          </a:p>
          <a:p>
            <a:r>
              <a:rPr dirty="0"/>
              <a:t>Six reasons whitespace splitting fails. Work them out loud.</a:t>
            </a:r>
          </a:p>
          <a:p>
            <a:r>
              <a:rPr dirty="0"/>
              <a:t>Punctuation. "Hello, world!" splits into "Hello," with a comma glued on and "world!" with an exclamation mark glued on. Now those are different tokens from "Hello" and "world," and your vocabulary has doubled for no reason.</a:t>
            </a:r>
          </a:p>
          <a:p>
            <a:r>
              <a:rPr dirty="0"/>
              <a:t>Contractions. "don't" is morphologically do plus not — two words, one of them a negation, which is about as semantically important as it gets. Whitespace keeps it as one token and the negation disappears into a string.</a:t>
            </a:r>
          </a:p>
          <a:p>
            <a:r>
              <a:rPr dirty="0"/>
              <a:t>Hyphenation. "state-of-the-art" — one word or four? Genuinely unclear.</a:t>
            </a:r>
          </a:p>
          <a:p>
            <a:r>
              <a:rPr dirty="0"/>
              <a:t>Numbers and special characters. "COVID-19", "$3.50", "3:45pm" all carry internal structure that affects meaning.</a:t>
            </a:r>
          </a:p>
          <a:p>
            <a:r>
              <a:rPr dirty="0"/>
              <a:t>Code. "if x &gt; 0:" — that colon is Python syntax, not sentence punctuation. If you are training on code, and everyone is now, this matters.</a:t>
            </a:r>
          </a:p>
          <a:p>
            <a:r>
              <a:rPr dirty="0"/>
              <a:t>Multilingual text. Chinese, Japanese and Thai have no whitespace between words at all. Whitespace splitting does not degrade gracefully there; it fails completely.</a:t>
            </a:r>
          </a:p>
          <a:p>
            <a:r>
              <a:rPr dirty="0"/>
              <a:t>Now the board exercise. "The U.S. economy grew 2.3% in Q3." Take two minutes with the person next to you and write down your split.</a:t>
            </a:r>
          </a:p>
          <a:p>
            <a:r>
              <a:rPr dirty="0"/>
              <a:t>[Take two or three answers, write them up, let them disagree.]</a:t>
            </a:r>
          </a:p>
          <a:p>
            <a:r>
              <a:rPr dirty="0"/>
              <a:t>Notice there is no single correct answer. Is "U.S." one token or two? Is "2.3%" one token or two? The right answer depends on the task. That is the honest situation, and it is why </a:t>
            </a:r>
            <a:r>
              <a:rPr dirty="0" err="1"/>
              <a:t>tokenisation</a:t>
            </a:r>
            <a:r>
              <a:rPr dirty="0"/>
              <a:t> is a design decision rather than a preprocessing step.</a:t>
            </a:r>
          </a:p>
        </p:txBody>
      </p:sp>
      <p:sp>
        <p:nvSpPr>
          <p:cNvPr id="909393680" name="Slide Number Placeholder 3"/>
          <p:cNvSpPr>
            <a:spLocks noGrp="1"/>
          </p:cNvSpPr>
          <p:nvPr>
            <p:ph type="sldNum" sz="quarter" idx="10"/>
          </p:nvPr>
        </p:nvSpPr>
        <p:spPr bwMode="auto"/>
        <p:txBody>
          <a:bodyPr/>
          <a:lstStyle/>
          <a:p>
            <a:pPr>
              <a:defRPr/>
            </a:pPr>
            <a:fld id="{DEF766A3-52CF-AB9D-D997-01C7B7E58E77}" type="slidenum">
              <a:rPr/>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02764047" name="Slide Image Placeholder 1"/>
          <p:cNvSpPr>
            <a:spLocks noGrp="1" noRot="1" noChangeAspect="1"/>
          </p:cNvSpPr>
          <p:nvPr>
            <p:ph type="sldImg"/>
          </p:nvPr>
        </p:nvSpPr>
        <p:spPr bwMode="auto">
          <a:xfrm>
            <a:off x="381000" y="685800"/>
            <a:ext cx="6096000" cy="3429000"/>
          </a:xfrm>
        </p:spPr>
      </p:sp>
      <p:sp>
        <p:nvSpPr>
          <p:cNvPr id="154522756" name="Notes Placeholder 2"/>
          <p:cNvSpPr>
            <a:spLocks noGrp="1"/>
          </p:cNvSpPr>
          <p:nvPr>
            <p:ph type="body" idx="1"/>
          </p:nvPr>
        </p:nvSpPr>
        <p:spPr bwMode="auto"/>
        <p:txBody>
          <a:bodyPr/>
          <a:lstStyle/>
          <a:p>
            <a:r>
              <a:rPr dirty="0"/>
              <a:t>[~8 min]</a:t>
            </a:r>
          </a:p>
          <a:p>
            <a:r>
              <a:rPr dirty="0"/>
              <a:t>Two obvious alternatives, and both are bad.</a:t>
            </a:r>
          </a:p>
          <a:p>
            <a:r>
              <a:rPr dirty="0"/>
              <a:t>Character </a:t>
            </a:r>
            <a:r>
              <a:rPr dirty="0" err="1"/>
              <a:t>tokenisation</a:t>
            </a:r>
            <a:r>
              <a:rPr dirty="0"/>
              <a:t> solves out-of-vocabulary completely — every string is representable. But sequences get roughly five times longer, and you have thrown away all word-level abstraction. The model now has to learn spelling from scratch.</a:t>
            </a:r>
          </a:p>
          <a:p>
            <a:r>
              <a:rPr dirty="0"/>
              <a:t>Word </a:t>
            </a:r>
            <a:r>
              <a:rPr dirty="0" err="1"/>
              <a:t>tokenisation</a:t>
            </a:r>
            <a:r>
              <a:rPr dirty="0"/>
              <a:t> gives you manageable sequence lengths, but any word unseen in training becomes UNK. And notice the second consequence: the model cannot generate a word that is not in its vocabulary either.</a:t>
            </a:r>
          </a:p>
          <a:p>
            <a:r>
              <a:rPr dirty="0"/>
              <a:t>The </a:t>
            </a:r>
            <a:r>
              <a:rPr dirty="0" err="1"/>
              <a:t>subword</a:t>
            </a:r>
            <a:r>
              <a:rPr dirty="0"/>
              <a:t> insight is the compromise, and it is genuinely elegant. Frequent words stay whole tokens. Rare or novel words split into common, reusable pieces. Fixed vocabulary size, and zero out-of-vocabulary, because in the worst case you fall back to characters.</a:t>
            </a:r>
          </a:p>
          <a:p>
            <a:r>
              <a:rPr dirty="0"/>
              <a:t>Now let's actually run it. The code on the slide is </a:t>
            </a:r>
            <a:r>
              <a:rPr dirty="0" err="1"/>
              <a:t>tiktoken</a:t>
            </a:r>
            <a:r>
              <a:rPr dirty="0"/>
              <a:t> — that is OpenAI's BPE implementation, and o200k_base is the encoding GPT-4o uses.</a:t>
            </a:r>
          </a:p>
          <a:p>
            <a:r>
              <a:rPr dirty="0"/>
              <a:t>[Run the demo. </a:t>
            </a:r>
            <a:r>
              <a:rPr dirty="0" err="1"/>
              <a:t>Tokenise</a:t>
            </a:r>
            <a:r>
              <a:rPr dirty="0"/>
              <a:t>, in this order: "hello world" for the baseline; "unbelievable" to show </a:t>
            </a:r>
            <a:r>
              <a:rPr dirty="0" err="1"/>
              <a:t>subword</a:t>
            </a:r>
            <a:r>
              <a:rPr dirty="0"/>
              <a:t> splitting; "Singapore" versus a less common place name to show frequency driving granularity; a line of Chinese or Malay to show the token count per character is far worse than English — which is a real fairness and cost issue, non-English users pay more per API call; and a long number to show numbers chunk unpredictably.]</a:t>
            </a:r>
          </a:p>
          <a:p>
            <a:r>
              <a:rPr dirty="0"/>
              <a:t>And the payoff. Ask a model how many R's are in "strawberry." Current models handle it, but the reason it ever failed is on this screen: the model never saw the letters. It saw two or three </a:t>
            </a:r>
            <a:r>
              <a:rPr dirty="0" err="1"/>
              <a:t>subword</a:t>
            </a:r>
            <a:r>
              <a:rPr dirty="0"/>
              <a:t> tokens. Asking it to count characters is like asking you to count the brushstrokes in a word you are reading.</a:t>
            </a:r>
          </a:p>
          <a:p>
            <a:r>
              <a:rPr dirty="0"/>
              <a:t>That is not a bug in reasoning. It is a consequence of the representation — and that is the level I want you thinking at for the rest of this module. Not "the AI is dumb." Which layer of the pipeline made this inevitable?</a:t>
            </a:r>
          </a:p>
          <a:p>
            <a:r>
              <a:rPr dirty="0"/>
              <a:t>The Kaggle notebook at the bottom is your homework.</a:t>
            </a:r>
          </a:p>
        </p:txBody>
      </p:sp>
      <p:sp>
        <p:nvSpPr>
          <p:cNvPr id="1035684246" name="Slide Number Placeholder 3"/>
          <p:cNvSpPr>
            <a:spLocks noGrp="1"/>
          </p:cNvSpPr>
          <p:nvPr>
            <p:ph type="sldNum" sz="quarter" idx="10"/>
          </p:nvPr>
        </p:nvSpPr>
        <p:spPr bwMode="auto"/>
        <p:txBody>
          <a:bodyPr/>
          <a:lstStyle/>
          <a:p>
            <a:pPr>
              <a:defRPr/>
            </a:pPr>
            <a:fld id="{E8415E6E-F0F9-7A9E-DEB4-3A86AE04E96F}" type="slidenum">
              <a:rPr/>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32877652" name="Slide Image Placeholder 1"/>
          <p:cNvSpPr>
            <a:spLocks noGrp="1" noRot="1" noChangeAspect="1"/>
          </p:cNvSpPr>
          <p:nvPr>
            <p:ph type="sldImg"/>
          </p:nvPr>
        </p:nvSpPr>
        <p:spPr bwMode="auto">
          <a:xfrm>
            <a:off x="381000" y="685800"/>
            <a:ext cx="6096000" cy="3429000"/>
          </a:xfrm>
        </p:spPr>
      </p:sp>
      <p:sp>
        <p:nvSpPr>
          <p:cNvPr id="1928410719" name="Notes Placeholder 2"/>
          <p:cNvSpPr>
            <a:spLocks noGrp="1"/>
          </p:cNvSpPr>
          <p:nvPr>
            <p:ph type="body" idx="1"/>
          </p:nvPr>
        </p:nvSpPr>
        <p:spPr bwMode="auto"/>
        <p:txBody>
          <a:bodyPr/>
          <a:lstStyle/>
          <a:p>
            <a:r>
              <a:rPr dirty="0"/>
              <a:t>[~5 min]</a:t>
            </a:r>
          </a:p>
          <a:p>
            <a:r>
              <a:rPr dirty="0"/>
              <a:t>Byte-Pair Encoding. Originally a compression algorithm from 1994, repurposed for NLP in 2015. Four steps and it is genuinely this simple.</a:t>
            </a:r>
          </a:p>
          <a:p>
            <a:r>
              <a:rPr dirty="0"/>
              <a:t>Start with a vocabulary of every individual character, plus an end-of-word symbol.</a:t>
            </a:r>
          </a:p>
          <a:p>
            <a:r>
              <a:rPr dirty="0"/>
              <a:t>One: count the frequency of every adjacent pair of symbols in the corpus.</a:t>
            </a:r>
          </a:p>
          <a:p>
            <a:r>
              <a:rPr dirty="0"/>
              <a:t>Two: find the single most frequent pair.</a:t>
            </a:r>
          </a:p>
          <a:p>
            <a:r>
              <a:rPr dirty="0"/>
              <a:t>Three: merge that pair into a new token and add it to the vocabulary.</a:t>
            </a:r>
          </a:p>
          <a:p>
            <a:r>
              <a:rPr dirty="0"/>
              <a:t>Four: repeat until the vocabulary reaches the target size you chose.</a:t>
            </a:r>
          </a:p>
          <a:p>
            <a:r>
              <a:rPr dirty="0"/>
              <a:t>Two things to notice. The target vocabulary size is a hyperparameter you pick — the algorithm runs until it gets there. And the merges are learned from the training corpus, which means a </a:t>
            </a:r>
            <a:r>
              <a:rPr dirty="0" err="1"/>
              <a:t>tokeniser</a:t>
            </a:r>
            <a:r>
              <a:rPr dirty="0"/>
              <a:t> trained on web text will behave oddly on medical or legal text. Hold that thought; it comes back in two slides.</a:t>
            </a:r>
          </a:p>
          <a:p>
            <a:r>
              <a:rPr dirty="0"/>
              <a:t>Let's run it by hand.</a:t>
            </a:r>
          </a:p>
        </p:txBody>
      </p:sp>
      <p:sp>
        <p:nvSpPr>
          <p:cNvPr id="1221049726" name="Slide Number Placeholder 3"/>
          <p:cNvSpPr>
            <a:spLocks noGrp="1"/>
          </p:cNvSpPr>
          <p:nvPr>
            <p:ph type="sldNum" sz="quarter" idx="10"/>
          </p:nvPr>
        </p:nvSpPr>
        <p:spPr bwMode="auto"/>
        <p:txBody>
          <a:bodyPr/>
          <a:lstStyle/>
          <a:p>
            <a:pPr>
              <a:defRPr/>
            </a:pPr>
            <a:fld id="{932E1B46-4BA9-8BEC-C5D8-DD0C9ABF6721}" type="slidenum">
              <a:rPr/>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7027301" name="Slide Image Placeholder 1"/>
          <p:cNvSpPr>
            <a:spLocks noGrp="1" noRot="1" noChangeAspect="1"/>
          </p:cNvSpPr>
          <p:nvPr>
            <p:ph type="sldImg"/>
          </p:nvPr>
        </p:nvSpPr>
        <p:spPr bwMode="auto">
          <a:xfrm>
            <a:off x="381000" y="685800"/>
            <a:ext cx="6096000" cy="3429000"/>
          </a:xfrm>
        </p:spPr>
      </p:sp>
      <p:sp>
        <p:nvSpPr>
          <p:cNvPr id="1411166353" name="Notes Placeholder 2"/>
          <p:cNvSpPr>
            <a:spLocks noGrp="1"/>
          </p:cNvSpPr>
          <p:nvPr>
            <p:ph type="body" idx="1"/>
          </p:nvPr>
        </p:nvSpPr>
        <p:spPr bwMode="auto"/>
        <p:txBody>
          <a:bodyPr/>
          <a:lstStyle/>
          <a:p>
            <a:r>
              <a:rPr dirty="0"/>
              <a:t>[~3 min]</a:t>
            </a:r>
          </a:p>
          <a:p>
            <a:r>
              <a:rPr dirty="0"/>
              <a:t>Six words in our toy corpus: low, lower, lowest, new, newer, newest.</a:t>
            </a:r>
          </a:p>
          <a:p>
            <a:r>
              <a:rPr dirty="0"/>
              <a:t>We start by splitting everything into characters. The angle-bracket w marks the end of a word — we need that, otherwise the model cannot tell a word-final "er" from an "er" in the middle of something.</a:t>
            </a:r>
          </a:p>
          <a:p>
            <a:r>
              <a:rPr dirty="0"/>
              <a:t>Look at the six rows and, before I click on, see if you can spot which pair is most frequent. Everything else follows from that.</a:t>
            </a:r>
          </a:p>
        </p:txBody>
      </p:sp>
      <p:sp>
        <p:nvSpPr>
          <p:cNvPr id="547632458" name="Slide Number Placeholder 3"/>
          <p:cNvSpPr>
            <a:spLocks noGrp="1"/>
          </p:cNvSpPr>
          <p:nvPr>
            <p:ph type="sldNum" sz="quarter" idx="10"/>
          </p:nvPr>
        </p:nvSpPr>
        <p:spPr bwMode="auto"/>
        <p:txBody>
          <a:bodyPr/>
          <a:lstStyle/>
          <a:p>
            <a:pPr>
              <a:defRPr/>
            </a:pPr>
            <a:fld id="{4A8CB538-7DCE-BECF-54EE-EAAE28D7E82D}" type="slidenum">
              <a:rP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58010228" name="Slide Image Placeholder 1"/>
          <p:cNvSpPr>
            <a:spLocks noGrp="1" noRot="1" noChangeAspect="1"/>
          </p:cNvSpPr>
          <p:nvPr>
            <p:ph type="sldImg"/>
          </p:nvPr>
        </p:nvSpPr>
        <p:spPr bwMode="auto">
          <a:xfrm>
            <a:off x="381000" y="685800"/>
            <a:ext cx="6096000" cy="3429000"/>
          </a:xfrm>
        </p:spPr>
      </p:sp>
      <p:sp>
        <p:nvSpPr>
          <p:cNvPr id="723337383" name="Notes Placeholder 2"/>
          <p:cNvSpPr>
            <a:spLocks noGrp="1"/>
          </p:cNvSpPr>
          <p:nvPr>
            <p:ph type="body" idx="1"/>
          </p:nvPr>
        </p:nvSpPr>
        <p:spPr bwMode="auto"/>
        <p:txBody>
          <a:bodyPr/>
          <a:lstStyle/>
          <a:p>
            <a:r>
              <a:rPr dirty="0"/>
              <a:t>[~3 min]</a:t>
            </a:r>
          </a:p>
          <a:p>
            <a:r>
              <a:rPr dirty="0"/>
              <a:t>Merge one: "l" plus "o" becomes "lo". It appears in every word starting with "low," so it is the most frequent pair.</a:t>
            </a:r>
          </a:p>
          <a:p>
            <a:r>
              <a:rPr dirty="0"/>
              <a:t>Merge two: now "lo" plus "w" becomes "low". Notice what just happened — the output of merge one became an input to merge two. The merges compose, and that is how BPE builds up from characters to whole words without anyone specifying what a word is.</a:t>
            </a:r>
          </a:p>
          <a:p>
            <a:r>
              <a:rPr dirty="0"/>
              <a:t>After two merges our rows read: low, low-e-r, low-e-s-t.</a:t>
            </a:r>
          </a:p>
        </p:txBody>
      </p:sp>
      <p:sp>
        <p:nvSpPr>
          <p:cNvPr id="446649299" name="Slide Number Placeholder 3"/>
          <p:cNvSpPr>
            <a:spLocks noGrp="1"/>
          </p:cNvSpPr>
          <p:nvPr>
            <p:ph type="sldNum" sz="quarter" idx="10"/>
          </p:nvPr>
        </p:nvSpPr>
        <p:spPr bwMode="auto"/>
        <p:txBody>
          <a:bodyPr/>
          <a:lstStyle/>
          <a:p>
            <a:pPr>
              <a:defRPr/>
            </a:pPr>
            <a:fld id="{4169FDEC-CB30-337F-A410-DCB2D8B00725}" type="slidenum">
              <a:rPr/>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5011460" name="Slide Image Placeholder 1"/>
          <p:cNvSpPr>
            <a:spLocks noGrp="1" noRot="1" noChangeAspect="1"/>
          </p:cNvSpPr>
          <p:nvPr>
            <p:ph type="sldImg"/>
          </p:nvPr>
        </p:nvSpPr>
        <p:spPr bwMode="auto">
          <a:xfrm>
            <a:off x="381000" y="685800"/>
            <a:ext cx="6096000" cy="3429000"/>
          </a:xfrm>
        </p:spPr>
      </p:sp>
      <p:sp>
        <p:nvSpPr>
          <p:cNvPr id="1827205222" name="Notes Placeholder 2"/>
          <p:cNvSpPr>
            <a:spLocks noGrp="1"/>
          </p:cNvSpPr>
          <p:nvPr>
            <p:ph type="body" idx="1"/>
          </p:nvPr>
        </p:nvSpPr>
        <p:spPr bwMode="auto"/>
        <p:txBody>
          <a:bodyPr/>
          <a:lstStyle/>
          <a:p>
            <a:r>
              <a:rPr dirty="0"/>
              <a:t>[~2 min]</a:t>
            </a:r>
          </a:p>
          <a:p>
            <a:r>
              <a:rPr dirty="0"/>
              <a:t>Same thing on the other half of the corpus. "n" plus "e" becomes "ne", then "ne" plus "w" becomes "new".</a:t>
            </a:r>
          </a:p>
          <a:p>
            <a:r>
              <a:rPr dirty="0"/>
              <a:t>Four merges in and we have discovered two word stems — "low" and "new" — purely by counting. Nobody told the algorithm about morphology.</a:t>
            </a:r>
          </a:p>
        </p:txBody>
      </p:sp>
      <p:sp>
        <p:nvSpPr>
          <p:cNvPr id="99772532" name="Slide Number Placeholder 3"/>
          <p:cNvSpPr>
            <a:spLocks noGrp="1"/>
          </p:cNvSpPr>
          <p:nvPr>
            <p:ph type="sldNum" sz="quarter" idx="10"/>
          </p:nvPr>
        </p:nvSpPr>
        <p:spPr bwMode="auto"/>
        <p:txBody>
          <a:bodyPr/>
          <a:lstStyle/>
          <a:p>
            <a:pPr>
              <a:defRPr/>
            </a:pPr>
            <a:fld id="{52E7BEC8-BB9D-5B12-BFE5-BB00E91E3372}" type="slidenum">
              <a:rPr/>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9510505" name="Slide Image Placeholder 1"/>
          <p:cNvSpPr>
            <a:spLocks noGrp="1" noRot="1" noChangeAspect="1"/>
          </p:cNvSpPr>
          <p:nvPr>
            <p:ph type="sldImg"/>
          </p:nvPr>
        </p:nvSpPr>
        <p:spPr bwMode="auto">
          <a:xfrm>
            <a:off x="381000" y="685800"/>
            <a:ext cx="6096000" cy="3429000"/>
          </a:xfrm>
        </p:spPr>
      </p:sp>
      <p:sp>
        <p:nvSpPr>
          <p:cNvPr id="961171781" name="Notes Placeholder 2"/>
          <p:cNvSpPr>
            <a:spLocks noGrp="1"/>
          </p:cNvSpPr>
          <p:nvPr>
            <p:ph type="body" idx="1"/>
          </p:nvPr>
        </p:nvSpPr>
        <p:spPr bwMode="auto"/>
        <p:txBody>
          <a:bodyPr/>
          <a:lstStyle/>
          <a:p>
            <a:r>
              <a:rPr dirty="0"/>
              <a:t>[~5 min]</a:t>
            </a:r>
          </a:p>
          <a:p>
            <a:r>
              <a:rPr dirty="0"/>
              <a:t>Merge five: "e" plus "r" plus end-of-word becomes "er" as a single word-final token, because it appears in both "lower" and "newer". The algorithm has now discovered a suffix.</a:t>
            </a:r>
          </a:p>
          <a:p>
            <a:r>
              <a:rPr dirty="0"/>
              <a:t>And the result: "newest" </a:t>
            </a:r>
            <a:r>
              <a:rPr dirty="0" err="1"/>
              <a:t>tokenises</a:t>
            </a:r>
            <a:r>
              <a:rPr dirty="0"/>
              <a:t> as "new" plus "est". Both pieces are common </a:t>
            </a:r>
            <a:r>
              <a:rPr dirty="0" err="1"/>
              <a:t>subwords</a:t>
            </a:r>
            <a:r>
              <a:rPr dirty="0"/>
              <a:t> already in the vocabulary. No UNK token needed.</a:t>
            </a:r>
          </a:p>
          <a:p>
            <a:r>
              <a:rPr dirty="0"/>
              <a:t>That is the whole point of the exercise. A word the model has arguably never needed to </a:t>
            </a:r>
            <a:r>
              <a:rPr dirty="0" err="1"/>
              <a:t>memorise</a:t>
            </a:r>
            <a:r>
              <a:rPr dirty="0"/>
              <a:t> gets represented perfectly from two reusable pieces.</a:t>
            </a:r>
          </a:p>
          <a:p>
            <a:r>
              <a:rPr dirty="0"/>
              <a:t>[If someone points out that merge five gives "er" and the result shows "est" — good catch, say so. The slide compresses a step; an analogous merge over "e", "s", "t" plus end-of-word produces "est" the same way. The mechanism is identical.]</a:t>
            </a:r>
          </a:p>
        </p:txBody>
      </p:sp>
      <p:sp>
        <p:nvSpPr>
          <p:cNvPr id="860831114" name="Slide Number Placeholder 3"/>
          <p:cNvSpPr>
            <a:spLocks noGrp="1"/>
          </p:cNvSpPr>
          <p:nvPr>
            <p:ph type="sldNum" sz="quarter" idx="10"/>
          </p:nvPr>
        </p:nvSpPr>
        <p:spPr bwMode="auto"/>
        <p:txBody>
          <a:bodyPr/>
          <a:lstStyle/>
          <a:p>
            <a:pPr>
              <a:defRPr/>
            </a:pPr>
            <a:fld id="{0A87F3B6-7FB4-74A0-CDEB-65CABC1FC525}" type="slidenum">
              <a:rPr/>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r>
              <a:rPr dirty="0"/>
              <a:t>[~4 min]</a:t>
            </a:r>
          </a:p>
          <a:p>
            <a:r>
              <a:rPr dirty="0"/>
              <a:t>Your turn. Assume a well-trained BPE vocabulary. What tokens would you expect for "unhappiness"?</a:t>
            </a:r>
          </a:p>
          <a:p>
            <a:r>
              <a:rPr dirty="0"/>
              <a:t>[Take answers. You will get "un" plus "happiness", and "un" plus "happy" plus "ness".]</a:t>
            </a:r>
          </a:p>
          <a:p>
            <a:r>
              <a:rPr dirty="0"/>
              <a:t>Both are plausible and there is no single right answer — it depends entirely on the training corpus. If "happiness" appeared often enough as a whole word, it stays whole. If it did not, it splits.</a:t>
            </a:r>
          </a:p>
          <a:p>
            <a:r>
              <a:rPr dirty="0"/>
              <a:t>Here is the thing I actually want you to take away. BPE finds reusable, frequent pieces. It does not find linguistically principled morphemes. It is a compression algorithm that happens to land near morphology, because frequent substrings and meaningful substrings correlate — but they are not the same thing, and where they diverge is where your model gets confused.</a:t>
            </a:r>
          </a:p>
        </p:txBody>
      </p:sp>
      <p:sp>
        <p:nvSpPr>
          <p:cNvPr id="4" name="Slide Number Placeholder 3"/>
          <p:cNvSpPr>
            <a:spLocks noGrp="1"/>
          </p:cNvSpPr>
          <p:nvPr>
            <p:ph type="sldNum" sz="quarter" idx="10"/>
          </p:nvPr>
        </p:nvSpPr>
        <p:spPr bwMode="auto"/>
        <p:txBody>
          <a:bodyPr/>
          <a:lstStyle/>
          <a:p>
            <a:pPr>
              <a:defRPr/>
            </a:pPr>
            <a:fld id="{8A1322A1-01AB-09A9-1E48-AFB294162D0C}" type="slidenum">
              <a:rPr/>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49103221" name="Slide Image Placeholder 1"/>
          <p:cNvSpPr>
            <a:spLocks noGrp="1" noRot="1" noChangeAspect="1"/>
          </p:cNvSpPr>
          <p:nvPr>
            <p:ph type="sldImg"/>
          </p:nvPr>
        </p:nvSpPr>
        <p:spPr bwMode="auto">
          <a:xfrm>
            <a:off x="381000" y="685800"/>
            <a:ext cx="6096000" cy="3429000"/>
          </a:xfrm>
        </p:spPr>
      </p:sp>
      <p:sp>
        <p:nvSpPr>
          <p:cNvPr id="1770247950" name="Notes Placeholder 2"/>
          <p:cNvSpPr>
            <a:spLocks noGrp="1"/>
          </p:cNvSpPr>
          <p:nvPr>
            <p:ph type="body" idx="1"/>
          </p:nvPr>
        </p:nvSpPr>
        <p:spPr bwMode="auto"/>
        <p:txBody>
          <a:bodyPr/>
          <a:lstStyle/>
          <a:p>
            <a:r>
              <a:rPr dirty="0"/>
              <a:t>[~5 min]</a:t>
            </a:r>
          </a:p>
          <a:p>
            <a:r>
              <a:rPr dirty="0"/>
              <a:t>Two variants you will meet constantly, so let's be precise about the difference.</a:t>
            </a:r>
          </a:p>
          <a:p>
            <a:r>
              <a:rPr dirty="0" err="1"/>
              <a:t>WordPiece</a:t>
            </a:r>
            <a:r>
              <a:rPr dirty="0"/>
              <a:t> — this is BERT. The merge criterion </a:t>
            </a:r>
            <a:r>
              <a:rPr dirty="0" err="1"/>
              <a:t>maximises</a:t>
            </a:r>
            <a:r>
              <a:rPr dirty="0"/>
              <a:t> the likelihood of the training corpus rather than raw pair frequency. In plain terms: it does not merge the most common pair, it merges the pair that most improves the model's ability to predict the corpus. Slightly smarter, slightly more expensive. And it marks continuation </a:t>
            </a:r>
            <a:r>
              <a:rPr dirty="0" err="1"/>
              <a:t>subwords</a:t>
            </a:r>
            <a:r>
              <a:rPr dirty="0"/>
              <a:t> with a double hash, so "unhappiness" becomes "un", "hash-hash-happy", "hash-hash-ness". The hashes tell you this piece attaches to the left.</a:t>
            </a:r>
          </a:p>
          <a:p>
            <a:r>
              <a:rPr dirty="0"/>
              <a:t>BPE as used in GPT-2 — operates on bytes, not characters. That sounds like a technicality and it is not: bytes mean it is fully language-agnostic by construction. There is no character it cannot represent, in any script, ever. It always merges the most frequent adjacent pair, and it marks word boundaries with a space prefix instead of the double hash.</a:t>
            </a:r>
          </a:p>
          <a:p>
            <a:r>
              <a:rPr dirty="0"/>
              <a:t>So: different merge criterion, different boundary marker, different base unit. When you load a pre-trained model and the tokens look strange, this slide is why.</a:t>
            </a:r>
          </a:p>
        </p:txBody>
      </p:sp>
      <p:sp>
        <p:nvSpPr>
          <p:cNvPr id="2027504779" name="Slide Number Placeholder 3"/>
          <p:cNvSpPr>
            <a:spLocks noGrp="1"/>
          </p:cNvSpPr>
          <p:nvPr>
            <p:ph type="sldNum" sz="quarter" idx="10"/>
          </p:nvPr>
        </p:nvSpPr>
        <p:spPr bwMode="auto"/>
        <p:txBody>
          <a:bodyPr/>
          <a:lstStyle/>
          <a:p>
            <a:pPr>
              <a:defRPr/>
            </a:pPr>
            <a:fld id="{BDD6D0FB-6A4B-9650-136F-0D6223D05A6E}" type="slidenum">
              <a:rPr/>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8437083" name="Slide Image Placeholder 1"/>
          <p:cNvSpPr>
            <a:spLocks noGrp="1" noRot="1" noChangeAspect="1"/>
          </p:cNvSpPr>
          <p:nvPr>
            <p:ph type="sldImg"/>
          </p:nvPr>
        </p:nvSpPr>
        <p:spPr bwMode="auto">
          <a:xfrm>
            <a:off x="381000" y="685800"/>
            <a:ext cx="6096000" cy="3429000"/>
          </a:xfrm>
        </p:spPr>
      </p:sp>
      <p:sp>
        <p:nvSpPr>
          <p:cNvPr id="1845096375" name="Notes Placeholder 2"/>
          <p:cNvSpPr>
            <a:spLocks noGrp="1"/>
          </p:cNvSpPr>
          <p:nvPr>
            <p:ph type="body" idx="1"/>
          </p:nvPr>
        </p:nvSpPr>
        <p:spPr bwMode="auto"/>
        <p:txBody>
          <a:bodyPr/>
          <a:lstStyle/>
          <a:p>
            <a:r>
              <a:rPr dirty="0"/>
              <a:t>[~3 min]</a:t>
            </a:r>
          </a:p>
          <a:p>
            <a:r>
              <a:rPr dirty="0" err="1"/>
              <a:t>SentencePiece</a:t>
            </a:r>
            <a:r>
              <a:rPr dirty="0"/>
              <a:t> is the one people most often misclassify. It is a library, not a new algorithm. It implements both BPE and a unigram language-model approach.</a:t>
            </a:r>
          </a:p>
          <a:p>
            <a:r>
              <a:rPr dirty="0"/>
              <a:t>The genuinely useful idea is that it treats whitespace as a regular symbol — that underscore character — which means it needs no language-specific pre-</a:t>
            </a:r>
            <a:r>
              <a:rPr dirty="0" err="1"/>
              <a:t>tokenisation</a:t>
            </a:r>
            <a:r>
              <a:rPr dirty="0"/>
              <a:t> step at all. Everything before </a:t>
            </a:r>
            <a:r>
              <a:rPr dirty="0" err="1"/>
              <a:t>SentencePiece</a:t>
            </a:r>
            <a:r>
              <a:rPr dirty="0"/>
              <a:t> assumed you could split on spaces first. For Chinese, Japanese and Thai, you cannot. </a:t>
            </a:r>
            <a:r>
              <a:rPr dirty="0" err="1"/>
              <a:t>SentencePiece</a:t>
            </a:r>
            <a:r>
              <a:rPr dirty="0"/>
              <a:t> just does not make the assumption.</a:t>
            </a:r>
          </a:p>
          <a:p>
            <a:r>
              <a:rPr dirty="0"/>
              <a:t>Used in T5, mT5 and </a:t>
            </a:r>
            <a:r>
              <a:rPr dirty="0" err="1"/>
              <a:t>XLNet</a:t>
            </a:r>
            <a:r>
              <a:rPr dirty="0"/>
              <a:t>. If you work with multilingual models, you will meet it.</a:t>
            </a:r>
          </a:p>
        </p:txBody>
      </p:sp>
      <p:sp>
        <p:nvSpPr>
          <p:cNvPr id="1148348356" name="Slide Number Placeholder 3"/>
          <p:cNvSpPr>
            <a:spLocks noGrp="1"/>
          </p:cNvSpPr>
          <p:nvPr>
            <p:ph type="sldNum" sz="quarter" idx="10"/>
          </p:nvPr>
        </p:nvSpPr>
        <p:spPr bwMode="auto"/>
        <p:txBody>
          <a:bodyPr/>
          <a:lstStyle/>
          <a:p>
            <a:pPr>
              <a:defRPr/>
            </a:pPr>
            <a:fld id="{27DC0E34-E6D0-808F-2242-F0F8D1B27262}" type="slidenum">
              <a:rPr/>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10387169" name="Slide Image Placeholder 1"/>
          <p:cNvSpPr>
            <a:spLocks noGrp="1" noRot="1" noChangeAspect="1"/>
          </p:cNvSpPr>
          <p:nvPr>
            <p:ph type="sldImg"/>
          </p:nvPr>
        </p:nvSpPr>
        <p:spPr bwMode="auto">
          <a:xfrm>
            <a:off x="381000" y="685800"/>
            <a:ext cx="6096000" cy="3429000"/>
          </a:xfrm>
        </p:spPr>
      </p:sp>
      <p:sp>
        <p:nvSpPr>
          <p:cNvPr id="74275368" name="Notes Placeholder 2"/>
          <p:cNvSpPr>
            <a:spLocks noGrp="1"/>
          </p:cNvSpPr>
          <p:nvPr>
            <p:ph type="body" idx="1"/>
          </p:nvPr>
        </p:nvSpPr>
        <p:spPr bwMode="auto"/>
        <p:txBody>
          <a:bodyPr/>
          <a:lstStyle/>
          <a:p>
            <a:r>
              <a:rPr dirty="0"/>
              <a:t>[~5 min]</a:t>
            </a:r>
          </a:p>
          <a:p>
            <a:r>
              <a:rPr dirty="0"/>
              <a:t>Vocabulary size is a real engineering trade-off with two failure modes at the ends.</a:t>
            </a:r>
          </a:p>
          <a:p>
            <a:r>
              <a:rPr dirty="0"/>
              <a:t>Too small — say a hundred tokens. Almost everything splits into many pieces, sequences become very long, and even common words get chopped up. You have basically reinvented character </a:t>
            </a:r>
            <a:r>
              <a:rPr dirty="0" err="1"/>
              <a:t>tokenisation</a:t>
            </a:r>
            <a:r>
              <a:rPr dirty="0"/>
              <a:t>.</a:t>
            </a:r>
          </a:p>
          <a:p>
            <a:r>
              <a:rPr dirty="0"/>
              <a:t>Too large — say two hundred thousand. Rare words become whole tokens, which sounds nice, but the embedding matrix bloats, and out-of-vocabulary re-emerges anyway for anything outside your training data. You have paid for </a:t>
            </a:r>
            <a:r>
              <a:rPr dirty="0" err="1"/>
              <a:t>memorisation</a:t>
            </a:r>
            <a:r>
              <a:rPr dirty="0"/>
              <a:t> and still not solved the problem.</a:t>
            </a:r>
          </a:p>
          <a:p>
            <a:r>
              <a:rPr dirty="0"/>
              <a:t>The typical range is thirty to fifty thousand, and the two reference points worth remembering: BERT uses 30,522, GPT-2 uses 50,257.</a:t>
            </a:r>
          </a:p>
          <a:p>
            <a:r>
              <a:rPr dirty="0"/>
              <a:t>If anyone wonders about the odd numbers — those are the target size plus a handful of special tokens, things like padding, classification and mask markers.</a:t>
            </a:r>
          </a:p>
        </p:txBody>
      </p:sp>
      <p:sp>
        <p:nvSpPr>
          <p:cNvPr id="1631388498" name="Slide Number Placeholder 3"/>
          <p:cNvSpPr>
            <a:spLocks noGrp="1"/>
          </p:cNvSpPr>
          <p:nvPr>
            <p:ph type="sldNum" sz="quarter" idx="10"/>
          </p:nvPr>
        </p:nvSpPr>
        <p:spPr bwMode="auto"/>
        <p:txBody>
          <a:bodyPr/>
          <a:lstStyle/>
          <a:p>
            <a:pPr>
              <a:defRPr/>
            </a:pPr>
            <a:fld id="{201BD242-DB96-E256-FCA2-08736102E673}" type="slidenum">
              <a:rPr/>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7135765" name="Slide Image Placeholder 1"/>
          <p:cNvSpPr>
            <a:spLocks noGrp="1" noRot="1" noChangeAspect="1"/>
          </p:cNvSpPr>
          <p:nvPr>
            <p:ph type="sldImg"/>
          </p:nvPr>
        </p:nvSpPr>
        <p:spPr bwMode="auto">
          <a:xfrm>
            <a:off x="381000" y="685800"/>
            <a:ext cx="6096000" cy="3429000"/>
          </a:xfrm>
        </p:spPr>
      </p:sp>
      <p:sp>
        <p:nvSpPr>
          <p:cNvPr id="119204801" name="Notes Placeholder 2"/>
          <p:cNvSpPr>
            <a:spLocks noGrp="1"/>
          </p:cNvSpPr>
          <p:nvPr>
            <p:ph type="body" idx="1"/>
          </p:nvPr>
        </p:nvSpPr>
        <p:spPr bwMode="auto"/>
        <p:txBody>
          <a:bodyPr/>
          <a:lstStyle/>
          <a:p>
            <a:r>
              <a:rPr dirty="0"/>
              <a:t>[~7 min]</a:t>
            </a:r>
          </a:p>
          <a:p>
            <a:r>
              <a:rPr dirty="0"/>
              <a:t>Three reasons this matters practically rather than academically.</a:t>
            </a:r>
          </a:p>
          <a:p>
            <a:r>
              <a:rPr dirty="0"/>
              <a:t>Token budget. Every token costs one position in the model's context window. </a:t>
            </a:r>
            <a:r>
              <a:rPr dirty="0" err="1"/>
              <a:t>Tokenisation</a:t>
            </a:r>
            <a:r>
              <a:rPr dirty="0"/>
              <a:t> is not free — it directly determines how much of your document fits.</a:t>
            </a:r>
          </a:p>
          <a:p>
            <a:r>
              <a:rPr dirty="0"/>
              <a:t>Multilingual fairness. Morphologically rich languages like Finnish and Turkish </a:t>
            </a:r>
            <a:r>
              <a:rPr dirty="0" err="1"/>
              <a:t>tokenise</a:t>
            </a:r>
            <a:r>
              <a:rPr dirty="0"/>
              <a:t> into more and shorter pieces. Same meaning, more tokens, more of the budget consumed — and if you are paying per token, a literal higher price for the same content. That is a real equity issue and it is worth naming.</a:t>
            </a:r>
          </a:p>
          <a:p>
            <a:r>
              <a:rPr dirty="0"/>
              <a:t>Downstream task alignment. A </a:t>
            </a:r>
            <a:r>
              <a:rPr dirty="0" err="1"/>
              <a:t>tokeniser</a:t>
            </a:r>
            <a:r>
              <a:rPr dirty="0"/>
              <a:t> trained on general web text will split domain-specific terms — medical, legal, financial — into unusual pieces. Your model then has to reassemble the concept from fragments it has no reason to associate.</a:t>
            </a:r>
          </a:p>
          <a:p>
            <a:r>
              <a:rPr dirty="0"/>
              <a:t>Now the calculation on the slide, because you will need exactly this in the ECA.</a:t>
            </a:r>
          </a:p>
          <a:p>
            <a:r>
              <a:rPr dirty="0"/>
              <a:t>Three hundred words times roughly 1.3 </a:t>
            </a:r>
            <a:r>
              <a:rPr dirty="0" err="1"/>
              <a:t>subwords</a:t>
            </a:r>
            <a:r>
              <a:rPr dirty="0"/>
              <a:t> per word is about 390 tokens. That fits comfortably inside BERT's 512-token window.</a:t>
            </a:r>
          </a:p>
          <a:p>
            <a:r>
              <a:rPr dirty="0"/>
              <a:t>Six hundred words times 1.3 is about 780 tokens. That does not fit. You must truncate, or chunk, or pick a different model — and in ECA A2 you have to justify which.</a:t>
            </a:r>
          </a:p>
          <a:p>
            <a:r>
              <a:rPr dirty="0" err="1"/>
              <a:t>Memorise</a:t>
            </a:r>
            <a:r>
              <a:rPr dirty="0"/>
              <a:t> the 1.3 multiplier for English. It is a good enough back-of-envelope number to make architecture decisions with, and it is the kind of estimate I expect you to produce without opening a notebook.</a:t>
            </a:r>
          </a:p>
        </p:txBody>
      </p:sp>
      <p:sp>
        <p:nvSpPr>
          <p:cNvPr id="1456250607" name="Slide Number Placeholder 3"/>
          <p:cNvSpPr>
            <a:spLocks noGrp="1"/>
          </p:cNvSpPr>
          <p:nvPr>
            <p:ph type="sldNum" sz="quarter" idx="10"/>
          </p:nvPr>
        </p:nvSpPr>
        <p:spPr bwMode="auto"/>
        <p:txBody>
          <a:bodyPr/>
          <a:lstStyle/>
          <a:p>
            <a:pPr>
              <a:defRPr/>
            </a:pPr>
            <a:fld id="{8D588B06-D00F-164F-DAC3-8D64694D9C9E}" type="slidenum">
              <a:rPr/>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r>
              <a:rPr dirty="0"/>
              <a:t>[~5 min]</a:t>
            </a:r>
          </a:p>
          <a:p>
            <a:r>
              <a:rPr dirty="0"/>
              <a:t>Three pitfalls, all of which I will see if I do not say them now.</a:t>
            </a:r>
          </a:p>
          <a:p>
            <a:r>
              <a:rPr dirty="0"/>
              <a:t>Confusing vocabulary size with document count. You choose a target BPE vocabulary size and the algorithm runs until it reaches it. It has nothing to do with how many documents you have.</a:t>
            </a:r>
          </a:p>
          <a:p>
            <a:r>
              <a:rPr dirty="0"/>
              <a:t>Training BPE on dev or test data. The </a:t>
            </a:r>
            <a:r>
              <a:rPr dirty="0" err="1"/>
              <a:t>tokeniser</a:t>
            </a:r>
            <a:r>
              <a:rPr dirty="0"/>
              <a:t> must be built from training data only. This is a leakage bug, it is silent, and it will make your numbers look better than they are. Fit on train, apply to dev and test. Every time.</a:t>
            </a:r>
          </a:p>
          <a:p>
            <a:r>
              <a:rPr dirty="0"/>
              <a:t>Reporting OOV as a type count instead of a token count. Token-level OOV rate is the primary metric. Type-level makes rare words look like a catastrophe; token-level tells you what fraction of the actual text you are losing.</a:t>
            </a:r>
          </a:p>
          <a:p>
            <a:r>
              <a:rPr dirty="0"/>
              <a:t>And where it shows up: TMA question 1b, implement and compare whitespace, regex and BPE </a:t>
            </a:r>
            <a:r>
              <a:rPr dirty="0" err="1"/>
              <a:t>tokenisers</a:t>
            </a:r>
            <a:r>
              <a:rPr dirty="0"/>
              <a:t> on AG News. ECA A2, justify your </a:t>
            </a:r>
            <a:r>
              <a:rPr dirty="0" err="1"/>
              <a:t>tokenisation</a:t>
            </a:r>
            <a:r>
              <a:rPr dirty="0"/>
              <a:t> choice using OOV rate, vocabulary size and sequence-length trade-offs. Both of those are today's material, assessed directly.</a:t>
            </a:r>
          </a:p>
        </p:txBody>
      </p:sp>
      <p:sp>
        <p:nvSpPr>
          <p:cNvPr id="4" name="Slide Number Placeholder 3"/>
          <p:cNvSpPr>
            <a:spLocks noGrp="1"/>
          </p:cNvSpPr>
          <p:nvPr>
            <p:ph type="sldNum" sz="quarter" idx="10"/>
          </p:nvPr>
        </p:nvSpPr>
        <p:spPr bwMode="auto"/>
        <p:txBody>
          <a:bodyPr/>
          <a:lstStyle/>
          <a:p>
            <a:pPr>
              <a:defRPr/>
            </a:pPr>
            <a:fld id="{A372AA7B-73BD-3C26-E9F6-40385B0BCE32}" type="slidenum">
              <a:rPr/>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417132433" name="Google Shape;569;g37858fd9694_0_64: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254420" name="Google Shape;570;g37858fd9694_0_64: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[~4 min]</a:t>
            </a:r>
          </a:p>
          <a:p>
            <a:endParaRPr/>
          </a:p>
          <a:p>
            <a:r>
              <a:t>Let me tie the two halves together, because they probably felt unrelated.</a:t>
            </a:r>
          </a:p>
          <a:p>
            <a:endParaRPr/>
          </a:p>
          <a:p>
            <a:r>
              <a:t>First half: implementation is cheap now, judgment is expensive, and the value is upstream — in choosing problems and knowing what "solved" means.</a:t>
            </a:r>
          </a:p>
          <a:p>
            <a:endParaRPr/>
          </a:p>
          <a:p>
            <a:r>
              <a:t>Second half: ambiguity, the pipeline, tokenisation, BPE. That is judgment in its concrete form. Knowing that a 600-word document will not fit in BERT's window before you write a line of code — that is the skill. Any model can produce a number. Knowing which number matters is the job.</a:t>
            </a:r>
          </a:p>
          <a:p>
            <a:endParaRPr/>
          </a:p>
          <a:p>
            <a:r>
              <a:t>Before you go, four things.</a:t>
            </a:r>
          </a:p>
          <a:p>
            <a:endParaRPr/>
          </a:p>
          <a:p>
            <a:r>
              <a:t>One: set up your GitHub repository before next session. Commit history is assessed from week one.</a:t>
            </a:r>
          </a:p>
          <a:p>
            <a:r>
              <a:t>Two: work the Kaggle tokenisation notebook from the tokenisation slide.</a:t>
            </a:r>
          </a:p>
          <a:p>
            <a:r>
              <a:t>Three: start TMA question 1a — the AG News data audit. Everything you need for it was in today's pipeline section.</a:t>
            </a:r>
          </a:p>
          <a:p>
            <a:r>
              <a:t>Four: read the study guide chapters one and two.</a:t>
            </a:r>
          </a:p>
          <a:p>
            <a:endParaRPr/>
          </a:p>
          <a:p>
            <a:r>
              <a:t>Next week we fix the thing tokenisation cannot fix: that "good" and "great" are currently as unrelated as "good" and "refrigerator." Word embeddings.</a:t>
            </a:r>
          </a:p>
          <a:p>
            <a:endParaRPr/>
          </a:p>
          <a:p>
            <a:r>
              <a:t>See you Thursday.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01" type="title" userDrawn="1">
  <p:cSld name="TITLE">
    <p:spTree>
      <p:nvGrpSpPr>
        <p:cNvPr id="1" name=""/>
        <p:cNvGrpSpPr/>
        <p:nvPr/>
      </p:nvGrpSpPr>
      <p:grpSpPr bwMode="auto">
        <a:xfrm>
          <a:off x="0" y="0"/>
          <a:ext cx="0" cy="0"/>
          <a:chOff x="0" y="0"/>
          <a:chExt cx="0" cy="0"/>
        </a:xfrm>
      </p:grpSpPr>
      <p:sp>
        <p:nvSpPr>
          <p:cNvPr id="81527005" name="Google Shape;11;p2"/>
          <p:cNvSpPr/>
          <p:nvPr/>
        </p:nvSpPr>
        <p:spPr bwMode="auto">
          <a:xfrm>
            <a:off x="0" y="0"/>
            <a:ext cx="9144000" cy="5160899"/>
          </a:xfrm>
          <a:prstGeom prst="rect">
            <a:avLst/>
          </a:prstGeom>
          <a:solidFill>
            <a:srgbClr val="CE0000"/>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b="0" i="0" u="none" strike="noStrike" cap="none">
              <a:solidFill>
                <a:srgbClr val="CE0000"/>
              </a:solidFill>
              <a:latin typeface="Arial"/>
              <a:ea typeface="Arial"/>
              <a:cs typeface="Arial"/>
            </a:endParaRPr>
          </a:p>
        </p:txBody>
      </p:sp>
      <p:pic>
        <p:nvPicPr>
          <p:cNvPr id="803485493" name="Google Shape;12;p2" descr="Template01-02.png"/>
          <p:cNvPicPr/>
          <p:nvPr/>
        </p:nvPicPr>
        <p:blipFill rotWithShape="1">
          <a:blip r:embed="rId2">
            <a:alphaModFix/>
          </a:blip>
          <a:srcRect/>
          <a:stretch/>
        </p:blipFill>
        <p:spPr bwMode="auto">
          <a:xfrm>
            <a:off x="0" y="-1"/>
            <a:ext cx="6427421" cy="5160778"/>
          </a:xfrm>
          <a:prstGeom prst="rect">
            <a:avLst/>
          </a:prstGeom>
          <a:noFill/>
          <a:ln>
            <a:noFill/>
          </a:ln>
        </p:spPr>
      </p:pic>
      <p:sp>
        <p:nvSpPr>
          <p:cNvPr id="1643796212" name="Google Shape;13;p2"/>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08210536" name="Google Shape;14;p2"/>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289885317" name="Google Shape;15;p2" descr="holding device-02.png"/>
          <p:cNvPicPr/>
          <p:nvPr/>
        </p:nvPicPr>
        <p:blipFill rotWithShape="1">
          <a:blip r:embed="rId3">
            <a:alphaModFix/>
          </a:blip>
          <a:srcRect/>
          <a:stretch/>
        </p:blipFill>
        <p:spPr bwMode="auto">
          <a:xfrm>
            <a:off x="348471" y="-1"/>
            <a:ext cx="143662" cy="1219200"/>
          </a:xfrm>
          <a:prstGeom prst="rect">
            <a:avLst/>
          </a:prstGeom>
          <a:noFill/>
          <a:ln>
            <a:noFill/>
          </a:ln>
        </p:spPr>
      </p:pic>
      <p:pic>
        <p:nvPicPr>
          <p:cNvPr id="1016117885" name="Google Shape;16;p2" descr="01 Singapore University of Social Sciences_Horizontal Format_Version A_White Background_RGB.png"/>
          <p:cNvPicPr/>
          <p:nvPr/>
        </p:nvPicPr>
        <p:blipFill rotWithShape="1">
          <a:blip r:embed="rId4">
            <a:alphaModFix/>
          </a:blip>
          <a:srcRect/>
          <a:stretch/>
        </p:blipFill>
        <p:spPr bwMode="auto">
          <a:xfrm>
            <a:off x="349250" y="4562257"/>
            <a:ext cx="732371" cy="3710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matchingName="13_Title and Content" userDrawn="1">
  <p:cSld name="13_Title and Content">
    <p:spTree>
      <p:nvGrpSpPr>
        <p:cNvPr id="1" name=""/>
        <p:cNvGrpSpPr/>
        <p:nvPr/>
      </p:nvGrpSpPr>
      <p:grpSpPr bwMode="auto">
        <a:xfrm>
          <a:off x="0" y="0"/>
          <a:ext cx="0" cy="0"/>
          <a:chOff x="0" y="0"/>
          <a:chExt cx="0" cy="0"/>
        </a:xfrm>
      </p:grpSpPr>
      <p:sp>
        <p:nvSpPr>
          <p:cNvPr id="963601323" name="Google Shape;18;p3"/>
          <p:cNvSpPr txBox="1">
            <a:spLocks noGrp="1"/>
          </p:cNvSpPr>
          <p:nvPr>
            <p:ph type="title"/>
          </p:nvPr>
        </p:nvSpPr>
        <p:spPr bwMode="auto">
          <a:xfrm>
            <a:off x="685800" y="285749"/>
            <a:ext cx="7543800" cy="693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2400"/>
              <a:buFont typeface="Montserrat Medium"/>
              <a:buNone/>
              <a:defRPr sz="2400">
                <a:solidFill>
                  <a:srgbClr val="890018"/>
                </a:solidFill>
                <a:latin typeface="Montserrat Medium"/>
                <a:ea typeface="Montserrat Medium"/>
                <a:cs typeface="Montserrat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973707901" name="Google Shape;19;p3"/>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sz="1800">
                <a:solidFill>
                  <a:schemeClr val="dk1"/>
                </a:solidFill>
                <a:latin typeface="Arial"/>
                <a:ea typeface="Arial"/>
                <a:cs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177441644" name="Google Shape;20;p3"/>
          <p:cNvSpPr txBox="1">
            <a:spLocks noGrp="1"/>
          </p:cNvSpPr>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003B5C"/>
                </a:solidFill>
                <a:latin typeface="Arial"/>
                <a:ea typeface="Arial"/>
                <a:cs typeface="Arial"/>
              </a:defRPr>
            </a:lvl1pPr>
            <a:lvl2pPr marL="0" marR="0" lvl="1" indent="0" algn="r" rtl="0">
              <a:spcBef>
                <a:spcPts val="0"/>
              </a:spcBef>
              <a:buNone/>
              <a:defRPr sz="800" b="0" i="0" u="none" strike="noStrike" cap="none">
                <a:solidFill>
                  <a:srgbClr val="003B5C"/>
                </a:solidFill>
                <a:latin typeface="Arial"/>
                <a:ea typeface="Arial"/>
                <a:cs typeface="Arial"/>
              </a:defRPr>
            </a:lvl2pPr>
            <a:lvl3pPr marL="0" marR="0" lvl="2" indent="0" algn="r" rtl="0">
              <a:spcBef>
                <a:spcPts val="0"/>
              </a:spcBef>
              <a:buNone/>
              <a:defRPr sz="800" b="0" i="0" u="none" strike="noStrike" cap="none">
                <a:solidFill>
                  <a:srgbClr val="003B5C"/>
                </a:solidFill>
                <a:latin typeface="Arial"/>
                <a:ea typeface="Arial"/>
                <a:cs typeface="Arial"/>
              </a:defRPr>
            </a:lvl3pPr>
            <a:lvl4pPr marL="0" marR="0" lvl="3" indent="0" algn="r" rtl="0">
              <a:spcBef>
                <a:spcPts val="0"/>
              </a:spcBef>
              <a:buNone/>
              <a:defRPr sz="800" b="0" i="0" u="none" strike="noStrike" cap="none">
                <a:solidFill>
                  <a:srgbClr val="003B5C"/>
                </a:solidFill>
                <a:latin typeface="Arial"/>
                <a:ea typeface="Arial"/>
                <a:cs typeface="Arial"/>
              </a:defRPr>
            </a:lvl4pPr>
            <a:lvl5pPr marL="0" marR="0" lvl="4" indent="0" algn="r" rtl="0">
              <a:spcBef>
                <a:spcPts val="0"/>
              </a:spcBef>
              <a:buNone/>
              <a:defRPr sz="800" b="0" i="0" u="none" strike="noStrike" cap="none">
                <a:solidFill>
                  <a:srgbClr val="003B5C"/>
                </a:solidFill>
                <a:latin typeface="Arial"/>
                <a:ea typeface="Arial"/>
                <a:cs typeface="Arial"/>
              </a:defRPr>
            </a:lvl5pPr>
            <a:lvl6pPr marL="0" marR="0" lvl="5" indent="0" algn="r" rtl="0">
              <a:spcBef>
                <a:spcPts val="0"/>
              </a:spcBef>
              <a:buNone/>
              <a:defRPr sz="800" b="0" i="0" u="none" strike="noStrike" cap="none">
                <a:solidFill>
                  <a:srgbClr val="003B5C"/>
                </a:solidFill>
                <a:latin typeface="Arial"/>
                <a:ea typeface="Arial"/>
                <a:cs typeface="Arial"/>
              </a:defRPr>
            </a:lvl6pPr>
            <a:lvl7pPr marL="0" marR="0" lvl="6" indent="0" algn="r" rtl="0">
              <a:spcBef>
                <a:spcPts val="0"/>
              </a:spcBef>
              <a:buNone/>
              <a:defRPr sz="800" b="0" i="0" u="none" strike="noStrike" cap="none">
                <a:solidFill>
                  <a:srgbClr val="003B5C"/>
                </a:solidFill>
                <a:latin typeface="Arial"/>
                <a:ea typeface="Arial"/>
                <a:cs typeface="Arial"/>
              </a:defRPr>
            </a:lvl7pPr>
            <a:lvl8pPr marL="0" marR="0" lvl="7" indent="0" algn="r" rtl="0">
              <a:spcBef>
                <a:spcPts val="0"/>
              </a:spcBef>
              <a:buNone/>
              <a:defRPr sz="800" b="0" i="0" u="none" strike="noStrike" cap="none">
                <a:solidFill>
                  <a:srgbClr val="003B5C"/>
                </a:solidFill>
                <a:latin typeface="Arial"/>
                <a:ea typeface="Arial"/>
                <a:cs typeface="Arial"/>
              </a:defRPr>
            </a:lvl8pPr>
            <a:lvl9pPr marL="0" marR="0" lvl="8" indent="0" algn="r" rtl="0">
              <a:spcBef>
                <a:spcPts val="0"/>
              </a:spcBef>
              <a:buNone/>
              <a:defRPr sz="800" b="0" i="0" u="none" strike="noStrike" cap="none">
                <a:solidFill>
                  <a:srgbClr val="003B5C"/>
                </a:solidFill>
                <a:latin typeface="Arial"/>
                <a:ea typeface="Arial"/>
                <a:cs typeface="Arial"/>
              </a:defRPr>
            </a:lvl9pPr>
          </a:lstStyle>
          <a:p>
            <a:pPr marL="0" lvl="0" indent="0" algn="r" rtl="0">
              <a:spcBef>
                <a:spcPts val="0"/>
              </a:spcBef>
              <a:spcAft>
                <a:spcPts val="0"/>
              </a:spcAft>
              <a:buNone/>
              <a:defRPr/>
            </a:pPr>
            <a:r>
              <a:rPr lang="en"/>
              <a:t>Presentation Title | </a:t>
            </a:r>
            <a:fld id="{00000000-1234-1234-1234-123412341234}" type="slidenum">
              <a:rPr lang="en" b="1"/>
              <a:t>‹#›</a:t>
            </a:fld>
            <a:endParaRPr b="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matchingName="2_Title Slide 01" userDrawn="1">
  <p:cSld name="2_Title Slide 01">
    <p:spTree>
      <p:nvGrpSpPr>
        <p:cNvPr id="1" name=""/>
        <p:cNvGrpSpPr/>
        <p:nvPr/>
      </p:nvGrpSpPr>
      <p:grpSpPr bwMode="auto">
        <a:xfrm>
          <a:off x="0" y="0"/>
          <a:ext cx="0" cy="0"/>
          <a:chOff x="0" y="0"/>
          <a:chExt cx="0" cy="0"/>
        </a:xfrm>
      </p:grpSpPr>
      <p:pic>
        <p:nvPicPr>
          <p:cNvPr id="2141493205" name="Google Shape;22;p4" descr="Template01-01.png"/>
          <p:cNvPicPr/>
          <p:nvPr/>
        </p:nvPicPr>
        <p:blipFill rotWithShape="1">
          <a:blip r:embed="rId2">
            <a:alphaModFix/>
          </a:blip>
          <a:srcRect/>
          <a:stretch/>
        </p:blipFill>
        <p:spPr bwMode="auto">
          <a:xfrm>
            <a:off x="0" y="0"/>
            <a:ext cx="9144000" cy="5138776"/>
          </a:xfrm>
          <a:prstGeom prst="rect">
            <a:avLst/>
          </a:prstGeom>
          <a:noFill/>
          <a:ln>
            <a:noFill/>
          </a:ln>
        </p:spPr>
      </p:pic>
      <p:pic>
        <p:nvPicPr>
          <p:cNvPr id="1247837007" name="Google Shape;23;p4" descr="01 Singapore University of Social Sciences_Horizontal Format_Version A_White Background_RGB.png"/>
          <p:cNvPicPr/>
          <p:nvPr/>
        </p:nvPicPr>
        <p:blipFill rotWithShape="1">
          <a:blip r:embed="rId3">
            <a:alphaModFix/>
          </a:blip>
          <a:srcRect/>
          <a:stretch/>
        </p:blipFill>
        <p:spPr bwMode="auto">
          <a:xfrm>
            <a:off x="3352956" y="1962727"/>
            <a:ext cx="2438090" cy="1235324"/>
          </a:xfrm>
          <a:prstGeom prst="rect">
            <a:avLst/>
          </a:prstGeom>
          <a:noFill/>
          <a:ln>
            <a:noFill/>
          </a:ln>
        </p:spPr>
      </p:pic>
      <p:sp>
        <p:nvSpPr>
          <p:cNvPr id="1652506240" name="Google Shape;24;p4"/>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matchingName="1_Title Slide 01" userDrawn="1">
  <p:cSld name="1_Title Slide 01">
    <p:spTree>
      <p:nvGrpSpPr>
        <p:cNvPr id="1" name=""/>
        <p:cNvGrpSpPr/>
        <p:nvPr/>
      </p:nvGrpSpPr>
      <p:grpSpPr bwMode="auto">
        <a:xfrm>
          <a:off x="0" y="0"/>
          <a:ext cx="0" cy="0"/>
          <a:chOff x="0" y="0"/>
          <a:chExt cx="0" cy="0"/>
        </a:xfrm>
      </p:grpSpPr>
      <p:sp>
        <p:nvSpPr>
          <p:cNvPr id="1459714998" name="Google Shape;26;p5"/>
          <p:cNvSpPr/>
          <p:nvPr/>
        </p:nvSpPr>
        <p:spPr bwMode="auto">
          <a:xfrm>
            <a:off x="0" y="0"/>
            <a:ext cx="9144000" cy="5160899"/>
          </a:xfrm>
          <a:prstGeom prst="rect">
            <a:avLst/>
          </a:prstGeom>
          <a:solidFill>
            <a:srgbClr val="042A4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598730065" name="Google Shape;27;p5" descr="03 Singapore University of Social Sciences_Horizontal Format_Version A_Blue Background_RGB-01.png"/>
          <p:cNvPicPr/>
          <p:nvPr/>
        </p:nvPicPr>
        <p:blipFill rotWithShape="1">
          <a:blip r:embed="rId2">
            <a:alphaModFix/>
          </a:blip>
          <a:srcRect/>
          <a:stretch/>
        </p:blipFill>
        <p:spPr bwMode="auto">
          <a:xfrm>
            <a:off x="351798" y="4561374"/>
            <a:ext cx="726021" cy="363011"/>
          </a:xfrm>
          <a:prstGeom prst="rect">
            <a:avLst/>
          </a:prstGeom>
          <a:noFill/>
          <a:ln>
            <a:noFill/>
          </a:ln>
        </p:spPr>
      </p:pic>
      <p:sp>
        <p:nvSpPr>
          <p:cNvPr id="726078254" name="Google Shape;28;p5"/>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59944166" name="Google Shape;29;p5"/>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108468344" name="Google Shape;30;p5" descr="holding device-02.png"/>
          <p:cNvPicPr/>
          <p:nvPr/>
        </p:nvPicPr>
        <p:blipFill rotWithShape="1">
          <a:blip r:embed="rId3">
            <a:alphaModFix/>
          </a:blip>
          <a:srcRect/>
          <a:stretch/>
        </p:blipFill>
        <p:spPr bwMode="auto">
          <a:xfrm>
            <a:off x="348471" y="-1"/>
            <a:ext cx="143662" cy="1219200"/>
          </a:xfrm>
          <a:prstGeom prst="rect">
            <a:avLst/>
          </a:prstGeom>
          <a:noFill/>
          <a:ln>
            <a:noFill/>
          </a:ln>
        </p:spPr>
      </p:pic>
      <p:sp>
        <p:nvSpPr>
          <p:cNvPr id="848775541" name="Google Shape;31;p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matchingName="Title Slide 3" userDrawn="1">
  <p:cSld name="Title Slide 3">
    <p:spTree>
      <p:nvGrpSpPr>
        <p:cNvPr id="1" name=""/>
        <p:cNvGrpSpPr/>
        <p:nvPr/>
      </p:nvGrpSpPr>
      <p:grpSpPr bwMode="auto">
        <a:xfrm>
          <a:off x="0" y="0"/>
          <a:ext cx="0" cy="0"/>
          <a:chOff x="0" y="0"/>
          <a:chExt cx="0" cy="0"/>
        </a:xfrm>
      </p:grpSpPr>
      <p:sp>
        <p:nvSpPr>
          <p:cNvPr id="1813020376" name="Google Shape;33;p6"/>
          <p:cNvSpPr>
            <a:spLocks noGrp="1"/>
          </p:cNvSpPr>
          <p:nvPr>
            <p:ph type="pic" idx="2"/>
          </p:nvPr>
        </p:nvSpPr>
        <p:spPr bwMode="auto">
          <a:xfrm>
            <a:off x="0" y="-14596"/>
            <a:ext cx="9144000" cy="5158200"/>
          </a:xfrm>
          <a:prstGeom prst="rect">
            <a:avLst/>
          </a:prstGeom>
          <a:noFill/>
          <a:ln>
            <a:noFill/>
          </a:ln>
        </p:spPr>
      </p:sp>
      <p:sp>
        <p:nvSpPr>
          <p:cNvPr id="335361775" name="Google Shape;34;p6"/>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55799456" name="Google Shape;35;p6"/>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sp>
        <p:nvSpPr>
          <p:cNvPr id="1503808340" name="Google Shape;36;p6"/>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matchingName="Section Divider" userDrawn="1">
  <p:cSld name="Section Divider">
    <p:spTree>
      <p:nvGrpSpPr>
        <p:cNvPr id="1" name=""/>
        <p:cNvGrpSpPr/>
        <p:nvPr/>
      </p:nvGrpSpPr>
      <p:grpSpPr bwMode="auto">
        <a:xfrm>
          <a:off x="0" y="0"/>
          <a:ext cx="0" cy="0"/>
          <a:chOff x="0" y="0"/>
          <a:chExt cx="0" cy="0"/>
        </a:xfrm>
      </p:grpSpPr>
      <p:sp>
        <p:nvSpPr>
          <p:cNvPr id="966028723" name="Google Shape;38;p7"/>
          <p:cNvSpPr/>
          <p:nvPr/>
        </p:nvSpPr>
        <p:spPr bwMode="auto">
          <a:xfrm>
            <a:off x="0" y="0"/>
            <a:ext cx="9144000" cy="5160899"/>
          </a:xfrm>
          <a:prstGeom prst="rect">
            <a:avLst/>
          </a:prstGeom>
          <a:solidFill>
            <a:srgbClr val="99D6E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865654041" name="Google Shape;39;p7" descr="Template01-02.png"/>
          <p:cNvPicPr/>
          <p:nvPr/>
        </p:nvPicPr>
        <p:blipFill rotWithShape="1">
          <a:blip r:embed="rId2">
            <a:alphaModFix/>
          </a:blip>
          <a:srcRect/>
          <a:stretch/>
        </p:blipFill>
        <p:spPr bwMode="auto">
          <a:xfrm>
            <a:off x="0" y="-1"/>
            <a:ext cx="6427421" cy="5160778"/>
          </a:xfrm>
          <a:prstGeom prst="rect">
            <a:avLst/>
          </a:prstGeom>
          <a:noFill/>
          <a:ln>
            <a:noFill/>
          </a:ln>
        </p:spPr>
      </p:pic>
      <p:pic>
        <p:nvPicPr>
          <p:cNvPr id="1340969621" name="Google Shape;40;p7" descr="holding device-02.png"/>
          <p:cNvPicPr/>
          <p:nvPr/>
        </p:nvPicPr>
        <p:blipFill rotWithShape="1">
          <a:blip r:embed="rId3">
            <a:alphaModFix/>
          </a:blip>
          <a:srcRect/>
          <a:stretch/>
        </p:blipFill>
        <p:spPr bwMode="auto">
          <a:xfrm>
            <a:off x="348471" y="-1"/>
            <a:ext cx="143662" cy="1219200"/>
          </a:xfrm>
          <a:prstGeom prst="rect">
            <a:avLst/>
          </a:prstGeom>
          <a:noFill/>
          <a:ln>
            <a:noFill/>
          </a:ln>
        </p:spPr>
      </p:pic>
      <p:sp>
        <p:nvSpPr>
          <p:cNvPr id="412284693" name="Google Shape;41;p7"/>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800"/>
              <a:buFont typeface="Montserrat Medium"/>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85349577" name="Google Shape;42;p7"/>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022343015" name="Google Shape;43;p7" descr="01 Singapore University of Social Sciences_Horizontal Format_Version A_White Background_RGB.png"/>
          <p:cNvPicPr/>
          <p:nvPr/>
        </p:nvPicPr>
        <p:blipFill rotWithShape="1">
          <a:blip r:embed="rId4">
            <a:alphaModFix/>
          </a:blip>
          <a:srcRect/>
          <a:stretch/>
        </p:blipFill>
        <p:spPr bwMode="auto">
          <a:xfrm>
            <a:off x="349250" y="4562257"/>
            <a:ext cx="732371" cy="371076"/>
          </a:xfrm>
          <a:prstGeom prst="rect">
            <a:avLst/>
          </a:prstGeom>
          <a:noFill/>
          <a:ln>
            <a:noFill/>
          </a:ln>
        </p:spPr>
      </p:pic>
      <p:sp>
        <p:nvSpPr>
          <p:cNvPr id="1466437097" name="Google Shape;44;p7"/>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matchingName="1_Section Divider" userDrawn="1">
  <p:cSld name="1_Section Divider">
    <p:spTree>
      <p:nvGrpSpPr>
        <p:cNvPr id="1" name=""/>
        <p:cNvGrpSpPr/>
        <p:nvPr/>
      </p:nvGrpSpPr>
      <p:grpSpPr bwMode="auto">
        <a:xfrm>
          <a:off x="0" y="0"/>
          <a:ext cx="0" cy="0"/>
          <a:chOff x="0" y="0"/>
          <a:chExt cx="0" cy="0"/>
        </a:xfrm>
      </p:grpSpPr>
      <p:sp>
        <p:nvSpPr>
          <p:cNvPr id="1642130554" name="Google Shape;46;p8"/>
          <p:cNvSpPr/>
          <p:nvPr/>
        </p:nvSpPr>
        <p:spPr bwMode="auto">
          <a:xfrm>
            <a:off x="0" y="0"/>
            <a:ext cx="9144000" cy="5160899"/>
          </a:xfrm>
          <a:prstGeom prst="rect">
            <a:avLst/>
          </a:prstGeom>
          <a:solidFill>
            <a:srgbClr val="C8C9C7"/>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283927410" name="Google Shape;47;p8" descr="Template01-02.png"/>
          <p:cNvPicPr/>
          <p:nvPr/>
        </p:nvPicPr>
        <p:blipFill rotWithShape="1">
          <a:blip r:embed="rId2">
            <a:alphaModFix/>
          </a:blip>
          <a:srcRect/>
          <a:stretch/>
        </p:blipFill>
        <p:spPr bwMode="auto">
          <a:xfrm>
            <a:off x="0" y="-1"/>
            <a:ext cx="6427421" cy="5160778"/>
          </a:xfrm>
          <a:prstGeom prst="rect">
            <a:avLst/>
          </a:prstGeom>
          <a:noFill/>
          <a:ln>
            <a:noFill/>
          </a:ln>
        </p:spPr>
      </p:pic>
      <p:pic>
        <p:nvPicPr>
          <p:cNvPr id="1236249763" name="Google Shape;48;p8" descr="holding device-02.png"/>
          <p:cNvPicPr/>
          <p:nvPr/>
        </p:nvPicPr>
        <p:blipFill rotWithShape="1">
          <a:blip r:embed="rId3">
            <a:alphaModFix/>
          </a:blip>
          <a:srcRect/>
          <a:stretch/>
        </p:blipFill>
        <p:spPr bwMode="auto">
          <a:xfrm>
            <a:off x="348471" y="-1"/>
            <a:ext cx="143662" cy="1219200"/>
          </a:xfrm>
          <a:prstGeom prst="rect">
            <a:avLst/>
          </a:prstGeom>
          <a:noFill/>
          <a:ln>
            <a:noFill/>
          </a:ln>
        </p:spPr>
      </p:pic>
      <p:sp>
        <p:nvSpPr>
          <p:cNvPr id="1592278157" name="Google Shape;49;p8"/>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800"/>
              <a:buFont typeface="Montserrat Medium"/>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82224922" name="Google Shape;50;p8"/>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206486459" name="Google Shape;51;p8" descr="01 Singapore University of Social Sciences_Horizontal Format_Version A_White Background_RGB.png"/>
          <p:cNvPicPr/>
          <p:nvPr/>
        </p:nvPicPr>
        <p:blipFill rotWithShape="1">
          <a:blip r:embed="rId4">
            <a:alphaModFix/>
          </a:blip>
          <a:srcRect/>
          <a:stretch/>
        </p:blipFill>
        <p:spPr bwMode="auto">
          <a:xfrm>
            <a:off x="349250" y="4562257"/>
            <a:ext cx="732371" cy="371076"/>
          </a:xfrm>
          <a:prstGeom prst="rect">
            <a:avLst/>
          </a:prstGeom>
          <a:noFill/>
          <a:ln>
            <a:noFill/>
          </a:ln>
        </p:spPr>
      </p:pic>
      <p:sp>
        <p:nvSpPr>
          <p:cNvPr id="1344232022" name="Google Shape;52;p8"/>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matchingName="3_Section Divider" userDrawn="1">
  <p:cSld name="3_Section Divider">
    <p:spTree>
      <p:nvGrpSpPr>
        <p:cNvPr id="1" name=""/>
        <p:cNvGrpSpPr/>
        <p:nvPr/>
      </p:nvGrpSpPr>
      <p:grpSpPr bwMode="auto">
        <a:xfrm>
          <a:off x="0" y="0"/>
          <a:ext cx="0" cy="0"/>
          <a:chOff x="0" y="0"/>
          <a:chExt cx="0" cy="0"/>
        </a:xfrm>
      </p:grpSpPr>
      <p:sp>
        <p:nvSpPr>
          <p:cNvPr id="1182904526" name="Google Shape;54;p9"/>
          <p:cNvSpPr/>
          <p:nvPr/>
        </p:nvSpPr>
        <p:spPr bwMode="auto">
          <a:xfrm>
            <a:off x="0" y="0"/>
            <a:ext cx="9144000" cy="5160899"/>
          </a:xfrm>
          <a:prstGeom prst="rect">
            <a:avLst/>
          </a:prstGeom>
          <a:solidFill>
            <a:srgbClr val="99D6E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1313399087" name="Google Shape;55;p9" descr="holding device-02.png"/>
          <p:cNvPicPr/>
          <p:nvPr/>
        </p:nvPicPr>
        <p:blipFill rotWithShape="1">
          <a:blip r:embed="rId2">
            <a:alphaModFix/>
          </a:blip>
          <a:srcRect/>
          <a:stretch/>
        </p:blipFill>
        <p:spPr bwMode="auto">
          <a:xfrm>
            <a:off x="348471" y="-1"/>
            <a:ext cx="143662" cy="1219200"/>
          </a:xfrm>
          <a:prstGeom prst="rect">
            <a:avLst/>
          </a:prstGeom>
          <a:noFill/>
          <a:ln>
            <a:noFill/>
          </a:ln>
        </p:spPr>
      </p:pic>
      <p:sp>
        <p:nvSpPr>
          <p:cNvPr id="1937914295" name="Google Shape;56;p9"/>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4800"/>
              <a:buFont typeface="Montserrat Medium"/>
              <a:buNone/>
              <a:defRPr sz="4800">
                <a:solidFill>
                  <a:srgbClr val="003B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0389167" name="Google Shape;57;p9"/>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003B5C"/>
              </a:buClr>
              <a:buSzPts val="2000"/>
              <a:buNone/>
              <a:defRPr sz="2000">
                <a:solidFill>
                  <a:srgbClr val="003B5C"/>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254143613" name="Google Shape;58;p9" descr="01 Singapore University of Social Sciences_Horizontal Format_Version A_White Background_RGB.png"/>
          <p:cNvPicPr/>
          <p:nvPr/>
        </p:nvPicPr>
        <p:blipFill rotWithShape="1">
          <a:blip r:embed="rId3">
            <a:alphaModFix/>
          </a:blip>
          <a:srcRect/>
          <a:stretch/>
        </p:blipFill>
        <p:spPr bwMode="auto">
          <a:xfrm>
            <a:off x="349250" y="4562257"/>
            <a:ext cx="732371" cy="371076"/>
          </a:xfrm>
          <a:prstGeom prst="rect">
            <a:avLst/>
          </a:prstGeom>
          <a:noFill/>
          <a:ln>
            <a:noFill/>
          </a:ln>
        </p:spPr>
      </p:pic>
      <p:sp>
        <p:nvSpPr>
          <p:cNvPr id="1355235242" name="Google Shape;59;p9"/>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matchingName="4_Section Divider" userDrawn="1">
  <p:cSld name="4_Section Divider">
    <p:spTree>
      <p:nvGrpSpPr>
        <p:cNvPr id="1" name=""/>
        <p:cNvGrpSpPr/>
        <p:nvPr/>
      </p:nvGrpSpPr>
      <p:grpSpPr bwMode="auto">
        <a:xfrm>
          <a:off x="0" y="0"/>
          <a:ext cx="0" cy="0"/>
          <a:chOff x="0" y="0"/>
          <a:chExt cx="0" cy="0"/>
        </a:xfrm>
      </p:grpSpPr>
      <p:sp>
        <p:nvSpPr>
          <p:cNvPr id="324143544" name="Google Shape;61;p10"/>
          <p:cNvSpPr/>
          <p:nvPr/>
        </p:nvSpPr>
        <p:spPr bwMode="auto">
          <a:xfrm>
            <a:off x="0" y="0"/>
            <a:ext cx="9144000" cy="5160899"/>
          </a:xfrm>
          <a:prstGeom prst="rect">
            <a:avLst/>
          </a:prstGeom>
          <a:solidFill>
            <a:srgbClr val="C8C9C7"/>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732058048" name="Google Shape;62;p10" descr="holding device-02.png"/>
          <p:cNvPicPr/>
          <p:nvPr/>
        </p:nvPicPr>
        <p:blipFill rotWithShape="1">
          <a:blip r:embed="rId2">
            <a:alphaModFix/>
          </a:blip>
          <a:srcRect/>
          <a:stretch/>
        </p:blipFill>
        <p:spPr bwMode="auto">
          <a:xfrm>
            <a:off x="348471" y="-1"/>
            <a:ext cx="143662" cy="1219200"/>
          </a:xfrm>
          <a:prstGeom prst="rect">
            <a:avLst/>
          </a:prstGeom>
          <a:noFill/>
          <a:ln>
            <a:noFill/>
          </a:ln>
        </p:spPr>
      </p:pic>
      <p:sp>
        <p:nvSpPr>
          <p:cNvPr id="1937067153" name="Google Shape;63;p10"/>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4800"/>
              <a:buFont typeface="Montserrat Medium"/>
              <a:buNone/>
              <a:defRPr sz="4800">
                <a:solidFill>
                  <a:srgbClr val="003B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58427464" name="Google Shape;64;p10"/>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003B5C"/>
              </a:buClr>
              <a:buSzPts val="2000"/>
              <a:buNone/>
              <a:defRPr sz="2000">
                <a:solidFill>
                  <a:srgbClr val="003B5C"/>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23630760" name="Google Shape;65;p10" descr="01 Singapore University of Social Sciences_Horizontal Format_Version A_White Background_RGB.png"/>
          <p:cNvPicPr/>
          <p:nvPr/>
        </p:nvPicPr>
        <p:blipFill rotWithShape="1">
          <a:blip r:embed="rId3">
            <a:alphaModFix/>
          </a:blip>
          <a:srcRect/>
          <a:stretch/>
        </p:blipFill>
        <p:spPr bwMode="auto">
          <a:xfrm>
            <a:off x="349250" y="4562257"/>
            <a:ext cx="732371" cy="371076"/>
          </a:xfrm>
          <a:prstGeom prst="rect">
            <a:avLst/>
          </a:prstGeom>
          <a:noFill/>
          <a:ln>
            <a:noFill/>
          </a:ln>
        </p:spPr>
      </p:pic>
      <p:sp>
        <p:nvSpPr>
          <p:cNvPr id="610304586" name="Google Shape;66;p10"/>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matchingName="6_Section Divider" userDrawn="1">
  <p:cSld name="6_Section Divider">
    <p:spTree>
      <p:nvGrpSpPr>
        <p:cNvPr id="1" name=""/>
        <p:cNvGrpSpPr/>
        <p:nvPr/>
      </p:nvGrpSpPr>
      <p:grpSpPr bwMode="auto">
        <a:xfrm>
          <a:off x="0" y="0"/>
          <a:ext cx="0" cy="0"/>
          <a:chOff x="0" y="0"/>
          <a:chExt cx="0" cy="0"/>
        </a:xfrm>
      </p:grpSpPr>
      <p:sp>
        <p:nvSpPr>
          <p:cNvPr id="1996884521" name="Google Shape;68;p11"/>
          <p:cNvSpPr>
            <a:spLocks noGrp="1"/>
          </p:cNvSpPr>
          <p:nvPr>
            <p:ph type="pic" idx="2"/>
          </p:nvPr>
        </p:nvSpPr>
        <p:spPr bwMode="auto">
          <a:xfrm>
            <a:off x="0" y="-14596"/>
            <a:ext cx="9144000" cy="5158200"/>
          </a:xfrm>
          <a:prstGeom prst="rect">
            <a:avLst/>
          </a:prstGeom>
          <a:noFill/>
          <a:ln>
            <a:noFill/>
          </a:ln>
        </p:spPr>
      </p:sp>
      <p:sp>
        <p:nvSpPr>
          <p:cNvPr id="482838586" name="Google Shape;69;p11"/>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67012904" name="Google Shape;70;p11"/>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chemeClr val="lt1"/>
              </a:buClr>
              <a:buSzPts val="2000"/>
              <a:buNone/>
              <a:defRPr sz="2000">
                <a:solidFill>
                  <a:schemeClr val="lt1"/>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sp>
        <p:nvSpPr>
          <p:cNvPr id="1059724688" name="Google Shape;71;p11"/>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matchingName="2_Title and Content" userDrawn="1">
  <p:cSld name="2_Title and Content">
    <p:spTree>
      <p:nvGrpSpPr>
        <p:cNvPr id="1" name=""/>
        <p:cNvGrpSpPr/>
        <p:nvPr/>
      </p:nvGrpSpPr>
      <p:grpSpPr bwMode="auto">
        <a:xfrm>
          <a:off x="0" y="0"/>
          <a:ext cx="0" cy="0"/>
          <a:chOff x="0" y="0"/>
          <a:chExt cx="0" cy="0"/>
        </a:xfrm>
      </p:grpSpPr>
      <p:sp>
        <p:nvSpPr>
          <p:cNvPr id="318716916" name="Google Shape;73;p12"/>
          <p:cNvSpPr/>
          <p:nvPr/>
        </p:nvSpPr>
        <p:spPr bwMode="auto">
          <a:xfrm>
            <a:off x="4962278" y="-2182305"/>
            <a:ext cx="4720549" cy="4606871"/>
          </a:xfrm>
          <a:custGeom>
            <a:avLst/>
            <a:gdLst/>
            <a:ahLst/>
            <a:cxnLst/>
            <a:rect l="l" t="t" r="r" b="b"/>
            <a:pathLst>
              <a:path w="4720549" h="4606871" extrusionOk="0">
                <a:moveTo>
                  <a:pt x="87482" y="0"/>
                </a:moveTo>
                <a:lnTo>
                  <a:pt x="4720549" y="0"/>
                </a:lnTo>
                <a:lnTo>
                  <a:pt x="4720549" y="4493153"/>
                </a:lnTo>
                <a:lnTo>
                  <a:pt x="4562058" y="4529732"/>
                </a:lnTo>
                <a:cubicBezTo>
                  <a:pt x="4314892" y="4580310"/>
                  <a:pt x="4058977" y="4606871"/>
                  <a:pt x="3796859" y="4606871"/>
                </a:cubicBezTo>
                <a:cubicBezTo>
                  <a:pt x="1699912" y="4606871"/>
                  <a:pt x="0" y="2906959"/>
                  <a:pt x="0" y="810012"/>
                </a:cubicBezTo>
                <a:cubicBezTo>
                  <a:pt x="0" y="547894"/>
                  <a:pt x="26561" y="291979"/>
                  <a:pt x="77139" y="44813"/>
                </a:cubicBez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chemeClr val="lt1"/>
              </a:solidFill>
              <a:latin typeface="Arial"/>
              <a:ea typeface="Arial"/>
              <a:cs typeface="Arial"/>
            </a:endParaRPr>
          </a:p>
        </p:txBody>
      </p:sp>
      <p:pic>
        <p:nvPicPr>
          <p:cNvPr id="1779839310" name="Google Shape;74;p12" descr="Template01-08.png"/>
          <p:cNvPicPr/>
          <p:nvPr/>
        </p:nvPicPr>
        <p:blipFill rotWithShape="1">
          <a:blip r:embed="rId2">
            <a:alphaModFix/>
          </a:blip>
          <a:srcRect/>
          <a:stretch/>
        </p:blipFill>
        <p:spPr bwMode="auto">
          <a:xfrm>
            <a:off x="342901" y="-14596"/>
            <a:ext cx="80450" cy="645796"/>
          </a:xfrm>
          <a:prstGeom prst="rect">
            <a:avLst/>
          </a:prstGeom>
          <a:noFill/>
          <a:ln>
            <a:noFill/>
          </a:ln>
        </p:spPr>
      </p:pic>
      <p:sp>
        <p:nvSpPr>
          <p:cNvPr id="1182292719" name="Google Shape;75;p12"/>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76435305" name="Google Shape;76;p12"/>
          <p:cNvSpPr txBox="1">
            <a:spLocks noGrp="1"/>
          </p:cNvSpPr>
          <p:nvPr>
            <p:ph type="body" idx="1"/>
          </p:nvPr>
        </p:nvSpPr>
        <p:spPr bwMode="auto">
          <a:xfrm>
            <a:off x="260213" y="1905100"/>
            <a:ext cx="3747000" cy="2475600"/>
          </a:xfrm>
          <a:prstGeom prst="rect">
            <a:avLst/>
          </a:prstGeom>
          <a:noFill/>
          <a:ln>
            <a:noFill/>
          </a:ln>
        </p:spPr>
        <p:txBody>
          <a:bodyPr spcFirstLastPara="1" wrap="square" lIns="91425" tIns="45700" rIns="91425" bIns="45700" anchor="t" anchorCtr="0">
            <a:normAutofit/>
          </a:bodyPr>
          <a:lstStyle>
            <a:lvl1pPr marL="457200" lvl="0" indent="-317500" algn="l">
              <a:spcBef>
                <a:spcPts val="280"/>
              </a:spcBef>
              <a:spcAft>
                <a:spcPts val="0"/>
              </a:spcAft>
              <a:buClr>
                <a:schemeClr val="dk1"/>
              </a:buClr>
              <a:buSzPts val="1400"/>
              <a:buChar char="•"/>
              <a:defRPr sz="14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27428293" name="Google Shape;77;p12"/>
          <p:cNvSpPr txBox="1"/>
          <p:nvPr/>
        </p:nvSpPr>
        <p:spPr bwMode="auto">
          <a:xfrm>
            <a:off x="7132482" y="4812819"/>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sp>
        <p:nvSpPr>
          <p:cNvPr id="1870786034" name="Google Shape;78;p12"/>
          <p:cNvSpPr txBox="1">
            <a:spLocks noGrp="1"/>
          </p:cNvSpPr>
          <p:nvPr>
            <p:ph type="body" idx="2"/>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46525895" name="Google Shape;79;p12"/>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matchingName="Title and Content" userDrawn="1">
  <p:cSld name="Title and Content">
    <p:spTree>
      <p:nvGrpSpPr>
        <p:cNvPr id="1" name=""/>
        <p:cNvGrpSpPr/>
        <p:nvPr/>
      </p:nvGrpSpPr>
      <p:grpSpPr bwMode="auto">
        <a:xfrm>
          <a:off x="0" y="0"/>
          <a:ext cx="0" cy="0"/>
          <a:chOff x="0" y="0"/>
          <a:chExt cx="0" cy="0"/>
        </a:xfrm>
      </p:grpSpPr>
      <p:pic>
        <p:nvPicPr>
          <p:cNvPr id="929735999" name="Google Shape;81;p13" descr="Template01-08.png"/>
          <p:cNvPicPr/>
          <p:nvPr/>
        </p:nvPicPr>
        <p:blipFill rotWithShape="1">
          <a:blip r:embed="rId2">
            <a:alphaModFix/>
          </a:blip>
          <a:srcRect/>
          <a:stretch/>
        </p:blipFill>
        <p:spPr bwMode="auto">
          <a:xfrm>
            <a:off x="342901" y="-14596"/>
            <a:ext cx="80450" cy="645796"/>
          </a:xfrm>
          <a:prstGeom prst="rect">
            <a:avLst/>
          </a:prstGeom>
          <a:noFill/>
          <a:ln>
            <a:noFill/>
          </a:ln>
        </p:spPr>
      </p:pic>
      <p:sp>
        <p:nvSpPr>
          <p:cNvPr id="915234160" name="Google Shape;82;p13"/>
          <p:cNvSpPr txBox="1">
            <a:spLocks noGrp="1"/>
          </p:cNvSpPr>
          <p:nvPr>
            <p:ph type="title"/>
          </p:nvPr>
        </p:nvSpPr>
        <p:spPr bwMode="auto">
          <a:xfrm>
            <a:off x="260213" y="645796"/>
            <a:ext cx="39150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38065682" name="Google Shape;83;p13"/>
          <p:cNvSpPr txBox="1">
            <a:spLocks noGrp="1"/>
          </p:cNvSpPr>
          <p:nvPr>
            <p:ph type="body" idx="1"/>
          </p:nvPr>
        </p:nvSpPr>
        <p:spPr bwMode="auto">
          <a:xfrm>
            <a:off x="260213" y="1905100"/>
            <a:ext cx="37470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25141647" name="Google Shape;84;p13"/>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sp>
        <p:nvSpPr>
          <p:cNvPr id="1561899998" name="Google Shape;85;p13"/>
          <p:cNvSpPr>
            <a:spLocks noGrp="1"/>
          </p:cNvSpPr>
          <p:nvPr>
            <p:ph type="pic" idx="2"/>
          </p:nvPr>
        </p:nvSpPr>
        <p:spPr bwMode="auto">
          <a:xfrm>
            <a:off x="4451726" y="0"/>
            <a:ext cx="4692300" cy="5143500"/>
          </a:xfrm>
          <a:prstGeom prst="rect">
            <a:avLst/>
          </a:prstGeom>
          <a:noFill/>
          <a:ln>
            <a:noFill/>
          </a:ln>
        </p:spPr>
      </p:sp>
      <p:sp>
        <p:nvSpPr>
          <p:cNvPr id="1606620225" name="Google Shape;86;p13"/>
          <p:cNvSpPr txBox="1">
            <a:spLocks noGrp="1"/>
          </p:cNvSpPr>
          <p:nvPr>
            <p:ph type="body" idx="3"/>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89701259" name="Google Shape;87;p13"/>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matchingName="4_Title and Content" userDrawn="1">
  <p:cSld name="4_Title and Content">
    <p:spTree>
      <p:nvGrpSpPr>
        <p:cNvPr id="1" name=""/>
        <p:cNvGrpSpPr/>
        <p:nvPr/>
      </p:nvGrpSpPr>
      <p:grpSpPr bwMode="auto">
        <a:xfrm>
          <a:off x="0" y="0"/>
          <a:ext cx="0" cy="0"/>
          <a:chOff x="0" y="0"/>
          <a:chExt cx="0" cy="0"/>
        </a:xfrm>
      </p:grpSpPr>
      <p:pic>
        <p:nvPicPr>
          <p:cNvPr id="257292596" name="Google Shape;89;p14" descr="Template01-08.png"/>
          <p:cNvPicPr/>
          <p:nvPr/>
        </p:nvPicPr>
        <p:blipFill rotWithShape="1">
          <a:blip r:embed="rId2">
            <a:alphaModFix/>
          </a:blip>
          <a:srcRect/>
          <a:stretch/>
        </p:blipFill>
        <p:spPr bwMode="auto">
          <a:xfrm>
            <a:off x="342901" y="-14596"/>
            <a:ext cx="80450" cy="645796"/>
          </a:xfrm>
          <a:prstGeom prst="rect">
            <a:avLst/>
          </a:prstGeom>
          <a:noFill/>
          <a:ln>
            <a:noFill/>
          </a:ln>
        </p:spPr>
      </p:pic>
      <p:sp>
        <p:nvSpPr>
          <p:cNvPr id="1395890693" name="Google Shape;90;p14"/>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085448267" name="Google Shape;91;p14"/>
          <p:cNvSpPr txBox="1">
            <a:spLocks noGrp="1"/>
          </p:cNvSpPr>
          <p:nvPr>
            <p:ph type="body" idx="1"/>
          </p:nvPr>
        </p:nvSpPr>
        <p:spPr bwMode="auto">
          <a:xfrm>
            <a:off x="260213" y="1905100"/>
            <a:ext cx="37470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22686033" name="Google Shape;92;p14"/>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sp>
        <p:nvSpPr>
          <p:cNvPr id="921005828" name="Google Shape;93;p14"/>
          <p:cNvSpPr>
            <a:spLocks noGrp="1"/>
          </p:cNvSpPr>
          <p:nvPr>
            <p:ph type="pic" idx="2"/>
          </p:nvPr>
        </p:nvSpPr>
        <p:spPr bwMode="auto">
          <a:xfrm>
            <a:off x="4496270" y="645795"/>
            <a:ext cx="4295400" cy="1740900"/>
          </a:xfrm>
          <a:prstGeom prst="rect">
            <a:avLst/>
          </a:prstGeom>
          <a:noFill/>
          <a:ln>
            <a:noFill/>
          </a:ln>
        </p:spPr>
      </p:sp>
      <p:sp>
        <p:nvSpPr>
          <p:cNvPr id="1964649596" name="Google Shape;94;p14"/>
          <p:cNvSpPr>
            <a:spLocks noGrp="1"/>
          </p:cNvSpPr>
          <p:nvPr>
            <p:ph type="pic" idx="3"/>
          </p:nvPr>
        </p:nvSpPr>
        <p:spPr bwMode="auto">
          <a:xfrm>
            <a:off x="4496270" y="2636138"/>
            <a:ext cx="4295400" cy="1740900"/>
          </a:xfrm>
          <a:prstGeom prst="rect">
            <a:avLst/>
          </a:prstGeom>
          <a:noFill/>
          <a:ln>
            <a:noFill/>
          </a:ln>
        </p:spPr>
      </p:sp>
      <p:sp>
        <p:nvSpPr>
          <p:cNvPr id="649909117" name="Google Shape;95;p14"/>
          <p:cNvSpPr txBox="1">
            <a:spLocks noGrp="1"/>
          </p:cNvSpPr>
          <p:nvPr>
            <p:ph type="body" idx="4"/>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09617771" name="Google Shape;96;p14"/>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matchingName="1_Title and Content" userDrawn="1">
  <p:cSld name="1_Title and Content">
    <p:spTree>
      <p:nvGrpSpPr>
        <p:cNvPr id="1" name=""/>
        <p:cNvGrpSpPr/>
        <p:nvPr/>
      </p:nvGrpSpPr>
      <p:grpSpPr bwMode="auto">
        <a:xfrm>
          <a:off x="0" y="0"/>
          <a:ext cx="0" cy="0"/>
          <a:chOff x="0" y="0"/>
          <a:chExt cx="0" cy="0"/>
        </a:xfrm>
      </p:grpSpPr>
      <p:sp>
        <p:nvSpPr>
          <p:cNvPr id="1453550907" name="Google Shape;98;p15"/>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8898714" name="Google Shape;99;p15"/>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pic>
        <p:nvPicPr>
          <p:cNvPr id="557097984" name="Google Shape;100;p15" descr="Template01-08.png"/>
          <p:cNvPicPr/>
          <p:nvPr/>
        </p:nvPicPr>
        <p:blipFill rotWithShape="1">
          <a:blip r:embed="rId2">
            <a:alphaModFix/>
          </a:blip>
          <a:srcRect/>
          <a:stretch/>
        </p:blipFill>
        <p:spPr bwMode="auto">
          <a:xfrm>
            <a:off x="342901" y="0"/>
            <a:ext cx="80450" cy="645796"/>
          </a:xfrm>
          <a:prstGeom prst="rect">
            <a:avLst/>
          </a:prstGeom>
          <a:noFill/>
          <a:ln>
            <a:noFill/>
          </a:ln>
        </p:spPr>
      </p:pic>
      <p:sp>
        <p:nvSpPr>
          <p:cNvPr id="1259802959" name="Google Shape;101;p15"/>
          <p:cNvSpPr txBox="1">
            <a:spLocks noGrp="1"/>
          </p:cNvSpPr>
          <p:nvPr>
            <p:ph type="body" idx="1"/>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480245895" name="Google Shape;102;p15"/>
          <p:cNvSpPr txBox="1">
            <a:spLocks noGrp="1"/>
          </p:cNvSpPr>
          <p:nvPr>
            <p:ph type="body" idx="2"/>
          </p:nvPr>
        </p:nvSpPr>
        <p:spPr bwMode="auto">
          <a:xfrm>
            <a:off x="260213"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810005871" name="Google Shape;103;p15"/>
          <p:cNvSpPr txBox="1">
            <a:spLocks noGrp="1"/>
          </p:cNvSpPr>
          <p:nvPr>
            <p:ph type="body" idx="3"/>
          </p:nvPr>
        </p:nvSpPr>
        <p:spPr bwMode="auto">
          <a:xfrm>
            <a:off x="2954152"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14217965" name="Google Shape;104;p15"/>
          <p:cNvSpPr>
            <a:spLocks noGrp="1"/>
          </p:cNvSpPr>
          <p:nvPr>
            <p:ph type="pic" idx="4"/>
          </p:nvPr>
        </p:nvSpPr>
        <p:spPr bwMode="auto">
          <a:xfrm>
            <a:off x="4451726" y="0"/>
            <a:ext cx="4692300" cy="5143500"/>
          </a:xfrm>
          <a:prstGeom prst="rect">
            <a:avLst/>
          </a:prstGeom>
          <a:noFill/>
          <a:ln>
            <a:noFill/>
          </a:ln>
        </p:spPr>
      </p:sp>
      <p:sp>
        <p:nvSpPr>
          <p:cNvPr id="264119979" name="Google Shape;105;p1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matchingName="5_Title and Content" userDrawn="1">
  <p:cSld name="5_Title and Content">
    <p:spTree>
      <p:nvGrpSpPr>
        <p:cNvPr id="1" name=""/>
        <p:cNvGrpSpPr/>
        <p:nvPr/>
      </p:nvGrpSpPr>
      <p:grpSpPr bwMode="auto">
        <a:xfrm>
          <a:off x="0" y="0"/>
          <a:ext cx="0" cy="0"/>
          <a:chOff x="0" y="0"/>
          <a:chExt cx="0" cy="0"/>
        </a:xfrm>
      </p:grpSpPr>
      <p:sp>
        <p:nvSpPr>
          <p:cNvPr id="1107592216" name="Google Shape;107;p16"/>
          <p:cNvSpPr txBox="1">
            <a:spLocks noGrp="1"/>
          </p:cNvSpPr>
          <p:nvPr>
            <p:ph type="title"/>
          </p:nvPr>
        </p:nvSpPr>
        <p:spPr bwMode="auto">
          <a:xfrm>
            <a:off x="538636" y="9959"/>
            <a:ext cx="7901100" cy="823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3B5C"/>
              </a:buClr>
              <a:buSzPts val="2500"/>
              <a:buFont typeface="Montserrat Medium"/>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44877484" name="Google Shape;108;p16"/>
          <p:cNvSpPr txBox="1"/>
          <p:nvPr/>
        </p:nvSpPr>
        <p:spPr bwMode="auto">
          <a:xfrm>
            <a:off x="7153613" y="4817014"/>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pic>
        <p:nvPicPr>
          <p:cNvPr id="1070221087" name="Google Shape;109;p16" descr="Template01-08.png"/>
          <p:cNvPicPr/>
          <p:nvPr/>
        </p:nvPicPr>
        <p:blipFill rotWithShape="1">
          <a:blip r:embed="rId2">
            <a:alphaModFix/>
          </a:blip>
          <a:srcRect/>
          <a:stretch/>
        </p:blipFill>
        <p:spPr bwMode="auto">
          <a:xfrm>
            <a:off x="342901" y="0"/>
            <a:ext cx="80450" cy="645796"/>
          </a:xfrm>
          <a:prstGeom prst="rect">
            <a:avLst/>
          </a:prstGeom>
          <a:noFill/>
          <a:ln>
            <a:noFill/>
          </a:ln>
        </p:spPr>
      </p:pic>
      <p:sp>
        <p:nvSpPr>
          <p:cNvPr id="1695326137" name="Google Shape;110;p16"/>
          <p:cNvSpPr txBox="1">
            <a:spLocks noGrp="1"/>
          </p:cNvSpPr>
          <p:nvPr>
            <p:ph type="body" idx="1"/>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570192908" name="Google Shape;111;p16"/>
          <p:cNvSpPr txBox="1">
            <a:spLocks noGrp="1"/>
          </p:cNvSpPr>
          <p:nvPr>
            <p:ph type="body" idx="2"/>
          </p:nvPr>
        </p:nvSpPr>
        <p:spPr bwMode="auto">
          <a:xfrm>
            <a:off x="260212" y="1905100"/>
            <a:ext cx="41403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15432881" name="Google Shape;112;p16"/>
          <p:cNvSpPr txBox="1">
            <a:spLocks noGrp="1"/>
          </p:cNvSpPr>
          <p:nvPr>
            <p:ph type="body" idx="3"/>
          </p:nvPr>
        </p:nvSpPr>
        <p:spPr bwMode="auto">
          <a:xfrm>
            <a:off x="4557988" y="1905100"/>
            <a:ext cx="41403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94622790" name="Google Shape;113;p16"/>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matchingName="3_Title and Content" userDrawn="1">
  <p:cSld name="3_Title and Content">
    <p:spTree>
      <p:nvGrpSpPr>
        <p:cNvPr id="1" name=""/>
        <p:cNvGrpSpPr/>
        <p:nvPr/>
      </p:nvGrpSpPr>
      <p:grpSpPr bwMode="auto">
        <a:xfrm>
          <a:off x="0" y="0"/>
          <a:ext cx="0" cy="0"/>
          <a:chOff x="0" y="0"/>
          <a:chExt cx="0" cy="0"/>
        </a:xfrm>
      </p:grpSpPr>
      <p:sp>
        <p:nvSpPr>
          <p:cNvPr id="1428005919" name="Google Shape;115;p17"/>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3188417" name="Google Shape;116;p17"/>
          <p:cNvSpPr txBox="1">
            <a:spLocks noGrp="1"/>
          </p:cNvSpPr>
          <p:nvPr>
            <p:ph type="body" idx="1"/>
          </p:nvPr>
        </p:nvSpPr>
        <p:spPr bwMode="auto">
          <a:xfrm>
            <a:off x="260213"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44409107" name="Google Shape;117;p17"/>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pic>
        <p:nvPicPr>
          <p:cNvPr id="1611087763" name="Google Shape;118;p17" descr="Template01-08.png"/>
          <p:cNvPicPr/>
          <p:nvPr/>
        </p:nvPicPr>
        <p:blipFill rotWithShape="1">
          <a:blip r:embed="rId2">
            <a:alphaModFix/>
          </a:blip>
          <a:srcRect/>
          <a:stretch/>
        </p:blipFill>
        <p:spPr bwMode="auto">
          <a:xfrm>
            <a:off x="342901" y="0"/>
            <a:ext cx="80450" cy="645796"/>
          </a:xfrm>
          <a:prstGeom prst="rect">
            <a:avLst/>
          </a:prstGeom>
          <a:noFill/>
          <a:ln>
            <a:noFill/>
          </a:ln>
        </p:spPr>
      </p:pic>
      <p:sp>
        <p:nvSpPr>
          <p:cNvPr id="173794863" name="Google Shape;119;p17"/>
          <p:cNvSpPr>
            <a:spLocks noGrp="1"/>
          </p:cNvSpPr>
          <p:nvPr>
            <p:ph type="pic" idx="2"/>
          </p:nvPr>
        </p:nvSpPr>
        <p:spPr bwMode="auto">
          <a:xfrm>
            <a:off x="6357698" y="-14596"/>
            <a:ext cx="2786400" cy="5158200"/>
          </a:xfrm>
          <a:prstGeom prst="rect">
            <a:avLst/>
          </a:prstGeom>
          <a:noFill/>
          <a:ln>
            <a:noFill/>
          </a:ln>
        </p:spPr>
      </p:sp>
      <p:sp>
        <p:nvSpPr>
          <p:cNvPr id="788567626" name="Google Shape;120;p17"/>
          <p:cNvSpPr txBox="1">
            <a:spLocks noGrp="1"/>
          </p:cNvSpPr>
          <p:nvPr>
            <p:ph type="body" idx="3"/>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61292988" name="Google Shape;121;p17"/>
          <p:cNvSpPr txBox="1">
            <a:spLocks noGrp="1"/>
          </p:cNvSpPr>
          <p:nvPr>
            <p:ph type="body" idx="4"/>
          </p:nvPr>
        </p:nvSpPr>
        <p:spPr bwMode="auto">
          <a:xfrm>
            <a:off x="2954152"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582667578" name="Google Shape;122;p17"/>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Custom Layout" userDrawn="1">
  <p:cSld name="Custom Layout">
    <p:spTree>
      <p:nvGrpSpPr>
        <p:cNvPr id="1" name=""/>
        <p:cNvGrpSpPr/>
        <p:nvPr/>
      </p:nvGrpSpPr>
      <p:grpSpPr bwMode="auto">
        <a:xfrm>
          <a:off x="0" y="0"/>
          <a:ext cx="0" cy="0"/>
          <a:chOff x="0" y="0"/>
          <a:chExt cx="0" cy="0"/>
        </a:xfrm>
      </p:grpSpPr>
      <p:sp>
        <p:nvSpPr>
          <p:cNvPr id="1506302002" name="Google Shape;124;p18"/>
          <p:cNvSpPr>
            <a:spLocks noGrp="1"/>
          </p:cNvSpPr>
          <p:nvPr>
            <p:ph type="pic" idx="2"/>
          </p:nvPr>
        </p:nvSpPr>
        <p:spPr bwMode="auto">
          <a:xfrm>
            <a:off x="0" y="-14596"/>
            <a:ext cx="9144000" cy="5158200"/>
          </a:xfrm>
          <a:prstGeom prst="rect">
            <a:avLst/>
          </a:prstGeom>
          <a:noFill/>
          <a:ln>
            <a:noFill/>
          </a:ln>
        </p:spPr>
      </p:sp>
      <p:sp>
        <p:nvSpPr>
          <p:cNvPr id="40230119" name="Google Shape;125;p18"/>
          <p:cNvSpPr txBox="1">
            <a:spLocks noGrp="1"/>
          </p:cNvSpPr>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r>
              <a:rPr lang="en"/>
              <a:t>Presentation Title | </a:t>
            </a:r>
            <a:fld id="{00000000-1234-1234-1234-123412341234}" type="slidenum">
              <a:rPr lang="en" b="1"/>
              <a:t>‹#›</a:t>
            </a:fld>
            <a:endParaRPr b="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Closing Slide" userDrawn="1">
  <p:cSld name="Closing Slide">
    <p:spTree>
      <p:nvGrpSpPr>
        <p:cNvPr id="1" name=""/>
        <p:cNvGrpSpPr/>
        <p:nvPr/>
      </p:nvGrpSpPr>
      <p:grpSpPr bwMode="auto">
        <a:xfrm>
          <a:off x="0" y="0"/>
          <a:ext cx="0" cy="0"/>
          <a:chOff x="0" y="0"/>
          <a:chExt cx="0" cy="0"/>
        </a:xfrm>
      </p:grpSpPr>
      <p:sp>
        <p:nvSpPr>
          <p:cNvPr id="850113231" name="Google Shape;127;p19"/>
          <p:cNvSpPr/>
          <p:nvPr/>
        </p:nvSpPr>
        <p:spPr bwMode="auto">
          <a:xfrm>
            <a:off x="0" y="0"/>
            <a:ext cx="9144000" cy="5160899"/>
          </a:xfrm>
          <a:prstGeom prst="rect">
            <a:avLst/>
          </a:prstGeom>
          <a:solidFill>
            <a:srgbClr val="042A4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003B5C"/>
              </a:solidFill>
              <a:latin typeface="Arial"/>
              <a:ea typeface="Arial"/>
              <a:cs typeface="Arial"/>
            </a:endParaRPr>
          </a:p>
        </p:txBody>
      </p:sp>
      <p:pic>
        <p:nvPicPr>
          <p:cNvPr id="1208629725" name="Google Shape;128;p19" descr="03 Singapore University of Social Sciences_Horizontal Format_Version A_Blue Background_RGB-01.png"/>
          <p:cNvPicPr/>
          <p:nvPr/>
        </p:nvPicPr>
        <p:blipFill rotWithShape="1">
          <a:blip r:embed="rId2">
            <a:alphaModFix/>
          </a:blip>
          <a:srcRect/>
          <a:stretch/>
        </p:blipFill>
        <p:spPr bwMode="auto">
          <a:xfrm>
            <a:off x="351798" y="4365912"/>
            <a:ext cx="1116944" cy="558473"/>
          </a:xfrm>
          <a:prstGeom prst="rect">
            <a:avLst/>
          </a:prstGeom>
          <a:noFill/>
          <a:ln>
            <a:noFill/>
          </a:ln>
        </p:spPr>
      </p:pic>
      <p:sp>
        <p:nvSpPr>
          <p:cNvPr id="161684192" name="Google Shape;129;p19"/>
          <p:cNvSpPr txBox="1">
            <a:spLocks noGrp="1"/>
          </p:cNvSpPr>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b="1">
                <a:solidFill>
                  <a:srgbClr val="FFFFFF"/>
                </a:solidFill>
                <a:latin typeface="Arial"/>
                <a:ea typeface="Arial"/>
                <a:cs typeface="Arial"/>
              </a:defRPr>
            </a:lvl1pPr>
            <a:lvl2pPr marL="0" lvl="1" indent="0" algn="r">
              <a:spcBef>
                <a:spcPts val="0"/>
              </a:spcBef>
              <a:buNone/>
              <a:defRPr sz="800" b="1">
                <a:solidFill>
                  <a:srgbClr val="FFFFFF"/>
                </a:solidFill>
                <a:latin typeface="Arial"/>
                <a:ea typeface="Arial"/>
                <a:cs typeface="Arial"/>
              </a:defRPr>
            </a:lvl2pPr>
            <a:lvl3pPr marL="0" lvl="2" indent="0" algn="r">
              <a:spcBef>
                <a:spcPts val="0"/>
              </a:spcBef>
              <a:buNone/>
              <a:defRPr sz="800" b="1">
                <a:solidFill>
                  <a:srgbClr val="FFFFFF"/>
                </a:solidFill>
                <a:latin typeface="Arial"/>
                <a:ea typeface="Arial"/>
                <a:cs typeface="Arial"/>
              </a:defRPr>
            </a:lvl3pPr>
            <a:lvl4pPr marL="0" lvl="3" indent="0" algn="r">
              <a:spcBef>
                <a:spcPts val="0"/>
              </a:spcBef>
              <a:buNone/>
              <a:defRPr sz="800" b="1">
                <a:solidFill>
                  <a:srgbClr val="FFFFFF"/>
                </a:solidFill>
                <a:latin typeface="Arial"/>
                <a:ea typeface="Arial"/>
                <a:cs typeface="Arial"/>
              </a:defRPr>
            </a:lvl4pPr>
            <a:lvl5pPr marL="0" lvl="4" indent="0" algn="r">
              <a:spcBef>
                <a:spcPts val="0"/>
              </a:spcBef>
              <a:buNone/>
              <a:defRPr sz="800" b="1">
                <a:solidFill>
                  <a:srgbClr val="FFFFFF"/>
                </a:solidFill>
                <a:latin typeface="Arial"/>
                <a:ea typeface="Arial"/>
                <a:cs typeface="Arial"/>
              </a:defRPr>
            </a:lvl5pPr>
            <a:lvl6pPr marL="0" lvl="5" indent="0" algn="r">
              <a:spcBef>
                <a:spcPts val="0"/>
              </a:spcBef>
              <a:buNone/>
              <a:defRPr sz="800" b="1">
                <a:solidFill>
                  <a:srgbClr val="FFFFFF"/>
                </a:solidFill>
                <a:latin typeface="Arial"/>
                <a:ea typeface="Arial"/>
                <a:cs typeface="Arial"/>
              </a:defRPr>
            </a:lvl6pPr>
            <a:lvl7pPr marL="0" lvl="6" indent="0" algn="r">
              <a:spcBef>
                <a:spcPts val="0"/>
              </a:spcBef>
              <a:buNone/>
              <a:defRPr sz="800" b="1">
                <a:solidFill>
                  <a:srgbClr val="FFFFFF"/>
                </a:solidFill>
                <a:latin typeface="Arial"/>
                <a:ea typeface="Arial"/>
                <a:cs typeface="Arial"/>
              </a:defRPr>
            </a:lvl7pPr>
            <a:lvl8pPr marL="0" lvl="7" indent="0" algn="r">
              <a:spcBef>
                <a:spcPts val="0"/>
              </a:spcBef>
              <a:buNone/>
              <a:defRPr sz="800" b="1">
                <a:solidFill>
                  <a:srgbClr val="FFFFFF"/>
                </a:solidFill>
                <a:latin typeface="Arial"/>
                <a:ea typeface="Arial"/>
                <a:cs typeface="Arial"/>
              </a:defRPr>
            </a:lvl8pPr>
            <a:lvl9pPr marL="0" lvl="8" indent="0" algn="r">
              <a:spcBef>
                <a:spcPts val="0"/>
              </a:spcBef>
              <a:buNone/>
              <a:defRPr sz="800" b="1">
                <a:solidFill>
                  <a:srgbClr val="FFFFFF"/>
                </a:solidFill>
                <a:latin typeface="Arial"/>
                <a:ea typeface="Arial"/>
                <a:cs typeface="Arial"/>
              </a:defRPr>
            </a:lvl9pPr>
          </a:lstStyle>
          <a:p>
            <a:pPr marL="0" lvl="0" indent="0" algn="r" rtl="0">
              <a:spcBef>
                <a:spcPts val="0"/>
              </a:spcBef>
              <a:spcAft>
                <a:spcPts val="0"/>
              </a:spcAft>
              <a:buNone/>
              <a:defRPr/>
            </a:pPr>
            <a:r>
              <a:rPr lang="en"/>
              <a:t>suss.edu.sg</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14_Title and Content" userDrawn="1">
  <p:cSld name="14_Title and Content">
    <p:spTree>
      <p:nvGrpSpPr>
        <p:cNvPr id="1" name=""/>
        <p:cNvGrpSpPr/>
        <p:nvPr/>
      </p:nvGrpSpPr>
      <p:grpSpPr bwMode="auto">
        <a:xfrm>
          <a:off x="0" y="0"/>
          <a:ext cx="0" cy="0"/>
          <a:chOff x="0" y="0"/>
          <a:chExt cx="0" cy="0"/>
        </a:xfrm>
      </p:grpSpPr>
      <p:sp>
        <p:nvSpPr>
          <p:cNvPr id="1067725819" name="Google Shape;131;p20"/>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2100"/>
              <a:buFont typeface="Lucida Sans"/>
              <a:buNone/>
              <a:defRPr sz="21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929790183" name="Google Shape;132;p20"/>
          <p:cNvSpPr txBox="1">
            <a:spLocks noGrp="1"/>
          </p:cNvSpPr>
          <p:nvPr>
            <p:ph type="body" idx="1"/>
          </p:nvPr>
        </p:nvSpPr>
        <p:spPr bwMode="auto">
          <a:xfrm>
            <a:off x="685800" y="742950"/>
            <a:ext cx="7543800" cy="256500"/>
          </a:xfrm>
          <a:prstGeom prst="rect">
            <a:avLst/>
          </a:prstGeom>
          <a:noFill/>
          <a:ln>
            <a:noFill/>
          </a:ln>
        </p:spPr>
        <p:txBody>
          <a:bodyPr spcFirstLastPara="1" wrap="square" lIns="91425" tIns="45700" rIns="91425" bIns="45700" anchor="t" anchorCtr="0">
            <a:normAutofit/>
          </a:bodyPr>
          <a:lstStyle>
            <a:lvl1pPr marL="457200" lvl="0" indent="-228600" algn="l">
              <a:spcBef>
                <a:spcPts val="300"/>
              </a:spcBef>
              <a:spcAft>
                <a:spcPts val="0"/>
              </a:spcAft>
              <a:buClr>
                <a:srgbClr val="890018"/>
              </a:buClr>
              <a:buSzPts val="1500"/>
              <a:buNone/>
              <a:defRPr sz="15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478092199" name="Google Shape;133;p20"/>
          <p:cNvSpPr txBox="1">
            <a:spLocks noGrp="1"/>
          </p:cNvSpPr>
          <p:nvPr>
            <p:ph type="dt" idx="10"/>
          </p:nvPr>
        </p:nvSpPr>
        <p:spPr bwMode="auto">
          <a:xfrm>
            <a:off x="4644008" y="4904292"/>
            <a:ext cx="1905000" cy="2058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424149143" name="Google Shape;134;p20"/>
          <p:cNvSpPr txBox="1">
            <a:spLocks noGrp="1"/>
          </p:cNvSpPr>
          <p:nvPr>
            <p:ph type="ftr" idx="11"/>
          </p:nvPr>
        </p:nvSpPr>
        <p:spPr bwMode="auto">
          <a:xfrm>
            <a:off x="35496" y="4904292"/>
            <a:ext cx="2895600" cy="20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541659196" name="Google Shape;135;p20"/>
          <p:cNvSpPr txBox="1">
            <a:spLocks noGrp="1"/>
          </p:cNvSpPr>
          <p:nvPr>
            <p:ph type="sldNum" idx="12"/>
          </p:nvPr>
        </p:nvSpPr>
        <p:spPr bwMode="auto">
          <a:xfrm>
            <a:off x="6588224" y="4904292"/>
            <a:ext cx="457200" cy="2058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1050">
                <a:solidFill>
                  <a:srgbClr val="0098ED"/>
                </a:solidFill>
                <a:latin typeface="Lucida Sans"/>
                <a:ea typeface="Lucida Sans"/>
                <a:cs typeface="Lucida Sans"/>
              </a:defRPr>
            </a:lvl1pPr>
            <a:lvl2pPr marL="0" lvl="1" indent="0" algn="l">
              <a:spcBef>
                <a:spcPts val="0"/>
              </a:spcBef>
              <a:buNone/>
              <a:defRPr sz="1050">
                <a:solidFill>
                  <a:srgbClr val="0098ED"/>
                </a:solidFill>
                <a:latin typeface="Lucida Sans"/>
                <a:ea typeface="Lucida Sans"/>
                <a:cs typeface="Lucida Sans"/>
              </a:defRPr>
            </a:lvl2pPr>
            <a:lvl3pPr marL="0" lvl="2" indent="0" algn="l">
              <a:spcBef>
                <a:spcPts val="0"/>
              </a:spcBef>
              <a:buNone/>
              <a:defRPr sz="1050">
                <a:solidFill>
                  <a:srgbClr val="0098ED"/>
                </a:solidFill>
                <a:latin typeface="Lucida Sans"/>
                <a:ea typeface="Lucida Sans"/>
                <a:cs typeface="Lucida Sans"/>
              </a:defRPr>
            </a:lvl3pPr>
            <a:lvl4pPr marL="0" lvl="3" indent="0" algn="l">
              <a:spcBef>
                <a:spcPts val="0"/>
              </a:spcBef>
              <a:buNone/>
              <a:defRPr sz="1050">
                <a:solidFill>
                  <a:srgbClr val="0098ED"/>
                </a:solidFill>
                <a:latin typeface="Lucida Sans"/>
                <a:ea typeface="Lucida Sans"/>
                <a:cs typeface="Lucida Sans"/>
              </a:defRPr>
            </a:lvl4pPr>
            <a:lvl5pPr marL="0" lvl="4" indent="0" algn="l">
              <a:spcBef>
                <a:spcPts val="0"/>
              </a:spcBef>
              <a:buNone/>
              <a:defRPr sz="1050">
                <a:solidFill>
                  <a:srgbClr val="0098ED"/>
                </a:solidFill>
                <a:latin typeface="Lucida Sans"/>
                <a:ea typeface="Lucida Sans"/>
                <a:cs typeface="Lucida Sans"/>
              </a:defRPr>
            </a:lvl5pPr>
            <a:lvl6pPr marL="0" lvl="5" indent="0" algn="l">
              <a:spcBef>
                <a:spcPts val="0"/>
              </a:spcBef>
              <a:buNone/>
              <a:defRPr sz="1050">
                <a:solidFill>
                  <a:srgbClr val="0098ED"/>
                </a:solidFill>
                <a:latin typeface="Lucida Sans"/>
                <a:ea typeface="Lucida Sans"/>
                <a:cs typeface="Lucida Sans"/>
              </a:defRPr>
            </a:lvl6pPr>
            <a:lvl7pPr marL="0" lvl="6" indent="0" algn="l">
              <a:spcBef>
                <a:spcPts val="0"/>
              </a:spcBef>
              <a:buNone/>
              <a:defRPr sz="1050">
                <a:solidFill>
                  <a:srgbClr val="0098ED"/>
                </a:solidFill>
                <a:latin typeface="Lucida Sans"/>
                <a:ea typeface="Lucida Sans"/>
                <a:cs typeface="Lucida Sans"/>
              </a:defRPr>
            </a:lvl7pPr>
            <a:lvl8pPr marL="0" lvl="7" indent="0" algn="l">
              <a:spcBef>
                <a:spcPts val="0"/>
              </a:spcBef>
              <a:buNone/>
              <a:defRPr sz="1050">
                <a:solidFill>
                  <a:srgbClr val="0098ED"/>
                </a:solidFill>
                <a:latin typeface="Lucida Sans"/>
                <a:ea typeface="Lucida Sans"/>
                <a:cs typeface="Lucida Sans"/>
              </a:defRPr>
            </a:lvl8pPr>
            <a:lvl9pPr marL="0" lvl="8" indent="0" algn="l">
              <a:spcBef>
                <a:spcPts val="0"/>
              </a:spcBef>
              <a:buNone/>
              <a:defRPr sz="1050">
                <a:solidFill>
                  <a:srgbClr val="0098ED"/>
                </a:solidFill>
                <a:latin typeface="Lucida Sans"/>
                <a:ea typeface="Lucida Sans"/>
                <a:cs typeface="Lucida Sans"/>
              </a:defRPr>
            </a:lvl9pPr>
          </a:lstStyle>
          <a:p>
            <a:pPr marL="0" lvl="0" indent="0" algn="l"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matchingName="40_Title and Content" userDrawn="1">
  <p:cSld name="40_Title and Content">
    <p:spTree>
      <p:nvGrpSpPr>
        <p:cNvPr id="1" name=""/>
        <p:cNvGrpSpPr/>
        <p:nvPr/>
      </p:nvGrpSpPr>
      <p:grpSpPr bwMode="auto">
        <a:xfrm>
          <a:off x="0" y="0"/>
          <a:ext cx="0" cy="0"/>
          <a:chOff x="0" y="0"/>
          <a:chExt cx="0" cy="0"/>
        </a:xfrm>
      </p:grpSpPr>
      <p:sp>
        <p:nvSpPr>
          <p:cNvPr id="569524897" name="Google Shape;137;p21"/>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2100"/>
              <a:buFont typeface="Lucida Sans"/>
              <a:buNone/>
              <a:defRPr sz="21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64124766" name="Google Shape;138;p21"/>
          <p:cNvSpPr txBox="1">
            <a:spLocks noGrp="1"/>
          </p:cNvSpPr>
          <p:nvPr>
            <p:ph type="body" idx="1"/>
          </p:nvPr>
        </p:nvSpPr>
        <p:spPr bwMode="auto">
          <a:xfrm>
            <a:off x="685800" y="742950"/>
            <a:ext cx="7543800" cy="256500"/>
          </a:xfrm>
          <a:prstGeom prst="rect">
            <a:avLst/>
          </a:prstGeom>
          <a:noFill/>
          <a:ln>
            <a:noFill/>
          </a:ln>
        </p:spPr>
        <p:txBody>
          <a:bodyPr spcFirstLastPara="1" wrap="square" lIns="91425" tIns="45700" rIns="91425" bIns="45700" anchor="t" anchorCtr="0">
            <a:normAutofit/>
          </a:bodyPr>
          <a:lstStyle>
            <a:lvl1pPr marL="457200" lvl="0" indent="-228600" algn="l">
              <a:spcBef>
                <a:spcPts val="300"/>
              </a:spcBef>
              <a:spcAft>
                <a:spcPts val="0"/>
              </a:spcAft>
              <a:buClr>
                <a:srgbClr val="890018"/>
              </a:buClr>
              <a:buSzPts val="1500"/>
              <a:buNone/>
              <a:defRPr sz="15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422055431" name="Google Shape;139;p21"/>
          <p:cNvSpPr txBox="1">
            <a:spLocks noGrp="1"/>
          </p:cNvSpPr>
          <p:nvPr>
            <p:ph type="dt" idx="10"/>
          </p:nvPr>
        </p:nvSpPr>
        <p:spPr bwMode="auto">
          <a:xfrm>
            <a:off x="4644008" y="4904292"/>
            <a:ext cx="1905000" cy="2058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41075092" name="Google Shape;140;p21"/>
          <p:cNvSpPr txBox="1">
            <a:spLocks noGrp="1"/>
          </p:cNvSpPr>
          <p:nvPr>
            <p:ph type="ftr" idx="11"/>
          </p:nvPr>
        </p:nvSpPr>
        <p:spPr bwMode="auto">
          <a:xfrm>
            <a:off x="35496" y="4904292"/>
            <a:ext cx="2895600" cy="20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768846789" name="Google Shape;141;p21"/>
          <p:cNvSpPr txBox="1">
            <a:spLocks noGrp="1"/>
          </p:cNvSpPr>
          <p:nvPr>
            <p:ph type="sldNum" idx="12"/>
          </p:nvPr>
        </p:nvSpPr>
        <p:spPr bwMode="auto">
          <a:xfrm>
            <a:off x="6588224" y="4904292"/>
            <a:ext cx="457200" cy="2058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1050">
                <a:solidFill>
                  <a:srgbClr val="0098ED"/>
                </a:solidFill>
                <a:latin typeface="Lucida Sans"/>
                <a:ea typeface="Lucida Sans"/>
                <a:cs typeface="Lucida Sans"/>
              </a:defRPr>
            </a:lvl1pPr>
            <a:lvl2pPr marL="0" lvl="1" indent="0" algn="l">
              <a:spcBef>
                <a:spcPts val="0"/>
              </a:spcBef>
              <a:buNone/>
              <a:defRPr sz="1050">
                <a:solidFill>
                  <a:srgbClr val="0098ED"/>
                </a:solidFill>
                <a:latin typeface="Lucida Sans"/>
                <a:ea typeface="Lucida Sans"/>
                <a:cs typeface="Lucida Sans"/>
              </a:defRPr>
            </a:lvl2pPr>
            <a:lvl3pPr marL="0" lvl="2" indent="0" algn="l">
              <a:spcBef>
                <a:spcPts val="0"/>
              </a:spcBef>
              <a:buNone/>
              <a:defRPr sz="1050">
                <a:solidFill>
                  <a:srgbClr val="0098ED"/>
                </a:solidFill>
                <a:latin typeface="Lucida Sans"/>
                <a:ea typeface="Lucida Sans"/>
                <a:cs typeface="Lucida Sans"/>
              </a:defRPr>
            </a:lvl3pPr>
            <a:lvl4pPr marL="0" lvl="3" indent="0" algn="l">
              <a:spcBef>
                <a:spcPts val="0"/>
              </a:spcBef>
              <a:buNone/>
              <a:defRPr sz="1050">
                <a:solidFill>
                  <a:srgbClr val="0098ED"/>
                </a:solidFill>
                <a:latin typeface="Lucida Sans"/>
                <a:ea typeface="Lucida Sans"/>
                <a:cs typeface="Lucida Sans"/>
              </a:defRPr>
            </a:lvl4pPr>
            <a:lvl5pPr marL="0" lvl="4" indent="0" algn="l">
              <a:spcBef>
                <a:spcPts val="0"/>
              </a:spcBef>
              <a:buNone/>
              <a:defRPr sz="1050">
                <a:solidFill>
                  <a:srgbClr val="0098ED"/>
                </a:solidFill>
                <a:latin typeface="Lucida Sans"/>
                <a:ea typeface="Lucida Sans"/>
                <a:cs typeface="Lucida Sans"/>
              </a:defRPr>
            </a:lvl5pPr>
            <a:lvl6pPr marL="0" lvl="5" indent="0" algn="l">
              <a:spcBef>
                <a:spcPts val="0"/>
              </a:spcBef>
              <a:buNone/>
              <a:defRPr sz="1050">
                <a:solidFill>
                  <a:srgbClr val="0098ED"/>
                </a:solidFill>
                <a:latin typeface="Lucida Sans"/>
                <a:ea typeface="Lucida Sans"/>
                <a:cs typeface="Lucida Sans"/>
              </a:defRPr>
            </a:lvl6pPr>
            <a:lvl7pPr marL="0" lvl="6" indent="0" algn="l">
              <a:spcBef>
                <a:spcPts val="0"/>
              </a:spcBef>
              <a:buNone/>
              <a:defRPr sz="1050">
                <a:solidFill>
                  <a:srgbClr val="0098ED"/>
                </a:solidFill>
                <a:latin typeface="Lucida Sans"/>
                <a:ea typeface="Lucida Sans"/>
                <a:cs typeface="Lucida Sans"/>
              </a:defRPr>
            </a:lvl7pPr>
            <a:lvl8pPr marL="0" lvl="7" indent="0" algn="l">
              <a:spcBef>
                <a:spcPts val="0"/>
              </a:spcBef>
              <a:buNone/>
              <a:defRPr sz="1050">
                <a:solidFill>
                  <a:srgbClr val="0098ED"/>
                </a:solidFill>
                <a:latin typeface="Lucida Sans"/>
                <a:ea typeface="Lucida Sans"/>
                <a:cs typeface="Lucida Sans"/>
              </a:defRPr>
            </a:lvl8pPr>
            <a:lvl9pPr marL="0" lvl="8" indent="0" algn="l">
              <a:spcBef>
                <a:spcPts val="0"/>
              </a:spcBef>
              <a:buNone/>
              <a:defRPr sz="1050">
                <a:solidFill>
                  <a:srgbClr val="0098ED"/>
                </a:solidFill>
                <a:latin typeface="Lucida Sans"/>
                <a:ea typeface="Lucida Sans"/>
                <a:cs typeface="Lucida Sans"/>
              </a:defRPr>
            </a:lvl9pPr>
          </a:lstStyle>
          <a:p>
            <a:pPr marL="0" lvl="0" indent="0" algn="l"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matchingName="41_Title and Content" userDrawn="1">
  <p:cSld name="41_Title and Content">
    <p:spTree>
      <p:nvGrpSpPr>
        <p:cNvPr id="1" name=""/>
        <p:cNvGrpSpPr/>
        <p:nvPr/>
      </p:nvGrpSpPr>
      <p:grpSpPr bwMode="auto">
        <a:xfrm>
          <a:off x="0" y="0"/>
          <a:ext cx="0" cy="0"/>
          <a:chOff x="0" y="0"/>
          <a:chExt cx="0" cy="0"/>
        </a:xfrm>
      </p:grpSpPr>
      <p:sp>
        <p:nvSpPr>
          <p:cNvPr id="938496399" name="Google Shape;143;p22"/>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59147004" name="Google Shape;144;p22"/>
          <p:cNvSpPr txBox="1">
            <a:spLocks noGrp="1"/>
          </p:cNvSpPr>
          <p:nvPr>
            <p:ph type="body" idx="1"/>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413045020" name="Google Shape;145;p22"/>
          <p:cNvSpPr txBox="1">
            <a:spLocks noGrp="1"/>
          </p:cNvSpPr>
          <p:nvPr>
            <p:ph type="body" idx="2"/>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771533396" name="Google Shape;146;p22"/>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matchingName="42_Title and Content" userDrawn="1">
  <p:cSld name="42_Title and Content">
    <p:spTree>
      <p:nvGrpSpPr>
        <p:cNvPr id="1" name=""/>
        <p:cNvGrpSpPr/>
        <p:nvPr/>
      </p:nvGrpSpPr>
      <p:grpSpPr bwMode="auto">
        <a:xfrm>
          <a:off x="0" y="0"/>
          <a:ext cx="0" cy="0"/>
          <a:chOff x="0" y="0"/>
          <a:chExt cx="0" cy="0"/>
        </a:xfrm>
      </p:grpSpPr>
      <p:sp>
        <p:nvSpPr>
          <p:cNvPr id="218270983" name="Google Shape;148;p23"/>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8877100" name="Google Shape;149;p23"/>
          <p:cNvSpPr txBox="1">
            <a:spLocks noGrp="1"/>
          </p:cNvSpPr>
          <p:nvPr>
            <p:ph type="body" idx="1"/>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47688204" name="Google Shape;150;p23"/>
          <p:cNvSpPr txBox="1">
            <a:spLocks noGrp="1"/>
          </p:cNvSpPr>
          <p:nvPr>
            <p:ph type="body" idx="2"/>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857042227" name="Google Shape;151;p23"/>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matchingName="50_Title and Content" userDrawn="1">
  <p:cSld name="50_Title and Content">
    <p:spTree>
      <p:nvGrpSpPr>
        <p:cNvPr id="1" name=""/>
        <p:cNvGrpSpPr/>
        <p:nvPr/>
      </p:nvGrpSpPr>
      <p:grpSpPr bwMode="auto">
        <a:xfrm>
          <a:off x="0" y="0"/>
          <a:ext cx="0" cy="0"/>
          <a:chOff x="0" y="0"/>
          <a:chExt cx="0" cy="0"/>
        </a:xfrm>
      </p:grpSpPr>
      <p:sp>
        <p:nvSpPr>
          <p:cNvPr id="735476585" name="Google Shape;159;p25"/>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98860525" name="Google Shape;160;p25"/>
          <p:cNvSpPr txBox="1">
            <a:spLocks noGrp="1"/>
          </p:cNvSpPr>
          <p:nvPr>
            <p:ph type="body" idx="1"/>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436473110" name="Google Shape;161;p25"/>
          <p:cNvSpPr txBox="1">
            <a:spLocks noGrp="1"/>
          </p:cNvSpPr>
          <p:nvPr>
            <p:ph type="body" idx="2"/>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878353361" name="Google Shape;162;p2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matchingName="55_Title and Content" userDrawn="1">
  <p:cSld name="55_Title and Content">
    <p:spTree>
      <p:nvGrpSpPr>
        <p:cNvPr id="1" name=""/>
        <p:cNvGrpSpPr/>
        <p:nvPr/>
      </p:nvGrpSpPr>
      <p:grpSpPr bwMode="auto">
        <a:xfrm>
          <a:off x="0" y="0"/>
          <a:ext cx="0" cy="0"/>
          <a:chOff x="0" y="0"/>
          <a:chExt cx="0" cy="0"/>
        </a:xfrm>
      </p:grpSpPr>
      <p:sp>
        <p:nvSpPr>
          <p:cNvPr id="928810676" name="Google Shape;164;p26"/>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285750" algn="l">
              <a:lnSpc>
                <a:spcPct val="100000"/>
              </a:lnSpc>
              <a:spcBef>
                <a:spcPts val="0"/>
              </a:spcBef>
              <a:spcAft>
                <a:spcPts val="0"/>
              </a:spcAft>
              <a:buClr>
                <a:schemeClr val="dk1"/>
              </a:buClr>
              <a:buSzPts val="900"/>
              <a:buFont typeface="Arial"/>
              <a:buChar char="•"/>
              <a:defRPr sz="900">
                <a:solidFill>
                  <a:schemeClr val="dk1"/>
                </a:solidFill>
                <a:latin typeface="Lucida Sans"/>
                <a:ea typeface="Lucida Sans"/>
                <a:cs typeface="Lucida Sans"/>
              </a:defRPr>
            </a:lvl1pPr>
            <a:lvl2pPr marL="914400" lvl="1" indent="-285750" algn="l">
              <a:spcBef>
                <a:spcPts val="0"/>
              </a:spcBef>
              <a:spcAft>
                <a:spcPts val="0"/>
              </a:spcAft>
              <a:buClr>
                <a:schemeClr val="dk1"/>
              </a:buClr>
              <a:buSzPts val="900"/>
              <a:buChar char="–"/>
              <a:defRPr sz="900">
                <a:latin typeface="Lucida Sans"/>
                <a:ea typeface="Lucida Sans"/>
                <a:cs typeface="Lucida Sans"/>
              </a:defRPr>
            </a:lvl2pPr>
            <a:lvl3pPr marL="1371600" lvl="2" indent="-285750" algn="l">
              <a:spcBef>
                <a:spcPts val="0"/>
              </a:spcBef>
              <a:spcAft>
                <a:spcPts val="0"/>
              </a:spcAft>
              <a:buClr>
                <a:schemeClr val="dk1"/>
              </a:buClr>
              <a:buSzPts val="900"/>
              <a:buFont typeface="Noto Sans Symbols"/>
              <a:buChar char="⮚"/>
              <a:defRPr sz="900">
                <a:latin typeface="Lucida Sans"/>
                <a:ea typeface="Lucida Sans"/>
                <a:cs typeface="Lucida Sans"/>
              </a:defRPr>
            </a:lvl3pPr>
            <a:lvl4pPr marL="1828800" lvl="3" indent="-285750" algn="l">
              <a:spcBef>
                <a:spcPts val="0"/>
              </a:spcBef>
              <a:spcAft>
                <a:spcPts val="0"/>
              </a:spcAft>
              <a:buClr>
                <a:schemeClr val="dk1"/>
              </a:buClr>
              <a:buSzPts val="900"/>
              <a:buFont typeface="Noto Sans Symbols"/>
              <a:buChar char="▪"/>
              <a:defRPr sz="9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958985005" name="Google Shape;165;p26"/>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350"/>
              <a:buFont typeface="Lucida Sans"/>
              <a:buNone/>
              <a:defRPr sz="135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27246923" name="Google Shape;166;p26"/>
          <p:cNvSpPr txBox="1">
            <a:spLocks noGrp="1"/>
          </p:cNvSpPr>
          <p:nvPr>
            <p:ph type="body" idx="2"/>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80"/>
              </a:spcBef>
              <a:spcAft>
                <a:spcPts val="0"/>
              </a:spcAft>
              <a:buClr>
                <a:schemeClr val="dk1"/>
              </a:buClr>
              <a:buSzPts val="900"/>
              <a:buFont typeface="Arial"/>
              <a:buNone/>
              <a:defRPr sz="900" b="1">
                <a:solidFill>
                  <a:schemeClr val="dk1"/>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78465860" name="Google Shape;167;p26"/>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matchingName="59_Title and Content" userDrawn="1">
  <p:cSld name="59_Title and Content">
    <p:spTree>
      <p:nvGrpSpPr>
        <p:cNvPr id="1" name=""/>
        <p:cNvGrpSpPr/>
        <p:nvPr/>
      </p:nvGrpSpPr>
      <p:grpSpPr bwMode="auto">
        <a:xfrm>
          <a:off x="0" y="0"/>
          <a:ext cx="0" cy="0"/>
          <a:chOff x="0" y="0"/>
          <a:chExt cx="0" cy="0"/>
        </a:xfrm>
      </p:grpSpPr>
      <p:sp>
        <p:nvSpPr>
          <p:cNvPr id="214613201" name="Google Shape;169;p27"/>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32290864" name="Google Shape;170;p27"/>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990819028" name="Google Shape;171;p27"/>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91985725" name="Google Shape;172;p27"/>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matchingName="60_Title and Content" userDrawn="1">
  <p:cSld name="60_Title and Content">
    <p:spTree>
      <p:nvGrpSpPr>
        <p:cNvPr id="1" name=""/>
        <p:cNvGrpSpPr/>
        <p:nvPr/>
      </p:nvGrpSpPr>
      <p:grpSpPr bwMode="auto">
        <a:xfrm>
          <a:off x="0" y="0"/>
          <a:ext cx="0" cy="0"/>
          <a:chOff x="0" y="0"/>
          <a:chExt cx="0" cy="0"/>
        </a:xfrm>
      </p:grpSpPr>
      <p:sp>
        <p:nvSpPr>
          <p:cNvPr id="950431189" name="Google Shape;174;p28"/>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361064726" name="Google Shape;175;p28"/>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42411459" name="Google Shape;176;p28"/>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14705554" name="Google Shape;177;p28"/>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matchingName="61_Title and Content" userDrawn="1">
  <p:cSld name="61_Title and Content">
    <p:spTree>
      <p:nvGrpSpPr>
        <p:cNvPr id="1" name=""/>
        <p:cNvGrpSpPr/>
        <p:nvPr/>
      </p:nvGrpSpPr>
      <p:grpSpPr bwMode="auto">
        <a:xfrm>
          <a:off x="0" y="0"/>
          <a:ext cx="0" cy="0"/>
          <a:chOff x="0" y="0"/>
          <a:chExt cx="0" cy="0"/>
        </a:xfrm>
      </p:grpSpPr>
      <p:sp>
        <p:nvSpPr>
          <p:cNvPr id="350642330" name="Google Shape;179;p29"/>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34347151" name="Google Shape;180;p29"/>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39614964" name="Google Shape;181;p29"/>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98317006" name="Google Shape;182;p29"/>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matchingName="62_Title and Content" userDrawn="1">
  <p:cSld name="62_Title and Content">
    <p:spTree>
      <p:nvGrpSpPr>
        <p:cNvPr id="1" name=""/>
        <p:cNvGrpSpPr/>
        <p:nvPr/>
      </p:nvGrpSpPr>
      <p:grpSpPr bwMode="auto">
        <a:xfrm>
          <a:off x="0" y="0"/>
          <a:ext cx="0" cy="0"/>
          <a:chOff x="0" y="0"/>
          <a:chExt cx="0" cy="0"/>
        </a:xfrm>
      </p:grpSpPr>
      <p:sp>
        <p:nvSpPr>
          <p:cNvPr id="1902101719" name="Google Shape;184;p30"/>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313654557" name="Google Shape;185;p30"/>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088832781" name="Google Shape;186;p30"/>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73100568" name="Google Shape;187;p30"/>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matchingName="7_Title and Content" userDrawn="1">
  <p:cSld name="7_Title and Content">
    <p:spTree>
      <p:nvGrpSpPr>
        <p:cNvPr id="1" name=""/>
        <p:cNvGrpSpPr/>
        <p:nvPr/>
      </p:nvGrpSpPr>
      <p:grpSpPr bwMode="auto">
        <a:xfrm>
          <a:off x="0" y="0"/>
          <a:ext cx="0" cy="0"/>
          <a:chOff x="0" y="0"/>
          <a:chExt cx="0" cy="0"/>
        </a:xfrm>
      </p:grpSpPr>
      <p:sp>
        <p:nvSpPr>
          <p:cNvPr id="1469295100" name="Google Shape;189;p31"/>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60132297" name="Google Shape;190;p31"/>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90104733" name="Google Shape;191;p31"/>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432553353" name="Google Shape;192;p31"/>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matchingName="8_Title and Content" userDrawn="1">
  <p:cSld name="8_Title and Content">
    <p:spTree>
      <p:nvGrpSpPr>
        <p:cNvPr id="1" name=""/>
        <p:cNvGrpSpPr/>
        <p:nvPr/>
      </p:nvGrpSpPr>
      <p:grpSpPr bwMode="auto">
        <a:xfrm>
          <a:off x="0" y="0"/>
          <a:ext cx="0" cy="0"/>
          <a:chOff x="0" y="0"/>
          <a:chExt cx="0" cy="0"/>
        </a:xfrm>
      </p:grpSpPr>
      <p:sp>
        <p:nvSpPr>
          <p:cNvPr id="102943502" name="Google Shape;194;p32"/>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86346411" name="Google Shape;195;p32"/>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20613145" name="Google Shape;196;p32"/>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295417082" name="Google Shape;197;p32"/>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matchingName="9_Title and Content" userDrawn="1">
  <p:cSld name="9_Title and Content">
    <p:spTree>
      <p:nvGrpSpPr>
        <p:cNvPr id="1" name=""/>
        <p:cNvGrpSpPr/>
        <p:nvPr/>
      </p:nvGrpSpPr>
      <p:grpSpPr bwMode="auto">
        <a:xfrm>
          <a:off x="0" y="0"/>
          <a:ext cx="0" cy="0"/>
          <a:chOff x="0" y="0"/>
          <a:chExt cx="0" cy="0"/>
        </a:xfrm>
      </p:grpSpPr>
      <p:sp>
        <p:nvSpPr>
          <p:cNvPr id="515559698" name="Google Shape;199;p33"/>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13758730" name="Google Shape;200;p33"/>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50818387" name="Google Shape;201;p33"/>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22140563" name="Google Shape;202;p33"/>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matchingName="10_Title and Content" userDrawn="1">
  <p:cSld name="10_Title and Content">
    <p:spTree>
      <p:nvGrpSpPr>
        <p:cNvPr id="1" name=""/>
        <p:cNvGrpSpPr/>
        <p:nvPr/>
      </p:nvGrpSpPr>
      <p:grpSpPr bwMode="auto">
        <a:xfrm>
          <a:off x="0" y="0"/>
          <a:ext cx="0" cy="0"/>
          <a:chOff x="0" y="0"/>
          <a:chExt cx="0" cy="0"/>
        </a:xfrm>
      </p:grpSpPr>
      <p:sp>
        <p:nvSpPr>
          <p:cNvPr id="968606272" name="Google Shape;204;p34"/>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92011471" name="Google Shape;205;p34"/>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07592047" name="Google Shape;206;p34"/>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227509122" name="Google Shape;207;p34"/>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matchingName="11_Title and Content" userDrawn="1">
  <p:cSld name="11_Title and Content">
    <p:spTree>
      <p:nvGrpSpPr>
        <p:cNvPr id="1" name=""/>
        <p:cNvGrpSpPr/>
        <p:nvPr/>
      </p:nvGrpSpPr>
      <p:grpSpPr bwMode="auto">
        <a:xfrm>
          <a:off x="0" y="0"/>
          <a:ext cx="0" cy="0"/>
          <a:chOff x="0" y="0"/>
          <a:chExt cx="0" cy="0"/>
        </a:xfrm>
      </p:grpSpPr>
      <p:sp>
        <p:nvSpPr>
          <p:cNvPr id="1511282034" name="Google Shape;209;p35"/>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143852196" name="Google Shape;210;p35"/>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32954464" name="Google Shape;211;p35"/>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774402078" name="Google Shape;212;p3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matchingName="12_Title and Content" userDrawn="1">
  <p:cSld name="12_Title and Content">
    <p:spTree>
      <p:nvGrpSpPr>
        <p:cNvPr id="1" name=""/>
        <p:cNvGrpSpPr/>
        <p:nvPr/>
      </p:nvGrpSpPr>
      <p:grpSpPr bwMode="auto">
        <a:xfrm>
          <a:off x="0" y="0"/>
          <a:ext cx="0" cy="0"/>
          <a:chOff x="0" y="0"/>
          <a:chExt cx="0" cy="0"/>
        </a:xfrm>
      </p:grpSpPr>
      <p:sp>
        <p:nvSpPr>
          <p:cNvPr id="96988894" name="Google Shape;214;p36"/>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34097698" name="Google Shape;215;p36"/>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31075790" name="Google Shape;216;p36"/>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59831197" name="Google Shape;217;p36"/>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matchingName="15_Title and Content" userDrawn="1">
  <p:cSld name="15_Title and Content">
    <p:spTree>
      <p:nvGrpSpPr>
        <p:cNvPr id="1" name=""/>
        <p:cNvGrpSpPr/>
        <p:nvPr/>
      </p:nvGrpSpPr>
      <p:grpSpPr bwMode="auto">
        <a:xfrm>
          <a:off x="0" y="0"/>
          <a:ext cx="0" cy="0"/>
          <a:chOff x="0" y="0"/>
          <a:chExt cx="0" cy="0"/>
        </a:xfrm>
      </p:grpSpPr>
      <p:sp>
        <p:nvSpPr>
          <p:cNvPr id="1682156076" name="Google Shape;219;p37"/>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46783657" name="Google Shape;220;p37"/>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63524012" name="Google Shape;221;p37"/>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497534551" name="Google Shape;222;p37"/>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matchingName="16_Title and Content" userDrawn="1">
  <p:cSld name="16_Title and Content">
    <p:spTree>
      <p:nvGrpSpPr>
        <p:cNvPr id="1" name=""/>
        <p:cNvGrpSpPr/>
        <p:nvPr/>
      </p:nvGrpSpPr>
      <p:grpSpPr bwMode="auto">
        <a:xfrm>
          <a:off x="0" y="0"/>
          <a:ext cx="0" cy="0"/>
          <a:chOff x="0" y="0"/>
          <a:chExt cx="0" cy="0"/>
        </a:xfrm>
      </p:grpSpPr>
      <p:sp>
        <p:nvSpPr>
          <p:cNvPr id="632518902" name="Google Shape;224;p38"/>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3196532" name="Google Shape;225;p38"/>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25424442" name="Google Shape;226;p38"/>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52528870" name="Google Shape;227;p38"/>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matchingName="17_Title and Content" userDrawn="1">
  <p:cSld name="17_Title and Content">
    <p:spTree>
      <p:nvGrpSpPr>
        <p:cNvPr id="1" name=""/>
        <p:cNvGrpSpPr/>
        <p:nvPr/>
      </p:nvGrpSpPr>
      <p:grpSpPr bwMode="auto">
        <a:xfrm>
          <a:off x="0" y="0"/>
          <a:ext cx="0" cy="0"/>
          <a:chOff x="0" y="0"/>
          <a:chExt cx="0" cy="0"/>
        </a:xfrm>
      </p:grpSpPr>
      <p:sp>
        <p:nvSpPr>
          <p:cNvPr id="1130404503" name="Google Shape;229;p39"/>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42503447" name="Google Shape;230;p39"/>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9512974" name="Google Shape;231;p39"/>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757621425" name="Google Shape;232;p39"/>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matchingName="18_Title and Content" userDrawn="1">
  <p:cSld name="18_Title and Content">
    <p:spTree>
      <p:nvGrpSpPr>
        <p:cNvPr id="1" name=""/>
        <p:cNvGrpSpPr/>
        <p:nvPr/>
      </p:nvGrpSpPr>
      <p:grpSpPr bwMode="auto">
        <a:xfrm>
          <a:off x="0" y="0"/>
          <a:ext cx="0" cy="0"/>
          <a:chOff x="0" y="0"/>
          <a:chExt cx="0" cy="0"/>
        </a:xfrm>
      </p:grpSpPr>
      <p:sp>
        <p:nvSpPr>
          <p:cNvPr id="88723896" name="Google Shape;234;p40"/>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979597896" name="Google Shape;235;p40"/>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38782165" name="Google Shape;236;p40"/>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146117336" name="Google Shape;237;p40"/>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matchingName="19_Title and Content" userDrawn="1">
  <p:cSld name="19_Title and Content">
    <p:spTree>
      <p:nvGrpSpPr>
        <p:cNvPr id="1" name=""/>
        <p:cNvGrpSpPr/>
        <p:nvPr/>
      </p:nvGrpSpPr>
      <p:grpSpPr bwMode="auto">
        <a:xfrm>
          <a:off x="0" y="0"/>
          <a:ext cx="0" cy="0"/>
          <a:chOff x="0" y="0"/>
          <a:chExt cx="0" cy="0"/>
        </a:xfrm>
      </p:grpSpPr>
      <p:sp>
        <p:nvSpPr>
          <p:cNvPr id="2104576545" name="Google Shape;239;p41"/>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79858324" name="Google Shape;240;p41"/>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0269994" name="Google Shape;241;p41"/>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37630632" name="Google Shape;242;p41"/>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matchingName="20_Title and Content" userDrawn="1">
  <p:cSld name="20_Title and Content">
    <p:spTree>
      <p:nvGrpSpPr>
        <p:cNvPr id="1" name=""/>
        <p:cNvGrpSpPr/>
        <p:nvPr/>
      </p:nvGrpSpPr>
      <p:grpSpPr bwMode="auto">
        <a:xfrm>
          <a:off x="0" y="0"/>
          <a:ext cx="0" cy="0"/>
          <a:chOff x="0" y="0"/>
          <a:chExt cx="0" cy="0"/>
        </a:xfrm>
      </p:grpSpPr>
      <p:sp>
        <p:nvSpPr>
          <p:cNvPr id="412998451" name="Google Shape;244;p42"/>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539468012" name="Google Shape;245;p42"/>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42100011" name="Google Shape;246;p42"/>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01325072" name="Google Shape;247;p42"/>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matchingName="21_Title and Content" userDrawn="1">
  <p:cSld name="21_Title and Content">
    <p:spTree>
      <p:nvGrpSpPr>
        <p:cNvPr id="1" name=""/>
        <p:cNvGrpSpPr/>
        <p:nvPr/>
      </p:nvGrpSpPr>
      <p:grpSpPr bwMode="auto">
        <a:xfrm>
          <a:off x="0" y="0"/>
          <a:ext cx="0" cy="0"/>
          <a:chOff x="0" y="0"/>
          <a:chExt cx="0" cy="0"/>
        </a:xfrm>
      </p:grpSpPr>
      <p:sp>
        <p:nvSpPr>
          <p:cNvPr id="2031761215" name="Google Shape;249;p43"/>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31934453" name="Google Shape;250;p43"/>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13542270" name="Google Shape;251;p43"/>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321009851" name="Google Shape;252;p43"/>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matchingName="22_Title and Content" userDrawn="1">
  <p:cSld name="22_Title and Content">
    <p:spTree>
      <p:nvGrpSpPr>
        <p:cNvPr id="1" name=""/>
        <p:cNvGrpSpPr/>
        <p:nvPr/>
      </p:nvGrpSpPr>
      <p:grpSpPr bwMode="auto">
        <a:xfrm>
          <a:off x="0" y="0"/>
          <a:ext cx="0" cy="0"/>
          <a:chOff x="0" y="0"/>
          <a:chExt cx="0" cy="0"/>
        </a:xfrm>
      </p:grpSpPr>
      <p:sp>
        <p:nvSpPr>
          <p:cNvPr id="1510867753" name="Google Shape;254;p44"/>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94689889" name="Google Shape;255;p44"/>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27682647" name="Google Shape;256;p44"/>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46290377" name="Google Shape;257;p44"/>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matchingName="23_Title and Content" userDrawn="1">
  <p:cSld name="23_Title and Content">
    <p:spTree>
      <p:nvGrpSpPr>
        <p:cNvPr id="1" name=""/>
        <p:cNvGrpSpPr/>
        <p:nvPr/>
      </p:nvGrpSpPr>
      <p:grpSpPr bwMode="auto">
        <a:xfrm>
          <a:off x="0" y="0"/>
          <a:ext cx="0" cy="0"/>
          <a:chOff x="0" y="0"/>
          <a:chExt cx="0" cy="0"/>
        </a:xfrm>
      </p:grpSpPr>
      <p:sp>
        <p:nvSpPr>
          <p:cNvPr id="7599955" name="Google Shape;259;p45"/>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40124674" name="Google Shape;260;p45"/>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42725354" name="Google Shape;261;p45"/>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41247685" name="Google Shape;262;p4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matchingName="Title and two columns" type="twoColTx" userDrawn="1">
  <p:cSld name="TITLE_AND_TWO_COLUMNS">
    <p:spTree>
      <p:nvGrpSpPr>
        <p:cNvPr id="1" name=""/>
        <p:cNvGrpSpPr/>
        <p:nvPr/>
      </p:nvGrpSpPr>
      <p:grpSpPr bwMode="auto">
        <a:xfrm>
          <a:off x="0" y="0"/>
          <a:ext cx="0" cy="0"/>
          <a:chOff x="0" y="0"/>
          <a:chExt cx="0" cy="0"/>
        </a:xfrm>
      </p:grpSpPr>
      <p:sp>
        <p:nvSpPr>
          <p:cNvPr id="2117932494" name="Google Shape;264;p46"/>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lvl1pPr lvl="0">
              <a:spcBef>
                <a:spcPts val="0"/>
              </a:spcBef>
              <a:spcAft>
                <a:spcPts val="0"/>
              </a:spcAft>
              <a:buSzPts val="2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51191110" name="Google Shape;265;p46"/>
          <p:cNvSpPr txBox="1">
            <a:spLocks noGrp="1"/>
          </p:cNvSpPr>
          <p:nvPr>
            <p:ph type="body" idx="1"/>
          </p:nvPr>
        </p:nvSpPr>
        <p:spPr bwMode="auto">
          <a:xfrm>
            <a:off x="311700" y="1152475"/>
            <a:ext cx="3999900" cy="3416400"/>
          </a:xfrm>
          <a:prstGeom prst="rect">
            <a:avLst/>
          </a:prstGeom>
        </p:spPr>
        <p:txBody>
          <a:bodyPr spcFirstLastPara="1" wrap="square" lIns="91425" tIns="45700" rIns="91425" bIns="45700" anchor="t" anchorCtr="0">
            <a:normAutofit/>
          </a:bodyPr>
          <a:lstStyle>
            <a:lvl1pPr marL="457200" lvl="0" indent="-317500">
              <a:spcBef>
                <a:spcPts val="280"/>
              </a:spcBef>
              <a:spcAft>
                <a:spcPts val="0"/>
              </a:spcAft>
              <a:buSzPts val="1400"/>
              <a:buChar char="•"/>
              <a:defRPr sz="1400"/>
            </a:lvl1pPr>
            <a:lvl2pPr marL="914400" lvl="1" indent="-304800">
              <a:spcBef>
                <a:spcPts val="260"/>
              </a:spcBef>
              <a:spcAft>
                <a:spcPts val="0"/>
              </a:spcAft>
              <a:buSzPts val="1200"/>
              <a:buChar char="–"/>
              <a:defRPr sz="1200"/>
            </a:lvl2pPr>
            <a:lvl3pPr marL="1371600" lvl="2" indent="-304800">
              <a:spcBef>
                <a:spcPts val="240"/>
              </a:spcBef>
              <a:spcAft>
                <a:spcPts val="0"/>
              </a:spcAft>
              <a:buSzPts val="1200"/>
              <a:buChar char="•"/>
              <a:defRPr sz="1200"/>
            </a:lvl3pPr>
            <a:lvl4pPr marL="1828800" lvl="3" indent="-304800">
              <a:spcBef>
                <a:spcPts val="200"/>
              </a:spcBef>
              <a:spcAft>
                <a:spcPts val="0"/>
              </a:spcAft>
              <a:buSzPts val="1200"/>
              <a:buChar char="–"/>
              <a:defRPr sz="1200"/>
            </a:lvl4pPr>
            <a:lvl5pPr marL="2286000" lvl="4" indent="-304800">
              <a:spcBef>
                <a:spcPts val="160"/>
              </a:spcBef>
              <a:spcAft>
                <a:spcPts val="0"/>
              </a:spcAft>
              <a:buSzPts val="1200"/>
              <a:buChar char="»"/>
              <a:defRPr sz="1200"/>
            </a:lvl5pPr>
            <a:lvl6pPr marL="2743200" lvl="5" indent="-304800">
              <a:spcBef>
                <a:spcPts val="400"/>
              </a:spcBef>
              <a:spcAft>
                <a:spcPts val="0"/>
              </a:spcAft>
              <a:buSzPts val="1200"/>
              <a:buChar char="•"/>
              <a:defRPr sz="1200"/>
            </a:lvl6pPr>
            <a:lvl7pPr marL="3200400" lvl="6" indent="-304800">
              <a:spcBef>
                <a:spcPts val="400"/>
              </a:spcBef>
              <a:spcAft>
                <a:spcPts val="0"/>
              </a:spcAft>
              <a:buSzPts val="1200"/>
              <a:buChar char="•"/>
              <a:defRPr sz="1200"/>
            </a:lvl7pPr>
            <a:lvl8pPr marL="3657600" lvl="7" indent="-304800">
              <a:spcBef>
                <a:spcPts val="400"/>
              </a:spcBef>
              <a:spcAft>
                <a:spcPts val="0"/>
              </a:spcAft>
              <a:buSzPts val="1200"/>
              <a:buChar char="•"/>
              <a:defRPr sz="1200"/>
            </a:lvl8pPr>
            <a:lvl9pPr marL="4114800" lvl="8" indent="-304800">
              <a:spcBef>
                <a:spcPts val="400"/>
              </a:spcBef>
              <a:spcAft>
                <a:spcPts val="0"/>
              </a:spcAft>
              <a:buSzPts val="1200"/>
              <a:buChar char="•"/>
              <a:defRPr sz="1200"/>
            </a:lvl9pPr>
          </a:lstStyle>
          <a:p>
            <a:pPr>
              <a:defRPr/>
            </a:pPr>
            <a:endParaRPr/>
          </a:p>
        </p:txBody>
      </p:sp>
      <p:sp>
        <p:nvSpPr>
          <p:cNvPr id="2012831296" name="Google Shape;266;p46"/>
          <p:cNvSpPr txBox="1">
            <a:spLocks noGrp="1"/>
          </p:cNvSpPr>
          <p:nvPr>
            <p:ph type="body" idx="2"/>
          </p:nvPr>
        </p:nvSpPr>
        <p:spPr bwMode="auto">
          <a:xfrm>
            <a:off x="4832399" y="1152475"/>
            <a:ext cx="3999900" cy="3416400"/>
          </a:xfrm>
          <a:prstGeom prst="rect">
            <a:avLst/>
          </a:prstGeom>
        </p:spPr>
        <p:txBody>
          <a:bodyPr spcFirstLastPara="1" wrap="square" lIns="91425" tIns="45700" rIns="91425" bIns="45700" anchor="t" anchorCtr="0">
            <a:normAutofit/>
          </a:bodyPr>
          <a:lstStyle>
            <a:lvl1pPr marL="457200" lvl="0" indent="-317500">
              <a:spcBef>
                <a:spcPts val="280"/>
              </a:spcBef>
              <a:spcAft>
                <a:spcPts val="0"/>
              </a:spcAft>
              <a:buSzPts val="1400"/>
              <a:buChar char="•"/>
              <a:defRPr sz="1400"/>
            </a:lvl1pPr>
            <a:lvl2pPr marL="914400" lvl="1" indent="-304800">
              <a:spcBef>
                <a:spcPts val="260"/>
              </a:spcBef>
              <a:spcAft>
                <a:spcPts val="0"/>
              </a:spcAft>
              <a:buSzPts val="1200"/>
              <a:buChar char="–"/>
              <a:defRPr sz="1200"/>
            </a:lvl2pPr>
            <a:lvl3pPr marL="1371600" lvl="2" indent="-304800">
              <a:spcBef>
                <a:spcPts val="240"/>
              </a:spcBef>
              <a:spcAft>
                <a:spcPts val="0"/>
              </a:spcAft>
              <a:buSzPts val="1200"/>
              <a:buChar char="•"/>
              <a:defRPr sz="1200"/>
            </a:lvl3pPr>
            <a:lvl4pPr marL="1828800" lvl="3" indent="-304800">
              <a:spcBef>
                <a:spcPts val="200"/>
              </a:spcBef>
              <a:spcAft>
                <a:spcPts val="0"/>
              </a:spcAft>
              <a:buSzPts val="1200"/>
              <a:buChar char="–"/>
              <a:defRPr sz="1200"/>
            </a:lvl4pPr>
            <a:lvl5pPr marL="2286000" lvl="4" indent="-304800">
              <a:spcBef>
                <a:spcPts val="160"/>
              </a:spcBef>
              <a:spcAft>
                <a:spcPts val="0"/>
              </a:spcAft>
              <a:buSzPts val="1200"/>
              <a:buChar char="»"/>
              <a:defRPr sz="1200"/>
            </a:lvl5pPr>
            <a:lvl6pPr marL="2743200" lvl="5" indent="-304800">
              <a:spcBef>
                <a:spcPts val="400"/>
              </a:spcBef>
              <a:spcAft>
                <a:spcPts val="0"/>
              </a:spcAft>
              <a:buSzPts val="1200"/>
              <a:buChar char="•"/>
              <a:defRPr sz="1200"/>
            </a:lvl6pPr>
            <a:lvl7pPr marL="3200400" lvl="6" indent="-304800">
              <a:spcBef>
                <a:spcPts val="400"/>
              </a:spcBef>
              <a:spcAft>
                <a:spcPts val="0"/>
              </a:spcAft>
              <a:buSzPts val="1200"/>
              <a:buChar char="•"/>
              <a:defRPr sz="1200"/>
            </a:lvl7pPr>
            <a:lvl8pPr marL="3657600" lvl="7" indent="-304800">
              <a:spcBef>
                <a:spcPts val="400"/>
              </a:spcBef>
              <a:spcAft>
                <a:spcPts val="0"/>
              </a:spcAft>
              <a:buSzPts val="1200"/>
              <a:buChar char="•"/>
              <a:defRPr sz="1200"/>
            </a:lvl8pPr>
            <a:lvl9pPr marL="4114800" lvl="8" indent="-304800">
              <a:spcBef>
                <a:spcPts val="400"/>
              </a:spcBef>
              <a:spcAft>
                <a:spcPts val="0"/>
              </a:spcAft>
              <a:buSzPts val="1200"/>
              <a:buChar char="•"/>
              <a:defRPr sz="1200"/>
            </a:lvl9pPr>
          </a:lstStyle>
          <a:p>
            <a:pPr>
              <a:defRPr/>
            </a:pPr>
            <a:endParaRPr/>
          </a:p>
        </p:txBody>
      </p:sp>
      <p:sp>
        <p:nvSpPr>
          <p:cNvPr id="319484316" name="Google Shape;267;p46"/>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matchingName="Caption" userDrawn="1">
  <p:cSld name="CAPTION_ONLY">
    <p:spTree>
      <p:nvGrpSpPr>
        <p:cNvPr id="1" name=""/>
        <p:cNvGrpSpPr/>
        <p:nvPr/>
      </p:nvGrpSpPr>
      <p:grpSpPr bwMode="auto">
        <a:xfrm>
          <a:off x="0" y="0"/>
          <a:ext cx="0" cy="0"/>
          <a:chOff x="0" y="0"/>
          <a:chExt cx="0" cy="0"/>
        </a:xfrm>
      </p:grpSpPr>
      <p:sp>
        <p:nvSpPr>
          <p:cNvPr id="1630448035" name="Google Shape;269;p47"/>
          <p:cNvSpPr txBox="1">
            <a:spLocks noGrp="1"/>
          </p:cNvSpPr>
          <p:nvPr>
            <p:ph type="body" idx="1"/>
          </p:nvPr>
        </p:nvSpPr>
        <p:spPr bwMode="auto">
          <a:xfrm>
            <a:off x="311700" y="4230575"/>
            <a:ext cx="5998800" cy="605100"/>
          </a:xfrm>
          <a:prstGeom prst="rect">
            <a:avLst/>
          </a:prstGeom>
        </p:spPr>
        <p:txBody>
          <a:bodyPr spcFirstLastPara="1" wrap="square" lIns="91425" tIns="45700" rIns="91425" bIns="45700" anchor="ctr" anchorCtr="0">
            <a:normAutofit/>
          </a:bodyPr>
          <a:lstStyle>
            <a:lvl1pPr marL="457200" lvl="0" indent="-228600">
              <a:lnSpc>
                <a:spcPct val="100000"/>
              </a:lnSpc>
              <a:spcBef>
                <a:spcPts val="280"/>
              </a:spcBef>
              <a:spcAft>
                <a:spcPts val="0"/>
              </a:spcAft>
              <a:buSzPts val="1800"/>
              <a:buNone/>
              <a:defRPr/>
            </a:lvl1pPr>
          </a:lstStyle>
          <a:p>
            <a:pPr>
              <a:defRPr/>
            </a:pPr>
            <a:endParaRPr/>
          </a:p>
        </p:txBody>
      </p:sp>
      <p:sp>
        <p:nvSpPr>
          <p:cNvPr id="2046705121" name="Google Shape;270;p47"/>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matchingName="Title and body" type="tx" userDrawn="1">
  <p:cSld name="TITLE_AND_BODY">
    <p:spTree>
      <p:nvGrpSpPr>
        <p:cNvPr id="1" name=""/>
        <p:cNvGrpSpPr/>
        <p:nvPr/>
      </p:nvGrpSpPr>
      <p:grpSpPr bwMode="auto">
        <a:xfrm>
          <a:off x="0" y="0"/>
          <a:ext cx="0" cy="0"/>
          <a:chOff x="0" y="0"/>
          <a:chExt cx="0" cy="0"/>
        </a:xfrm>
      </p:grpSpPr>
      <p:sp>
        <p:nvSpPr>
          <p:cNvPr id="1680567463" name="Google Shape;272;p48"/>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lvl1pPr lvl="0">
              <a:spcBef>
                <a:spcPts val="0"/>
              </a:spcBef>
              <a:spcAft>
                <a:spcPts val="0"/>
              </a:spcAft>
              <a:buSzPts val="2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78023840" name="Google Shape;273;p48"/>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lvl1pPr marL="457200" lvl="0" indent="-342900">
              <a:spcBef>
                <a:spcPts val="280"/>
              </a:spcBef>
              <a:spcAft>
                <a:spcPts val="0"/>
              </a:spcAft>
              <a:buSzPts val="1800"/>
              <a:buChar char="•"/>
              <a:defRPr/>
            </a:lvl1pPr>
            <a:lvl2pPr marL="914400" lvl="1" indent="-330200">
              <a:spcBef>
                <a:spcPts val="260"/>
              </a:spcBef>
              <a:spcAft>
                <a:spcPts val="0"/>
              </a:spcAft>
              <a:buSzPts val="1600"/>
              <a:buChar char="–"/>
              <a:defRPr/>
            </a:lvl2pPr>
            <a:lvl3pPr marL="1371600" lvl="2" indent="-317500">
              <a:spcBef>
                <a:spcPts val="240"/>
              </a:spcBef>
              <a:spcAft>
                <a:spcPts val="0"/>
              </a:spcAft>
              <a:buSzPts val="1400"/>
              <a:buChar char="•"/>
              <a:defRPr/>
            </a:lvl3pPr>
            <a:lvl4pPr marL="1828800" lvl="3" indent="-304800">
              <a:spcBef>
                <a:spcPts val="200"/>
              </a:spcBef>
              <a:spcAft>
                <a:spcPts val="0"/>
              </a:spcAft>
              <a:buSzPts val="1200"/>
              <a:buChar char="–"/>
              <a:defRPr/>
            </a:lvl4pPr>
            <a:lvl5pPr marL="2286000" lvl="4" indent="-292100">
              <a:spcBef>
                <a:spcPts val="160"/>
              </a:spcBef>
              <a:spcAft>
                <a:spcPts val="0"/>
              </a:spcAft>
              <a:buSzPts val="1000"/>
              <a:buChar char="»"/>
              <a:defRPr/>
            </a:lvl5pPr>
            <a:lvl6pPr marL="2743200" lvl="5" indent="-292100">
              <a:spcBef>
                <a:spcPts val="400"/>
              </a:spcBef>
              <a:spcAft>
                <a:spcPts val="0"/>
              </a:spcAft>
              <a:buSzPts val="1000"/>
              <a:buChar char="•"/>
              <a:defRPr/>
            </a:lvl6pPr>
            <a:lvl7pPr marL="3200400" lvl="6" indent="-292100">
              <a:spcBef>
                <a:spcPts val="400"/>
              </a:spcBef>
              <a:spcAft>
                <a:spcPts val="0"/>
              </a:spcAft>
              <a:buSzPts val="1000"/>
              <a:buChar char="•"/>
              <a:defRPr/>
            </a:lvl7pPr>
            <a:lvl8pPr marL="3657600" lvl="7" indent="-292100">
              <a:spcBef>
                <a:spcPts val="400"/>
              </a:spcBef>
              <a:spcAft>
                <a:spcPts val="0"/>
              </a:spcAft>
              <a:buSzPts val="1000"/>
              <a:buChar char="•"/>
              <a:defRPr/>
            </a:lvl8pPr>
            <a:lvl9pPr marL="4114800" lvl="8" indent="-292100">
              <a:spcBef>
                <a:spcPts val="400"/>
              </a:spcBef>
              <a:spcAft>
                <a:spcPts val="0"/>
              </a:spcAft>
              <a:buSzPts val="1000"/>
              <a:buChar char="•"/>
              <a:defRPr/>
            </a:lvl9pPr>
          </a:lstStyle>
          <a:p>
            <a:pPr>
              <a:defRPr/>
            </a:pPr>
            <a:endParaRPr/>
          </a:p>
        </p:txBody>
      </p:sp>
      <p:sp>
        <p:nvSpPr>
          <p:cNvPr id="1075178226" name="Google Shape;274;p48"/>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matchingName="Blank" type="blank" userDrawn="1">
  <p:cSld name="BLANK">
    <p:spTree>
      <p:nvGrpSpPr>
        <p:cNvPr id="1" name=""/>
        <p:cNvGrpSpPr/>
        <p:nvPr/>
      </p:nvGrpSpPr>
      <p:grpSpPr bwMode="auto">
        <a:xfrm>
          <a:off x="0" y="0"/>
          <a:ext cx="0" cy="0"/>
          <a:chOff x="0" y="0"/>
          <a:chExt cx="0" cy="0"/>
        </a:xfrm>
      </p:grpSpPr>
      <p:sp>
        <p:nvSpPr>
          <p:cNvPr id="300534885" name="Google Shape;276;p49"/>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matchingName="Section header" type="secHead" userDrawn="1">
  <p:cSld name="SECTION_HEADER">
    <p:spTree>
      <p:nvGrpSpPr>
        <p:cNvPr id="1" name=""/>
        <p:cNvGrpSpPr/>
        <p:nvPr/>
      </p:nvGrpSpPr>
      <p:grpSpPr bwMode="auto">
        <a:xfrm>
          <a:off x="0" y="0"/>
          <a:ext cx="0" cy="0"/>
          <a:chOff x="0" y="0"/>
          <a:chExt cx="0" cy="0"/>
        </a:xfrm>
      </p:grpSpPr>
      <p:sp>
        <p:nvSpPr>
          <p:cNvPr id="112897338" name="Google Shape;278;p50"/>
          <p:cNvSpPr txBox="1">
            <a:spLocks noGrp="1"/>
          </p:cNvSpPr>
          <p:nvPr>
            <p:ph type="title"/>
          </p:nvPr>
        </p:nvSpPr>
        <p:spPr bwMode="auto">
          <a:xfrm>
            <a:off x="311700" y="2150850"/>
            <a:ext cx="8520600" cy="841800"/>
          </a:xfrm>
          <a:prstGeom prst="rect">
            <a:avLst/>
          </a:prstGeom>
        </p:spPr>
        <p:txBody>
          <a:bodyPr spcFirstLastPara="1" wrap="square" lIns="91425" tIns="45700" rIns="91425" bIns="4570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16505659" name="Google Shape;279;p50"/>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1387676470" name="Google Shape;6;p1"/>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90018"/>
              </a:buClr>
              <a:buSzPts val="2500"/>
              <a:buFont typeface="Montserrat Medium"/>
              <a:buNone/>
              <a:defRPr sz="2500" i="0" u="none" strike="noStrike" cap="none">
                <a:solidFill>
                  <a:srgbClr val="890018"/>
                </a:solidFill>
                <a:latin typeface="Montserrat Medium"/>
                <a:ea typeface="Montserrat Medium"/>
                <a:cs typeface="Montserrat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889583694" name="Google Shape;7;p1"/>
          <p:cNvSpPr txBox="1">
            <a:spLocks noGrp="1"/>
          </p:cNvSpPr>
          <p:nvPr>
            <p:ph type="body" idx="1"/>
          </p:nvPr>
        </p:nvSpPr>
        <p:spPr bwMode="auto">
          <a:xfrm>
            <a:off x="260225" y="1244725"/>
            <a:ext cx="8531400" cy="3013800"/>
          </a:xfrm>
          <a:prstGeom prst="rect">
            <a:avLst/>
          </a:prstGeom>
          <a:noFill/>
          <a:ln>
            <a:noFill/>
          </a:ln>
        </p:spPr>
        <p:txBody>
          <a:bodyPr spcFirstLastPara="1" wrap="square" lIns="91425" tIns="45700" rIns="91425" bIns="45700" anchor="t" anchorCtr="0">
            <a:normAutofit/>
          </a:bodyPr>
          <a:lstStyle>
            <a:lvl1pPr marL="457200" marR="0" lvl="0" indent="-342900" algn="l" rtl="0">
              <a:spcBef>
                <a:spcPts val="28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1pPr>
            <a:lvl2pPr marL="914400" marR="0" lvl="1" indent="-330200" algn="l" rtl="0">
              <a:spcBef>
                <a:spcPts val="260"/>
              </a:spcBef>
              <a:spcAft>
                <a:spcPts val="0"/>
              </a:spcAft>
              <a:buClr>
                <a:schemeClr val="dk1"/>
              </a:buClr>
              <a:buSzPts val="1600"/>
              <a:buFont typeface="Arial"/>
              <a:buChar char="–"/>
              <a:defRPr sz="1600" b="0" i="0" u="none" strike="noStrike" cap="none">
                <a:solidFill>
                  <a:schemeClr val="dk1"/>
                </a:solidFill>
                <a:latin typeface="Arial"/>
                <a:ea typeface="Arial"/>
                <a:cs typeface="Arial"/>
              </a:defRPr>
            </a:lvl2pPr>
            <a:lvl3pPr marL="1371600" marR="0" lvl="2" indent="-317500" algn="l" rtl="0">
              <a:spcBef>
                <a:spcPts val="240"/>
              </a:spcBef>
              <a:spcAft>
                <a:spcPts val="0"/>
              </a:spcAft>
              <a:buClr>
                <a:schemeClr val="dk1"/>
              </a:buClr>
              <a:buSzPts val="1400"/>
              <a:buFont typeface="Arial"/>
              <a:buChar char="•"/>
              <a:defRPr b="0" i="0" u="none" strike="noStrike" cap="none">
                <a:solidFill>
                  <a:schemeClr val="dk1"/>
                </a:solidFill>
                <a:latin typeface="Arial"/>
                <a:ea typeface="Arial"/>
                <a:cs typeface="Arial"/>
              </a:defRPr>
            </a:lvl3pPr>
            <a:lvl4pPr marL="1828800" marR="0" lvl="3" indent="-304800" algn="l" rtl="0">
              <a:spcBef>
                <a:spcPts val="200"/>
              </a:spcBef>
              <a:spcAft>
                <a:spcPts val="0"/>
              </a:spcAft>
              <a:buClr>
                <a:schemeClr val="dk1"/>
              </a:buClr>
              <a:buSzPts val="1200"/>
              <a:buFont typeface="Arial"/>
              <a:buChar char="–"/>
              <a:defRPr sz="1200" b="0" i="0" u="none" strike="noStrike" cap="none">
                <a:solidFill>
                  <a:schemeClr val="dk1"/>
                </a:solidFill>
                <a:latin typeface="Arial"/>
                <a:ea typeface="Arial"/>
                <a:cs typeface="Arial"/>
              </a:defRPr>
            </a:lvl4pPr>
            <a:lvl5pPr marL="2286000" marR="0" lvl="4" indent="-292100" algn="l" rtl="0">
              <a:spcBef>
                <a:spcPts val="16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5pPr>
            <a:lvl6pPr marL="2743200" marR="0" lvl="5" indent="-292100" algn="l" rtl="0">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6pPr>
            <a:lvl7pPr marL="3200400" marR="0" lvl="6" indent="-292100" algn="l" rtl="0">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7pPr>
            <a:lvl8pPr marL="3657600" marR="0" lvl="7" indent="-292100" algn="l" rtl="0">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8pPr>
            <a:lvl9pPr marL="4114800" marR="0" lvl="8" indent="-292100" algn="l" rtl="0">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9pPr>
          </a:lstStyle>
          <a:p>
            <a:pPr>
              <a:defRPr/>
            </a:pPr>
            <a:endParaRPr/>
          </a:p>
        </p:txBody>
      </p:sp>
      <p:sp>
        <p:nvSpPr>
          <p:cNvPr id="2046890505" name="Google Shape;8;p1"/>
          <p:cNvSpPr txBox="1">
            <a:spLocks noGrp="1"/>
          </p:cNvSpPr>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003B5C"/>
                </a:solidFill>
                <a:latin typeface="Arial"/>
                <a:ea typeface="Arial"/>
                <a:cs typeface="Arial"/>
              </a:defRPr>
            </a:lvl1pPr>
            <a:lvl2pPr marL="0" marR="0" lvl="1" indent="0" algn="r" rtl="0">
              <a:spcBef>
                <a:spcPts val="0"/>
              </a:spcBef>
              <a:buNone/>
              <a:defRPr sz="800" b="0" i="0" u="none" strike="noStrike" cap="none">
                <a:solidFill>
                  <a:srgbClr val="003B5C"/>
                </a:solidFill>
                <a:latin typeface="Arial"/>
                <a:ea typeface="Arial"/>
                <a:cs typeface="Arial"/>
              </a:defRPr>
            </a:lvl2pPr>
            <a:lvl3pPr marL="0" marR="0" lvl="2" indent="0" algn="r" rtl="0">
              <a:spcBef>
                <a:spcPts val="0"/>
              </a:spcBef>
              <a:buNone/>
              <a:defRPr sz="800" b="0" i="0" u="none" strike="noStrike" cap="none">
                <a:solidFill>
                  <a:srgbClr val="003B5C"/>
                </a:solidFill>
                <a:latin typeface="Arial"/>
                <a:ea typeface="Arial"/>
                <a:cs typeface="Arial"/>
              </a:defRPr>
            </a:lvl3pPr>
            <a:lvl4pPr marL="0" marR="0" lvl="3" indent="0" algn="r" rtl="0">
              <a:spcBef>
                <a:spcPts val="0"/>
              </a:spcBef>
              <a:buNone/>
              <a:defRPr sz="800" b="0" i="0" u="none" strike="noStrike" cap="none">
                <a:solidFill>
                  <a:srgbClr val="003B5C"/>
                </a:solidFill>
                <a:latin typeface="Arial"/>
                <a:ea typeface="Arial"/>
                <a:cs typeface="Arial"/>
              </a:defRPr>
            </a:lvl4pPr>
            <a:lvl5pPr marL="0" marR="0" lvl="4" indent="0" algn="r" rtl="0">
              <a:spcBef>
                <a:spcPts val="0"/>
              </a:spcBef>
              <a:buNone/>
              <a:defRPr sz="800" b="0" i="0" u="none" strike="noStrike" cap="none">
                <a:solidFill>
                  <a:srgbClr val="003B5C"/>
                </a:solidFill>
                <a:latin typeface="Arial"/>
                <a:ea typeface="Arial"/>
                <a:cs typeface="Arial"/>
              </a:defRPr>
            </a:lvl5pPr>
            <a:lvl6pPr marL="0" marR="0" lvl="5" indent="0" algn="r" rtl="0">
              <a:spcBef>
                <a:spcPts val="0"/>
              </a:spcBef>
              <a:buNone/>
              <a:defRPr sz="800" b="0" i="0" u="none" strike="noStrike" cap="none">
                <a:solidFill>
                  <a:srgbClr val="003B5C"/>
                </a:solidFill>
                <a:latin typeface="Arial"/>
                <a:ea typeface="Arial"/>
                <a:cs typeface="Arial"/>
              </a:defRPr>
            </a:lvl6pPr>
            <a:lvl7pPr marL="0" marR="0" lvl="6" indent="0" algn="r" rtl="0">
              <a:spcBef>
                <a:spcPts val="0"/>
              </a:spcBef>
              <a:buNone/>
              <a:defRPr sz="800" b="0" i="0" u="none" strike="noStrike" cap="none">
                <a:solidFill>
                  <a:srgbClr val="003B5C"/>
                </a:solidFill>
                <a:latin typeface="Arial"/>
                <a:ea typeface="Arial"/>
                <a:cs typeface="Arial"/>
              </a:defRPr>
            </a:lvl7pPr>
            <a:lvl8pPr marL="0" marR="0" lvl="7" indent="0" algn="r" rtl="0">
              <a:spcBef>
                <a:spcPts val="0"/>
              </a:spcBef>
              <a:buNone/>
              <a:defRPr sz="800" b="0" i="0" u="none" strike="noStrike" cap="none">
                <a:solidFill>
                  <a:srgbClr val="003B5C"/>
                </a:solidFill>
                <a:latin typeface="Arial"/>
                <a:ea typeface="Arial"/>
                <a:cs typeface="Arial"/>
              </a:defRPr>
            </a:lvl8pPr>
            <a:lvl9pPr marL="0" marR="0" lvl="8" indent="0" algn="r" rtl="0">
              <a:spcBef>
                <a:spcPts val="0"/>
              </a:spcBef>
              <a:buNone/>
              <a:defRPr sz="800" b="0" i="0" u="none" strike="noStrike" cap="none">
                <a:solidFill>
                  <a:srgbClr val="003B5C"/>
                </a:solidFill>
                <a:latin typeface="Arial"/>
                <a:ea typeface="Arial"/>
                <a:cs typeface="Arial"/>
              </a:defRPr>
            </a:lvl9pPr>
          </a:lstStyle>
          <a:p>
            <a:pPr marL="0" lvl="0" indent="0" algn="r" rtl="0">
              <a:spcBef>
                <a:spcPts val="0"/>
              </a:spcBef>
              <a:spcAft>
                <a:spcPts val="0"/>
              </a:spcAft>
              <a:buNone/>
              <a:defRPr/>
            </a:pPr>
            <a:r>
              <a:rPr lang="en"/>
              <a:t>Presentation Title | </a:t>
            </a:r>
            <a:fld id="{00000000-1234-1234-1234-123412341234}" type="slidenum">
              <a:rPr lang="en" b="1"/>
              <a:t>‹#›</a:t>
            </a:fld>
            <a:endParaRPr b="1"/>
          </a:p>
        </p:txBody>
      </p:sp>
      <p:pic>
        <p:nvPicPr>
          <p:cNvPr id="1931063380" name="Google Shape;9;p1" descr="01 Singapore University of Social Sciences_Horizontal Format_Version A_White Background_RGB.png"/>
          <p:cNvPicPr/>
          <p:nvPr/>
        </p:nvPicPr>
        <p:blipFill rotWithShape="1">
          <a:blip r:embed="rId50">
            <a:alphaModFix/>
          </a:blip>
          <a:srcRect/>
          <a:stretch/>
        </p:blipFill>
        <p:spPr bwMode="auto">
          <a:xfrm>
            <a:off x="349250" y="4562257"/>
            <a:ext cx="732371" cy="37107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techcrunch.com/2025/06/18/6-month-old-solo-owned-vibe-coder-base44-sells-to-wix-for-80m-cash/" TargetMode="External"/><Relationship Id="rId2" Type="http://schemas.openxmlformats.org/officeDocument/2006/relationships/notesSlide" Target="../notesSlides/notesSlide4.xml"/><Relationship Id="rId1" Type="http://schemas.openxmlformats.org/officeDocument/2006/relationships/slideLayout" Target="../slideLayouts/slideLayout4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hyperlink" Target="https://youtu.be/LCEmiRjPEtQ" TargetMode="External"/><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45.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6151815" name="Google Shape;284;p51"/>
          <p:cNvSpPr txBox="1">
            <a:spLocks noGrp="1"/>
          </p:cNvSpPr>
          <p:nvPr>
            <p:ph type="ctrTitle"/>
          </p:nvPr>
        </p:nvSpPr>
        <p:spPr bwMode="auto">
          <a:xfrm>
            <a:off x="257175" y="1246732"/>
            <a:ext cx="7772400" cy="1060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ICT 304 </a:t>
            </a:r>
            <a:endParaRPr/>
          </a:p>
        </p:txBody>
      </p:sp>
      <p:sp>
        <p:nvSpPr>
          <p:cNvPr id="85559771" name="Google Shape;285;p51"/>
          <p:cNvSpPr txBox="1">
            <a:spLocks noGrp="1"/>
          </p:cNvSpPr>
          <p:nvPr>
            <p:ph type="subTitle" idx="1"/>
          </p:nvPr>
        </p:nvSpPr>
        <p:spPr bwMode="auto">
          <a:xfrm>
            <a:off x="253128" y="2456199"/>
            <a:ext cx="6400800" cy="1314600"/>
          </a:xfrm>
          <a:prstGeom prst="rect">
            <a:avLst/>
          </a:prstGeom>
        </p:spPr>
        <p:txBody>
          <a:bodyPr spcFirstLastPara="1" wrap="square" lIns="91425" tIns="45700" rIns="91425" bIns="45700" anchor="t" anchorCtr="0">
            <a:normAutofit/>
          </a:bodyPr>
          <a:lstStyle/>
          <a:p>
            <a:pPr marL="0" lvl="0" indent="0" algn="l" rtl="0">
              <a:spcBef>
                <a:spcPts val="400"/>
              </a:spcBef>
              <a:spcAft>
                <a:spcPts val="0"/>
              </a:spcAft>
              <a:buNone/>
              <a:defRPr/>
            </a:pPr>
            <a:r>
              <a:rPr lang="en"/>
              <a:t>NLP Foundation for Generative AI</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08965823" name="Google Shape;290;p52"/>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Learning outcome</a:t>
            </a:r>
            <a:endParaRPr/>
          </a:p>
        </p:txBody>
      </p:sp>
      <p:sp>
        <p:nvSpPr>
          <p:cNvPr id="5323437" name="Google Shape;291;p52"/>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dirty="0"/>
              <a:t>The foundations of modern deep learning methods for NLP</a:t>
            </a:r>
            <a:endParaRPr dirty="0"/>
          </a:p>
          <a:p>
            <a:pPr marL="914400" lvl="1" indent="-342900" algn="l" rtl="0">
              <a:spcBef>
                <a:spcPts val="0"/>
              </a:spcBef>
              <a:spcAft>
                <a:spcPts val="0"/>
              </a:spcAft>
              <a:buSzPts val="1800"/>
              <a:buChar char="➢"/>
              <a:defRPr/>
            </a:pPr>
            <a:r>
              <a:rPr lang="en" sz="1800" dirty="0"/>
              <a:t>Start with essentials: word embeddings, feed-forward networks, recurrent networks, attention</a:t>
            </a:r>
            <a:endParaRPr sz="1800" dirty="0"/>
          </a:p>
          <a:p>
            <a:pPr marL="914400" lvl="1" indent="-342900" algn="l" rtl="0">
              <a:spcBef>
                <a:spcPts val="0"/>
              </a:spcBef>
              <a:spcAft>
                <a:spcPts val="0"/>
              </a:spcAft>
              <a:buSzPts val="1800"/>
              <a:buChar char="➢"/>
              <a:defRPr/>
            </a:pPr>
            <a:r>
              <a:rPr lang="en" sz="1800" dirty="0"/>
              <a:t>Then cover 2014 advancements: encoder–decoder architectures and Transformers</a:t>
            </a:r>
            <a:endParaRPr sz="1800" dirty="0"/>
          </a:p>
          <a:p>
            <a:pPr marL="457200" lvl="0" indent="-342900" algn="l" rtl="0">
              <a:spcBef>
                <a:spcPts val="0"/>
              </a:spcBef>
              <a:spcAft>
                <a:spcPts val="0"/>
              </a:spcAft>
              <a:buSzPts val="1800"/>
              <a:buChar char="❏"/>
              <a:defRPr/>
            </a:pPr>
            <a:r>
              <a:rPr lang="en" dirty="0"/>
              <a:t>A big-picture view of human language and the challenges of modeling understanding and generation on computers</a:t>
            </a:r>
            <a:endParaRPr dirty="0"/>
          </a:p>
          <a:p>
            <a:pPr marL="457200" lvl="0" indent="-342900" algn="l" rtl="0">
              <a:spcBef>
                <a:spcPts val="0"/>
              </a:spcBef>
              <a:spcAft>
                <a:spcPts val="0"/>
              </a:spcAft>
              <a:buSzPts val="1800"/>
              <a:buChar char="❏"/>
              <a:defRPr/>
            </a:pPr>
            <a:r>
              <a:rPr lang="en" dirty="0"/>
              <a:t>The knowledge and skills to build </a:t>
            </a:r>
            <a:r>
              <a:rPr lang="en" dirty="0" err="1"/>
              <a:t>PyTorch</a:t>
            </a:r>
            <a:r>
              <a:rPr lang="en" dirty="0"/>
              <a:t> systems for major NLP tasks:</a:t>
            </a:r>
            <a:endParaRPr dirty="0"/>
          </a:p>
          <a:p>
            <a:pPr marL="914400" lvl="1" indent="-342900" algn="l" rtl="0">
              <a:spcBef>
                <a:spcPts val="0"/>
              </a:spcBef>
              <a:spcAft>
                <a:spcPts val="0"/>
              </a:spcAft>
              <a:buSzPts val="1800"/>
              <a:buChar char="➢"/>
              <a:defRPr/>
            </a:pPr>
            <a:r>
              <a:rPr lang="en" sz="1800" dirty="0"/>
              <a:t>Word meaning, dependency parsing, document classification, machine translation, and question answering</a:t>
            </a:r>
            <a:endParaRPr sz="1800" dirty="0"/>
          </a:p>
          <a:p>
            <a:pPr marL="0" lvl="0" indent="0" algn="l" rtl="0">
              <a:spcBef>
                <a:spcPts val="280"/>
              </a:spcBef>
              <a:spcAft>
                <a:spcPts val="0"/>
              </a:spcAft>
              <a:buNone/>
              <a:defRPr/>
            </a:pPr>
            <a:endParaRPr dirty="0"/>
          </a:p>
        </p:txBody>
      </p:sp>
      <p:sp>
        <p:nvSpPr>
          <p:cNvPr id="1883144648" name="Google Shape;292;p52"/>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2</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70593151" name="Google Shape;297;p53"/>
          <p:cNvSpPr txBox="1">
            <a:spLocks noGrp="1"/>
          </p:cNvSpPr>
          <p:nvPr>
            <p:ph type="ctrTitle"/>
          </p:nvPr>
        </p:nvSpPr>
        <p:spPr bwMode="auto">
          <a:xfrm>
            <a:off x="257175" y="1246732"/>
            <a:ext cx="7772400" cy="1060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The Future Is Solo</a:t>
            </a:r>
            <a:endParaRPr/>
          </a:p>
        </p:txBody>
      </p:sp>
      <p:sp>
        <p:nvSpPr>
          <p:cNvPr id="1577845797" name="Google Shape;298;p53"/>
          <p:cNvSpPr txBox="1">
            <a:spLocks noGrp="1"/>
          </p:cNvSpPr>
          <p:nvPr>
            <p:ph type="subTitle" idx="1"/>
          </p:nvPr>
        </p:nvSpPr>
        <p:spPr bwMode="auto">
          <a:xfrm>
            <a:off x="253128" y="2456199"/>
            <a:ext cx="6400800" cy="1314600"/>
          </a:xfrm>
          <a:prstGeom prst="rect">
            <a:avLst/>
          </a:prstGeom>
        </p:spPr>
        <p:txBody>
          <a:bodyPr spcFirstLastPara="1" wrap="square" lIns="91425" tIns="45700" rIns="91425" bIns="45700" anchor="t" anchorCtr="0">
            <a:normAutofit/>
          </a:bodyPr>
          <a:lstStyle/>
          <a:p>
            <a:pPr marL="0" lvl="0" indent="0" algn="l" rtl="0">
              <a:spcBef>
                <a:spcPts val="400"/>
              </a:spcBef>
              <a:spcAft>
                <a:spcPts val="0"/>
              </a:spcAft>
              <a:buNone/>
              <a:defRPr/>
            </a:pPr>
            <a:r>
              <a:rPr lang="en"/>
              <a:t>Vibe Coding + Agentic AI</a:t>
            </a:r>
            <a:endParaRPr/>
          </a:p>
        </p:txBody>
      </p:sp>
      <p:sp>
        <p:nvSpPr>
          <p:cNvPr id="731966910" name="Google Shape;299;p53"/>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defRPr/>
            </a:pPr>
            <a:fld id="{00000000-1234-1234-1234-123412341234}" type="slidenum">
              <a:rPr lang="en"/>
              <a:t>3</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03339585" name="Google Shape;304;p54"/>
          <p:cNvSpPr txBox="1">
            <a:spLocks noGrp="1"/>
          </p:cNvSpPr>
          <p:nvPr>
            <p:ph type="body" idx="1"/>
          </p:nvPr>
        </p:nvSpPr>
        <p:spPr bwMode="auto">
          <a:xfrm>
            <a:off x="1240500" y="4489775"/>
            <a:ext cx="7651500" cy="605100"/>
          </a:xfrm>
          <a:prstGeom prst="rect">
            <a:avLst/>
          </a:prstGeom>
        </p:spPr>
        <p:txBody>
          <a:bodyPr spcFirstLastPara="1" wrap="square" lIns="91425" tIns="45700" rIns="91425" bIns="45700" anchor="ctr" anchorCtr="0">
            <a:normAutofit/>
          </a:bodyPr>
          <a:lstStyle/>
          <a:p>
            <a:pPr marL="0" lvl="0" indent="0" algn="l" rtl="0">
              <a:lnSpc>
                <a:spcPct val="80000"/>
              </a:lnSpc>
              <a:spcBef>
                <a:spcPts val="280"/>
              </a:spcBef>
              <a:spcAft>
                <a:spcPts val="0"/>
              </a:spcAft>
              <a:buSzPts val="1018"/>
              <a:buNone/>
              <a:defRPr/>
            </a:pPr>
            <a:r>
              <a:rPr lang="en" sz="1150" u="sng">
                <a:solidFill>
                  <a:schemeClr val="hlink"/>
                </a:solidFill>
                <a:hlinkClick r:id="rId3"/>
              </a:rPr>
              <a:t>https://techcrunch.com/2025/06/18/6-month-old-solo-owned-vibe-coder-base44-sells-to-wix-for-80m-cash/</a:t>
            </a:r>
            <a:r>
              <a:rPr lang="en" sz="1150"/>
              <a:t> </a:t>
            </a:r>
            <a:endParaRPr sz="1150"/>
          </a:p>
        </p:txBody>
      </p:sp>
      <p:pic>
        <p:nvPicPr>
          <p:cNvPr id="267014920" name="Google Shape;305;p54"/>
          <p:cNvPicPr/>
          <p:nvPr/>
        </p:nvPicPr>
        <p:blipFill rotWithShape="1">
          <a:blip r:embed="rId4">
            <a:alphaModFix/>
          </a:blip>
          <a:stretch/>
        </p:blipFill>
        <p:spPr bwMode="auto">
          <a:xfrm>
            <a:off x="440613" y="608863"/>
            <a:ext cx="8262772" cy="3925776"/>
          </a:xfrm>
          <a:prstGeom prst="rect">
            <a:avLst/>
          </a:prstGeom>
          <a:noFill/>
          <a:ln>
            <a:noFill/>
          </a:ln>
          <a:effectLst>
            <a:outerShdw blurRad="57150" dist="19050" dir="5400000" algn="bl" rotWithShape="0">
              <a:srgbClr val="000000">
                <a:alpha val="50000"/>
              </a:srgbClr>
            </a:outerShdw>
          </a:effectLst>
        </p:spPr>
      </p:pic>
      <p:sp>
        <p:nvSpPr>
          <p:cNvPr id="234807663" name="Google Shape;306;p54"/>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4</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88818270" name="Google Shape;311;p55"/>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r>
              <a:rPr lang="en" u="sng">
                <a:solidFill>
                  <a:schemeClr val="hlink"/>
                </a:solidFill>
                <a:hlinkClick r:id="rId3"/>
              </a:rPr>
              <a:t>https://youtu.be/LCEmiRjPEtQ</a:t>
            </a:r>
            <a:r>
              <a:rPr lang="en"/>
              <a:t> </a:t>
            </a:r>
            <a:endParaRPr/>
          </a:p>
        </p:txBody>
      </p:sp>
      <p:sp>
        <p:nvSpPr>
          <p:cNvPr id="1342380285" name="Google Shape;312;p55"/>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Vibe Coding</a:t>
            </a:r>
            <a:endParaRPr/>
          </a:p>
        </p:txBody>
      </p:sp>
      <p:sp>
        <p:nvSpPr>
          <p:cNvPr id="1083918102" name="Google Shape;313;p55"/>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5</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07120922" name="Google Shape;318;p56"/>
          <p:cNvSpPr txBox="1">
            <a:spLocks noGrp="1"/>
          </p:cNvSpPr>
          <p:nvPr>
            <p:ph type="body" idx="1"/>
          </p:nvPr>
        </p:nvSpPr>
        <p:spPr bwMode="auto">
          <a:xfrm>
            <a:off x="1108800" y="1152475"/>
            <a:ext cx="3202800" cy="3416400"/>
          </a:xfrm>
          <a:prstGeom prst="rect">
            <a:avLst/>
          </a:prstGeom>
          <a:solidFill>
            <a:srgbClr val="F3F3F3"/>
          </a:solidFill>
        </p:spPr>
        <p:txBody>
          <a:bodyPr spcFirstLastPara="1" wrap="square" lIns="91425" tIns="45700" rIns="91425" bIns="45700" anchor="t" anchorCtr="0">
            <a:normAutofit/>
          </a:bodyPr>
          <a:lstStyle/>
          <a:p>
            <a:pPr marL="0" lvl="0" indent="0" algn="ctr" rtl="0">
              <a:lnSpc>
                <a:spcPct val="150000"/>
              </a:lnSpc>
              <a:spcBef>
                <a:spcPts val="280"/>
              </a:spcBef>
              <a:spcAft>
                <a:spcPts val="0"/>
              </a:spcAft>
              <a:buNone/>
              <a:defRPr/>
            </a:pPr>
            <a:endParaRPr sz="1600"/>
          </a:p>
          <a:p>
            <a:pPr marL="457200" lvl="0" indent="-342900" algn="l" rtl="0">
              <a:lnSpc>
                <a:spcPct val="150000"/>
              </a:lnSpc>
              <a:spcBef>
                <a:spcPts val="280"/>
              </a:spcBef>
              <a:spcAft>
                <a:spcPts val="0"/>
              </a:spcAft>
              <a:buSzPts val="1800"/>
              <a:buChar char="❏"/>
              <a:defRPr/>
            </a:pPr>
            <a:r>
              <a:rPr lang="en" sz="1800"/>
              <a:t>Acts as an assistant</a:t>
            </a:r>
            <a:endParaRPr sz="1800"/>
          </a:p>
          <a:p>
            <a:pPr marL="457200" lvl="0" indent="-342900" algn="l" rtl="0">
              <a:lnSpc>
                <a:spcPct val="150000"/>
              </a:lnSpc>
              <a:spcBef>
                <a:spcPts val="280"/>
              </a:spcBef>
              <a:spcAft>
                <a:spcPts val="0"/>
              </a:spcAft>
              <a:buSzPts val="1800"/>
              <a:buChar char="❏"/>
              <a:defRPr/>
            </a:pPr>
            <a:r>
              <a:rPr lang="en" sz="1800"/>
              <a:t>Emulates a junior partner or tool enhancing productivity</a:t>
            </a:r>
            <a:endParaRPr sz="1800"/>
          </a:p>
          <a:p>
            <a:pPr marL="457200" lvl="0" indent="-342900" algn="l" rtl="0">
              <a:lnSpc>
                <a:spcPct val="150000"/>
              </a:lnSpc>
              <a:spcBef>
                <a:spcPts val="280"/>
              </a:spcBef>
              <a:spcAft>
                <a:spcPts val="0"/>
              </a:spcAft>
              <a:buSzPts val="1800"/>
              <a:buChar char="❏"/>
              <a:defRPr/>
            </a:pPr>
            <a:r>
              <a:rPr lang="en" sz="1800"/>
              <a:t>Reactive</a:t>
            </a:r>
            <a:endParaRPr sz="1800"/>
          </a:p>
          <a:p>
            <a:pPr marL="342900" lvl="0" indent="0" algn="l" rtl="0">
              <a:lnSpc>
                <a:spcPct val="150000"/>
              </a:lnSpc>
              <a:spcBef>
                <a:spcPts val="280"/>
              </a:spcBef>
              <a:spcAft>
                <a:spcPts val="0"/>
              </a:spcAft>
              <a:buNone/>
              <a:defRPr/>
            </a:pPr>
            <a:endParaRPr sz="1800"/>
          </a:p>
        </p:txBody>
      </p:sp>
      <p:sp>
        <p:nvSpPr>
          <p:cNvPr id="572054091" name="Google Shape;319;p56"/>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Vibe Coding</a:t>
            </a:r>
            <a:endParaRPr/>
          </a:p>
        </p:txBody>
      </p:sp>
      <p:sp>
        <p:nvSpPr>
          <p:cNvPr id="2128569336" name="Google Shape;320;p56"/>
          <p:cNvSpPr txBox="1">
            <a:spLocks noGrp="1"/>
          </p:cNvSpPr>
          <p:nvPr>
            <p:ph type="body" idx="2"/>
          </p:nvPr>
        </p:nvSpPr>
        <p:spPr bwMode="auto">
          <a:xfrm>
            <a:off x="4832399" y="1152475"/>
            <a:ext cx="3202800" cy="3416400"/>
          </a:xfrm>
          <a:prstGeom prst="rect">
            <a:avLst/>
          </a:prstGeom>
          <a:solidFill>
            <a:srgbClr val="F3F3F3"/>
          </a:solidFill>
        </p:spPr>
        <p:txBody>
          <a:bodyPr spcFirstLastPara="1" wrap="square" lIns="91425" tIns="45700" rIns="91425" bIns="45700" anchor="t" anchorCtr="0">
            <a:normAutofit/>
          </a:bodyPr>
          <a:lstStyle/>
          <a:p>
            <a:pPr marL="0" lvl="0" indent="0" algn="l" rtl="0">
              <a:lnSpc>
                <a:spcPct val="150000"/>
              </a:lnSpc>
              <a:spcBef>
                <a:spcPts val="280"/>
              </a:spcBef>
              <a:spcAft>
                <a:spcPts val="0"/>
              </a:spcAft>
              <a:buNone/>
              <a:defRPr/>
            </a:pPr>
            <a:endParaRPr sz="1500" b="1"/>
          </a:p>
          <a:p>
            <a:pPr marL="457200" lvl="0" indent="-342900" algn="l" rtl="0">
              <a:lnSpc>
                <a:spcPct val="150000"/>
              </a:lnSpc>
              <a:spcBef>
                <a:spcPts val="280"/>
              </a:spcBef>
              <a:spcAft>
                <a:spcPts val="0"/>
              </a:spcAft>
              <a:buSzPts val="1800"/>
              <a:buChar char="❏"/>
              <a:defRPr/>
            </a:pPr>
            <a:r>
              <a:rPr lang="en" sz="1800"/>
              <a:t>Acts as a collaborator</a:t>
            </a:r>
            <a:endParaRPr sz="1800"/>
          </a:p>
          <a:p>
            <a:pPr marL="457200" lvl="0" indent="-342900" algn="l" rtl="0">
              <a:lnSpc>
                <a:spcPct val="150000"/>
              </a:lnSpc>
              <a:spcBef>
                <a:spcPts val="280"/>
              </a:spcBef>
              <a:spcAft>
                <a:spcPts val="0"/>
              </a:spcAft>
              <a:buSzPts val="1800"/>
              <a:buChar char="❏"/>
              <a:defRPr/>
            </a:pPr>
            <a:r>
              <a:rPr lang="en" sz="1800"/>
              <a:t>Emulates a human peer working together on equal footing</a:t>
            </a:r>
            <a:endParaRPr sz="1800"/>
          </a:p>
          <a:p>
            <a:pPr marL="457200" lvl="0" indent="-342900" algn="l" rtl="0">
              <a:lnSpc>
                <a:spcPct val="150000"/>
              </a:lnSpc>
              <a:spcBef>
                <a:spcPts val="280"/>
              </a:spcBef>
              <a:spcAft>
                <a:spcPts val="0"/>
              </a:spcAft>
              <a:buSzPts val="1800"/>
              <a:buChar char="❏"/>
              <a:defRPr/>
            </a:pPr>
            <a:r>
              <a:rPr lang="en" sz="1800"/>
              <a:t>Autonomous</a:t>
            </a:r>
            <a:endParaRPr sz="1800"/>
          </a:p>
          <a:p>
            <a:pPr marL="342900" lvl="0" indent="0" algn="l" rtl="0">
              <a:lnSpc>
                <a:spcPct val="150000"/>
              </a:lnSpc>
              <a:spcBef>
                <a:spcPts val="280"/>
              </a:spcBef>
              <a:spcAft>
                <a:spcPts val="0"/>
              </a:spcAft>
              <a:buNone/>
              <a:defRPr/>
            </a:pPr>
            <a:endParaRPr sz="1800"/>
          </a:p>
        </p:txBody>
      </p:sp>
      <p:sp>
        <p:nvSpPr>
          <p:cNvPr id="1570678678" name="Google Shape;321;p56"/>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6</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7863364" name="Google Shape;326;p57"/>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If English is the new programming language…</a:t>
            </a:r>
            <a:endParaRPr/>
          </a:p>
        </p:txBody>
      </p:sp>
      <p:sp>
        <p:nvSpPr>
          <p:cNvPr id="1898157923" name="Google Shape;327;p57"/>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Need to go upstream</a:t>
            </a:r>
            <a:endParaRPr/>
          </a:p>
          <a:p>
            <a:pPr marL="914400" lvl="1" indent="-342900" algn="l" rtl="0">
              <a:spcBef>
                <a:spcPts val="260"/>
              </a:spcBef>
              <a:spcAft>
                <a:spcPts val="0"/>
              </a:spcAft>
              <a:buSzPts val="1800"/>
              <a:buChar char="➢"/>
              <a:defRPr/>
            </a:pPr>
            <a:r>
              <a:rPr lang="en" sz="1800"/>
              <a:t>creator of tools</a:t>
            </a:r>
            <a:endParaRPr sz="1800"/>
          </a:p>
          <a:p>
            <a:pPr marL="914400" lvl="1" indent="-342900" algn="l" rtl="0">
              <a:spcBef>
                <a:spcPts val="260"/>
              </a:spcBef>
              <a:spcAft>
                <a:spcPts val="0"/>
              </a:spcAft>
              <a:buSzPts val="1800"/>
              <a:buChar char="➢"/>
              <a:defRPr/>
            </a:pPr>
            <a:r>
              <a:rPr lang="en" sz="1800"/>
              <a:t>be the problem owner</a:t>
            </a:r>
            <a:endParaRPr sz="1800"/>
          </a:p>
          <a:p>
            <a:pPr marL="914400" lvl="1" indent="-342900" algn="l" rtl="0">
              <a:spcBef>
                <a:spcPts val="260"/>
              </a:spcBef>
              <a:spcAft>
                <a:spcPts val="0"/>
              </a:spcAft>
              <a:buSzPts val="1800"/>
              <a:buChar char="➢"/>
              <a:defRPr/>
            </a:pPr>
            <a:r>
              <a:rPr lang="en" sz="1800"/>
              <a:t>discover problems</a:t>
            </a:r>
            <a:endParaRPr sz="1800"/>
          </a:p>
          <a:p>
            <a:pPr marL="457200" lvl="0" indent="-342900" algn="l" rtl="0">
              <a:spcBef>
                <a:spcPts val="280"/>
              </a:spcBef>
              <a:spcAft>
                <a:spcPts val="0"/>
              </a:spcAft>
              <a:buSzPts val="1800"/>
              <a:buChar char="❏"/>
              <a:defRPr/>
            </a:pPr>
            <a:r>
              <a:rPr lang="en"/>
              <a:t>Piece everything together</a:t>
            </a:r>
            <a:endParaRPr/>
          </a:p>
          <a:p>
            <a:pPr marL="914400" lvl="1" indent="-342900" algn="l" rtl="0">
              <a:spcBef>
                <a:spcPts val="260"/>
              </a:spcBef>
              <a:spcAft>
                <a:spcPts val="0"/>
              </a:spcAft>
              <a:buSzPts val="1800"/>
              <a:buChar char="➢"/>
              <a:defRPr/>
            </a:pPr>
            <a:r>
              <a:rPr lang="en" sz="1800"/>
              <a:t>Extreme breadth</a:t>
            </a:r>
            <a:endParaRPr sz="1800"/>
          </a:p>
          <a:p>
            <a:pPr marL="914400" lvl="1" indent="-342900" algn="l" rtl="0">
              <a:spcBef>
                <a:spcPts val="260"/>
              </a:spcBef>
              <a:spcAft>
                <a:spcPts val="0"/>
              </a:spcAft>
              <a:buSzPts val="1800"/>
              <a:buChar char="➢"/>
              <a:defRPr/>
            </a:pPr>
            <a:r>
              <a:rPr lang="en" sz="1800"/>
              <a:t>Potential to do deep quickly</a:t>
            </a:r>
            <a:endParaRPr sz="1800"/>
          </a:p>
          <a:p>
            <a:pPr marL="914400" lvl="1" indent="-342900" algn="l" rtl="0">
              <a:spcBef>
                <a:spcPts val="260"/>
              </a:spcBef>
              <a:spcAft>
                <a:spcPts val="0"/>
              </a:spcAft>
              <a:buSzPts val="1800"/>
              <a:buChar char="➢"/>
              <a:defRPr/>
            </a:pPr>
            <a:r>
              <a:rPr lang="en" sz="1800"/>
              <a:t>Be brave</a:t>
            </a:r>
            <a:endParaRPr sz="1800"/>
          </a:p>
        </p:txBody>
      </p:sp>
      <p:sp>
        <p:nvSpPr>
          <p:cNvPr id="873849173" name="Google Shape;328;p57"/>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7</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17920134" name="Google Shape;333;p58"/>
          <p:cNvSpPr txBox="1">
            <a:spLocks noGrp="1"/>
          </p:cNvSpPr>
          <p:nvPr>
            <p:ph type="ctrTitle"/>
          </p:nvPr>
        </p:nvSpPr>
        <p:spPr bwMode="auto">
          <a:xfrm>
            <a:off x="257175" y="1246732"/>
            <a:ext cx="7772400" cy="1060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Teaching &amp; Learning</a:t>
            </a:r>
            <a:endParaRPr/>
          </a:p>
        </p:txBody>
      </p:sp>
      <p:sp>
        <p:nvSpPr>
          <p:cNvPr id="299245678" name="Google Shape;334;p58"/>
          <p:cNvSpPr txBox="1">
            <a:spLocks noGrp="1"/>
          </p:cNvSpPr>
          <p:nvPr>
            <p:ph type="subTitle" idx="1"/>
          </p:nvPr>
        </p:nvSpPr>
        <p:spPr bwMode="auto">
          <a:xfrm>
            <a:off x="253128" y="2456199"/>
            <a:ext cx="6400800" cy="1314600"/>
          </a:xfrm>
          <a:prstGeom prst="rect">
            <a:avLst/>
          </a:prstGeom>
        </p:spPr>
        <p:txBody>
          <a:bodyPr spcFirstLastPara="1" wrap="square" lIns="91425" tIns="45700" rIns="91425" bIns="45700" anchor="t" anchorCtr="0">
            <a:normAutofit/>
          </a:bodyPr>
          <a:lstStyle/>
          <a:p>
            <a:pPr marL="0" lvl="0" indent="0" algn="l" rtl="0">
              <a:spcBef>
                <a:spcPts val="400"/>
              </a:spcBef>
              <a:spcAft>
                <a:spcPts val="0"/>
              </a:spcAft>
              <a:buNone/>
              <a:defRPr/>
            </a:pPr>
            <a:r>
              <a:rPr lang="en"/>
              <a:t>in the new era</a:t>
            </a:r>
            <a:endParaRPr/>
          </a:p>
        </p:txBody>
      </p:sp>
      <p:sp>
        <p:nvSpPr>
          <p:cNvPr id="1993987194" name="Google Shape;335;p58"/>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defRPr/>
            </a:pPr>
            <a:fld id="{00000000-1234-1234-1234-123412341234}" type="slidenum">
              <a:rPr lang="en"/>
              <a:t>8</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31744480" name="Google Shape;340;p59"/>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AI-First Teaching &amp; Learning</a:t>
            </a:r>
            <a:endParaRPr/>
          </a:p>
        </p:txBody>
      </p:sp>
      <p:sp>
        <p:nvSpPr>
          <p:cNvPr id="185900046" name="Google Shape;341;p59"/>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Programming with Gemini, OpenAI</a:t>
            </a:r>
            <a:endParaRPr/>
          </a:p>
          <a:p>
            <a:pPr marL="457200" lvl="0" indent="-342900" algn="l" rtl="0">
              <a:spcBef>
                <a:spcPts val="280"/>
              </a:spcBef>
              <a:spcAft>
                <a:spcPts val="0"/>
              </a:spcAft>
              <a:buSzPts val="1800"/>
              <a:buChar char="•"/>
              <a:defRPr/>
            </a:pPr>
            <a:r>
              <a:rPr lang="en"/>
              <a:t>Focus on the enduring concepts, frameworks, schemas</a:t>
            </a:r>
            <a:endParaRPr sz="1800"/>
          </a:p>
          <a:p>
            <a:pPr marL="457200" lvl="0" indent="-342900" algn="l" rtl="0">
              <a:spcBef>
                <a:spcPts val="280"/>
              </a:spcBef>
              <a:spcAft>
                <a:spcPts val="0"/>
              </a:spcAft>
              <a:buSzPts val="1800"/>
              <a:buChar char="•"/>
              <a:defRPr/>
            </a:pPr>
            <a:r>
              <a:rPr lang="en"/>
              <a:t>Assessment focus on consistency and progression</a:t>
            </a:r>
            <a:endParaRPr/>
          </a:p>
          <a:p>
            <a:pPr marL="457200" lvl="0" indent="-342900" algn="l" rtl="0">
              <a:spcBef>
                <a:spcPts val="280"/>
              </a:spcBef>
              <a:spcAft>
                <a:spcPts val="0"/>
              </a:spcAft>
              <a:buSzPts val="1800"/>
              <a:buChar char="•"/>
              <a:defRPr/>
            </a:pPr>
            <a:r>
              <a:rPr lang="en"/>
              <a:t>Don’t lose sight of </a:t>
            </a:r>
            <a:r>
              <a:rPr lang="en" i="1"/>
              <a:t>your</a:t>
            </a:r>
            <a:r>
              <a:rPr lang="en"/>
              <a:t> goal</a:t>
            </a:r>
            <a:endParaRPr/>
          </a:p>
          <a:p>
            <a:pPr marL="0" lvl="0" indent="0" algn="l" rtl="0">
              <a:spcBef>
                <a:spcPts val="280"/>
              </a:spcBef>
              <a:spcAft>
                <a:spcPts val="0"/>
              </a:spcAft>
              <a:buNone/>
              <a:defRPr/>
            </a:pPr>
            <a:endParaRPr sz="1800"/>
          </a:p>
        </p:txBody>
      </p:sp>
      <p:sp>
        <p:nvSpPr>
          <p:cNvPr id="1782350689" name="Google Shape;342;p59"/>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9</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22788323" name="Google Shape;347;p60"/>
          <p:cNvSpPr txBox="1">
            <a:spLocks noGrp="1"/>
          </p:cNvSpPr>
          <p:nvPr>
            <p:ph type="title"/>
          </p:nvPr>
        </p:nvSpPr>
        <p:spPr bwMode="auto">
          <a:xfrm>
            <a:off x="311700" y="2150850"/>
            <a:ext cx="8520600" cy="8418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defRPr/>
            </a:pPr>
            <a:r>
              <a:rPr lang="en"/>
              <a:t>Machine Learning 101</a:t>
            </a:r>
            <a:endParaRPr/>
          </a:p>
        </p:txBody>
      </p:sp>
      <p:sp>
        <p:nvSpPr>
          <p:cNvPr id="1626211112" name="Google Shape;348;p60"/>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10</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7727716" name="Google Shape;353;p61"/>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defRPr/>
            </a:pPr>
            <a:r>
              <a:rPr lang="en"/>
              <a:t>What is Machine Learning?</a:t>
            </a:r>
            <a:endParaRPr/>
          </a:p>
        </p:txBody>
      </p:sp>
      <p:sp>
        <p:nvSpPr>
          <p:cNvPr id="1563751325" name="Google Shape;354;p61"/>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Machine learning</a:t>
            </a:r>
            <a:endParaRPr/>
          </a:p>
          <a:p>
            <a:pPr marL="914400" lvl="0" indent="-342900" algn="l" rtl="0">
              <a:spcBef>
                <a:spcPts val="0"/>
              </a:spcBef>
              <a:spcAft>
                <a:spcPts val="0"/>
              </a:spcAft>
              <a:buSzPts val="1800"/>
              <a:buChar char="➢"/>
              <a:defRPr/>
            </a:pPr>
            <a:r>
              <a:rPr lang="en"/>
              <a:t>is a subfield of computer science</a:t>
            </a:r>
            <a:endParaRPr/>
          </a:p>
          <a:p>
            <a:pPr marL="914400" lvl="0" indent="-342900" algn="l" rtl="0">
              <a:spcBef>
                <a:spcPts val="0"/>
              </a:spcBef>
              <a:spcAft>
                <a:spcPts val="0"/>
              </a:spcAft>
              <a:buSzPts val="1800"/>
              <a:buChar char="➢"/>
              <a:defRPr/>
            </a:pPr>
            <a:r>
              <a:rPr lang="en"/>
              <a:t>that is concerned with building algorithms which,</a:t>
            </a:r>
            <a:endParaRPr/>
          </a:p>
          <a:p>
            <a:pPr marL="914400" lvl="0" indent="-342900" algn="l" rtl="0">
              <a:spcBef>
                <a:spcPts val="0"/>
              </a:spcBef>
              <a:spcAft>
                <a:spcPts val="0"/>
              </a:spcAft>
              <a:buSzPts val="1800"/>
              <a:buChar char="➢"/>
              <a:defRPr/>
            </a:pPr>
            <a:r>
              <a:rPr lang="en"/>
              <a:t>rely on a collection of examples of some phenomenon.</a:t>
            </a:r>
            <a:endParaRPr/>
          </a:p>
          <a:p>
            <a:pPr marL="914400" lvl="0" indent="-342900" algn="l" rtl="0">
              <a:spcBef>
                <a:spcPts val="0"/>
              </a:spcBef>
              <a:spcAft>
                <a:spcPts val="0"/>
              </a:spcAft>
              <a:buSzPts val="1800"/>
              <a:buChar char="✓"/>
              <a:defRPr/>
            </a:pPr>
            <a:r>
              <a:rPr lang="en"/>
              <a:t>These examples can come from nature, be handcrafted by humans or generated by another algorithm.</a:t>
            </a:r>
            <a:endParaRPr/>
          </a:p>
          <a:p>
            <a:pPr marL="0" lvl="0" indent="0" algn="l" rtl="0">
              <a:spcBef>
                <a:spcPts val="280"/>
              </a:spcBef>
              <a:spcAft>
                <a:spcPts val="0"/>
              </a:spcAft>
              <a:buNone/>
              <a:defRPr/>
            </a:pPr>
            <a:endParaRPr/>
          </a:p>
        </p:txBody>
      </p:sp>
      <p:sp>
        <p:nvSpPr>
          <p:cNvPr id="645044186" name="Google Shape;355;p61"/>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11</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7168995" name="Google Shape;360;p62"/>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defRPr/>
            </a:pPr>
            <a:r>
              <a:rPr lang="en"/>
              <a:t>Application Examples</a:t>
            </a:r>
            <a:endParaRPr/>
          </a:p>
        </p:txBody>
      </p:sp>
      <p:sp>
        <p:nvSpPr>
          <p:cNvPr id="1088589249" name="Google Shape;361;p62"/>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Speech recognition</a:t>
            </a:r>
            <a:endParaRPr/>
          </a:p>
          <a:p>
            <a:pPr marL="457200" lvl="0" indent="-342900" algn="l" rtl="0">
              <a:spcBef>
                <a:spcPts val="0"/>
              </a:spcBef>
              <a:spcAft>
                <a:spcPts val="0"/>
              </a:spcAft>
              <a:buSzPts val="1800"/>
              <a:buChar char="•"/>
              <a:defRPr/>
            </a:pPr>
            <a:r>
              <a:rPr lang="en"/>
              <a:t>Face recognition</a:t>
            </a:r>
            <a:endParaRPr/>
          </a:p>
          <a:p>
            <a:pPr marL="457200" lvl="0" indent="-342900" algn="l" rtl="0">
              <a:spcBef>
                <a:spcPts val="0"/>
              </a:spcBef>
              <a:spcAft>
                <a:spcPts val="0"/>
              </a:spcAft>
              <a:buSzPts val="1800"/>
              <a:buChar char="•"/>
              <a:defRPr/>
            </a:pPr>
            <a:r>
              <a:rPr lang="en"/>
              <a:t>Handwriting recognition</a:t>
            </a:r>
            <a:endParaRPr/>
          </a:p>
          <a:p>
            <a:pPr marL="457200" lvl="0" indent="-342900" algn="l" rtl="0">
              <a:spcBef>
                <a:spcPts val="0"/>
              </a:spcBef>
              <a:spcAft>
                <a:spcPts val="0"/>
              </a:spcAft>
              <a:buSzPts val="1800"/>
              <a:buChar char="•"/>
              <a:defRPr/>
            </a:pPr>
            <a:r>
              <a:rPr lang="en"/>
              <a:t>Object recognition</a:t>
            </a:r>
            <a:endParaRPr/>
          </a:p>
          <a:p>
            <a:pPr marL="457200" lvl="0" indent="-342900" algn="l" rtl="0">
              <a:spcBef>
                <a:spcPts val="0"/>
              </a:spcBef>
              <a:spcAft>
                <a:spcPts val="0"/>
              </a:spcAft>
              <a:buSzPts val="1800"/>
              <a:buChar char="•"/>
              <a:defRPr/>
            </a:pPr>
            <a:r>
              <a:rPr lang="en"/>
              <a:t>Housing price prediction</a:t>
            </a:r>
            <a:endParaRPr/>
          </a:p>
          <a:p>
            <a:pPr marL="457200" lvl="0" indent="-342900" algn="l" rtl="0">
              <a:spcBef>
                <a:spcPts val="0"/>
              </a:spcBef>
              <a:spcAft>
                <a:spcPts val="0"/>
              </a:spcAft>
              <a:buSzPts val="1800"/>
              <a:buChar char="•"/>
              <a:defRPr/>
            </a:pPr>
            <a:r>
              <a:rPr lang="en"/>
              <a:t>Etc, etc.</a:t>
            </a:r>
            <a:endParaRPr/>
          </a:p>
          <a:p>
            <a:pPr marL="0" lvl="0" indent="0" algn="l" rtl="0">
              <a:spcBef>
                <a:spcPts val="280"/>
              </a:spcBef>
              <a:spcAft>
                <a:spcPts val="0"/>
              </a:spcAft>
              <a:buNone/>
              <a:defRPr/>
            </a:pPr>
            <a:endParaRPr/>
          </a:p>
        </p:txBody>
      </p:sp>
      <p:pic>
        <p:nvPicPr>
          <p:cNvPr id="585716811" name="Google Shape;362;p62"/>
          <p:cNvPicPr/>
          <p:nvPr/>
        </p:nvPicPr>
        <p:blipFill rotWithShape="1">
          <a:blip r:embed="rId3">
            <a:alphaModFix/>
          </a:blip>
          <a:stretch/>
        </p:blipFill>
        <p:spPr bwMode="auto">
          <a:xfrm>
            <a:off x="4571990" y="0"/>
            <a:ext cx="4406670" cy="5143500"/>
          </a:xfrm>
          <a:prstGeom prst="rect">
            <a:avLst/>
          </a:prstGeom>
          <a:noFill/>
          <a:ln>
            <a:noFill/>
          </a:ln>
        </p:spPr>
      </p:pic>
      <p:sp>
        <p:nvSpPr>
          <p:cNvPr id="1866426046" name="Google Shape;363;p62"/>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12</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6469761" name="Google Shape;368;p63"/>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Types of Learning</a:t>
            </a:r>
            <a:endParaRPr/>
          </a:p>
        </p:txBody>
      </p:sp>
      <p:sp>
        <p:nvSpPr>
          <p:cNvPr id="154882566" name="Google Shape;369;p63"/>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Supervised Learning</a:t>
            </a:r>
            <a:endParaRPr/>
          </a:p>
          <a:p>
            <a:pPr marL="457200" lvl="0" indent="-342900" algn="l" rtl="0">
              <a:spcBef>
                <a:spcPts val="0"/>
              </a:spcBef>
              <a:spcAft>
                <a:spcPts val="0"/>
              </a:spcAft>
              <a:buSzPts val="1800"/>
              <a:buChar char="•"/>
              <a:defRPr/>
            </a:pPr>
            <a:r>
              <a:rPr lang="en"/>
              <a:t>Unsupervised Learning</a:t>
            </a:r>
            <a:endParaRPr/>
          </a:p>
          <a:p>
            <a:pPr marL="457200" lvl="0" indent="-342900" algn="l" rtl="0">
              <a:spcBef>
                <a:spcPts val="0"/>
              </a:spcBef>
              <a:spcAft>
                <a:spcPts val="0"/>
              </a:spcAft>
              <a:buSzPts val="1800"/>
              <a:buChar char="•"/>
              <a:defRPr/>
            </a:pPr>
            <a:r>
              <a:rPr lang="en"/>
              <a:t>Semi-Supervised Learning</a:t>
            </a:r>
            <a:endParaRPr/>
          </a:p>
          <a:p>
            <a:pPr marL="457200" lvl="0" indent="-342900" algn="l" rtl="0">
              <a:spcBef>
                <a:spcPts val="0"/>
              </a:spcBef>
              <a:spcAft>
                <a:spcPts val="0"/>
              </a:spcAft>
              <a:buSzPts val="1800"/>
              <a:buChar char="•"/>
              <a:defRPr/>
            </a:pPr>
            <a:r>
              <a:rPr lang="en"/>
              <a:t>Reinforcement Learning</a:t>
            </a:r>
            <a:endParaRPr/>
          </a:p>
          <a:p>
            <a:pPr marL="0" lvl="0" indent="0" algn="l" rtl="0">
              <a:spcBef>
                <a:spcPts val="280"/>
              </a:spcBef>
              <a:spcAft>
                <a:spcPts val="0"/>
              </a:spcAft>
              <a:buNone/>
              <a:defRPr/>
            </a:pPr>
            <a:endParaRPr/>
          </a:p>
        </p:txBody>
      </p:sp>
      <p:pic>
        <p:nvPicPr>
          <p:cNvPr id="1704105993" name="Google Shape;370;p63"/>
          <p:cNvPicPr/>
          <p:nvPr/>
        </p:nvPicPr>
        <p:blipFill rotWithShape="1">
          <a:blip r:embed="rId3">
            <a:alphaModFix/>
          </a:blip>
          <a:stretch/>
        </p:blipFill>
        <p:spPr bwMode="auto">
          <a:xfrm>
            <a:off x="4297451" y="746750"/>
            <a:ext cx="4534849" cy="3649999"/>
          </a:xfrm>
          <a:prstGeom prst="rect">
            <a:avLst/>
          </a:prstGeom>
          <a:noFill/>
          <a:ln>
            <a:noFill/>
          </a:ln>
        </p:spPr>
      </p:pic>
      <p:sp>
        <p:nvSpPr>
          <p:cNvPr id="1519708183" name="Google Shape;371;p63"/>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13</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63141496" name="Google Shape;376;p64"/>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How Supervised Learning Works</a:t>
            </a:r>
            <a:endParaRPr/>
          </a:p>
        </p:txBody>
      </p:sp>
      <p:sp>
        <p:nvSpPr>
          <p:cNvPr id="539311871" name="Google Shape;377;p64"/>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endParaRPr/>
          </a:p>
        </p:txBody>
      </p:sp>
      <p:sp>
        <p:nvSpPr>
          <p:cNvPr id="837592985" name="Google Shape;378;p64"/>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14</a:t>
            </a:fld>
            <a:endParaRPr/>
          </a:p>
        </p:txBody>
      </p:sp>
      <p:pic>
        <p:nvPicPr>
          <p:cNvPr id="2140906271" name="Google Shape;379;p64" title="images.drawio.png"/>
          <p:cNvPicPr/>
          <p:nvPr/>
        </p:nvPicPr>
        <p:blipFill rotWithShape="1">
          <a:blip r:embed="rId3">
            <a:alphaModFix/>
          </a:blip>
          <a:stretch/>
        </p:blipFill>
        <p:spPr bwMode="auto">
          <a:xfrm>
            <a:off x="579975" y="1532851"/>
            <a:ext cx="7984049" cy="25130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75021713" name="Google Shape;384;p65"/>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Supervised Learning</a:t>
            </a:r>
            <a:endParaRPr/>
          </a:p>
        </p:txBody>
      </p:sp>
      <p:sp>
        <p:nvSpPr>
          <p:cNvPr id="1055796810" name="Google Shape;385;p65"/>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Clr>
                <a:schemeClr val="dk1"/>
              </a:buClr>
              <a:buSzPts val="1100"/>
              <a:buFont typeface="Arial"/>
              <a:buNone/>
              <a:defRPr/>
            </a:pPr>
            <a:r>
              <a:rPr lang="en"/>
              <a:t>In supervised learning, the dataset is the collection of labeled examples </a:t>
            </a:r>
            <a:endParaRPr/>
          </a:p>
          <a:p>
            <a:pPr marL="0" lvl="0" indent="0" algn="l" rtl="0">
              <a:spcBef>
                <a:spcPts val="280"/>
              </a:spcBef>
              <a:spcAft>
                <a:spcPts val="0"/>
              </a:spcAft>
              <a:buClr>
                <a:schemeClr val="dk1"/>
              </a:buClr>
              <a:buSzPts val="1100"/>
              <a:buFont typeface="Arial"/>
              <a:buNone/>
              <a:defRPr/>
            </a:pPr>
            <a:endParaRPr/>
          </a:p>
          <a:p>
            <a:pPr marL="0" lvl="0" indent="0" algn="l" rtl="0">
              <a:spcBef>
                <a:spcPts val="280"/>
              </a:spcBef>
              <a:spcAft>
                <a:spcPts val="0"/>
              </a:spcAft>
              <a:buNone/>
              <a:defRPr/>
            </a:pPr>
            <a:endParaRPr/>
          </a:p>
          <a:p>
            <a:pPr marL="0" lvl="0" indent="0" algn="l" rtl="0">
              <a:spcBef>
                <a:spcPts val="280"/>
              </a:spcBef>
              <a:spcAft>
                <a:spcPts val="0"/>
              </a:spcAft>
              <a:buNone/>
              <a:defRPr/>
            </a:pPr>
            <a:endParaRPr/>
          </a:p>
          <a:p>
            <a:pPr marL="0" lvl="0" indent="0" algn="l" rtl="0">
              <a:spcBef>
                <a:spcPts val="280"/>
              </a:spcBef>
              <a:spcAft>
                <a:spcPts val="0"/>
              </a:spcAft>
              <a:buNone/>
              <a:defRPr/>
            </a:pPr>
            <a:endParaRPr/>
          </a:p>
          <a:p>
            <a:pPr marL="457200" lvl="0" indent="-342900" algn="l" rtl="0">
              <a:spcBef>
                <a:spcPts val="280"/>
              </a:spcBef>
              <a:spcAft>
                <a:spcPts val="0"/>
              </a:spcAft>
              <a:buSzPts val="1800"/>
              <a:buChar char="➢"/>
              <a:defRPr/>
            </a:pPr>
            <a:r>
              <a:rPr lang="en"/>
              <a:t>Each element 𝐱</a:t>
            </a:r>
            <a:r>
              <a:rPr lang="en" baseline="-25000"/>
              <a:t>𝑖</a:t>
            </a:r>
            <a:r>
              <a:rPr lang="en"/>
              <a:t> among 𝑚 is called a feature vector.</a:t>
            </a:r>
            <a:endParaRPr/>
          </a:p>
          <a:p>
            <a:pPr marL="914400" lvl="1" indent="-330200" algn="l" rtl="0">
              <a:spcBef>
                <a:spcPts val="0"/>
              </a:spcBef>
              <a:spcAft>
                <a:spcPts val="0"/>
              </a:spcAft>
              <a:buSzPts val="1600"/>
              <a:buChar char="○"/>
              <a:defRPr/>
            </a:pPr>
            <a:r>
              <a:rPr lang="en"/>
              <a:t>A feature vector is a vector in which each dimension contains a value that describes the example somehow.</a:t>
            </a:r>
            <a:endParaRPr/>
          </a:p>
          <a:p>
            <a:pPr marL="457200" lvl="0" indent="-342900" algn="l" rtl="0">
              <a:spcBef>
                <a:spcPts val="0"/>
              </a:spcBef>
              <a:spcAft>
                <a:spcPts val="0"/>
              </a:spcAft>
              <a:buSzPts val="1800"/>
              <a:buChar char="➢"/>
              <a:defRPr/>
            </a:pPr>
            <a:r>
              <a:rPr lang="en"/>
              <a:t>The label 𝑦</a:t>
            </a:r>
            <a:r>
              <a:rPr lang="en" baseline="-25000"/>
              <a:t>𝑖</a:t>
            </a:r>
            <a:r>
              <a:rPr lang="en"/>
              <a:t> can be either an element belonging to a finite set of classes {1, 2, . . . ,C}, or a real number.</a:t>
            </a:r>
            <a:endParaRPr/>
          </a:p>
          <a:p>
            <a:pPr marL="0" lvl="0" indent="0" algn="l" rtl="0">
              <a:spcBef>
                <a:spcPts val="280"/>
              </a:spcBef>
              <a:spcAft>
                <a:spcPts val="0"/>
              </a:spcAft>
              <a:buNone/>
              <a:defRPr/>
            </a:pPr>
            <a:endParaRPr/>
          </a:p>
        </p:txBody>
      </p:sp>
      <p:sp>
        <p:nvSpPr>
          <p:cNvPr id="1938230822" name="Google Shape;386;p65"/>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15</a:t>
            </a:fld>
            <a:endParaRPr/>
          </a:p>
        </p:txBody>
      </p:sp>
      <p:pic>
        <p:nvPicPr>
          <p:cNvPr id="38829649" name="Google Shape;387;p65" descr="\lbrace(\mathbf{x}_i,y_i)\rbrace_{i=1}^m&#10;%ac649de2-17bd-4044-99c4-34b781fe568c"/>
          <p:cNvPicPr/>
          <p:nvPr/>
        </p:nvPicPr>
        <p:blipFill rotWithShape="1">
          <a:blip r:embed="rId3">
            <a:alphaModFix/>
          </a:blip>
          <a:stretch/>
        </p:blipFill>
        <p:spPr bwMode="auto">
          <a:xfrm>
            <a:off x="3416200" y="1572775"/>
            <a:ext cx="1352550" cy="276225"/>
          </a:xfrm>
          <a:prstGeom prst="rect">
            <a:avLst/>
          </a:prstGeom>
          <a:noFill/>
          <a:ln>
            <a:noFill/>
          </a:ln>
        </p:spPr>
      </p:pic>
      <p:pic>
        <p:nvPicPr>
          <p:cNvPr id="1534718717" name="Google Shape;388;p65" descr="\mathbf{x}_i = [x_1, x_2, \dots, x_d]^T_i, i = 1. \dots, m&#10;%a251014d-68a1-411f-9229-80211f6a9677"/>
          <p:cNvPicPr/>
          <p:nvPr/>
        </p:nvPicPr>
        <p:blipFill rotWithShape="1">
          <a:blip r:embed="rId4">
            <a:alphaModFix/>
          </a:blip>
          <a:stretch/>
        </p:blipFill>
        <p:spPr bwMode="auto">
          <a:xfrm>
            <a:off x="1808775" y="2095500"/>
            <a:ext cx="4567399" cy="35737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258541" name="Google Shape;393;p66"/>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Supervised Learning</a:t>
            </a:r>
            <a:endParaRPr/>
          </a:p>
        </p:txBody>
      </p:sp>
      <p:sp>
        <p:nvSpPr>
          <p:cNvPr id="1450446845" name="Google Shape;394;p66"/>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For instance, if your examples are email messages and your problem is spam detection, then you have two classes {spam, not-spam}.</a:t>
            </a:r>
            <a:endParaRPr/>
          </a:p>
          <a:p>
            <a:pPr marL="457200" lvl="0" indent="-342900" algn="l" rtl="0">
              <a:spcBef>
                <a:spcPts val="0"/>
              </a:spcBef>
              <a:spcAft>
                <a:spcPts val="0"/>
              </a:spcAft>
              <a:buSzPts val="1800"/>
              <a:buChar char="•"/>
              <a:defRPr/>
            </a:pPr>
            <a:r>
              <a:rPr lang="en" b="1"/>
              <a:t>Classification</a:t>
            </a:r>
            <a:r>
              <a:rPr lang="en"/>
              <a:t>: predict discrete valued output (e.g., </a:t>
            </a:r>
            <a:r>
              <a:rPr lang="en">
                <a:solidFill>
                  <a:srgbClr val="CE0000"/>
                </a:solidFill>
              </a:rPr>
              <a:t>0</a:t>
            </a:r>
            <a:r>
              <a:rPr lang="en"/>
              <a:t> or </a:t>
            </a:r>
            <a:r>
              <a:rPr lang="en">
                <a:solidFill>
                  <a:srgbClr val="4A86E8"/>
                </a:solidFill>
              </a:rPr>
              <a:t>1, </a:t>
            </a:r>
            <a:r>
              <a:rPr lang="en">
                <a:solidFill>
                  <a:schemeClr val="accent2"/>
                </a:solidFill>
              </a:rPr>
              <a:t>spam</a:t>
            </a:r>
            <a:r>
              <a:rPr lang="en"/>
              <a:t> or </a:t>
            </a:r>
            <a:r>
              <a:rPr lang="en">
                <a:solidFill>
                  <a:srgbClr val="4A86E8"/>
                </a:solidFill>
              </a:rPr>
              <a:t>ham</a:t>
            </a:r>
            <a:r>
              <a:rPr lang="en"/>
              <a:t>)</a:t>
            </a:r>
            <a:endParaRPr/>
          </a:p>
        </p:txBody>
      </p:sp>
      <p:sp>
        <p:nvSpPr>
          <p:cNvPr id="33410379" name="Google Shape;395;p66"/>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16</a:t>
            </a:fld>
            <a:endParaRPr/>
          </a:p>
        </p:txBody>
      </p:sp>
      <p:sp>
        <p:nvSpPr>
          <p:cNvPr id="2000606086" name="Google Shape;396;p66"/>
          <p:cNvSpPr txBox="1">
            <a:spLocks noGrp="1"/>
          </p:cNvSpPr>
          <p:nvPr>
            <p:ph type="body" idx="1"/>
          </p:nvPr>
        </p:nvSpPr>
        <p:spPr bwMode="auto">
          <a:xfrm>
            <a:off x="1754125" y="2155975"/>
            <a:ext cx="2731800" cy="2471400"/>
          </a:xfrm>
          <a:prstGeom prst="rect">
            <a:avLst/>
          </a:prstGeom>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280"/>
              </a:spcBef>
              <a:spcAft>
                <a:spcPts val="0"/>
              </a:spcAft>
              <a:buNone/>
              <a:defRPr/>
            </a:pPr>
            <a:r>
              <a:rPr lang="en"/>
              <a:t>Free entry in 2 a wkly comp to win FA Cup final tkts 21st May 2005. Text FA to 87121 to receive entry question(std txt rate)T&amp;C's apply 08452810075over18's</a:t>
            </a:r>
            <a:endParaRPr/>
          </a:p>
        </p:txBody>
      </p:sp>
      <p:sp>
        <p:nvSpPr>
          <p:cNvPr id="1371405287" name="Google Shape;397;p66"/>
          <p:cNvSpPr/>
          <p:nvPr/>
        </p:nvSpPr>
        <p:spPr bwMode="auto">
          <a:xfrm>
            <a:off x="4529700" y="3219775"/>
            <a:ext cx="1134000" cy="3438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780520792" name="Google Shape;398;p66"/>
          <p:cNvSpPr txBox="1"/>
          <p:nvPr/>
        </p:nvSpPr>
        <p:spPr bwMode="auto">
          <a:xfrm>
            <a:off x="5707475" y="3160825"/>
            <a:ext cx="1682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Ham or </a:t>
            </a:r>
            <a:r>
              <a:rPr lang="en" sz="1800">
                <a:solidFill>
                  <a:srgbClr val="890018"/>
                </a:solidFill>
              </a:rPr>
              <a:t>Spam</a:t>
            </a:r>
            <a:endParaRPr sz="1800">
              <a:solidFill>
                <a:srgbClr val="890018"/>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5173097" name="Google Shape;403;p67"/>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Classification: Breast Cancer (malignant, </a:t>
            </a:r>
            <a:r>
              <a:rPr lang="en">
                <a:solidFill>
                  <a:srgbClr val="4A86E8"/>
                </a:solidFill>
              </a:rPr>
              <a:t>benign</a:t>
            </a:r>
            <a:r>
              <a:rPr lang="en"/>
              <a:t>)</a:t>
            </a:r>
            <a:endParaRPr/>
          </a:p>
        </p:txBody>
      </p:sp>
      <p:sp>
        <p:nvSpPr>
          <p:cNvPr id="1096378635" name="Google Shape;404;p67"/>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endParaRPr/>
          </a:p>
        </p:txBody>
      </p:sp>
      <p:sp>
        <p:nvSpPr>
          <p:cNvPr id="566223065" name="Google Shape;405;p67"/>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17</a:t>
            </a:fld>
            <a:endParaRPr/>
          </a:p>
        </p:txBody>
      </p:sp>
      <p:pic>
        <p:nvPicPr>
          <p:cNvPr id="784412309" name="Google Shape;406;p67"/>
          <p:cNvPicPr/>
          <p:nvPr/>
        </p:nvPicPr>
        <p:blipFill rotWithShape="1">
          <a:blip r:embed="rId3">
            <a:alphaModFix/>
          </a:blip>
          <a:stretch/>
        </p:blipFill>
        <p:spPr bwMode="auto">
          <a:xfrm>
            <a:off x="964125" y="1152475"/>
            <a:ext cx="7215755" cy="3416399"/>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60784063" name="Google Shape;411;p68"/>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Un-Supervised Learning</a:t>
            </a:r>
            <a:endParaRPr/>
          </a:p>
        </p:txBody>
      </p:sp>
      <p:sp>
        <p:nvSpPr>
          <p:cNvPr id="1159077672" name="Google Shape;412;p68"/>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In unsupervised learning, the dataset is a collection of unlabeled examples </a:t>
            </a:r>
            <a:endParaRPr/>
          </a:p>
          <a:p>
            <a:pPr marL="457200" lvl="0" indent="0" algn="l" rtl="0">
              <a:spcBef>
                <a:spcPts val="280"/>
              </a:spcBef>
              <a:spcAft>
                <a:spcPts val="0"/>
              </a:spcAft>
              <a:buNone/>
              <a:defRPr/>
            </a:pPr>
            <a:endParaRPr/>
          </a:p>
          <a:p>
            <a:pPr marL="457200" lvl="0" indent="0" algn="l" rtl="0">
              <a:spcBef>
                <a:spcPts val="280"/>
              </a:spcBef>
              <a:spcAft>
                <a:spcPts val="0"/>
              </a:spcAft>
              <a:buNone/>
              <a:defRPr/>
            </a:pPr>
            <a:endParaRPr/>
          </a:p>
          <a:p>
            <a:pPr marL="457200" lvl="0" indent="-342900" algn="l" rtl="0">
              <a:spcBef>
                <a:spcPts val="280"/>
              </a:spcBef>
              <a:spcAft>
                <a:spcPts val="0"/>
              </a:spcAft>
              <a:buSzPts val="1800"/>
              <a:buChar char="•"/>
              <a:defRPr/>
            </a:pPr>
            <a:r>
              <a:rPr lang="en"/>
              <a:t>Again, </a:t>
            </a:r>
            <a:r>
              <a:rPr lang="en" b="1"/>
              <a:t>x</a:t>
            </a:r>
            <a:r>
              <a:rPr lang="en"/>
              <a:t> is a feature vector, and the goal of an </a:t>
            </a:r>
            <a:r>
              <a:rPr lang="en" b="1"/>
              <a:t>unsupervised learning algorithm</a:t>
            </a:r>
            <a:r>
              <a:rPr lang="en"/>
              <a:t> is to create a </a:t>
            </a:r>
            <a:r>
              <a:rPr lang="en" b="1"/>
              <a:t>model</a:t>
            </a:r>
            <a:r>
              <a:rPr lang="en"/>
              <a:t> that takes a feature vector </a:t>
            </a:r>
            <a:r>
              <a:rPr lang="en" b="1"/>
              <a:t>x</a:t>
            </a:r>
            <a:r>
              <a:rPr lang="en"/>
              <a:t> as input and either </a:t>
            </a:r>
            <a:r>
              <a:rPr lang="en">
                <a:solidFill>
                  <a:srgbClr val="4A86E8"/>
                </a:solidFill>
              </a:rPr>
              <a:t>transforms it into another vector or into a value</a:t>
            </a:r>
            <a:r>
              <a:rPr lang="en"/>
              <a:t> that can be used to solve a practical problem.</a:t>
            </a:r>
            <a:endParaRPr/>
          </a:p>
        </p:txBody>
      </p:sp>
      <p:sp>
        <p:nvSpPr>
          <p:cNvPr id="320238918" name="Google Shape;413;p68"/>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18</a:t>
            </a:fld>
            <a:endParaRPr/>
          </a:p>
        </p:txBody>
      </p:sp>
      <p:pic>
        <p:nvPicPr>
          <p:cNvPr id="1543313775" name="Google Shape;414;p68" descr="\lbrace\mathbf{x}_i\rbrace_{i=1}^m &#10;%d02d74bb-0c72-4b4a-9578-3f6fa42487b3"/>
          <p:cNvPicPr/>
          <p:nvPr/>
        </p:nvPicPr>
        <p:blipFill rotWithShape="1">
          <a:blip r:embed="rId3">
            <a:alphaModFix/>
          </a:blip>
          <a:stretch/>
        </p:blipFill>
        <p:spPr bwMode="auto">
          <a:xfrm>
            <a:off x="4070913" y="1609350"/>
            <a:ext cx="1002175" cy="3365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17262173" name="Google Shape;419;p69"/>
          <p:cNvSpPr txBox="1">
            <a:spLocks noGrp="1"/>
          </p:cNvSpPr>
          <p:nvPr>
            <p:ph type="body" idx="1"/>
          </p:nvPr>
        </p:nvSpPr>
        <p:spPr bwMode="auto">
          <a:xfrm>
            <a:off x="2140500" y="4289075"/>
            <a:ext cx="5998800" cy="605100"/>
          </a:xfrm>
          <a:prstGeom prst="rect">
            <a:avLst/>
          </a:prstGeom>
        </p:spPr>
        <p:txBody>
          <a:bodyPr spcFirstLastPara="1" wrap="square" lIns="91425" tIns="45700" rIns="91425" bIns="45700" anchor="ctr" anchorCtr="0">
            <a:normAutofit/>
          </a:bodyPr>
          <a:lstStyle/>
          <a:p>
            <a:pPr marL="0" lvl="0" indent="0" algn="l" rtl="0">
              <a:spcBef>
                <a:spcPts val="280"/>
              </a:spcBef>
              <a:spcAft>
                <a:spcPts val="0"/>
              </a:spcAft>
              <a:buNone/>
              <a:defRPr/>
            </a:pPr>
            <a:r>
              <a:rPr lang="en"/>
              <a:t>Pictorial summary</a:t>
            </a:r>
            <a:endParaRPr/>
          </a:p>
        </p:txBody>
      </p:sp>
      <p:sp>
        <p:nvSpPr>
          <p:cNvPr id="708803577" name="Google Shape;420;p69"/>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19</a:t>
            </a:fld>
            <a:endParaRPr/>
          </a:p>
        </p:txBody>
      </p:sp>
      <p:pic>
        <p:nvPicPr>
          <p:cNvPr id="481867313" name="Google Shape;421;p69"/>
          <p:cNvPicPr/>
          <p:nvPr/>
        </p:nvPicPr>
        <p:blipFill rotWithShape="1">
          <a:blip r:embed="rId3">
            <a:alphaModFix/>
          </a:blip>
          <a:stretch/>
        </p:blipFill>
        <p:spPr bwMode="auto">
          <a:xfrm>
            <a:off x="49975" y="971713"/>
            <a:ext cx="4315901" cy="2488374"/>
          </a:xfrm>
          <a:prstGeom prst="rect">
            <a:avLst/>
          </a:prstGeom>
          <a:noFill/>
          <a:ln>
            <a:noFill/>
          </a:ln>
        </p:spPr>
      </p:pic>
      <p:pic>
        <p:nvPicPr>
          <p:cNvPr id="785643131" name="Google Shape;422;p69"/>
          <p:cNvPicPr/>
          <p:nvPr/>
        </p:nvPicPr>
        <p:blipFill rotWithShape="1">
          <a:blip r:embed="rId4">
            <a:alphaModFix/>
          </a:blip>
          <a:stretch/>
        </p:blipFill>
        <p:spPr bwMode="auto">
          <a:xfrm>
            <a:off x="4705250" y="971713"/>
            <a:ext cx="4315901" cy="2488381"/>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2537985" name="Google Shape;427;p70"/>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20</a:t>
            </a:fld>
            <a:endParaRPr/>
          </a:p>
        </p:txBody>
      </p:sp>
      <p:pic>
        <p:nvPicPr>
          <p:cNvPr id="2072802633" name="Google Shape;428;p70"/>
          <p:cNvPicPr/>
          <p:nvPr/>
        </p:nvPicPr>
        <p:blipFill rotWithShape="1">
          <a:blip r:embed="rId3">
            <a:alphaModFix/>
          </a:blip>
          <a:stretch/>
        </p:blipFill>
        <p:spPr bwMode="auto">
          <a:xfrm>
            <a:off x="1167525" y="262125"/>
            <a:ext cx="6808949" cy="3925774"/>
          </a:xfrm>
          <a:prstGeom prst="rect">
            <a:avLst/>
          </a:prstGeom>
          <a:noFill/>
          <a:ln>
            <a:noFill/>
          </a:ln>
        </p:spPr>
      </p:pic>
      <p:sp>
        <p:nvSpPr>
          <p:cNvPr id="1082309288" name="Google Shape;429;p70"/>
          <p:cNvSpPr txBox="1">
            <a:spLocks noGrp="1"/>
          </p:cNvSpPr>
          <p:nvPr>
            <p:ph type="body" idx="1"/>
          </p:nvPr>
        </p:nvSpPr>
        <p:spPr bwMode="auto">
          <a:xfrm>
            <a:off x="2140500" y="4289075"/>
            <a:ext cx="5998800" cy="605100"/>
          </a:xfrm>
          <a:prstGeom prst="rect">
            <a:avLst/>
          </a:prstGeom>
        </p:spPr>
        <p:txBody>
          <a:bodyPr spcFirstLastPara="1" wrap="square" lIns="91425" tIns="45700" rIns="91425" bIns="45700" anchor="ctr" anchorCtr="0">
            <a:normAutofit/>
          </a:bodyPr>
          <a:lstStyle/>
          <a:p>
            <a:pPr marL="0" lvl="0" indent="0" algn="l" rtl="0">
              <a:spcBef>
                <a:spcPts val="280"/>
              </a:spcBef>
              <a:spcAft>
                <a:spcPts val="0"/>
              </a:spcAft>
              <a:buNone/>
              <a:defRPr/>
            </a:pPr>
            <a:r>
              <a:rPr lang="en"/>
              <a:t>Pictorial summary</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89886803" name="Google Shape;434;p71"/>
          <p:cNvSpPr txBox="1">
            <a:spLocks noGrp="1"/>
          </p:cNvSpPr>
          <p:nvPr>
            <p:ph type="ctrTitle"/>
          </p:nvPr>
        </p:nvSpPr>
        <p:spPr bwMode="auto">
          <a:xfrm>
            <a:off x="257175" y="1246732"/>
            <a:ext cx="7772400" cy="1060200"/>
          </a:xfrm>
          <a:prstGeom prst="rect">
            <a:avLst/>
          </a:prstGeom>
        </p:spPr>
        <p:txBody>
          <a:bodyPr spcFirstLastPara="1" wrap="square" lIns="91425" tIns="45700" rIns="91425" bIns="45700" anchor="ctr" anchorCtr="0">
            <a:noAutofit/>
          </a:bodyPr>
          <a:lstStyle/>
          <a:p>
            <a:pPr>
              <a:defRPr/>
            </a:pPr>
            <a:r>
              <a:t>NLP and the AI Landscape</a:t>
            </a:r>
          </a:p>
        </p:txBody>
      </p:sp>
      <p:sp>
        <p:nvSpPr>
          <p:cNvPr id="217735906" name="Google Shape;435;p71"/>
          <p:cNvSpPr txBox="1">
            <a:spLocks noGrp="1"/>
          </p:cNvSpPr>
          <p:nvPr>
            <p:ph type="subTitle" idx="1"/>
          </p:nvPr>
        </p:nvSpPr>
        <p:spPr bwMode="auto">
          <a:xfrm>
            <a:off x="253128" y="2456199"/>
            <a:ext cx="6400800" cy="1314600"/>
          </a:xfrm>
          <a:prstGeom prst="rect">
            <a:avLst/>
          </a:prstGeom>
        </p:spPr>
        <p:txBody>
          <a:bodyPr spcFirstLastPara="1" wrap="square" lIns="91425" tIns="45700" rIns="91425" bIns="45700" anchor="t" anchorCtr="0">
            <a:normAutofit/>
          </a:bodyPr>
          <a:lstStyle/>
          <a:p>
            <a:pPr marL="0" lvl="0" indent="0" algn="l" rtl="0">
              <a:spcBef>
                <a:spcPts val="400"/>
              </a:spcBef>
              <a:spcAft>
                <a:spcPts val="0"/>
              </a:spcAft>
              <a:buNone/>
              <a:defRPr/>
            </a:pPr>
            <a:endParaRPr/>
          </a:p>
        </p:txBody>
      </p:sp>
      <p:sp>
        <p:nvSpPr>
          <p:cNvPr id="649080016" name="Google Shape;436;p71"/>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defRPr/>
            </a:pPr>
            <a:fld id="{00000000-1234-1234-1234-123412341234}" type="slidenum">
              <a:rPr lang="en" sz="1300">
                <a:solidFill>
                  <a:schemeClr val="dk1"/>
                </a:solidFill>
              </a:rPr>
              <a:t>21</a:t>
            </a:fld>
            <a:endParaRPr sz="1300">
              <a:solidFill>
                <a:schemeClr val="dk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80447431" name="Title 1"/>
          <p:cNvSpPr>
            <a:spLocks noGrp="1"/>
          </p:cNvSpPr>
          <p:nvPr>
            <p:ph type="title"/>
          </p:nvPr>
        </p:nvSpPr>
        <p:spPr bwMode="auto"/>
        <p:txBody>
          <a:bodyPr/>
          <a:lstStyle/>
          <a:p>
            <a:pPr>
              <a:defRPr/>
            </a:pPr>
            <a:r>
              <a:t>What Is NLP? (And What It Is Not)</a:t>
            </a:r>
          </a:p>
        </p:txBody>
      </p:sp>
      <p:sp>
        <p:nvSpPr>
          <p:cNvPr id="396977062" name="Text Placeholder 2"/>
          <p:cNvSpPr>
            <a:spLocks noGrp="1"/>
          </p:cNvSpPr>
          <p:nvPr>
            <p:ph type="body" idx="1"/>
          </p:nvPr>
        </p:nvSpPr>
        <p:spPr bwMode="auto"/>
        <p:txBody>
          <a:bodyPr/>
          <a:lstStyle/>
          <a:p>
            <a:pPr>
              <a:defRPr/>
            </a:pPr>
            <a:r>
              <a:t>NLP sits at the intersection of linguistics, computer science, and statistics</a:t>
            </a:r>
          </a:p>
          <a:p>
            <a:pPr lvl="1">
              <a:defRPr/>
            </a:pPr>
            <a:r>
              <a:rPr sz="1800"/>
              <a:t>The goal: enable machines to process, understand, and generate human language</a:t>
            </a:r>
            <a:endParaRPr/>
          </a:p>
          <a:p>
            <a:pPr>
              <a:defRPr/>
            </a:pPr>
            <a:r>
              <a:t>Distinguishing NLP from adjacent fields:</a:t>
            </a:r>
          </a:p>
          <a:p>
            <a:pPr lvl="1">
              <a:defRPr/>
            </a:pPr>
            <a:r>
              <a:rPr sz="1800"/>
              <a:t>Computer vision -- images, not text</a:t>
            </a:r>
            <a:endParaRPr/>
          </a:p>
          <a:p>
            <a:pPr lvl="1">
              <a:defRPr/>
            </a:pPr>
            <a:r>
              <a:rPr sz="1800"/>
              <a:t>Classical symbolic AI -- rule-based logical inference</a:t>
            </a:r>
            <a:endParaRPr/>
          </a:p>
          <a:p>
            <a:pPr lvl="1">
              <a:defRPr/>
            </a:pPr>
            <a:r>
              <a:rPr sz="1800"/>
              <a:t>Information retrieval -- finding documents, not understanding them</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8295206" name="Title 1"/>
          <p:cNvSpPr>
            <a:spLocks noGrp="1"/>
          </p:cNvSpPr>
          <p:nvPr>
            <p:ph type="title"/>
          </p:nvPr>
        </p:nvSpPr>
        <p:spPr bwMode="auto"/>
        <p:txBody>
          <a:bodyPr/>
          <a:lstStyle/>
          <a:p>
            <a:pPr>
              <a:defRPr/>
            </a:pPr>
            <a:r>
              <a:t>The Core NLP Task Types</a:t>
            </a:r>
          </a:p>
        </p:txBody>
      </p:sp>
      <p:sp>
        <p:nvSpPr>
          <p:cNvPr id="764303413" name="Text Placeholder 2"/>
          <p:cNvSpPr>
            <a:spLocks noGrp="1"/>
          </p:cNvSpPr>
          <p:nvPr>
            <p:ph type="body" idx="1"/>
          </p:nvPr>
        </p:nvSpPr>
        <p:spPr bwMode="auto"/>
        <p:txBody>
          <a:bodyPr/>
          <a:lstStyle/>
          <a:p>
            <a:pPr>
              <a:defRPr/>
            </a:pPr>
            <a:r>
              <a:t>Text classification -- predict a document-level label</a:t>
            </a:r>
          </a:p>
          <a:p>
            <a:pPr lvl="1">
              <a:defRPr/>
            </a:pPr>
            <a:r>
              <a:rPr sz="1800"/>
              <a:t>Spam email detection, sentiment classification</a:t>
            </a:r>
            <a:endParaRPr/>
          </a:p>
          <a:p>
            <a:pPr>
              <a:defRPr/>
            </a:pPr>
            <a:r>
              <a:t>Sequence labelling -- predict a label per token</a:t>
            </a:r>
          </a:p>
          <a:p>
            <a:pPr lvl="1">
              <a:defRPr/>
            </a:pPr>
            <a:r>
              <a:rPr sz="1800"/>
              <a:t>Part-of-speech tagging (POS), named entity recognition (NER)</a:t>
            </a:r>
            <a:endParaRPr/>
          </a:p>
          <a:p>
            <a:pPr>
              <a:defRPr/>
            </a:pPr>
            <a:r>
              <a:t>Structured prediction -- predict a structure over the whole input</a:t>
            </a:r>
          </a:p>
          <a:p>
            <a:pPr lvl="1">
              <a:defRPr/>
            </a:pPr>
            <a:r>
              <a:rPr sz="1800"/>
              <a:t>Dependency parsing, coreference resolution</a:t>
            </a:r>
            <a:endParaRPr/>
          </a:p>
          <a:p>
            <a:pPr>
              <a:defRPr/>
            </a:pPr>
            <a:r>
              <a:t>Language generation -- produce new text</a:t>
            </a:r>
          </a:p>
          <a:p>
            <a:pPr lvl="1">
              <a:defRPr/>
            </a:pPr>
            <a:r>
              <a:rPr sz="1800"/>
              <a:t>Machine translation, summarisation, dialogue/chatbot response</a:t>
            </a:r>
            <a:endParaRPr/>
          </a:p>
          <a:p>
            <a:pPr>
              <a:defRPr/>
            </a:pPr>
            <a:r>
              <a:t>Question answering -- extractive (find the span) or generative (produce the answer)</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149629" name="Title 1"/>
          <p:cNvSpPr>
            <a:spLocks noGrp="1"/>
          </p:cNvSpPr>
          <p:nvPr>
            <p:ph type="ctrTitle"/>
          </p:nvPr>
        </p:nvSpPr>
        <p:spPr bwMode="auto"/>
        <p:txBody>
          <a:bodyPr/>
          <a:lstStyle/>
          <a:p>
            <a:pPr>
              <a:defRPr/>
            </a:pPr>
            <a:r>
              <a:t>Why Language Is Hard</a:t>
            </a:r>
          </a:p>
        </p:txBody>
      </p:sp>
      <p:sp>
        <p:nvSpPr>
          <p:cNvPr id="1253067917" name="Subtitle 2"/>
          <p:cNvSpPr>
            <a:spLocks noGrp="1"/>
          </p:cNvSpPr>
          <p:nvPr>
            <p:ph type="subTitle" idx="1"/>
          </p:nvPr>
        </p:nvSpPr>
        <p:spPr bwMode="auto"/>
        <p:txBody>
          <a:bodyPr/>
          <a:lstStyle/>
          <a:p>
            <a:pPr>
              <a:defRPr/>
            </a:pPr>
            <a:r>
              <a:t>Ambiguity, and the NLP Pipeline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21695880" name="Title 1"/>
          <p:cNvSpPr>
            <a:spLocks noGrp="1"/>
          </p:cNvSpPr>
          <p:nvPr>
            <p:ph type="title"/>
          </p:nvPr>
        </p:nvSpPr>
        <p:spPr bwMode="auto"/>
        <p:txBody>
          <a:bodyPr/>
          <a:lstStyle/>
          <a:p>
            <a:pPr>
              <a:defRPr/>
            </a:pPr>
            <a:r>
              <a:t>Sources of Ambiguity</a:t>
            </a:r>
          </a:p>
        </p:txBody>
      </p:sp>
      <p:sp>
        <p:nvSpPr>
          <p:cNvPr id="1648898812" name="Text Placeholder 2"/>
          <p:cNvSpPr>
            <a:spLocks noGrp="1"/>
          </p:cNvSpPr>
          <p:nvPr>
            <p:ph type="body" idx="1"/>
          </p:nvPr>
        </p:nvSpPr>
        <p:spPr bwMode="auto"/>
        <p:txBody>
          <a:bodyPr>
            <a:normAutofit lnSpcReduction="10000"/>
          </a:bodyPr>
          <a:lstStyle/>
          <a:p>
            <a:pPr>
              <a:defRPr/>
            </a:pPr>
            <a:r>
              <a:t>Lexical ambiguity</a:t>
            </a:r>
          </a:p>
          <a:p>
            <a:pPr lvl="1">
              <a:defRPr/>
            </a:pPr>
            <a:r>
              <a:rPr sz="1800"/>
              <a:t>"bank" — a financial institution, or a river bank?</a:t>
            </a:r>
            <a:endParaRPr/>
          </a:p>
          <a:p>
            <a:pPr>
              <a:defRPr/>
            </a:pPr>
            <a:r>
              <a:t>Syntactic ambiguity</a:t>
            </a:r>
          </a:p>
          <a:p>
            <a:pPr lvl="1">
              <a:defRPr/>
            </a:pPr>
            <a:r>
              <a:rPr sz="1800"/>
              <a:t>"I saw the man with the telescope." — who has the telescope?</a:t>
            </a:r>
            <a:endParaRPr/>
          </a:p>
          <a:p>
            <a:pPr>
              <a:defRPr/>
            </a:pPr>
            <a:r>
              <a:t>Semantic ambiguity</a:t>
            </a:r>
          </a:p>
          <a:p>
            <a:pPr lvl="1">
              <a:defRPr/>
            </a:pPr>
            <a:r>
              <a:rPr sz="1800"/>
              <a:t>"Every student read a book." — the same book, or one each?</a:t>
            </a:r>
            <a:endParaRPr/>
          </a:p>
          <a:p>
            <a:pPr>
              <a:defRPr/>
            </a:pPr>
            <a:r>
              <a:t>Coreference</a:t>
            </a:r>
          </a:p>
          <a:p>
            <a:pPr lvl="1">
              <a:defRPr/>
            </a:pPr>
            <a:r>
              <a:rPr sz="1800"/>
              <a:t>"Mary told Sue she was late." — who was late?</a:t>
            </a:r>
            <a:endParaRPr/>
          </a:p>
          <a:p>
            <a:pPr>
              <a:defRPr/>
            </a:pPr>
            <a:r>
              <a:t>World knowledge</a:t>
            </a:r>
          </a:p>
          <a:p>
            <a:pPr lvl="1">
              <a:defRPr/>
            </a:pPr>
            <a:r>
              <a:rPr sz="1800"/>
              <a:t>"The chicken was too hot to eat." — the chicken is food, not an animal in distress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62663986" name="Title 1"/>
          <p:cNvSpPr>
            <a:spLocks noGrp="1"/>
          </p:cNvSpPr>
          <p:nvPr>
            <p:ph type="title"/>
          </p:nvPr>
        </p:nvSpPr>
        <p:spPr bwMode="auto"/>
        <p:txBody>
          <a:bodyPr/>
          <a:lstStyle/>
          <a:p>
            <a:pPr>
              <a:defRPr/>
            </a:pPr>
            <a:r>
              <a:t>Ambiguity in Action</a:t>
            </a:r>
          </a:p>
        </p:txBody>
      </p:sp>
      <p:sp>
        <p:nvSpPr>
          <p:cNvPr id="933140820" name="Text Placeholder 2"/>
          <p:cNvSpPr>
            <a:spLocks noGrp="1"/>
          </p:cNvSpPr>
          <p:nvPr>
            <p:ph type="body" idx="1"/>
          </p:nvPr>
        </p:nvSpPr>
        <p:spPr bwMode="auto"/>
        <p:txBody>
          <a:bodyPr>
            <a:normAutofit lnSpcReduction="10000"/>
          </a:bodyPr>
          <a:lstStyle/>
          <a:p>
            <a:pPr>
              <a:defRPr/>
            </a:pPr>
            <a:r>
              <a:t>"Time flies like an arrow; fruit flies like a banana."</a:t>
            </a:r>
          </a:p>
          <a:p>
            <a:pPr lvl="1">
              <a:defRPr/>
            </a:pPr>
            <a:r>
              <a:rPr sz="1800"/>
              <a:t>"flies" is ambiguous — noun (fruit flies) or verb (time flies)?</a:t>
            </a:r>
            <a:endParaRPr/>
          </a:p>
          <a:p>
            <a:pPr lvl="1">
              <a:defRPr/>
            </a:pPr>
            <a:r>
              <a:rPr sz="1800"/>
              <a:t>Resolving it requires world knowledge (fruit flies are insects), not just grammar</a:t>
            </a:r>
            <a:endParaRPr/>
          </a:p>
          <a:p>
            <a:pPr>
              <a:defRPr/>
            </a:pPr>
            <a:r>
              <a:t>Pattern matching is not understanding</a:t>
            </a:r>
          </a:p>
          <a:p>
            <a:pPr lvl="1">
              <a:defRPr/>
            </a:pPr>
            <a:r>
              <a:rPr sz="1800"/>
              <a:t>A model can learn "Paris is the capital of France" — and just as confidently assert a false claim if it appears in training data</a:t>
            </a:r>
            <a:endParaRPr/>
          </a:p>
          <a:p>
            <a:pPr>
              <a:defRPr/>
            </a:pPr>
            <a:r>
              <a:t>What would "understanding" actually require?</a:t>
            </a:r>
          </a:p>
          <a:p>
            <a:pPr lvl="1">
              <a:defRPr/>
            </a:pPr>
            <a:r>
              <a:rPr sz="1800"/>
              <a:t>Grounding in the physical world, common-sense reasoning, distinguishing assertion from implication</a:t>
            </a:r>
            <a:endParaRPr/>
          </a:p>
          <a:p>
            <a:pPr lvl="1">
              <a:defRPr/>
            </a:pPr>
            <a:r>
              <a:rPr sz="1800"/>
              <a:t>No model today fully achieves this -- worth being honest about from Week 1</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31273474" name="Title 1"/>
          <p:cNvSpPr>
            <a:spLocks noGrp="1"/>
          </p:cNvSpPr>
          <p:nvPr>
            <p:ph type="title"/>
          </p:nvPr>
        </p:nvSpPr>
        <p:spPr bwMode="auto"/>
        <p:txBody>
          <a:bodyPr/>
          <a:lstStyle/>
          <a:p>
            <a:pPr>
              <a:defRPr/>
            </a:pPr>
            <a:r>
              <a:t>The NLP Pipeline</a:t>
            </a:r>
          </a:p>
        </p:txBody>
      </p:sp>
      <p:sp>
        <p:nvSpPr>
          <p:cNvPr id="228072968" name="Text Placeholder 2"/>
          <p:cNvSpPr>
            <a:spLocks noGrp="1"/>
          </p:cNvSpPr>
          <p:nvPr>
            <p:ph type="body" idx="1"/>
          </p:nvPr>
        </p:nvSpPr>
        <p:spPr bwMode="auto"/>
        <p:txBody>
          <a:bodyPr/>
          <a:lstStyle/>
          <a:p>
            <a:pPr>
              <a:defRPr/>
            </a:pPr>
            <a:r>
              <a:t>Raw text → Tokens → Representations → Task output</a:t>
            </a:r>
          </a:p>
          <a:p>
            <a:pPr lvl="1">
              <a:defRPr/>
            </a:pPr>
            <a:r>
              <a:rPr sz="1800"/>
              <a:t>Raw text: the original string, exactly as written</a:t>
            </a:r>
            <a:endParaRPr/>
          </a:p>
          <a:p>
            <a:pPr lvl="1">
              <a:defRPr/>
            </a:pPr>
            <a:r>
              <a:rPr sz="1800"/>
              <a:t>Tokens: text split into units a model can consume </a:t>
            </a:r>
            <a:endParaRPr/>
          </a:p>
          <a:p>
            <a:pPr lvl="1">
              <a:defRPr/>
            </a:pPr>
            <a:r>
              <a:rPr sz="1800"/>
              <a:t>Representations: tokens turned into vectors a model can compute with (Weeks 3, 9)</a:t>
            </a:r>
            <a:endParaRPr/>
          </a:p>
          <a:p>
            <a:pPr lvl="1">
              <a:defRPr/>
            </a:pPr>
            <a:r>
              <a:rPr sz="1800"/>
              <a:t>Task output: the label, span, or sequence the model produces</a:t>
            </a:r>
            <a:endParaRPr/>
          </a:p>
          <a:p>
            <a:pPr>
              <a:defRPr/>
            </a:pPr>
            <a:r>
              <a:t>Every system built in this course lives somewhere on this stack</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04476289" name="Title 1"/>
          <p:cNvSpPr>
            <a:spLocks noGrp="1"/>
          </p:cNvSpPr>
          <p:nvPr>
            <p:ph type="ctrTitle"/>
          </p:nvPr>
        </p:nvSpPr>
        <p:spPr bwMode="auto"/>
        <p:txBody>
          <a:bodyPr/>
          <a:lstStyle/>
          <a:p>
            <a:pPr>
              <a:defRPr/>
            </a:pPr>
            <a:r>
              <a:t>A Brief History of NLP</a:t>
            </a:r>
          </a:p>
        </p:txBody>
      </p:sp>
      <p:sp>
        <p:nvSpPr>
          <p:cNvPr id="1064848664" name="Subtitle 2"/>
          <p:cNvSpPr>
            <a:spLocks noGrp="1"/>
          </p:cNvSpPr>
          <p:nvPr>
            <p:ph type="subTitle" idx="1"/>
          </p:nvPr>
        </p:nvSpPr>
        <p:spPr bwMode="auto"/>
        <p:txBody>
          <a:bodyPr/>
          <a:lstStyle/>
          <a:p>
            <a:pPr>
              <a:defRPr/>
            </a:pPr>
            <a:r>
              <a:t>From hand-written rules to generative models</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7613838" name="Title 1"/>
          <p:cNvSpPr>
            <a:spLocks noGrp="1"/>
          </p:cNvSpPr>
          <p:nvPr>
            <p:ph type="title"/>
          </p:nvPr>
        </p:nvSpPr>
        <p:spPr bwMode="auto"/>
        <p:txBody>
          <a:bodyPr/>
          <a:lstStyle/>
          <a:p>
            <a:pPr>
              <a:defRPr/>
            </a:pPr>
            <a:r>
              <a:t>Four Eras of NLP</a:t>
            </a:r>
          </a:p>
        </p:txBody>
      </p:sp>
      <p:sp>
        <p:nvSpPr>
          <p:cNvPr id="1114725600" name="Text Placeholder 2"/>
          <p:cNvSpPr>
            <a:spLocks noGrp="1"/>
          </p:cNvSpPr>
          <p:nvPr>
            <p:ph type="body" idx="1"/>
          </p:nvPr>
        </p:nvSpPr>
        <p:spPr bwMode="auto"/>
        <p:txBody>
          <a:bodyPr/>
          <a:lstStyle/>
          <a:p>
            <a:pPr>
              <a:defRPr/>
            </a:pPr>
            <a:r>
              <a:t>Rule-based (1950s–1990s)</a:t>
            </a:r>
          </a:p>
          <a:p>
            <a:pPr lvl="1">
              <a:defRPr/>
            </a:pPr>
            <a:r>
              <a:rPr sz="1800"/>
              <a:t>Handcrafted grammars and pattern matching; ELIZA (1966) simulated a therapist by reflecting questions back — brittle outside its rules</a:t>
            </a:r>
            <a:endParaRPr/>
          </a:p>
          <a:p>
            <a:pPr>
              <a:defRPr/>
            </a:pPr>
            <a:r>
              <a:t>Statistical NLP (1990s–2010s)</a:t>
            </a:r>
          </a:p>
          <a:p>
            <a:pPr lvl="1">
              <a:defRPr/>
            </a:pPr>
            <a:r>
              <a:rPr sz="1800"/>
              <a:t>Learn patterns from corpora: Hidden Markov Models, n-gram language models — data-driven but shallow</a:t>
            </a:r>
            <a:endParaRPr/>
          </a:p>
          <a:p>
            <a:pPr>
              <a:defRPr/>
            </a:pPr>
            <a:r>
              <a:t>Neural NLP (2013–2018)</a:t>
            </a:r>
          </a:p>
          <a:p>
            <a:pPr lvl="1">
              <a:defRPr/>
            </a:pPr>
            <a:r>
              <a:rPr sz="1800"/>
              <a:t>Word embeddings (Word2Vec, GloVe), recurrent networks, seq2seq with attention — representations learned from data</a:t>
            </a:r>
            <a:endParaRPr/>
          </a:p>
          <a:p>
            <a:pPr>
              <a:defRPr/>
            </a:pPr>
            <a:r>
              <a:t>Pre-trained language models (2018–present)</a:t>
            </a:r>
          </a:p>
          <a:p>
            <a:pPr lvl="1">
              <a:defRPr/>
            </a:pPr>
            <a:r>
              <a:rPr sz="1800"/>
              <a:t>BERT, GPT, T5: pre-train on massive corpora, then fine-tune for a task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5999870" name="Title 1"/>
          <p:cNvSpPr>
            <a:spLocks noGrp="1"/>
          </p:cNvSpPr>
          <p:nvPr>
            <p:ph type="title"/>
          </p:nvPr>
        </p:nvSpPr>
        <p:spPr bwMode="auto"/>
        <p:txBody>
          <a:bodyPr/>
          <a:lstStyle/>
          <a:p>
            <a:pPr>
              <a:defRPr/>
            </a:pPr>
            <a:r>
              <a:t>Where This Course Sits</a:t>
            </a:r>
          </a:p>
        </p:txBody>
      </p:sp>
      <p:sp>
        <p:nvSpPr>
          <p:cNvPr id="469379938" name="Text Placeholder 2"/>
          <p:cNvSpPr>
            <a:spLocks noGrp="1"/>
          </p:cNvSpPr>
          <p:nvPr>
            <p:ph type="body" idx="1"/>
          </p:nvPr>
        </p:nvSpPr>
        <p:spPr bwMode="auto"/>
        <p:txBody>
          <a:bodyPr/>
          <a:lstStyle/>
          <a:p>
            <a:pPr>
              <a:defRPr/>
            </a:pPr>
            <a:r>
              <a:t>ICT304 covers the full arc, Weeks 1–12</a:t>
            </a:r>
          </a:p>
          <a:p>
            <a:pPr lvl="1">
              <a:defRPr/>
            </a:pPr>
            <a:r>
              <a:rPr sz="1800"/>
              <a:t>TMA (Weeks 1–6): the statistical and early neural era</a:t>
            </a:r>
            <a:endParaRPr/>
          </a:p>
          <a:p>
            <a:pPr lvl="1">
              <a:defRPr/>
            </a:pPr>
            <a:r>
              <a:rPr sz="1800"/>
              <a:t>ECA (Weeks 9–12): the pre-trained transformer era</a:t>
            </a:r>
            <a:endParaRPr/>
          </a:p>
          <a:p>
            <a:pPr>
              <a:defRPr/>
            </a:pPr>
            <a:r>
              <a:t>What does "GPT" stand for?</a:t>
            </a:r>
          </a:p>
          <a:p>
            <a:pPr lvl="1">
              <a:defRPr/>
            </a:pPr>
            <a:r>
              <a:rPr sz="1800"/>
              <a:t>Generative Pre-trained Transformer</a:t>
            </a:r>
            <a:endParaRPr/>
          </a:p>
          <a:p>
            <a:pPr lvl="1">
              <a:defRPr/>
            </a:pPr>
            <a:r>
              <a:rPr sz="1800"/>
              <a:t>Generative → Week 7 onward, Pre-trained → Week 9, Transformer → Week 8</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10200675" name="Title 1"/>
          <p:cNvSpPr>
            <a:spLocks noGrp="1"/>
          </p:cNvSpPr>
          <p:nvPr>
            <p:ph type="title"/>
          </p:nvPr>
        </p:nvSpPr>
        <p:spPr bwMode="auto"/>
        <p:txBody>
          <a:bodyPr/>
          <a:lstStyle/>
          <a:p>
            <a:pPr>
              <a:defRPr/>
            </a:pPr>
            <a:r>
              <a:t>Common Pitfalls </a:t>
            </a:r>
          </a:p>
        </p:txBody>
      </p:sp>
      <p:sp>
        <p:nvSpPr>
          <p:cNvPr id="1058932801" name="Text Placeholder 2"/>
          <p:cNvSpPr>
            <a:spLocks noGrp="1"/>
          </p:cNvSpPr>
          <p:nvPr>
            <p:ph type="body" idx="1"/>
          </p:nvPr>
        </p:nvSpPr>
        <p:spPr bwMode="auto"/>
        <p:txBody>
          <a:bodyPr>
            <a:normAutofit lnSpcReduction="10000"/>
          </a:bodyPr>
          <a:lstStyle/>
          <a:p>
            <a:pPr>
              <a:defRPr/>
            </a:pPr>
            <a:r>
              <a:t>Common pitfalls</a:t>
            </a:r>
          </a:p>
          <a:p>
            <a:pPr lvl="1">
              <a:defRPr/>
            </a:pPr>
            <a:r>
              <a:rPr sz="1800"/>
              <a:t>Conflating NLP with chatbots -- chatbots are one application; most NLP is invisible (spam filters, autocorrect, search ranking)</a:t>
            </a:r>
            <a:endParaRPr/>
          </a:p>
          <a:p>
            <a:pPr lvl="1">
              <a:defRPr/>
            </a:pPr>
            <a:r>
              <a:rPr sz="1800"/>
              <a:t>Treating "understanding" as binary -- ask what the model can do and how it fails, not yes/no</a:t>
            </a:r>
            <a:endParaRPr/>
          </a:p>
          <a:p>
            <a:pPr lvl="1">
              <a:defRPr/>
            </a:pPr>
            <a:r>
              <a:rPr sz="1800"/>
              <a:t>Underestimating tokenisation -- text.split() looks fine until it meets "don't", numbers, or URLs</a:t>
            </a:r>
            <a:endParaRPr/>
          </a:p>
          <a:p>
            <a:pPr>
              <a:defRPr/>
            </a:pPr>
            <a:r>
              <a:t>Where this shows up in your assessments</a:t>
            </a:r>
          </a:p>
          <a:p>
            <a:pPr lvl="1">
              <a:defRPr/>
            </a:pPr>
            <a:r>
              <a:rPr sz="1800"/>
              <a:t>TMA Q1a: data audit on AG News -- the pipeline framing from today applies directly</a:t>
            </a:r>
            <a:endParaRPr/>
          </a:p>
          <a:p>
            <a:pPr lvl="1">
              <a:defRPr/>
            </a:pPr>
            <a:r>
              <a:rPr sz="1800"/>
              <a:t>ECA Part A: data audit on the CFPB complaints dataset -- same skill, different data</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59236796" name="Google Shape;473;p76"/>
          <p:cNvSpPr txBox="1">
            <a:spLocks noGrp="1"/>
          </p:cNvSpPr>
          <p:nvPr>
            <p:ph type="ctrTitle"/>
          </p:nvPr>
        </p:nvSpPr>
        <p:spPr bwMode="auto">
          <a:xfrm>
            <a:off x="257175" y="1246732"/>
            <a:ext cx="7772400" cy="1060200"/>
          </a:xfrm>
          <a:prstGeom prst="rect">
            <a:avLst/>
          </a:prstGeom>
        </p:spPr>
        <p:txBody>
          <a:bodyPr spcFirstLastPara="1" wrap="square" lIns="91425" tIns="45700" rIns="91425" bIns="45700" anchor="ctr" anchorCtr="0">
            <a:noAutofit/>
          </a:bodyPr>
          <a:lstStyle/>
          <a:p>
            <a:pPr>
              <a:defRPr/>
            </a:pPr>
            <a:r>
              <a:t>Text Representation: Tokenisation and Subword Methods</a:t>
            </a:r>
          </a:p>
        </p:txBody>
      </p:sp>
      <p:sp>
        <p:nvSpPr>
          <p:cNvPr id="1054271315" name="Google Shape;474;p76"/>
          <p:cNvSpPr txBox="1">
            <a:spLocks noGrp="1"/>
          </p:cNvSpPr>
          <p:nvPr>
            <p:ph type="subTitle" idx="1"/>
          </p:nvPr>
        </p:nvSpPr>
        <p:spPr bwMode="auto">
          <a:xfrm>
            <a:off x="253128" y="2456199"/>
            <a:ext cx="6400800" cy="1314600"/>
          </a:xfrm>
          <a:prstGeom prst="rect">
            <a:avLst/>
          </a:prstGeom>
        </p:spPr>
        <p:txBody>
          <a:bodyPr spcFirstLastPara="1" wrap="square" lIns="91425" tIns="45700" rIns="91425" bIns="45700" anchor="t" anchorCtr="0">
            <a:normAutofit/>
          </a:bodyPr>
          <a:lstStyle/>
          <a:p>
            <a:pPr marL="0" lvl="0" indent="0" algn="l" rtl="0">
              <a:spcBef>
                <a:spcPts val="400"/>
              </a:spcBef>
              <a:spcAft>
                <a:spcPts val="0"/>
              </a:spcAft>
              <a:buNone/>
              <a:defRPr/>
            </a:pPr>
            <a:endParaRPr/>
          </a:p>
        </p:txBody>
      </p:sp>
      <p:sp>
        <p:nvSpPr>
          <p:cNvPr id="1286710261" name="Google Shape;475;p76"/>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defRPr/>
            </a:pPr>
            <a:fld id="{00000000-1234-1234-1234-123412341234}" type="slidenum">
              <a:rPr lang="en" sz="1300">
                <a:solidFill>
                  <a:schemeClr val="dk1"/>
                </a:solidFill>
              </a:rPr>
              <a:t>32</a:t>
            </a:fld>
            <a:endParaRPr sz="1300">
              <a:solidFill>
                <a:schemeClr val="dk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18265718" name="Title 1"/>
          <p:cNvSpPr>
            <a:spLocks noGrp="1"/>
          </p:cNvSpPr>
          <p:nvPr>
            <p:ph type="title"/>
          </p:nvPr>
        </p:nvSpPr>
        <p:spPr bwMode="auto"/>
        <p:txBody>
          <a:bodyPr/>
          <a:lstStyle/>
          <a:p>
            <a:pPr>
              <a:defRPr/>
            </a:pPr>
            <a:r>
              <a:t>Why Whitespace Splitting Fails</a:t>
            </a:r>
          </a:p>
        </p:txBody>
      </p:sp>
      <p:sp>
        <p:nvSpPr>
          <p:cNvPr id="1971974477" name="Text Placeholder 2"/>
          <p:cNvSpPr>
            <a:spLocks noGrp="1"/>
          </p:cNvSpPr>
          <p:nvPr>
            <p:ph type="body" idx="1"/>
          </p:nvPr>
        </p:nvSpPr>
        <p:spPr bwMode="auto"/>
        <p:txBody>
          <a:bodyPr spcFirstLastPara="1" vertOverflow="overflow" horzOverflow="overflow" vert="horz" wrap="square" lIns="91424" tIns="45699" rIns="91424" bIns="45699" numCol="1" spcCol="0" rtlCol="0" fromWordArt="0" anchor="t" anchorCtr="0" forceAA="0" compatLnSpc="0">
            <a:normAutofit fontScale="95000"/>
          </a:bodyPr>
          <a:lstStyle/>
          <a:p>
            <a:pPr>
              <a:defRPr/>
            </a:pPr>
            <a:r>
              <a:rPr sz="1400"/>
              <a:t>Punctuation</a:t>
            </a:r>
          </a:p>
          <a:p>
            <a:pPr lvl="1">
              <a:defRPr/>
            </a:pPr>
            <a:r>
              <a:rPr sz="1400"/>
              <a:t>"Hello, world!" → ["Hello,", "world!"] — punctuation stays glued to words</a:t>
            </a:r>
          </a:p>
          <a:p>
            <a:pPr>
              <a:defRPr/>
            </a:pPr>
            <a:r>
              <a:rPr sz="1400"/>
              <a:t>Contractions</a:t>
            </a:r>
          </a:p>
          <a:p>
            <a:pPr lvl="1">
              <a:defRPr/>
            </a:pPr>
            <a:r>
              <a:rPr sz="1400"/>
              <a:t>"don't" is morphologically do + not, but whitespace keeps it as one token</a:t>
            </a:r>
          </a:p>
          <a:p>
            <a:pPr>
              <a:defRPr/>
            </a:pPr>
            <a:r>
              <a:rPr sz="1400"/>
              <a:t>Hyphenation</a:t>
            </a:r>
          </a:p>
          <a:p>
            <a:pPr lvl="1">
              <a:defRPr/>
            </a:pPr>
            <a:r>
              <a:rPr sz="1400"/>
              <a:t>"state-of-the-art" — one word, or four?</a:t>
            </a:r>
          </a:p>
          <a:p>
            <a:pPr>
              <a:defRPr/>
            </a:pPr>
            <a:r>
              <a:rPr sz="1400"/>
              <a:t>Numbers and special characters</a:t>
            </a:r>
          </a:p>
          <a:p>
            <a:pPr lvl="1">
              <a:defRPr/>
            </a:pPr>
            <a:r>
              <a:rPr sz="1400"/>
              <a:t>"COVID-19", "$3.50", "3:45pm" all carry structure that affects meaning</a:t>
            </a:r>
          </a:p>
          <a:p>
            <a:pPr>
              <a:defRPr/>
            </a:pPr>
            <a:r>
              <a:rPr sz="1400"/>
              <a:t>Code</a:t>
            </a:r>
          </a:p>
          <a:p>
            <a:pPr lvl="1">
              <a:defRPr/>
            </a:pPr>
            <a:r>
              <a:rPr sz="1400"/>
              <a:t>"if x &gt; 0:" — the colon is Python syntax, not sentence punctuation</a:t>
            </a:r>
          </a:p>
          <a:p>
            <a:pPr>
              <a:defRPr/>
            </a:pPr>
            <a:r>
              <a:rPr sz="1400"/>
              <a:t>Multilingual text</a:t>
            </a:r>
          </a:p>
          <a:p>
            <a:pPr lvl="1">
              <a:defRPr/>
            </a:pPr>
            <a:r>
              <a:rPr sz="1400"/>
              <a:t>Chinese, Japanese, and Thai have no whitespace between words at all</a:t>
            </a:r>
          </a:p>
          <a:p>
            <a:pPr>
              <a:defRPr/>
            </a:pPr>
            <a:r>
              <a:rPr sz="1400"/>
              <a:t>Board exercise: "The U.S. economy grew 2.3% in Q3." -- there is no single "correct" split; the right answer depends on the task</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64216477" name="Title 1"/>
          <p:cNvSpPr>
            <a:spLocks noGrp="1"/>
          </p:cNvSpPr>
          <p:nvPr>
            <p:ph type="title"/>
          </p:nvPr>
        </p:nvSpPr>
        <p:spPr bwMode="auto"/>
        <p:txBody>
          <a:bodyPr/>
          <a:lstStyle/>
          <a:p>
            <a:pPr>
              <a:defRPr/>
            </a:pPr>
            <a:r>
              <a:t>Character vs. Word Tokenisation</a:t>
            </a:r>
          </a:p>
        </p:txBody>
      </p:sp>
      <p:sp>
        <p:nvSpPr>
          <p:cNvPr id="727192031" name="Text Placeholder 2"/>
          <p:cNvSpPr>
            <a:spLocks noGrp="1"/>
          </p:cNvSpPr>
          <p:nvPr>
            <p:ph type="body" idx="1"/>
          </p:nvPr>
        </p:nvSpPr>
        <p:spPr bwMode="auto"/>
        <p:txBody>
          <a:bodyPr>
            <a:normAutofit lnSpcReduction="10000"/>
          </a:bodyPr>
          <a:lstStyle/>
          <a:p>
            <a:pPr>
              <a:defRPr/>
            </a:pPr>
            <a:r>
              <a:t>Character tokenisation</a:t>
            </a:r>
          </a:p>
          <a:p>
            <a:pPr lvl="1">
              <a:defRPr/>
            </a:pPr>
            <a:r>
              <a:rPr sz="1800"/>
              <a:t>Solves out-of-vocabulary (OOV) completely </a:t>
            </a:r>
          </a:p>
          <a:p>
            <a:pPr lvl="1">
              <a:defRPr/>
            </a:pPr>
            <a:r>
              <a:rPr sz="1800"/>
              <a:t>but sequences get ~5x longer, with no word-level abstraction</a:t>
            </a:r>
            <a:endParaRPr/>
          </a:p>
          <a:p>
            <a:pPr>
              <a:defRPr/>
            </a:pPr>
            <a:r>
              <a:t>Word tokenisation</a:t>
            </a:r>
          </a:p>
          <a:p>
            <a:pPr lvl="1">
              <a:defRPr/>
            </a:pPr>
            <a:r>
              <a:rPr sz="1800"/>
              <a:t>Manageable sequence lengths — but any word unseen in training becomes UNK</a:t>
            </a:r>
            <a:endParaRPr/>
          </a:p>
          <a:p>
            <a:pPr>
              <a:defRPr/>
            </a:pPr>
            <a:r>
              <a:t>The subword insight</a:t>
            </a:r>
          </a:p>
          <a:p>
            <a:pPr lvl="1">
              <a:defRPr/>
            </a:pPr>
            <a:r>
              <a:rPr sz="1800"/>
              <a:t>Frequent words stay whole tokens; rare or novel words split into common, reusable pieces</a:t>
            </a:r>
            <a:endParaRPr/>
          </a:p>
          <a:p>
            <a:pPr>
              <a:defRPr/>
            </a:pPr>
            <a:r>
              <a:t>Try it yourself with a real subword tokeniser (tiktoken, OpenAI's BPE):</a:t>
            </a:r>
          </a:p>
          <a:p>
            <a:pPr lvl="1">
              <a:defRPr/>
            </a:pPr>
            <a:r>
              <a:rPr sz="1800"/>
              <a:t>https://www.kaggle.com/code/greyisbetter/tokenization-word-subword</a:t>
            </a:r>
            <a:endParaRPr/>
          </a:p>
        </p:txBody>
      </p:sp>
      <p:sp>
        <p:nvSpPr>
          <p:cNvPr id="1763964751" name="TextBox 1107635112"/>
          <p:cNvSpPr txBox="1"/>
          <p:nvPr/>
        </p:nvSpPr>
        <p:spPr bwMode="auto">
          <a:xfrm>
            <a:off x="5708535" y="74714"/>
            <a:ext cx="3450000" cy="1700000"/>
          </a:xfrm>
          <a:prstGeom prst="rect">
            <a:avLst/>
          </a:prstGeom>
          <a:noFill/>
        </p:spPr>
        <p:txBody>
          <a:bodyPr wrap="square">
            <a:spAutoFit/>
          </a:bodyPr>
          <a:lstStyle/>
          <a:p>
            <a:pPr>
              <a:defRPr/>
            </a:pPr>
            <a:r>
              <a:rPr sz="1100">
                <a:latin typeface="Courier New"/>
              </a:rPr>
              <a:t>import tiktoken</a:t>
            </a:r>
            <a:endParaRPr/>
          </a:p>
          <a:p>
            <a:pPr>
              <a:defRPr/>
            </a:pPr>
            <a:r>
              <a:rPr sz="1100">
                <a:latin typeface="Courier New"/>
              </a:rPr>
              <a:t>enc = tiktoken.get_encoding("o200k_base")</a:t>
            </a:r>
            <a:endParaRPr/>
          </a:p>
          <a:p>
            <a:pPr>
              <a:defRPr/>
            </a:pPr>
            <a:r>
              <a:rPr sz="1100">
                <a:latin typeface="Courier New"/>
              </a:rPr>
              <a:t>assert enc.decode(enc.encode("hello world")) == "hello world"</a:t>
            </a:r>
            <a:endParaRPr/>
          </a:p>
          <a:p>
            <a:pPr>
              <a:defRPr/>
            </a:pPr>
            <a:endParaRPr/>
          </a:p>
          <a:p>
            <a:pPr>
              <a:defRPr/>
            </a:pPr>
            <a:r>
              <a:rPr sz="1100">
                <a:latin typeface="Courier New"/>
              </a:rPr>
              <a:t>enc = tiktoken.encoding_for_model("gpt-4o")</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75369761" name="Title 1"/>
          <p:cNvSpPr>
            <a:spLocks noGrp="1"/>
          </p:cNvSpPr>
          <p:nvPr>
            <p:ph type="title"/>
          </p:nvPr>
        </p:nvSpPr>
        <p:spPr bwMode="auto"/>
        <p:txBody>
          <a:bodyPr/>
          <a:lstStyle/>
          <a:p>
            <a:pPr>
              <a:defRPr/>
            </a:pPr>
            <a:r>
              <a:t>The BPE Algorithm</a:t>
            </a:r>
          </a:p>
        </p:txBody>
      </p:sp>
      <p:sp>
        <p:nvSpPr>
          <p:cNvPr id="871793226" name="Text Placeholder 2"/>
          <p:cNvSpPr>
            <a:spLocks noGrp="1"/>
          </p:cNvSpPr>
          <p:nvPr>
            <p:ph type="body" idx="1"/>
          </p:nvPr>
        </p:nvSpPr>
        <p:spPr bwMode="auto"/>
        <p:txBody>
          <a:bodyPr/>
          <a:lstStyle/>
          <a:p>
            <a:pPr>
              <a:defRPr/>
            </a:pPr>
            <a:r>
              <a:t>Start: vocabulary = every individual character + an end-of-word symbol</a:t>
            </a:r>
          </a:p>
          <a:p>
            <a:pPr>
              <a:defRPr/>
            </a:pPr>
            <a:r>
              <a:t>1. Count the frequency of every adjacent pair of symbols in the corpus</a:t>
            </a:r>
          </a:p>
          <a:p>
            <a:pPr>
              <a:defRPr/>
            </a:pPr>
            <a:r>
              <a:t>2. Find the single most frequent pair</a:t>
            </a:r>
          </a:p>
          <a:p>
            <a:pPr>
              <a:defRPr/>
            </a:pPr>
            <a:r>
              <a:t>3. Merge that pair into a new token; add it to the vocabulary</a:t>
            </a:r>
          </a:p>
          <a:p>
            <a:pPr>
              <a:defRPr/>
            </a:pPr>
            <a:r>
              <a:t>4. Repeat steps 1–3 until the vocabulary reaches the target size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23099999" name="Text Placeholder 1"/>
          <p:cNvSpPr>
            <a:spLocks noGrp="1"/>
          </p:cNvSpPr>
          <p:nvPr>
            <p:ph type="body" idx="1"/>
          </p:nvPr>
        </p:nvSpPr>
        <p:spPr bwMode="auto"/>
        <p:txBody>
          <a:bodyPr/>
          <a:lstStyle/>
          <a:p>
            <a:pPr>
              <a:defRPr/>
            </a:pPr>
            <a:r>
              <a:t>BPE Worked Example — Setup</a:t>
            </a:r>
          </a:p>
        </p:txBody>
      </p:sp>
      <p:sp>
        <p:nvSpPr>
          <p:cNvPr id="721884628" name="TextBox 2"/>
          <p:cNvSpPr txBox="1"/>
          <p:nvPr/>
        </p:nvSpPr>
        <p:spPr bwMode="auto">
          <a:xfrm>
            <a:off x="987550" y="965600"/>
            <a:ext cx="7000000" cy="3200000"/>
          </a:xfrm>
          <a:prstGeom prst="rect">
            <a:avLst/>
          </a:prstGeom>
          <a:noFill/>
        </p:spPr>
        <p:txBody>
          <a:bodyPr wrap="square">
            <a:spAutoFit/>
          </a:bodyPr>
          <a:lstStyle/>
          <a:p>
            <a:pPr>
              <a:defRPr/>
            </a:pPr>
            <a:r>
              <a:rPr sz="1300">
                <a:latin typeface="Courier New"/>
              </a:rPr>
              <a:t>Training corpus:</a:t>
            </a:r>
            <a:endParaRPr/>
          </a:p>
          <a:p>
            <a:pPr>
              <a:defRPr/>
            </a:pPr>
            <a:r>
              <a:rPr sz="1300">
                <a:latin typeface="Courier New"/>
              </a:rPr>
              <a:t>["low", "lower", "lowest", "new", "newer", "newest"]</a:t>
            </a:r>
            <a:endParaRPr/>
          </a:p>
          <a:p>
            <a:pPr>
              <a:defRPr/>
            </a:pPr>
            <a:endParaRPr/>
          </a:p>
          <a:p>
            <a:pPr>
              <a:defRPr/>
            </a:pPr>
            <a:r>
              <a:rPr sz="1300">
                <a:latin typeface="Courier New"/>
              </a:rPr>
              <a:t>Initial character sequences (&lt;/w&gt; marks end of word):</a:t>
            </a:r>
            <a:endParaRPr/>
          </a:p>
          <a:p>
            <a:pPr>
              <a:defRPr/>
            </a:pPr>
            <a:r>
              <a:rPr sz="1300">
                <a:latin typeface="Courier New"/>
              </a:rPr>
              <a:t>l o w&lt;/w&gt;</a:t>
            </a:r>
            <a:endParaRPr/>
          </a:p>
          <a:p>
            <a:pPr>
              <a:defRPr/>
            </a:pPr>
            <a:r>
              <a:rPr sz="1300">
                <a:latin typeface="Courier New"/>
              </a:rPr>
              <a:t>l o w e r&lt;/w&gt;</a:t>
            </a:r>
            <a:endParaRPr/>
          </a:p>
          <a:p>
            <a:pPr>
              <a:defRPr/>
            </a:pPr>
            <a:r>
              <a:rPr sz="1300">
                <a:latin typeface="Courier New"/>
              </a:rPr>
              <a:t>l o w e s t&lt;/w&gt;</a:t>
            </a:r>
            <a:endParaRPr/>
          </a:p>
          <a:p>
            <a:pPr>
              <a:defRPr/>
            </a:pPr>
            <a:r>
              <a:rPr sz="1300">
                <a:latin typeface="Courier New"/>
              </a:rPr>
              <a:t>n e w&lt;/w&gt;</a:t>
            </a:r>
            <a:endParaRPr/>
          </a:p>
          <a:p>
            <a:pPr>
              <a:defRPr/>
            </a:pPr>
            <a:r>
              <a:rPr sz="1300">
                <a:latin typeface="Courier New"/>
              </a:rPr>
              <a:t>n e w e r&lt;/w&gt;</a:t>
            </a:r>
            <a:endParaRPr/>
          </a:p>
          <a:p>
            <a:pPr>
              <a:defRPr/>
            </a:pPr>
            <a:r>
              <a:rPr sz="1300">
                <a:latin typeface="Courier New"/>
              </a:rPr>
              <a:t>n e w e s t&lt;/w&gt;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7896341" name="Text Placeholder 1"/>
          <p:cNvSpPr>
            <a:spLocks noGrp="1"/>
          </p:cNvSpPr>
          <p:nvPr>
            <p:ph type="body" idx="1"/>
          </p:nvPr>
        </p:nvSpPr>
        <p:spPr bwMode="auto"/>
        <p:txBody>
          <a:bodyPr/>
          <a:lstStyle/>
          <a:p>
            <a:pPr>
              <a:defRPr/>
            </a:pPr>
            <a:r>
              <a:t>BPE Worked Example — Merges 1–2</a:t>
            </a:r>
          </a:p>
        </p:txBody>
      </p:sp>
      <p:sp>
        <p:nvSpPr>
          <p:cNvPr id="1497781400" name="TextBox 2"/>
          <p:cNvSpPr txBox="1"/>
          <p:nvPr/>
        </p:nvSpPr>
        <p:spPr bwMode="auto">
          <a:xfrm>
            <a:off x="987550" y="965600"/>
            <a:ext cx="7000000" cy="3200000"/>
          </a:xfrm>
          <a:prstGeom prst="rect">
            <a:avLst/>
          </a:prstGeom>
          <a:noFill/>
        </p:spPr>
        <p:txBody>
          <a:bodyPr wrap="square">
            <a:spAutoFit/>
          </a:bodyPr>
          <a:lstStyle/>
          <a:p>
            <a:pPr>
              <a:defRPr/>
            </a:pPr>
            <a:r>
              <a:rPr sz="1300">
                <a:latin typeface="Courier New"/>
              </a:rPr>
              <a:t>Merge 1: "l o" → "lo"</a:t>
            </a:r>
            <a:endParaRPr/>
          </a:p>
          <a:p>
            <a:pPr>
              <a:defRPr/>
            </a:pPr>
            <a:r>
              <a:rPr sz="1300">
                <a:latin typeface="Courier New"/>
              </a:rPr>
              <a:t>  (appears in every "low*" word)</a:t>
            </a:r>
            <a:endParaRPr/>
          </a:p>
          <a:p>
            <a:pPr>
              <a:defRPr/>
            </a:pPr>
            <a:endParaRPr/>
          </a:p>
          <a:p>
            <a:pPr>
              <a:defRPr/>
            </a:pPr>
            <a:r>
              <a:rPr sz="1300">
                <a:latin typeface="Courier New"/>
              </a:rPr>
              <a:t>Merge 2: "lo w" → "low"</a:t>
            </a:r>
            <a:endParaRPr/>
          </a:p>
          <a:p>
            <a:pPr>
              <a:defRPr/>
            </a:pPr>
            <a:r>
              <a:rPr sz="1300">
                <a:latin typeface="Courier New"/>
              </a:rPr>
              <a:t>  low&lt;/w&gt;, low e r&lt;/w&gt;, low e s t&lt;/w&gt;,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83265424" name="Text Placeholder 1"/>
          <p:cNvSpPr>
            <a:spLocks noGrp="1"/>
          </p:cNvSpPr>
          <p:nvPr>
            <p:ph type="body" idx="1"/>
          </p:nvPr>
        </p:nvSpPr>
        <p:spPr bwMode="auto"/>
        <p:txBody>
          <a:bodyPr/>
          <a:lstStyle/>
          <a:p>
            <a:pPr>
              <a:defRPr/>
            </a:pPr>
            <a:r>
              <a:t>BPE Worked Example — Merges 3–4</a:t>
            </a:r>
          </a:p>
        </p:txBody>
      </p:sp>
      <p:sp>
        <p:nvSpPr>
          <p:cNvPr id="1357450192" name="TextBox 2"/>
          <p:cNvSpPr txBox="1"/>
          <p:nvPr/>
        </p:nvSpPr>
        <p:spPr bwMode="auto">
          <a:xfrm>
            <a:off x="987550" y="965600"/>
            <a:ext cx="7000000" cy="3200000"/>
          </a:xfrm>
          <a:prstGeom prst="rect">
            <a:avLst/>
          </a:prstGeom>
          <a:noFill/>
        </p:spPr>
        <p:txBody>
          <a:bodyPr wrap="square">
            <a:spAutoFit/>
          </a:bodyPr>
          <a:lstStyle/>
          <a:p>
            <a:pPr>
              <a:defRPr/>
            </a:pPr>
            <a:r>
              <a:rPr sz="1300">
                <a:latin typeface="Courier New"/>
              </a:rPr>
              <a:t>Merge 3: "n e" → "ne"</a:t>
            </a:r>
            <a:endParaRPr/>
          </a:p>
          <a:p>
            <a:pPr>
              <a:defRPr/>
            </a:pPr>
            <a:endParaRPr/>
          </a:p>
          <a:p>
            <a:pPr>
              <a:defRPr/>
            </a:pPr>
            <a:r>
              <a:rPr sz="1300">
                <a:latin typeface="Courier New"/>
              </a:rPr>
              <a:t>Merge 4: "ne w" → "new"</a:t>
            </a:r>
            <a:endParaRPr/>
          </a:p>
          <a:p>
            <a:pPr>
              <a:defRPr/>
            </a:pPr>
            <a:r>
              <a:rPr sz="1300">
                <a:latin typeface="Courier New"/>
              </a:rPr>
              <a:t>  new&lt;/w&gt;, new e r&lt;/w&gt;, new e s t&lt;/w&gt;,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71977153" name="Text Placeholder 1"/>
          <p:cNvSpPr>
            <a:spLocks noGrp="1"/>
          </p:cNvSpPr>
          <p:nvPr>
            <p:ph type="body" idx="1"/>
          </p:nvPr>
        </p:nvSpPr>
        <p:spPr bwMode="auto"/>
        <p:txBody>
          <a:bodyPr/>
          <a:lstStyle/>
          <a:p>
            <a:pPr>
              <a:defRPr/>
            </a:pPr>
            <a:r>
              <a:t>BPE Worked Example — Result</a:t>
            </a:r>
          </a:p>
        </p:txBody>
      </p:sp>
      <p:sp>
        <p:nvSpPr>
          <p:cNvPr id="1573751268" name="TextBox 2"/>
          <p:cNvSpPr txBox="1"/>
          <p:nvPr/>
        </p:nvSpPr>
        <p:spPr bwMode="auto">
          <a:xfrm>
            <a:off x="987550" y="965600"/>
            <a:ext cx="7000000" cy="3200000"/>
          </a:xfrm>
          <a:prstGeom prst="rect">
            <a:avLst/>
          </a:prstGeom>
          <a:noFill/>
        </p:spPr>
        <p:txBody>
          <a:bodyPr wrap="square">
            <a:spAutoFit/>
          </a:bodyPr>
          <a:lstStyle/>
          <a:p>
            <a:pPr>
              <a:defRPr/>
            </a:pPr>
            <a:r>
              <a:rPr sz="1300">
                <a:latin typeface="Courier New"/>
              </a:rPr>
              <a:t>Merge 5: "e r&lt;/w&gt;" → "er&lt;/w&gt;"</a:t>
            </a:r>
            <a:endParaRPr/>
          </a:p>
          <a:p>
            <a:pPr>
              <a:defRPr/>
            </a:pPr>
            <a:r>
              <a:rPr sz="1300">
                <a:latin typeface="Courier New"/>
              </a:rPr>
              <a:t>  (appears in both "lower" and "newer")</a:t>
            </a:r>
            <a:endParaRPr/>
          </a:p>
          <a:p>
            <a:pPr>
              <a:defRPr/>
            </a:pPr>
            <a:endParaRPr/>
          </a:p>
          <a:p>
            <a:pPr>
              <a:defRPr/>
            </a:pPr>
            <a:r>
              <a:rPr sz="1300">
                <a:latin typeface="Courier New"/>
              </a:rPr>
              <a:t>Result: "newest" tokenises as:</a:t>
            </a:r>
            <a:endParaRPr/>
          </a:p>
          <a:p>
            <a:pPr>
              <a:defRPr/>
            </a:pPr>
            <a:r>
              <a:rPr sz="1300">
                <a:latin typeface="Courier New"/>
              </a:rPr>
              <a:t>  ["new", "est&lt;/w&gt;"]</a:t>
            </a:r>
            <a:endParaRPr/>
          </a:p>
          <a:p>
            <a:pPr>
              <a:defRPr/>
            </a:pPr>
            <a:endParaRPr/>
          </a:p>
          <a:p>
            <a:pPr>
              <a:defRPr/>
            </a:pPr>
            <a:r>
              <a:rPr sz="1300">
                <a:latin typeface="Courier New"/>
              </a:rPr>
              <a:t>Both pieces are common subwords already in the vocabulary — no UNK token needed.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27821039" name="Title 1"/>
          <p:cNvSpPr>
            <a:spLocks noGrp="1"/>
          </p:cNvSpPr>
          <p:nvPr>
            <p:ph type="title"/>
          </p:nvPr>
        </p:nvSpPr>
        <p:spPr bwMode="auto"/>
        <p:txBody>
          <a:bodyPr/>
          <a:lstStyle/>
          <a:p>
            <a:pPr>
              <a:defRPr/>
            </a:pPr>
            <a:r>
              <a:t>Try It Yourself: Decomposing "unhappiness"</a:t>
            </a:r>
          </a:p>
        </p:txBody>
      </p:sp>
      <p:sp>
        <p:nvSpPr>
          <p:cNvPr id="159048238" name="Text Placeholder 2"/>
          <p:cNvSpPr>
            <a:spLocks noGrp="1"/>
          </p:cNvSpPr>
          <p:nvPr>
            <p:ph type="body" idx="1"/>
          </p:nvPr>
        </p:nvSpPr>
        <p:spPr bwMode="auto"/>
        <p:txBody>
          <a:bodyPr/>
          <a:lstStyle/>
          <a:p>
            <a:pPr>
              <a:defRPr/>
            </a:pPr>
            <a:r>
              <a:t>Assuming a well-trained BPE vocabulary, what tokens would you expect?</a:t>
            </a:r>
          </a:p>
          <a:p>
            <a:pPr lvl="1">
              <a:defRPr/>
            </a:pPr>
            <a:r>
              <a:rPr sz="1800"/>
              <a:t>"un" + "happiness", or "un" + "happy" + "ness", or something else entirely</a:t>
            </a:r>
            <a:endParaRPr/>
          </a:p>
          <a:p>
            <a:pPr>
              <a:defRPr/>
            </a:pPr>
            <a:r>
              <a:t>There is no single right answer -- it depends on the training corpus</a:t>
            </a:r>
          </a:p>
          <a:p>
            <a:pPr lvl="1">
              <a:defRPr/>
            </a:pPr>
            <a:r>
              <a:rPr sz="1800"/>
              <a:t>BPE finds reusable, frequent pieces -- not linguistically principled morphemes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0259382" name="Title 1"/>
          <p:cNvSpPr>
            <a:spLocks noGrp="1"/>
          </p:cNvSpPr>
          <p:nvPr>
            <p:ph type="title"/>
          </p:nvPr>
        </p:nvSpPr>
        <p:spPr bwMode="auto"/>
        <p:txBody>
          <a:bodyPr/>
          <a:lstStyle/>
          <a:p>
            <a:pPr>
              <a:defRPr/>
            </a:pPr>
            <a:r>
              <a:t>WordPiece vs. BPE</a:t>
            </a:r>
          </a:p>
        </p:txBody>
      </p:sp>
      <p:sp>
        <p:nvSpPr>
          <p:cNvPr id="1267788982" name="Text Placeholder 2"/>
          <p:cNvSpPr>
            <a:spLocks noGrp="1"/>
          </p:cNvSpPr>
          <p:nvPr>
            <p:ph type="body" idx="1"/>
          </p:nvPr>
        </p:nvSpPr>
        <p:spPr bwMode="auto"/>
        <p:txBody>
          <a:bodyPr/>
          <a:lstStyle/>
          <a:p>
            <a:pPr>
              <a:defRPr/>
            </a:pPr>
            <a:r>
              <a:t>WordPiece (BERT)</a:t>
            </a:r>
          </a:p>
          <a:p>
            <a:pPr lvl="1">
              <a:defRPr/>
            </a:pPr>
            <a:r>
              <a:rPr sz="1800"/>
              <a:t>Merge criterion maximises the likelihood of the training corpus, not raw pair frequency</a:t>
            </a:r>
            <a:endParaRPr/>
          </a:p>
          <a:p>
            <a:pPr lvl="1">
              <a:defRPr/>
            </a:pPr>
            <a:r>
              <a:rPr sz="1800"/>
              <a:t>Marks continuation subwords with "##": "unhappiness" → ["un", "##happy", "##ness"]</a:t>
            </a:r>
            <a:endParaRPr/>
          </a:p>
          <a:p>
            <a:pPr>
              <a:defRPr/>
            </a:pPr>
            <a:r>
              <a:t>BPE (GPT-2)</a:t>
            </a:r>
          </a:p>
          <a:p>
            <a:pPr lvl="1">
              <a:defRPr/>
            </a:pPr>
            <a:r>
              <a:rPr sz="1800"/>
              <a:t>Operates on bytes, not characters — fully language-agnostic by construction</a:t>
            </a:r>
            <a:endParaRPr/>
          </a:p>
          <a:p>
            <a:pPr lvl="1">
              <a:defRPr/>
            </a:pPr>
            <a:r>
              <a:rPr sz="1800"/>
              <a:t>Always merges the most frequent adjacent pair; uses a space prefix instead of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72128650" name="Title 1"/>
          <p:cNvSpPr>
            <a:spLocks noGrp="1"/>
          </p:cNvSpPr>
          <p:nvPr>
            <p:ph type="title"/>
          </p:nvPr>
        </p:nvSpPr>
        <p:spPr bwMode="auto"/>
        <p:txBody>
          <a:bodyPr/>
          <a:lstStyle/>
          <a:p>
            <a:pPr>
              <a:defRPr/>
            </a:pPr>
            <a:r>
              <a:t>SentencePiece</a:t>
            </a:r>
          </a:p>
        </p:txBody>
      </p:sp>
      <p:sp>
        <p:nvSpPr>
          <p:cNvPr id="1344464919" name="Text Placeholder 2"/>
          <p:cNvSpPr>
            <a:spLocks noGrp="1"/>
          </p:cNvSpPr>
          <p:nvPr>
            <p:ph type="body" idx="1"/>
          </p:nvPr>
        </p:nvSpPr>
        <p:spPr bwMode="auto"/>
        <p:txBody>
          <a:bodyPr/>
          <a:lstStyle/>
          <a:p>
            <a:pPr>
              <a:defRPr/>
            </a:pPr>
            <a:r>
              <a:t>A library (not a new algorithm) implementing both BPE and a unigram language-model approach</a:t>
            </a:r>
          </a:p>
          <a:p>
            <a:pPr lvl="1">
              <a:defRPr/>
            </a:pPr>
            <a:r>
              <a:rPr sz="1800"/>
              <a:t>Treats whitespace as a regular symbol (▁), making it fully language-agnostic</a:t>
            </a:r>
            <a:endParaRPr/>
          </a:p>
          <a:p>
            <a:pPr lvl="1">
              <a:defRPr/>
            </a:pPr>
            <a:r>
              <a:rPr sz="1800"/>
              <a:t>No language-specific pre-tokenisation step needed</a:t>
            </a:r>
            <a:endParaRPr/>
          </a:p>
          <a:p>
            <a:pPr>
              <a:defRPr/>
            </a:pPr>
            <a:r>
              <a:t>Used in T5, mT5, XLNet</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66806843" name="Title 1"/>
          <p:cNvSpPr>
            <a:spLocks noGrp="1"/>
          </p:cNvSpPr>
          <p:nvPr>
            <p:ph type="title"/>
          </p:nvPr>
        </p:nvSpPr>
        <p:spPr bwMode="auto"/>
        <p:txBody>
          <a:bodyPr/>
          <a:lstStyle/>
          <a:p>
            <a:pPr>
              <a:defRPr/>
            </a:pPr>
            <a:r>
              <a:t>Vocabulary Size Trade-offs</a:t>
            </a:r>
          </a:p>
        </p:txBody>
      </p:sp>
      <p:sp>
        <p:nvSpPr>
          <p:cNvPr id="619798813" name="Text Placeholder 2"/>
          <p:cNvSpPr>
            <a:spLocks noGrp="1"/>
          </p:cNvSpPr>
          <p:nvPr>
            <p:ph type="body" idx="1"/>
          </p:nvPr>
        </p:nvSpPr>
        <p:spPr bwMode="auto"/>
        <p:txBody>
          <a:bodyPr/>
          <a:lstStyle/>
          <a:p>
            <a:pPr>
              <a:defRPr/>
            </a:pPr>
            <a:r>
              <a:t>Too small (e.g. 100 tokens)</a:t>
            </a:r>
          </a:p>
          <a:p>
            <a:pPr lvl="1">
              <a:defRPr/>
            </a:pPr>
            <a:r>
              <a:rPr sz="1800"/>
              <a:t>Most words split into many pieces; sequences become very long, even common words get split</a:t>
            </a:r>
            <a:endParaRPr/>
          </a:p>
          <a:p>
            <a:pPr>
              <a:defRPr/>
            </a:pPr>
            <a:r>
              <a:t>Too large (e.g. 200,000 tokens)</a:t>
            </a:r>
          </a:p>
          <a:p>
            <a:pPr lvl="1">
              <a:defRPr/>
            </a:pPr>
            <a:r>
              <a:rPr sz="1800"/>
              <a:t>Rare words become whole tokens, but the embedding matrix bloats — and OOV re-emerges for words outside training entirely</a:t>
            </a:r>
            <a:endParaRPr/>
          </a:p>
          <a:p>
            <a:pPr>
              <a:defRPr/>
            </a:pPr>
            <a:r>
              <a:t>Typical range: 30,000–50,000</a:t>
            </a:r>
          </a:p>
          <a:p>
            <a:pPr lvl="1">
              <a:defRPr/>
            </a:pPr>
            <a:r>
              <a:rPr sz="1800"/>
              <a:t>BERT: 30,522 — GPT-2: 50,257</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96509038" name="Title 1"/>
          <p:cNvSpPr>
            <a:spLocks noGrp="1"/>
          </p:cNvSpPr>
          <p:nvPr>
            <p:ph type="title"/>
          </p:nvPr>
        </p:nvSpPr>
        <p:spPr bwMode="auto"/>
        <p:txBody>
          <a:bodyPr/>
          <a:lstStyle/>
          <a:p>
            <a:pPr>
              <a:defRPr/>
            </a:pPr>
            <a:r>
              <a:t>Why Tokenisation Choices Matter</a:t>
            </a:r>
          </a:p>
        </p:txBody>
      </p:sp>
      <p:sp>
        <p:nvSpPr>
          <p:cNvPr id="2123694795" name="Text Placeholder 2"/>
          <p:cNvSpPr>
            <a:spLocks noGrp="1"/>
          </p:cNvSpPr>
          <p:nvPr>
            <p:ph type="body" idx="1"/>
          </p:nvPr>
        </p:nvSpPr>
        <p:spPr bwMode="auto"/>
        <p:txBody>
          <a:bodyPr/>
          <a:lstStyle/>
          <a:p>
            <a:pPr>
              <a:defRPr/>
            </a:pPr>
            <a:r>
              <a:rPr sz="1600"/>
              <a:t>Token budget</a:t>
            </a:r>
          </a:p>
          <a:p>
            <a:pPr lvl="1">
              <a:defRPr/>
            </a:pPr>
            <a:r>
              <a:rPr sz="1600"/>
              <a:t>Every token costs one position in the model's context window</a:t>
            </a:r>
          </a:p>
          <a:p>
            <a:pPr>
              <a:defRPr/>
            </a:pPr>
            <a:r>
              <a:rPr sz="1600"/>
              <a:t>Multilingual fairness</a:t>
            </a:r>
          </a:p>
          <a:p>
            <a:pPr lvl="1">
              <a:defRPr/>
            </a:pPr>
            <a:r>
              <a:rPr sz="1600"/>
              <a:t>Morphologically rich languages (Finnish, Turkish) tokenise into more, shorter pieces — consuming more of the budget for the same meaning</a:t>
            </a:r>
          </a:p>
          <a:p>
            <a:pPr>
              <a:defRPr/>
            </a:pPr>
            <a:r>
              <a:rPr sz="1600"/>
              <a:t>Downstream task alignment</a:t>
            </a:r>
          </a:p>
          <a:p>
            <a:pPr lvl="1">
              <a:defRPr/>
            </a:pPr>
            <a:r>
              <a:rPr sz="1600"/>
              <a:t>A tokeniser trained on web text may split domain-specific terms (medical, legal, financial) into unusual pieces</a:t>
            </a:r>
          </a:p>
          <a:p>
            <a:pPr>
              <a:defRPr/>
            </a:pPr>
            <a:r>
              <a:rPr sz="1600"/>
              <a:t>Worked calculation:</a:t>
            </a:r>
          </a:p>
          <a:p>
            <a:pPr lvl="1">
              <a:defRPr/>
            </a:pPr>
            <a:r>
              <a:rPr sz="1600"/>
              <a:t>300 words x ~1.3 subwords/word = ~390 tokens -- fits BERT's 512-token window</a:t>
            </a:r>
          </a:p>
          <a:p>
            <a:pPr lvl="1">
              <a:defRPr/>
            </a:pPr>
            <a:r>
              <a:rPr sz="1600"/>
              <a:t>600 words x ~1.3 subwords/word = ~780 tokens -- must be truncated (ECA A2 decision)</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70083090" name="Title 1"/>
          <p:cNvSpPr>
            <a:spLocks noGrp="1"/>
          </p:cNvSpPr>
          <p:nvPr>
            <p:ph type="title"/>
          </p:nvPr>
        </p:nvSpPr>
        <p:spPr bwMode="auto"/>
        <p:txBody>
          <a:bodyPr/>
          <a:lstStyle/>
          <a:p>
            <a:pPr>
              <a:defRPr/>
            </a:pPr>
            <a:r>
              <a:t>Common Pitfalls </a:t>
            </a:r>
          </a:p>
        </p:txBody>
      </p:sp>
      <p:sp>
        <p:nvSpPr>
          <p:cNvPr id="960350830" name="Text Placeholder 2"/>
          <p:cNvSpPr>
            <a:spLocks noGrp="1"/>
          </p:cNvSpPr>
          <p:nvPr>
            <p:ph type="body" idx="1"/>
          </p:nvPr>
        </p:nvSpPr>
        <p:spPr bwMode="auto"/>
        <p:txBody>
          <a:bodyPr>
            <a:normAutofit lnSpcReduction="10000"/>
          </a:bodyPr>
          <a:lstStyle/>
          <a:p>
            <a:pPr>
              <a:defRPr/>
            </a:pPr>
            <a:r>
              <a:t>Common pitfalls</a:t>
            </a:r>
          </a:p>
          <a:p>
            <a:pPr lvl="1">
              <a:defRPr/>
            </a:pPr>
            <a:r>
              <a:rPr sz="1800"/>
              <a:t>Confusing vocabulary size with document count -- you choose a target BPE vocab size; BPE runs until it reaches it</a:t>
            </a:r>
            <a:endParaRPr/>
          </a:p>
          <a:p>
            <a:pPr lvl="1">
              <a:defRPr/>
            </a:pPr>
            <a:r>
              <a:rPr sz="1800"/>
              <a:t>Training BPE on dev/test data -- the tokeniser must be built from training data only</a:t>
            </a:r>
            <a:endParaRPr/>
          </a:p>
          <a:p>
            <a:pPr lvl="1">
              <a:defRPr/>
            </a:pPr>
            <a:r>
              <a:rPr sz="1800"/>
              <a:t>Reporting OOV as type count instead of token count -- token-level OOV rate is the primary metric</a:t>
            </a:r>
            <a:endParaRPr/>
          </a:p>
          <a:p>
            <a:pPr>
              <a:defRPr/>
            </a:pPr>
            <a:r>
              <a:t>Where this shows up in your assessments</a:t>
            </a:r>
          </a:p>
          <a:p>
            <a:pPr lvl="1">
              <a:defRPr/>
            </a:pPr>
            <a:r>
              <a:rPr sz="1800"/>
              <a:t>TMA Q1b: implement and compare whitespace, regex, and BPE tokenisers on AG News</a:t>
            </a:r>
            <a:endParaRPr/>
          </a:p>
          <a:p>
            <a:pPr lvl="1">
              <a:defRPr/>
            </a:pPr>
            <a:r>
              <a:rPr sz="1800"/>
              <a:t>ECA A2: justify your tokenisation choice using OOV rate, vocabulary size, and sequence-length trade-offs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26453325" name="Google Shape;572;p89"/>
          <p:cNvSpPr txBox="1">
            <a:spLocks noGrp="1"/>
          </p:cNvSpPr>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r>
              <a:rPr lang="en" b="1">
                <a:solidFill>
                  <a:srgbClr val="FFFFFF"/>
                </a:solidFill>
              </a:rPr>
              <a:t>suss.edu.sg</a:t>
            </a:r>
            <a:endParaRPr b="1">
              <a:solidFill>
                <a:srgbClr val="FFFFFF"/>
              </a:solidFill>
            </a:endParaRPr>
          </a:p>
        </p:txBody>
      </p:sp>
      <p:sp>
        <p:nvSpPr>
          <p:cNvPr id="1482232287" name="Google Shape;573;p89"/>
          <p:cNvSpPr txBox="1"/>
          <p:nvPr/>
        </p:nvSpPr>
        <p:spPr bwMode="auto">
          <a:xfrm>
            <a:off x="3934350" y="2340900"/>
            <a:ext cx="12753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800">
                <a:solidFill>
                  <a:schemeClr val="lt1"/>
                </a:solidFill>
              </a:rPr>
              <a:t>The End</a:t>
            </a:r>
            <a:endParaRPr sz="1800">
              <a:solidFill>
                <a:schemeClr val="lt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Custom 16">
      <a:dk1>
        <a:srgbClr val="003B5C"/>
      </a:dk1>
      <a:lt1>
        <a:srgbClr val="FFFFFF"/>
      </a:lt1>
      <a:dk2>
        <a:srgbClr val="003B5C"/>
      </a:dk2>
      <a:lt2>
        <a:srgbClr val="FFFFFF"/>
      </a:lt2>
      <a:accent1>
        <a:srgbClr val="003B5C"/>
      </a:accent1>
      <a:accent2>
        <a:srgbClr val="DA291C"/>
      </a:accent2>
      <a:accent3>
        <a:srgbClr val="99D6EA"/>
      </a:accent3>
      <a:accent4>
        <a:srgbClr val="C8C9C7"/>
      </a:accent4>
      <a:accent5>
        <a:srgbClr val="FFFFFF"/>
      </a:accent5>
      <a:accent6>
        <a:srgbClr val="FFFFFF"/>
      </a:accent6>
      <a:hlink>
        <a:srgbClr val="0000FF"/>
      </a:hlink>
      <a:folHlink>
        <a:srgbClr val="800080"/>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9090</Words>
  <Application>Microsoft Macintosh PowerPoint</Application>
  <PresentationFormat>On-screen Show (16:9)</PresentationFormat>
  <Paragraphs>559</Paragraphs>
  <Slides>46</Slides>
  <Notes>46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Lucida Sans</vt:lpstr>
      <vt:lpstr>Noto Sans Symbols</vt:lpstr>
      <vt:lpstr>Arial</vt:lpstr>
      <vt:lpstr>Courier New</vt:lpstr>
      <vt:lpstr>Montserrat Medium</vt:lpstr>
      <vt:lpstr>Office Theme</vt:lpstr>
      <vt:lpstr>ICT 304 </vt:lpstr>
      <vt:lpstr>Learning outcome</vt:lpstr>
      <vt:lpstr>The Future Is Solo</vt:lpstr>
      <vt:lpstr>PowerPoint Presentation</vt:lpstr>
      <vt:lpstr>Vibe Coding</vt:lpstr>
      <vt:lpstr>Vibe Coding</vt:lpstr>
      <vt:lpstr>If English is the new programming language…</vt:lpstr>
      <vt:lpstr>Teaching &amp; Learning</vt:lpstr>
      <vt:lpstr>AI-First Teaching &amp; Learning</vt:lpstr>
      <vt:lpstr>Machine Learning 101</vt:lpstr>
      <vt:lpstr>What is Machine Learning?</vt:lpstr>
      <vt:lpstr>Application Examples</vt:lpstr>
      <vt:lpstr>Types of Learning</vt:lpstr>
      <vt:lpstr>How Supervised Learning Works</vt:lpstr>
      <vt:lpstr>Supervised Learning</vt:lpstr>
      <vt:lpstr>Supervised Learning</vt:lpstr>
      <vt:lpstr>Classification: Breast Cancer (malignant, benign)</vt:lpstr>
      <vt:lpstr>Un-Supervised Learning</vt:lpstr>
      <vt:lpstr>PowerPoint Presentation</vt:lpstr>
      <vt:lpstr>PowerPoint Presentation</vt:lpstr>
      <vt:lpstr>NLP and the AI Landscape</vt:lpstr>
      <vt:lpstr>What Is NLP? (And What It Is Not)</vt:lpstr>
      <vt:lpstr>The Core NLP Task Types</vt:lpstr>
      <vt:lpstr>Why Language Is Hard</vt:lpstr>
      <vt:lpstr>Sources of Ambiguity</vt:lpstr>
      <vt:lpstr>Ambiguity in Action</vt:lpstr>
      <vt:lpstr>The NLP Pipeline</vt:lpstr>
      <vt:lpstr>A Brief History of NLP</vt:lpstr>
      <vt:lpstr>Four Eras of NLP</vt:lpstr>
      <vt:lpstr>Where This Course Sits</vt:lpstr>
      <vt:lpstr>Common Pitfalls </vt:lpstr>
      <vt:lpstr>Text Representation: Tokenisation and Subword Methods</vt:lpstr>
      <vt:lpstr>Why Whitespace Splitting Fails</vt:lpstr>
      <vt:lpstr>Character vs. Word Tokenisation</vt:lpstr>
      <vt:lpstr>The BPE Algorithm</vt:lpstr>
      <vt:lpstr>PowerPoint Presentation</vt:lpstr>
      <vt:lpstr>PowerPoint Presentation</vt:lpstr>
      <vt:lpstr>PowerPoint Presentation</vt:lpstr>
      <vt:lpstr>PowerPoint Presentation</vt:lpstr>
      <vt:lpstr>Try It Yourself: Decomposing "unhappiness"</vt:lpstr>
      <vt:lpstr>WordPiece vs. BPE</vt:lpstr>
      <vt:lpstr>SentencePiece</vt:lpstr>
      <vt:lpstr>Vocabulary Size Trade-offs</vt:lpstr>
      <vt:lpstr>Why Tokenisation Choices Matter</vt:lpstr>
      <vt:lpstr>Common Pitfalls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debdeep</cp:lastModifiedBy>
  <cp:revision>4</cp:revision>
  <dcterms:modified xsi:type="dcterms:W3CDTF">2026-08-11T05:04:13Z</dcterms:modified>
</cp:coreProperties>
</file>