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4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sldSz cx="9144000" cy="5143500" type="screen16x9"/>
  <p:notesSz cx="6858000" cy="9144000"/>
  <p:embeddedFontLst>
    <p:embeddedFont>
      <p:font typeface="Lucida Sans" panose="020B0602030504020204" pitchFamily="34" charset="77"/>
      <p:regular r:id="rId50"/>
      <p:bold r:id="rId51"/>
      <p:italic r:id="rId52"/>
      <p:boldItalic r:id="rId53"/>
    </p:embeddedFont>
    <p:embeddedFont>
      <p:font typeface="Montserrat Medium" panose="00000600000000000000" pitchFamily="2" charset="77"/>
      <p:regular r:id="rId54"/>
      <p:italic r:id="rId5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316267D-F331-429C-A7BD-D566D4DBC0C9}">
  <a:tblStyle styleId="{1316267D-F331-429C-A7BD-D566D4DBC0C9}" styleName="Table_0">
    <a:wholeTbl>
      <a:tcTxStyle>
        <a:srgbClr val="000000"/>
      </a:tcTxStyle>
      <a:tcStyle>
        <a:tcBdr>
          <a:left>
            <a:ln w="9525">
              <a:solidFill>
                <a:srgbClr val="9E9E9E"/>
              </a:solidFill>
            </a:ln>
          </a:left>
          <a:right>
            <a:ln w="9525">
              <a:solidFill>
                <a:srgbClr val="9E9E9E"/>
              </a:solidFill>
            </a:ln>
          </a:right>
          <a:top>
            <a:ln w="9525">
              <a:solidFill>
                <a:srgbClr val="9E9E9E"/>
              </a:solidFill>
            </a:ln>
          </a:top>
          <a:bottom>
            <a:ln w="9525">
              <a:solidFill>
                <a:srgbClr val="9E9E9E"/>
              </a:solidFill>
            </a:ln>
          </a:bottom>
          <a:insideH>
            <a:ln w="9525">
              <a:solidFill>
                <a:srgbClr val="9E9E9E"/>
              </a:solidFill>
            </a:ln>
          </a:insideH>
          <a:insideV>
            <a:ln w="9525">
              <a:solidFill>
                <a:srgbClr val="9E9E9E"/>
              </a:solidFill>
            </a:ln>
          </a:insideV>
        </a:tcBdr>
      </a:tcStyle>
    </a:wholeTbl>
    <a:band1H>
      <a:tcStyle>
        <a:tcBdr/>
      </a:tcStyle>
    </a:band1H>
    <a:band2H>
      <a:tcStyle>
        <a:tcBdr/>
      </a:tcStyle>
    </a:band2H>
    <a:band1V>
      <a:tcStyle>
        <a:tcBdr/>
      </a:tcStyle>
    </a:band1V>
    <a:band2V>
      <a:tcStyle>
        <a:tcBdr/>
      </a:tcStyle>
    </a:band2V>
    <a:lastCol>
      <a:tcStyle>
        <a:tcBdr/>
      </a:tcStyle>
    </a:lastCol>
    <a:firstCol>
      <a:tcStyle>
        <a:tcBdr/>
      </a:tcStyle>
    </a:firstCol>
    <a:lastRow>
      <a:tcStyle>
        <a:tcBdr/>
      </a:tcStyle>
    </a:lastRow>
    <a:seCell>
      <a:tcStyle>
        <a:tcBdr/>
      </a:tcStyle>
    </a:seCell>
    <a:swCell>
      <a:tcStyle>
        <a:tcBdr/>
      </a:tcStyle>
    </a:swCell>
    <a:firstRow>
      <a:tcStyle>
        <a:tcBdr/>
      </a:tcStyle>
    </a:firstRow>
    <a:neCell>
      <a:tcStyle>
        <a:tcBdr/>
      </a:tcStyle>
    </a:neCell>
    <a:nwCell>
      <a:tcStyle>
        <a:tcBdr/>
      </a:tcStyle>
    </a:nwCell>
  </a:tblStyle>
  <a:tblStyle styleId="{5C22544A-7EE6-4342-B048-85BDC9FD1C3A}" styleName="Medium Style 2 - Accent 1">
    <a:wholeTbl>
      <a:tcTxStyle>
        <a:fontRef idx="minor">
          <a:prstClr val="black"/>
        </a:fontRef>
        <a:schemeClr val="dk1"/>
      </a:tcTxStyle>
      <a:tcStyle>
        <a:tcBdr>
          <a:left>
            <a:ln w="12700">
              <a:solidFill>
                <a:schemeClr val="lt1"/>
              </a:solidFill>
            </a:ln>
          </a:left>
          <a:right>
            <a:ln w="12700">
              <a:solidFill>
                <a:schemeClr val="lt1"/>
              </a:solidFill>
            </a:ln>
          </a:right>
          <a:top>
            <a:ln w="12700">
              <a:solidFill>
                <a:schemeClr val="lt1"/>
              </a:solidFill>
            </a:ln>
          </a:top>
          <a:bottom>
            <a:ln w="12700">
              <a:solidFill>
                <a:schemeClr val="lt1"/>
              </a:solidFill>
            </a:ln>
          </a:bottom>
          <a:insideH>
            <a:ln w="12700">
              <a:solidFill>
                <a:schemeClr val="lt1"/>
              </a:solidFill>
            </a:ln>
          </a:insideH>
          <a:insideV>
            <a:ln w="12700">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fill>
          <a:solidFill>
            <a:schemeClr val="accent1">
              <a:tint val="40000"/>
            </a:schemeClr>
          </a:solidFill>
        </a:fill>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a:solidFill>
                <a:schemeClr val="lt1"/>
              </a:solidFill>
            </a:ln>
          </a:top>
        </a:tcBdr>
        <a:fill>
          <a:solidFill>
            <a:schemeClr val="accent1"/>
          </a:solidFill>
        </a:fill>
      </a:tcStyle>
    </a:lastRow>
    <a:seCell>
      <a:tcStyle>
        <a:tcBdr/>
      </a:tcStyle>
    </a:seCell>
    <a:swCell>
      <a:tcStyle>
        <a:tcBdr/>
      </a:tcStyle>
    </a:swCell>
    <a:firstRow>
      <a:tcTxStyle b="on">
        <a:fontRef idx="minor">
          <a:prstClr val="black"/>
        </a:fontRef>
        <a:schemeClr val="lt1"/>
      </a:tcTxStyle>
      <a:tcStyle>
        <a:tcBdr>
          <a:bottom>
            <a:ln w="38100">
              <a:solidFill>
                <a:schemeClr val="lt1"/>
              </a:solidFill>
            </a:ln>
          </a:bottom>
        </a:tcBdr>
        <a:fill>
          <a:solidFill>
            <a:schemeClr val="accent1"/>
          </a:solidFill>
        </a:fill>
      </a:tcStyle>
    </a:firstRow>
    <a:neCell>
      <a:tcStyle>
        <a:tcBdr/>
      </a:tcStyle>
    </a:neCell>
    <a:nwCell>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7371"/>
  </p:normalViewPr>
  <p:slideViewPr>
    <p:cSldViewPr snapToGrid="0">
      <p:cViewPr varScale="1">
        <p:scale>
          <a:sx n="104" d="100"/>
          <a:sy n="104" d="100"/>
        </p:scale>
        <p:origin x="1784" y="192"/>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font" Target="fonts/font1.fntdata"/><Relationship Id="rId55" Type="http://schemas.openxmlformats.org/officeDocument/2006/relationships/font" Target="fonts/font6.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4.fntdata"/><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font" Target="fonts/font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bwMode="auto">
        <a:xfrm>
          <a:off x="0" y="0"/>
          <a:ext cx="0" cy="0"/>
          <a:chOff x="0" y="0"/>
          <a:chExt cx="0" cy="0"/>
        </a:xfrm>
      </p:grpSpPr>
      <p:sp>
        <p:nvSpPr>
          <p:cNvPr id="816592966" name="Google Shape;3;n"/>
          <p:cNvSpPr>
            <a:spLocks noGrp="1" noRot="1" noChangeAspect="1"/>
          </p:cNvSpPr>
          <p:nvPr>
            <p:ph type="sldImg" idx="2"/>
          </p:nvPr>
        </p:nvSpPr>
        <p:spPr bwMode="auto">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172489" name="Google Shape;4;n"/>
          <p:cNvSpPr txBox="1">
            <a:spLocks noGrp="1"/>
          </p:cNvSpPr>
          <p:nvPr>
            <p:ph type="body" idx="1"/>
          </p:nvPr>
        </p:nvSpPr>
        <p:spPr bwMode="auto">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pPr>
              <a:defRPr/>
            </a:pP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266627381" name="Google Shape;284;p: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57054672" name="Google Shape;285;p: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30 seconds.</a:t>
            </a:r>
          </a:p>
          <a:p>
            <a:pPr marL="0" lvl="0" indent="0" algn="l">
              <a:buNone/>
            </a:pPr>
            <a:r>
              <a:rPr lang="en-US" sz="1200"/>
              <a:t>Script:</a:t>
            </a:r>
          </a:p>
          <a:p>
            <a:pPr marL="0" lvl="0" indent="0" algn="l">
              <a:buNone/>
            </a:pPr>
            <a:r>
              <a:rPr lang="en-US" sz="1200"/>
              <a:t>Today we move from text as raw symbols to text as vectors. The core question for the first half is: how can a machine represent the meaning of a word or document numerically?</a:t>
            </a:r>
          </a:p>
          <a:p>
            <a:pPr marL="0" lvl="0" indent="0" algn="l">
              <a:buNone/>
            </a:pPr>
            <a:r>
              <a:rPr lang="en-US" sz="1200"/>
              <a:t>Keep the framing simple: everything we discuss today is about turning language into numbers so that similarity, classification, and language modelling become possible.</a:t>
            </a:r>
          </a:p>
          <a:p>
            <a:pPr marL="0" lvl="0" indent="0" algn="l">
              <a:buNone/>
            </a:pPr>
            <a:r>
              <a:rPr lang="en-US" sz="1200"/>
              <a:t>Pacing note: Aim for about 2 hours of teaching, then use the remaining class time for lab, discussion, and assessment questions.</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446326732" name="Google Shape;297;g38cc5498cfd_0_5:notes"/>
          <p:cNvSpPr>
            <a:spLocks noGrp="1" noRot="1" noChangeAspect="1"/>
          </p:cNvSpPr>
          <p:nvPr>
            <p:ph type="sldImg" idx="2"/>
          </p:nvPr>
        </p:nvSpPr>
        <p:spPr bwMode="auto">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8628772" name="Google Shape;298;g38cc5498cfd_0_5: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2 minutes.</a:t>
            </a:r>
          </a:p>
          <a:p>
            <a:pPr marL="0" lvl="0" indent="0" algn="l">
              <a:buNone/>
            </a:pPr>
            <a:r>
              <a:rPr lang="en-US" sz="1200"/>
              <a:t>Script:</a:t>
            </a:r>
          </a:p>
          <a:p>
            <a:pPr marL="0" lvl="0" indent="0" algn="l">
              <a:buNone/>
            </a:pPr>
            <a:r>
              <a:rPr lang="en-US" sz="1200"/>
              <a:t>This opening image is a useful mental model. When people talk about what is inside an LLM, one of the key ingredients is a large collection of vectors.</a:t>
            </a:r>
          </a:p>
          <a:p>
            <a:pPr marL="0" lvl="0" indent="0" algn="l">
              <a:buNone/>
            </a:pPr>
            <a:r>
              <a:rPr lang="en-US" sz="1200"/>
              <a:t>A model does not directly understand the word “dog” or “bank” the way humans do. It stores and manipulates numerical representations. These vectors are not only for words; modern systems also build vectors for sentences, documents, images, and other modalities.</a:t>
            </a:r>
          </a:p>
          <a:p>
            <a:pPr marL="0" lvl="0" indent="0" algn="l">
              <a:buNone/>
            </a:pPr>
            <a:r>
              <a:rPr lang="en-US" sz="1200"/>
              <a:t>For this lecture, we start with the simplest historical path: word embeddings. Once students understand word embeddings, it becomes much easier to understand why modern LLMs rely so heavily on representation learning.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975170077" name="Google Shape;447;g3783e683079_0_356:notes"/>
          <p:cNvSpPr>
            <a:spLocks noGrp="1" noRot="1" noChangeAspect="1"/>
          </p:cNvSpPr>
          <p:nvPr>
            <p:ph type="sldImg" idx="2"/>
          </p:nvPr>
        </p:nvSpPr>
        <p:spPr bwMode="auto">
          <a:xfrm>
            <a:off x="381298" y="685800"/>
            <a:ext cx="609599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794116" name="Google Shape;448;g3783e683079_0_356:notes"/>
          <p:cNvSpPr txBox="1">
            <a:spLocks noGrp="1"/>
          </p:cNvSpPr>
          <p:nvPr>
            <p:ph type="body" idx="1"/>
          </p:nvPr>
        </p:nvSpPr>
        <p:spPr bwMode="auto">
          <a:xfrm>
            <a:off x="685800" y="4343400"/>
            <a:ext cx="5486400" cy="4114800"/>
          </a:xfrm>
          <a:prstGeom prst="rect">
            <a:avLst/>
          </a:prstGeom>
        </p:spPr>
        <p:txBody>
          <a:bodyPr spcFirstLastPara="1" wrap="square" lIns="91422" tIns="91422" rIns="91422" bIns="91422" anchor="t" anchorCtr="0">
            <a:noAutofit/>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Before we jump into embeddings, start with the practical problem. Suppose this SMS comes into a classifier. We want the system to decide whether it is ham or spam.</a:t>
            </a:r>
          </a:p>
          <a:p>
            <a:pPr marL="0" lvl="0" indent="0" algn="l">
              <a:buNone/>
            </a:pPr>
            <a:r>
              <a:rPr lang="en-US" sz="1200"/>
              <a:t>The text contains obvious spam signals: “free entry,” “win,” “text FA,” phone numbers, and terms and conditions. But a machine learning model cannot directly operate on raw text. It needs a numerical representation.</a:t>
            </a:r>
          </a:p>
          <a:p>
            <a:pPr marL="0" lvl="0" indent="0" algn="l">
              <a:buNone/>
            </a:pPr>
            <a:r>
              <a:rPr lang="en-US" sz="1200"/>
              <a:t>So the question is: what should the input vector look like? Should we count words? Should we use a dictionary? Should we represent every word separately? Or should we represent the whole message as one vector?</a:t>
            </a:r>
          </a:p>
          <a:p>
            <a:pPr marL="0" lvl="0" indent="0" algn="l">
              <a:buNone/>
            </a:pPr>
            <a:r>
              <a:rPr lang="en-US" sz="1200"/>
              <a:t>This slide sets up the rest of the lecture: representation is not a side detail; it strongly determines how well the downstream classifier can work.</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5263535" name="Slide Image Placeholder 1"/>
          <p:cNvSpPr>
            <a:spLocks noGrp="1" noRot="1" noChangeAspect="1"/>
          </p:cNvSpPr>
          <p:nvPr>
            <p:ph type="sldImg"/>
          </p:nvPr>
        </p:nvSpPr>
        <p:spPr bwMode="auto"/>
      </p:sp>
      <p:sp>
        <p:nvSpPr>
          <p:cNvPr id="860597847" name="Notes Placeholder 2"/>
          <p:cNvSpPr>
            <a:spLocks noGrp="1"/>
          </p:cNvSpPr>
          <p:nvPr>
            <p:ph type="body" idx="1"/>
          </p:nvPr>
        </p:nvSpPr>
        <p:spPr bwMode="auto"/>
        <p:txBody>
          <a:bodyPr/>
          <a:lstStyle/>
          <a:p>
            <a:pPr marL="0" lvl="0" indent="0" algn="l">
              <a:buNone/>
            </a:pPr>
            <a:r>
              <a:rPr lang="en-US" sz="1200"/>
              <a:t>Suggested time: 30 seconds.</a:t>
            </a:r>
          </a:p>
          <a:p>
            <a:pPr marL="0" lvl="0" indent="0" algn="l">
              <a:buNone/>
            </a:pPr>
            <a:r>
              <a:rPr lang="en-US" sz="1200"/>
              <a:t>Script:</a:t>
            </a:r>
          </a:p>
          <a:p>
            <a:pPr marL="0" lvl="0" indent="0" algn="l">
              <a:buNone/>
            </a:pPr>
            <a:r>
              <a:rPr lang="en-US" sz="1200"/>
              <a:t>This is the first main block: word semantics and static embeddings. Static means that each word gets one fixed vector, regardless of the sentence it appears in.</a:t>
            </a:r>
          </a:p>
          <a:p>
            <a:pPr marL="0" lvl="0" indent="0" algn="l">
              <a:buNone/>
            </a:pPr>
            <a:r>
              <a:rPr lang="en-US" sz="1200"/>
              <a:t>The guiding question is: how do we represent what a word means? We will move from symbolic definitions to distributional vectors, and then to neural word embeddings such as Word2Vec and GloVe.</a:t>
            </a:r>
          </a:p>
        </p:txBody>
      </p:sp>
      <p:sp>
        <p:nvSpPr>
          <p:cNvPr id="557763614" name="Slide Number Placeholder 3"/>
          <p:cNvSpPr>
            <a:spLocks noGrp="1"/>
          </p:cNvSpPr>
          <p:nvPr>
            <p:ph type="sldNum" sz="quarter" idx="10"/>
          </p:nvPr>
        </p:nvSpPr>
        <p:spPr bwMode="auto"/>
        <p:txBody>
          <a:bodyPr/>
          <a:lstStyle/>
          <a:p>
            <a:pPr>
              <a:defRPr/>
            </a:pPr>
            <a:fld id="{1D4E1787-3FF6-863D-EE15-410B650096BF}" type="slidenum">
              <a:rPr/>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71909269" name="Slide Image Placeholder 1"/>
          <p:cNvSpPr>
            <a:spLocks noGrp="1" noRot="1" noChangeAspect="1"/>
          </p:cNvSpPr>
          <p:nvPr>
            <p:ph type="sldImg"/>
          </p:nvPr>
        </p:nvSpPr>
        <p:spPr bwMode="auto"/>
      </p:sp>
      <p:sp>
        <p:nvSpPr>
          <p:cNvPr id="1436648261" name="Notes Placeholder 2"/>
          <p:cNvSpPr>
            <a:spLocks noGrp="1"/>
          </p:cNvSpPr>
          <p:nvPr>
            <p:ph type="body" idx="1"/>
          </p:nvPr>
        </p:nvSpPr>
        <p:spPr bwMode="auto"/>
        <p:txBody>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The meaning problem is deceptively simple: how do we represent the meaning of a word to a machine?</a:t>
            </a:r>
          </a:p>
          <a:p>
            <a:pPr marL="0" lvl="0" indent="0" algn="l">
              <a:buNone/>
            </a:pPr>
            <a:r>
              <a:rPr lang="en-US" sz="1200"/>
              <a:t>One historical answer is symbolic representation, such as WordNet. WordNet organises words into synsets and hierarchical relations. For example, car is a kind of vehicle, vehicle is an artifact, and so on. This is precise and human-interpretable, but it is expensive to build and maintain.</a:t>
            </a:r>
          </a:p>
          <a:p>
            <a:pPr marL="0" lvl="0" indent="0" algn="l">
              <a:buNone/>
            </a:pPr>
            <a:r>
              <a:rPr lang="en-US" sz="1200"/>
              <a:t>Another basic answer is one-hot encoding. Each word gets a long vector with one position switched on. The problem is that cat and dog are just as different as cat and refrigerator. Their cosine similarity is zero because the vectors are orthogonal.</a:t>
            </a:r>
          </a:p>
          <a:p>
            <a:pPr marL="0" lvl="0" indent="0" algn="l">
              <a:buNone/>
            </a:pPr>
            <a:r>
              <a:rPr lang="en-US" sz="1200"/>
              <a:t>So symbolic systems are meaningful but rigid; one-hot vectors are easy but semantically empty. Embeddings try to solve this gap.</a:t>
            </a:r>
          </a:p>
        </p:txBody>
      </p:sp>
      <p:sp>
        <p:nvSpPr>
          <p:cNvPr id="421287137" name="Slide Number Placeholder 3"/>
          <p:cNvSpPr>
            <a:spLocks noGrp="1"/>
          </p:cNvSpPr>
          <p:nvPr>
            <p:ph type="sldNum" sz="quarter" idx="10"/>
          </p:nvPr>
        </p:nvSpPr>
        <p:spPr bwMode="auto"/>
        <p:txBody>
          <a:bodyPr/>
          <a:lstStyle/>
          <a:p>
            <a:pPr>
              <a:defRPr/>
            </a:pPr>
            <a:fld id="{07D22D20-7093-76DC-3AC9-CC302507B0F9}" type="slidenum">
              <a:rPr/>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163764518" name="Google Shape;329;g382766c9cee_0_37: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6211192" name="Google Shape;330;g382766c9cee_0_37: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This slide shows why surface-form definitions are limited. In logic, we can say the meaning of dog is DOG, and if something is a DOG then it is a MAMMAL. That works nicely in a controlled symbolic setting.</a:t>
            </a:r>
          </a:p>
          <a:p>
            <a:pPr marL="0" lvl="0" indent="0" algn="l">
              <a:buNone/>
            </a:pPr>
            <a:r>
              <a:rPr lang="en-US" sz="1200"/>
              <a:t>But it relies on expert annotation and rigid categories. It does not naturally tell us that vanish is very close to disappear, or that hole and agreement are almost unrelated.</a:t>
            </a:r>
          </a:p>
          <a:p>
            <a:pPr marL="0" lvl="0" indent="0" algn="l">
              <a:buNone/>
            </a:pPr>
            <a:r>
              <a:rPr lang="en-US" sz="1200"/>
              <a:t>The SimLex-style similarity table is a good bridge. Humans can assign degrees of similarity. We would like a machine representation that can also express degrees of relatedness, not just exact symbolic membership.</a:t>
            </a:r>
          </a:p>
          <a:p>
            <a:pPr marL="0" lvl="0" indent="0" algn="l">
              <a:buNone/>
            </a:pPr>
            <a:r>
              <a:rPr lang="en-US" sz="1200"/>
              <a:t>This motivates vector semantics: words are represented as points in a space, and similarity becomes distance or angle in that space.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264683388" name="Google Shape;322;g382766c9cee_0_31: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3784884" name="Google Shape;323;g382766c9cee_0_31: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2 minutes.</a:t>
            </a:r>
          </a:p>
          <a:p>
            <a:pPr marL="0" lvl="0" indent="0" algn="l">
              <a:buNone/>
            </a:pPr>
            <a:r>
              <a:rPr lang="en-US" sz="1200"/>
              <a:t>Script:</a:t>
            </a:r>
          </a:p>
          <a:p>
            <a:pPr marL="0" lvl="0" indent="0" algn="l">
              <a:buNone/>
            </a:pPr>
            <a:r>
              <a:rPr lang="en-US" sz="1200"/>
              <a:t>The main point here is that analogies are interesting, but they are not the primary reason we need embeddings.</a:t>
            </a:r>
          </a:p>
          <a:p>
            <a:pPr marL="0" lvl="0" indent="0" algn="l">
              <a:buNone/>
            </a:pPr>
            <a:r>
              <a:rPr lang="en-US" sz="1200"/>
              <a:t>The practical reason is continuous representation. Machine learning models work naturally with numbers, and continuous vectors allow similar words to have similar representations.</a:t>
            </a:r>
          </a:p>
          <a:p>
            <a:pPr marL="0" lvl="0" indent="0" algn="l">
              <a:buNone/>
            </a:pPr>
            <a:r>
              <a:rPr lang="en-US" sz="1200"/>
              <a:t>For example, sofa and couch may have different surface forms, but they refer to almost the same concept. A good representation should help a classifier or search system treat them as related.</a:t>
            </a:r>
          </a:p>
          <a:p>
            <a:pPr marL="0" lvl="0" indent="0" algn="l">
              <a:buNone/>
            </a:pPr>
            <a:r>
              <a:rPr lang="en-US" sz="1200"/>
              <a:t>This is also important for word sense disambiguation and for breaking away from simple string matching.</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45896543" name="Slide Image Placeholder 1"/>
          <p:cNvSpPr>
            <a:spLocks noGrp="1" noRot="1" noChangeAspect="1"/>
          </p:cNvSpPr>
          <p:nvPr>
            <p:ph type="sldImg"/>
          </p:nvPr>
        </p:nvSpPr>
        <p:spPr bwMode="auto"/>
      </p:sp>
      <p:sp>
        <p:nvSpPr>
          <p:cNvPr id="1753607965" name="Notes Placeholder 2"/>
          <p:cNvSpPr>
            <a:spLocks noGrp="1"/>
          </p:cNvSpPr>
          <p:nvPr>
            <p:ph type="body" idx="1"/>
          </p:nvPr>
        </p:nvSpPr>
        <p:spPr bwMode="auto"/>
        <p:txBody>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The distributional hypothesis is the foundation of classical vector semantics: you shall know a word by the company it keeps.</a:t>
            </a:r>
          </a:p>
          <a:p>
            <a:pPr marL="0" lvl="0" indent="0" algn="l">
              <a:buNone/>
            </a:pPr>
            <a:r>
              <a:rPr lang="en-US" sz="1200"/>
              <a:t>In simple terms, words that occur in similar contexts tend to have similar meanings. If two words frequently appear near the same surrounding words, we expect them to be semantically related.</a:t>
            </a:r>
          </a:p>
          <a:p>
            <a:pPr marL="0" lvl="0" indent="0" algn="l">
              <a:buNone/>
            </a:pPr>
            <a:r>
              <a:rPr lang="en-US" sz="1200"/>
              <a:t>To turn this into vectors, we build a word-context matrix. Rows are target words, columns are context words, and each cell records how often a target word appears near a context word.</a:t>
            </a:r>
          </a:p>
          <a:p>
            <a:pPr marL="0" lvl="0" indent="0" algn="l">
              <a:buNone/>
            </a:pPr>
            <a:r>
              <a:rPr lang="en-US" sz="1200"/>
              <a:t>This is the key bridge from text to numbers: meaning is approximated by linguistic distribution.</a:t>
            </a:r>
          </a:p>
        </p:txBody>
      </p:sp>
      <p:sp>
        <p:nvSpPr>
          <p:cNvPr id="1004585762" name="Slide Number Placeholder 3"/>
          <p:cNvSpPr>
            <a:spLocks noGrp="1"/>
          </p:cNvSpPr>
          <p:nvPr>
            <p:ph type="sldNum" sz="quarter" idx="10"/>
          </p:nvPr>
        </p:nvSpPr>
        <p:spPr bwMode="auto"/>
        <p:txBody>
          <a:bodyPr/>
          <a:lstStyle/>
          <a:p>
            <a:pPr>
              <a:defRPr/>
            </a:pPr>
            <a:fld id="{E5354A26-610C-9465-20F6-D4AB34091A94}" type="slidenum">
              <a:rPr/>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538831283" name="Google Shape;338;g382766c9cee_0_48: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5009379" name="Google Shape;339;g382766c9cee_0_48: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2.5 minutes.</a:t>
            </a:r>
          </a:p>
          <a:p>
            <a:pPr marL="0" lvl="0" indent="0" algn="l">
              <a:buNone/>
            </a:pPr>
            <a:r>
              <a:rPr lang="en-US" sz="1200"/>
              <a:t>Script:</a:t>
            </a:r>
          </a:p>
          <a:p>
            <a:pPr marL="0" lvl="0" indent="0" algn="l">
              <a:buNone/>
            </a:pPr>
            <a:r>
              <a:rPr lang="en-US" sz="1200"/>
              <a:t>Here we connect the idea to a familiar representation: TF-IDF or count-based vectorization.</a:t>
            </a:r>
          </a:p>
          <a:p>
            <a:pPr marL="0" lvl="0" indent="0" algn="l">
              <a:buNone/>
            </a:pPr>
            <a:r>
              <a:rPr lang="en-US" sz="1200"/>
              <a:t>For document classification, each row might be an email and each column might be a word such as call, text, free, win, let’s, or go. The values can be raw counts, binary presence, or TF-IDF weights.</a:t>
            </a:r>
          </a:p>
          <a:p>
            <a:pPr marL="0" lvl="0" indent="0" algn="l">
              <a:buNone/>
            </a:pPr>
            <a:r>
              <a:rPr lang="en-US" sz="1200"/>
              <a:t>This is already a vector representation. A spam email may have high values for words like free, win, text, or call. A normal message may have different words.</a:t>
            </a:r>
          </a:p>
          <a:p>
            <a:pPr marL="0" lvl="0" indent="0" algn="l">
              <a:buNone/>
            </a:pPr>
            <a:r>
              <a:rPr lang="en-US" sz="1200"/>
              <a:t>The limitation is that this representation is tied to surface words. It does not automatically know that prize and reward may be related unless both were observed in similar statistical patterns.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594359236" name="Slide Image Placeholder 1"/>
          <p:cNvSpPr>
            <a:spLocks noGrp="1" noRot="1" noChangeAspect="1"/>
          </p:cNvSpPr>
          <p:nvPr>
            <p:ph type="sldImg"/>
          </p:nvPr>
        </p:nvSpPr>
        <p:spPr bwMode="auto"/>
      </p:sp>
      <p:sp>
        <p:nvSpPr>
          <p:cNvPr id="945862522" name="Notes Placeholder 2"/>
          <p:cNvSpPr>
            <a:spLocks noGrp="1"/>
          </p:cNvSpPr>
          <p:nvPr>
            <p:ph type="body" idx="1"/>
          </p:nvPr>
        </p:nvSpPr>
        <p:spPr bwMode="auto"/>
        <p:txBody>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Use this toy table to make the intuition concrete. The row for cat has high counts for meows and purrs. The row for dog has high counts for barks and runs. The row for car is very different.</a:t>
            </a:r>
          </a:p>
          <a:p>
            <a:pPr marL="0" lvl="0" indent="0" algn="l">
              <a:buNone/>
            </a:pPr>
            <a:r>
              <a:rPr lang="en-US" sz="1200"/>
              <a:t>Even in this tiny example, cat and dog are more similar to each other than either is to car because they share some animal-like contexts such as eats and runs.</a:t>
            </a:r>
          </a:p>
          <a:p>
            <a:pPr marL="0" lvl="0" indent="0" algn="l">
              <a:buNone/>
            </a:pPr>
            <a:r>
              <a:rPr lang="en-US" sz="1200"/>
              <a:t>The important idea is that we did not explicitly tell the machine that cat and dog are animals. Similarity emerges from the statistics of the contexts.</a:t>
            </a:r>
          </a:p>
          <a:p>
            <a:pPr marL="0" lvl="0" indent="0" algn="l">
              <a:buNone/>
            </a:pPr>
            <a:r>
              <a:rPr lang="en-US" sz="1200"/>
              <a:t>This is the central idea behind distributional semantics.</a:t>
            </a:r>
          </a:p>
        </p:txBody>
      </p:sp>
      <p:sp>
        <p:nvSpPr>
          <p:cNvPr id="1894675847" name="Slide Number Placeholder 3"/>
          <p:cNvSpPr>
            <a:spLocks noGrp="1"/>
          </p:cNvSpPr>
          <p:nvPr>
            <p:ph type="sldNum" sz="quarter" idx="10"/>
          </p:nvPr>
        </p:nvSpPr>
        <p:spPr bwMode="auto"/>
        <p:txBody>
          <a:bodyPr/>
          <a:lstStyle/>
          <a:p>
            <a:pPr>
              <a:defRPr/>
            </a:pPr>
            <a:fld id="{5B0EFED1-DC34-C7EB-95CA-53142F3BBAFE}" type="slidenum">
              <a:rPr/>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481509133" name="Google Shape;362;g382766c9cee_0_24: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6754412" name="Google Shape;363;g382766c9cee_0_24: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2 minutes.</a:t>
            </a:r>
          </a:p>
          <a:p>
            <a:pPr marL="0" lvl="0" indent="0" algn="l">
              <a:buNone/>
            </a:pPr>
            <a:r>
              <a:rPr lang="en-US" sz="1200"/>
              <a:t>Script:</a:t>
            </a:r>
          </a:p>
          <a:p>
            <a:pPr marL="0" lvl="0" indent="0" algn="l">
              <a:buNone/>
            </a:pPr>
            <a:r>
              <a:rPr lang="en-US" sz="1200"/>
              <a:t>This slide shows the general form of the word-context matrix. Each row is a word in the vocabulary. Each column is another word that may appear nearby.</a:t>
            </a:r>
          </a:p>
          <a:p>
            <a:pPr marL="0" lvl="0" indent="0" algn="l">
              <a:buNone/>
            </a:pPr>
            <a:r>
              <a:rPr lang="en-US" sz="1200"/>
              <a:t>The highlighted question is: how often does agate occur near abacus? Most such pairs will have zero or very small counts, which is why these matrices become extremely sparse.</a:t>
            </a:r>
          </a:p>
          <a:p>
            <a:pPr marL="0" lvl="0" indent="0" algn="l">
              <a:buNone/>
            </a:pPr>
            <a:r>
              <a:rPr lang="en-US" sz="1200"/>
              <a:t>Still, each row can be treated as a vector. The meaning of a word is represented by the pattern of context counts across all columns.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341257235" name="Google Shape;370;g382766c9cee_0_71: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585903" name="Google Shape;371;g382766c9cee_0_71: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Here we define what “nearby” means. In this example, words within a window of four words are treated as context.</a:t>
            </a:r>
          </a:p>
          <a:p>
            <a:pPr marL="0" lvl="0" indent="0" algn="l">
              <a:buNone/>
            </a:pPr>
            <a:r>
              <a:rPr lang="en-US" sz="1200"/>
              <a:t>Look at cherry. In the phrase “cherry pie,” pie occurs nearby. So the count for cherry with the context word pie increases. Strawberry also appears near pie in the second example.</a:t>
            </a:r>
          </a:p>
          <a:p>
            <a:pPr marL="0" lvl="0" indent="0" algn="l">
              <a:buNone/>
            </a:pPr>
            <a:r>
              <a:rPr lang="en-US" sz="1200"/>
              <a:t>Digital appears near computer, and information appears near computer and internet-related words.</a:t>
            </a:r>
          </a:p>
          <a:p>
            <a:pPr marL="0" lvl="0" indent="0" algn="l">
              <a:buNone/>
            </a:pPr>
            <a:r>
              <a:rPr lang="en-US" sz="1200"/>
              <a:t>The specific window size is a modelling choice. A small window captures local syntactic or functional similarity; a larger window captures broader topical similarity.</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231560293" name="Google Shape;379;g382766c9cee_0_100: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1554344" name="Google Shape;380;g382766c9cee_0_10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This slide extends the previous idea from a few toy contexts to a larger corpus.</a:t>
            </a:r>
          </a:p>
          <a:p>
            <a:pPr marL="0" lvl="0" indent="0" algn="l">
              <a:buNone/>
            </a:pPr>
            <a:r>
              <a:rPr lang="en-US" sz="1200"/>
              <a:t>Now the counts are much larger. Digital has high counts with computer and data. Information also has high counts with computer and data. Cherry has a high count with pie.</a:t>
            </a:r>
          </a:p>
          <a:p>
            <a:pPr marL="0" lvl="0" indent="0" algn="l">
              <a:buNone/>
            </a:pPr>
            <a:r>
              <a:rPr lang="en-US" sz="1200"/>
              <a:t>So we expect digital and information to be closer in this representation than cherry and information. Not because we gave the model a dictionary, but because their context profiles are similar.</a:t>
            </a:r>
          </a:p>
          <a:p>
            <a:pPr marL="0" lvl="0" indent="0" algn="l">
              <a:buNone/>
            </a:pPr>
            <a:r>
              <a:rPr lang="en-US" sz="1200"/>
              <a:t>This is the statistical basis for measuring word similarity.</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542437887" name="Google Shape;388;g382766c9cee_0_94: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5922030" name="Google Shape;389;g382766c9cee_0_94: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Now we move from the table to geometry. Each word row can be seen as a vector. In this simplified plot, we only show two dimensions: data and computer.</a:t>
            </a:r>
          </a:p>
          <a:p>
            <a:pPr marL="0" lvl="0" indent="0" algn="l">
              <a:buNone/>
            </a:pPr>
            <a:r>
              <a:rPr lang="en-US" sz="1200"/>
              <a:t>Digital and information point in a similar direction because both have large values for data and computer. Cosine similarity measures this direction similarity.</a:t>
            </a:r>
          </a:p>
          <a:p>
            <a:pPr marL="0" lvl="0" indent="0" algn="l">
              <a:buNone/>
            </a:pPr>
            <a:r>
              <a:rPr lang="en-US" sz="1200"/>
              <a:t>The key point is that cosine similarity is about the angle between vectors, not just their raw length. This is useful because common words may have larger counts overall, but direction tells us whether the pattern of contexts is similar.</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193029014" name="Google Shape;397;g382766c9cee_0_119: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38151487" name="Google Shape;398;g382766c9cee_0_119: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This slide works through the actual cosine computation.</a:t>
            </a:r>
          </a:p>
          <a:p>
            <a:pPr marL="0" lvl="0" indent="0" algn="l">
              <a:buNone/>
            </a:pPr>
            <a:r>
              <a:rPr lang="en-US" sz="1200"/>
              <a:t>For cherry and information, the numerator is the dot product of their vectors. But the denominator divides by the length of each vector. After this normalization, the similarity is very low, around 0.017.</a:t>
            </a:r>
          </a:p>
          <a:p>
            <a:pPr marL="0" lvl="0" indent="0" algn="l">
              <a:buNone/>
            </a:pPr>
            <a:r>
              <a:rPr lang="en-US" sz="1200"/>
              <a:t>For digital and information, the context counts align strongly in the data and computer dimensions, so the cosine similarity is very high, around 0.996.</a:t>
            </a:r>
          </a:p>
          <a:p>
            <a:pPr marL="0" lvl="0" indent="0" algn="l">
              <a:buNone/>
            </a:pPr>
            <a:r>
              <a:rPr lang="en-US" sz="1200"/>
              <a:t>The practical takeaway: if two words have similar context distributions, their vectors point in similar directions, and cosine similarity becomes high.</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67983881" name="Slide Image Placeholder 1"/>
          <p:cNvSpPr>
            <a:spLocks noGrp="1" noRot="1" noChangeAspect="1"/>
          </p:cNvSpPr>
          <p:nvPr>
            <p:ph type="sldImg"/>
          </p:nvPr>
        </p:nvSpPr>
        <p:spPr bwMode="auto"/>
      </p:sp>
      <p:sp>
        <p:nvSpPr>
          <p:cNvPr id="1774959139" name="Notes Placeholder 2"/>
          <p:cNvSpPr>
            <a:spLocks noGrp="1"/>
          </p:cNvSpPr>
          <p:nvPr>
            <p:ph type="body" idx="1"/>
          </p:nvPr>
        </p:nvSpPr>
        <p:spPr bwMode="auto"/>
        <p:txBody>
          <a:bodyPr/>
          <a:lstStyle/>
          <a:p>
            <a:pPr marL="0" lvl="0" indent="0" algn="l">
              <a:buNone/>
            </a:pPr>
            <a:r>
              <a:rPr lang="en-US" sz="1200"/>
              <a:t>Suggested time: 2 minutes. Optional if time is tight.</a:t>
            </a:r>
          </a:p>
          <a:p>
            <a:pPr marL="0" lvl="0" indent="0" algn="l">
              <a:buNone/>
            </a:pPr>
            <a:r>
              <a:rPr lang="en-US" sz="1200"/>
              <a:t>Script:</a:t>
            </a:r>
          </a:p>
          <a:p>
            <a:pPr marL="0" lvl="0" indent="0" algn="l">
              <a:buNone/>
            </a:pPr>
            <a:r>
              <a:rPr lang="en-US" sz="1200"/>
              <a:t>Raw counts have a problem: frequent words dominate. Words like “the,” “a,” and “in” appear near almost everything. A high co-occurrence count with “the” does not tell us much about meaning.</a:t>
            </a:r>
          </a:p>
          <a:p>
            <a:pPr marL="0" lvl="0" indent="0" algn="l">
              <a:buNone/>
            </a:pPr>
            <a:r>
              <a:rPr lang="en-US" sz="1200"/>
              <a:t>PMI, or pointwise mutual information, asks whether a co-occurrence is surprising compared to chance. Cat and meows may co-occur more than expected, so that association is informative. Cat and the may co-occur often, but the occurs with everything, so the association is weak.</a:t>
            </a:r>
          </a:p>
          <a:p>
            <a:pPr marL="0" lvl="0" indent="0" algn="l">
              <a:buNone/>
            </a:pPr>
            <a:r>
              <a:rPr lang="en-US" sz="1200"/>
              <a:t>You can treat this as an optional deeper statistical refinement before moving to dense vectors.</a:t>
            </a:r>
          </a:p>
        </p:txBody>
      </p:sp>
      <p:sp>
        <p:nvSpPr>
          <p:cNvPr id="1054326851" name="Slide Number Placeholder 3"/>
          <p:cNvSpPr>
            <a:spLocks noGrp="1"/>
          </p:cNvSpPr>
          <p:nvPr>
            <p:ph type="sldNum" sz="quarter" idx="10"/>
          </p:nvPr>
        </p:nvSpPr>
        <p:spPr bwMode="auto"/>
        <p:txBody>
          <a:bodyPr/>
          <a:lstStyle/>
          <a:p>
            <a:pPr>
              <a:defRPr/>
            </a:pPr>
            <a:fld id="{AF6DF5B0-C8C9-C4DF-00F6-8BB2E3206886}" type="slidenum">
              <a:rPr/>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55979795" name="Google Shape;405;g382766c9cee_0_126: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9567990" name="Google Shape;406;g382766c9cee_0_126: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2 minutes.</a:t>
            </a:r>
          </a:p>
          <a:p>
            <a:pPr marL="0" lvl="0" indent="0" algn="l">
              <a:buNone/>
            </a:pPr>
            <a:r>
              <a:rPr lang="en-US" sz="1200"/>
              <a:t>Script:</a:t>
            </a:r>
          </a:p>
          <a:p>
            <a:pPr marL="0" lvl="0" indent="0" algn="l">
              <a:buNone/>
            </a:pPr>
            <a:r>
              <a:rPr lang="en-US" sz="1200"/>
              <a:t>Count vectors and TF-IDF vectors are often long and sparse. If the vocabulary has 50,000 words, each vector has 50,000 dimensions, and most entries are zero.</a:t>
            </a:r>
          </a:p>
          <a:p>
            <a:pPr marL="0" lvl="0" indent="0" algn="l">
              <a:buNone/>
            </a:pPr>
            <a:r>
              <a:rPr lang="en-US" sz="1200"/>
              <a:t>Dense vectors are the alternative. Instead of tens of thousands of dimensions, we use maybe 50, 100, 300, or 1000 dimensions. Most entries are non-zero.</a:t>
            </a:r>
          </a:p>
          <a:p>
            <a:pPr marL="0" lvl="0" indent="0" algn="l">
              <a:buNone/>
            </a:pPr>
            <a:r>
              <a:rPr lang="en-US" sz="1200"/>
              <a:t>Dense embeddings are easier for neural models to use, cheaper to store, and better at capturing graded similarity. The next question is how to obtain these dense vectors.</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71664076" name="Google Shape;413;g38cc5498cfd_0_18: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467155" name="Google Shape;414;g38cc5498cfd_0_18: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2 minutes.</a:t>
            </a:r>
          </a:p>
          <a:p>
            <a:pPr marL="0" lvl="0" indent="0" algn="l">
              <a:buNone/>
            </a:pPr>
            <a:r>
              <a:rPr lang="en-US" sz="1200"/>
              <a:t>Script:</a:t>
            </a:r>
          </a:p>
          <a:p>
            <a:pPr marL="0" lvl="0" indent="0" algn="l">
              <a:buNone/>
            </a:pPr>
            <a:r>
              <a:rPr lang="en-US" sz="1200"/>
              <a:t>There are two broad routes to dense vectors. The first is statistical: start with a word-context matrix, apply weighting such as PPMI, and then reduce dimensionality using PCA or SVD.</a:t>
            </a:r>
          </a:p>
          <a:p>
            <a:pPr marL="0" lvl="0" indent="0" algn="l">
              <a:buNone/>
            </a:pPr>
            <a:r>
              <a:rPr lang="en-US" sz="1200"/>
              <a:t>The pipeline is counting, then smoothing or weighting, then dimensionality reduction.</a:t>
            </a:r>
          </a:p>
          <a:p>
            <a:pPr marL="0" lvl="0" indent="0" algn="l">
              <a:buNone/>
            </a:pPr>
            <a:r>
              <a:rPr lang="en-US" sz="1200"/>
              <a:t>The details of PCA and SVD are not the focus here, but the intuition is important: we compress a very large sparse matrix into a smaller dense space while preserving important similarity structure.</a:t>
            </a:r>
          </a:p>
          <a:p>
            <a:pPr marL="0" lvl="0" indent="0" algn="l">
              <a:buNone/>
            </a:pPr>
            <a:r>
              <a:rPr lang="en-US" sz="1200"/>
              <a:t>This route helps students understand that embeddings are not magic; they are compressed statistical patterns.</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495523518" name="Google Shape;425;g382766c9cee_0_0: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60229621" name="Google Shape;426;g382766c9cee_0_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The second route is neural-network-based embeddings. Word2Vec is the classic example.</a:t>
            </a:r>
          </a:p>
          <a:p>
            <a:pPr marL="0" lvl="0" indent="0" algn="l">
              <a:buNone/>
            </a:pPr>
            <a:r>
              <a:rPr lang="en-US" sz="1200"/>
              <a:t>Instead of explicitly building and reducing a huge matrix, we train a shallow neural network on a prediction task. The vectors emerge as learned weights.</a:t>
            </a:r>
          </a:p>
          <a:p>
            <a:pPr marL="0" lvl="0" indent="0" algn="l">
              <a:buNone/>
            </a:pPr>
            <a:r>
              <a:rPr lang="en-US" sz="1200"/>
              <a:t>There are two common objectives. In CBOW, the model uses surrounding context words to predict the centre word. In skip-gram, the model uses the centre word to predict surrounding context words.</a:t>
            </a:r>
          </a:p>
          <a:p>
            <a:pPr marL="0" lvl="0" indent="0" algn="l">
              <a:buNone/>
            </a:pPr>
            <a:r>
              <a:rPr lang="en-US" sz="1200"/>
              <a:t>The goal is not primarily to build a next-word generator. The goal is to learn useful word vectors from these prediction tasks.</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5285608" name="Google Shape;434;g382766c9cee_0_141: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3413226" name="Google Shape;435;g382766c9cee_0_141: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2.5 minutes.</a:t>
            </a:r>
          </a:p>
          <a:p>
            <a:pPr marL="0" lvl="0" indent="0" algn="l">
              <a:buNone/>
            </a:pPr>
            <a:r>
              <a:rPr lang="en-US" sz="1200"/>
              <a:t>Script:</a:t>
            </a:r>
          </a:p>
          <a:p>
            <a:pPr marL="0" lvl="0" indent="0" algn="l">
              <a:buNone/>
            </a:pPr>
            <a:r>
              <a:rPr lang="en-US" sz="1200"/>
              <a:t>This slide compares the statistical and neural views.</a:t>
            </a:r>
          </a:p>
          <a:p>
            <a:pPr marL="0" lvl="0" indent="0" algn="l">
              <a:buNone/>
            </a:pPr>
            <a:r>
              <a:rPr lang="en-US" sz="1200"/>
              <a:t>In the statistical approach, we explicitly count co-occurrences, apply smoothing or weighting, and then reduce dimensionality.</a:t>
            </a:r>
          </a:p>
          <a:p>
            <a:pPr marL="0" lvl="0" indent="0" algn="l">
              <a:buNone/>
            </a:pPr>
            <a:r>
              <a:rPr lang="en-US" sz="1200"/>
              <a:t>In the neural approach, the counting is implicit. When we prepare training samples from windows of text, frequent word-context pairs appear more often. The network learns from these samples and adjusts the embedding weights.</a:t>
            </a:r>
          </a:p>
          <a:p>
            <a:pPr marL="0" lvl="0" indent="0" algn="l">
              <a:buNone/>
            </a:pPr>
            <a:r>
              <a:rPr lang="en-US" sz="1200"/>
              <a:t>So the two approaches are not completely unrelated. Both are driven by word-context statistics. The difference is whether we explicitly build the matrix or let the neural objective learn from sampled contexts.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02471100" name="Slide Image Placeholder 1"/>
          <p:cNvSpPr>
            <a:spLocks noGrp="1" noRot="1" noChangeAspect="1"/>
          </p:cNvSpPr>
          <p:nvPr>
            <p:ph type="sldImg"/>
          </p:nvPr>
        </p:nvSpPr>
        <p:spPr bwMode="auto"/>
      </p:sp>
      <p:sp>
        <p:nvSpPr>
          <p:cNvPr id="1198345436" name="Notes Placeholder 2"/>
          <p:cNvSpPr>
            <a:spLocks noGrp="1"/>
          </p:cNvSpPr>
          <p:nvPr>
            <p:ph type="body" idx="1"/>
          </p:nvPr>
        </p:nvSpPr>
        <p:spPr bwMode="auto"/>
        <p:txBody>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Word2Vec addresses the problem that the full co-occurrence matrix is huge and sparse.</a:t>
            </a:r>
          </a:p>
          <a:p>
            <a:pPr marL="0" lvl="0" indent="0" algn="l">
              <a:buNone/>
            </a:pPr>
            <a:r>
              <a:rPr lang="en-US" sz="1200"/>
              <a:t>The idea from Mikolov and colleagues is to train a shallow network on a simple prediction task. The useful product is not only the prediction accuracy; it is the embedding matrix learned during training.</a:t>
            </a:r>
          </a:p>
          <a:p>
            <a:pPr marL="0" lvl="0" indent="0" algn="l">
              <a:buNone/>
            </a:pPr>
            <a:r>
              <a:rPr lang="en-US" sz="1200"/>
              <a:t>CBOW predicts the centre word from the surrounding words. Skip-gram predicts surrounding words from the centre word.</a:t>
            </a:r>
          </a:p>
          <a:p>
            <a:pPr marL="0" lvl="0" indent="0" algn="l">
              <a:buNone/>
            </a:pPr>
            <a:r>
              <a:rPr lang="en-US" sz="1200"/>
              <a:t>A simple mnemonic: CBOW collects the bag of surrounding words and predicts the centre. Skip-gram starts with the centre word and skips out to predict the context.</a:t>
            </a:r>
          </a:p>
        </p:txBody>
      </p:sp>
      <p:sp>
        <p:nvSpPr>
          <p:cNvPr id="151790190" name="Slide Number Placeholder 3"/>
          <p:cNvSpPr>
            <a:spLocks noGrp="1"/>
          </p:cNvSpPr>
          <p:nvPr>
            <p:ph type="sldNum" sz="quarter" idx="10"/>
          </p:nvPr>
        </p:nvSpPr>
        <p:spPr bwMode="auto"/>
        <p:txBody>
          <a:bodyPr/>
          <a:lstStyle/>
          <a:p>
            <a:pPr>
              <a:defRPr/>
            </a:pPr>
            <a:fld id="{CE0294D5-944F-D5BD-831A-4AF65FE06CFD}" type="slidenum">
              <a:rPr/>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73202039" name="Slide Image Placeholder 1"/>
          <p:cNvSpPr>
            <a:spLocks noGrp="1" noRot="1" noChangeAspect="1"/>
          </p:cNvSpPr>
          <p:nvPr>
            <p:ph type="sldImg"/>
          </p:nvPr>
        </p:nvSpPr>
        <p:spPr bwMode="auto"/>
      </p:sp>
      <p:sp>
        <p:nvSpPr>
          <p:cNvPr id="1736953899" name="Notes Placeholder 2"/>
          <p:cNvSpPr>
            <a:spLocks noGrp="1"/>
          </p:cNvSpPr>
          <p:nvPr>
            <p:ph type="body" idx="1"/>
          </p:nvPr>
        </p:nvSpPr>
        <p:spPr bwMode="auto"/>
        <p:txBody>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A practical issue in Word2Vec is the output layer. If the vocabulary has 50,000 words, a full softmax means scoring and normalising across all 50,000 possible words at every training step. That is expensive.</a:t>
            </a:r>
          </a:p>
          <a:p>
            <a:pPr marL="0" lvl="0" indent="0" algn="l">
              <a:buNone/>
            </a:pPr>
            <a:r>
              <a:rPr lang="en-US" sz="1200"/>
              <a:t>Negative sampling makes the task simpler. For a real pair like dog-barks, we label it positive. Then we sample a few random words that are not the true context, such as dog-table or dog-democracy, and label them negative.</a:t>
            </a:r>
          </a:p>
          <a:p>
            <a:pPr marL="0" lvl="0" indent="0" algn="l">
              <a:buNone/>
            </a:pPr>
            <a:r>
              <a:rPr lang="en-US" sz="1200"/>
              <a:t>The model learns to distinguish real word-context pairs from random ones. This makes training much faster and is one reason Word2Vec became practical at scale.</a:t>
            </a:r>
          </a:p>
        </p:txBody>
      </p:sp>
      <p:sp>
        <p:nvSpPr>
          <p:cNvPr id="580122981" name="Slide Number Placeholder 3"/>
          <p:cNvSpPr>
            <a:spLocks noGrp="1"/>
          </p:cNvSpPr>
          <p:nvPr>
            <p:ph type="sldNum" sz="quarter" idx="10"/>
          </p:nvPr>
        </p:nvSpPr>
        <p:spPr bwMode="auto"/>
        <p:txBody>
          <a:bodyPr/>
          <a:lstStyle/>
          <a:p>
            <a:pPr>
              <a:defRPr/>
            </a:pPr>
            <a:fld id="{8EE19408-7D8A-4B10-F390-CEBA8E2CADA9}" type="slidenum">
              <a:rPr/>
              <a:t>22</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855700002" name="Google Shape;451;g38cc5498cfd_0_410: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1058386" name="Google Shape;452;g38cc5498cfd_0_410: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2 minutes. Optional visual break.</a:t>
            </a:r>
          </a:p>
          <a:p>
            <a:pPr marL="0" lvl="0" indent="0" algn="l">
              <a:buNone/>
            </a:pPr>
            <a:r>
              <a:rPr lang="en-US" sz="1200"/>
              <a:t>Script:</a:t>
            </a:r>
          </a:p>
          <a:p>
            <a:pPr marL="0" lvl="0" indent="0" algn="l">
              <a:buNone/>
            </a:pPr>
            <a:r>
              <a:rPr lang="en-US" sz="1200"/>
              <a:t>This slide is mainly for spatial intuition. If the linked video is available, play only a short segment. The objective is not the video itself, but the idea that embeddings create a space where related items are close and unrelated items are far apart.</a:t>
            </a:r>
          </a:p>
          <a:p>
            <a:pPr marL="0" lvl="0" indent="0" algn="l">
              <a:buNone/>
            </a:pPr>
            <a:r>
              <a:rPr lang="en-US" sz="1200"/>
              <a:t>If time is tight, summarize verbally: training adjusts vectors so that words appearing in similar contexts move closer together, while unrelated words tend to move apart.</a:t>
            </a:r>
          </a:p>
          <a:p>
            <a:pPr marL="0" lvl="0" indent="0" algn="l">
              <a:buNone/>
            </a:pPr>
            <a:r>
              <a:rPr lang="en-US" sz="1200"/>
              <a:t>Then transition to what embeddings can capture.</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028240677" name="Slide Image Placeholder 1"/>
          <p:cNvSpPr>
            <a:spLocks noGrp="1" noRot="1" noChangeAspect="1"/>
          </p:cNvSpPr>
          <p:nvPr>
            <p:ph type="sldImg"/>
          </p:nvPr>
        </p:nvSpPr>
        <p:spPr bwMode="auto"/>
      </p:sp>
      <p:sp>
        <p:nvSpPr>
          <p:cNvPr id="1345215429" name="Notes Placeholder 2"/>
          <p:cNvSpPr>
            <a:spLocks noGrp="1"/>
          </p:cNvSpPr>
          <p:nvPr>
            <p:ph type="body" idx="1"/>
          </p:nvPr>
        </p:nvSpPr>
        <p:spPr bwMode="auto"/>
        <p:txBody>
          <a:bodyPr/>
          <a:lstStyle/>
          <a:p>
            <a:pPr marL="0" lvl="0" indent="0" algn="l">
              <a:buNone/>
            </a:pPr>
            <a:r>
              <a:rPr lang="en-US" sz="1200"/>
              <a:t>Suggested time: 2 minutes.</a:t>
            </a:r>
          </a:p>
          <a:p>
            <a:pPr marL="0" lvl="0" indent="0" algn="l">
              <a:buNone/>
            </a:pPr>
            <a:r>
              <a:rPr lang="en-US" sz="1200"/>
              <a:t>Script:</a:t>
            </a:r>
          </a:p>
          <a:p>
            <a:pPr marL="0" lvl="0" indent="0" algn="l">
              <a:buNone/>
            </a:pPr>
            <a:r>
              <a:rPr lang="en-US" sz="1200"/>
              <a:t>Embeddings capture several kinds of regularities.</a:t>
            </a:r>
          </a:p>
          <a:p>
            <a:pPr marL="0" lvl="0" indent="0" algn="l">
              <a:buNone/>
            </a:pPr>
            <a:r>
              <a:rPr lang="en-US" sz="1200"/>
              <a:t>First, semantic similarity: king and queen are related; Paris and London are both capital-city-like entities.</a:t>
            </a:r>
          </a:p>
          <a:p>
            <a:pPr marL="0" lvl="0" indent="0" algn="l">
              <a:buNone/>
            </a:pPr>
            <a:r>
              <a:rPr lang="en-US" sz="1200"/>
              <a:t>Second, analogies: vector arithmetic can sometimes move between relations, such as king minus man plus woman being close to queen.</a:t>
            </a:r>
          </a:p>
          <a:p>
            <a:pPr marL="0" lvl="0" indent="0" algn="l">
              <a:buNone/>
            </a:pPr>
            <a:r>
              <a:rPr lang="en-US" sz="1200"/>
              <a:t>Third, syntactic regularities: tense and morphology can appear as consistent directions, such as walk to walked or run to ran.</a:t>
            </a:r>
          </a:p>
          <a:p>
            <a:pPr marL="0" lvl="0" indent="0" algn="l">
              <a:buNone/>
            </a:pPr>
            <a:r>
              <a:rPr lang="en-US" sz="1200"/>
              <a:t>Important qualification: these patterns are useful but not perfect. They are statistical regularities, not guaranteed logical rules.</a:t>
            </a:r>
          </a:p>
        </p:txBody>
      </p:sp>
      <p:sp>
        <p:nvSpPr>
          <p:cNvPr id="2144955815" name="Slide Number Placeholder 3"/>
          <p:cNvSpPr>
            <a:spLocks noGrp="1"/>
          </p:cNvSpPr>
          <p:nvPr>
            <p:ph type="sldNum" sz="quarter" idx="10"/>
          </p:nvPr>
        </p:nvSpPr>
        <p:spPr bwMode="auto"/>
        <p:txBody>
          <a:bodyPr/>
          <a:lstStyle/>
          <a:p>
            <a:pPr>
              <a:defRPr/>
            </a:pPr>
            <a:fld id="{2B2DB588-005C-E85D-064A-61867E354808}" type="slidenum">
              <a:rPr/>
              <a:t>24</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657494846" name="Google Shape;314;g38cc5498cfd_0_298: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6081352" name="Google Shape;315;g38cc5498cfd_0_298: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2 minutes.</a:t>
            </a:r>
          </a:p>
          <a:p>
            <a:pPr marL="0" lvl="0" indent="0" algn="l">
              <a:buNone/>
            </a:pPr>
            <a:r>
              <a:rPr lang="en-US" sz="1200"/>
              <a:t>Script:</a:t>
            </a:r>
          </a:p>
          <a:p>
            <a:pPr marL="0" lvl="0" indent="0" algn="l">
              <a:buNone/>
            </a:pPr>
            <a:r>
              <a:rPr lang="en-US" sz="1200"/>
              <a:t>This GloVe visualization shows analogical relations as roughly parallel directions in vector space.</a:t>
            </a:r>
          </a:p>
          <a:p>
            <a:pPr marL="0" lvl="0" indent="0" algn="l">
              <a:buNone/>
            </a:pPr>
            <a:r>
              <a:rPr lang="en-US" sz="1200"/>
              <a:t>On the left, many gender-related pairs have similar offsets. On the right, adjective comparative and superlative relations show similar geometric patterns.</a:t>
            </a:r>
          </a:p>
          <a:p>
            <a:pPr marL="0" lvl="0" indent="0" algn="l">
              <a:buNone/>
            </a:pPr>
            <a:r>
              <a:rPr lang="en-US" sz="1200"/>
              <a:t>The point is not that every analogy always works. The point is that embeddings can encode relational structure in the geometry of the space.</a:t>
            </a:r>
          </a:p>
          <a:p>
            <a:pPr marL="0" lvl="0" indent="0" algn="l">
              <a:buNone/>
            </a:pPr>
            <a:r>
              <a:rPr lang="en-US" sz="1200"/>
              <a:t>This is one reason embeddings were such a breakthrough before large contextual models became dominant.</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75489884" name="Slide Image Placeholder 1"/>
          <p:cNvSpPr>
            <a:spLocks noGrp="1" noRot="1" noChangeAspect="1"/>
          </p:cNvSpPr>
          <p:nvPr>
            <p:ph type="sldImg"/>
          </p:nvPr>
        </p:nvSpPr>
        <p:spPr bwMode="auto"/>
      </p:sp>
      <p:sp>
        <p:nvSpPr>
          <p:cNvPr id="1194102338" name="Notes Placeholder 2"/>
          <p:cNvSpPr>
            <a:spLocks noGrp="1"/>
          </p:cNvSpPr>
          <p:nvPr>
            <p:ph type="body" idx="1"/>
          </p:nvPr>
        </p:nvSpPr>
        <p:spPr bwMode="auto"/>
        <p:txBody>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This is a toy analogy calculation. We want: Paris is to France as Berlin is to what?</a:t>
            </a:r>
          </a:p>
          <a:p>
            <a:pPr marL="0" lvl="0" indent="0" algn="l">
              <a:buNone/>
            </a:pPr>
            <a:r>
              <a:rPr lang="en-US" sz="1200"/>
              <a:t>The relation from Paris to France is approximately a capital-to-country relation. To apply that relation to Berlin, we compute Berlin minus Paris plus France.</a:t>
            </a:r>
          </a:p>
          <a:p>
            <a:pPr marL="0" lvl="0" indent="0" algn="l">
              <a:buNone/>
            </a:pPr>
            <a:r>
              <a:rPr lang="en-US" sz="1200"/>
              <a:t>With the toy numbers, the resulting vector is [0.2, 1.0], and the nearest word should be Germany.</a:t>
            </a:r>
          </a:p>
          <a:p>
            <a:pPr marL="0" lvl="0" indent="0" algn="l">
              <a:buNone/>
            </a:pPr>
            <a:r>
              <a:rPr lang="en-US" sz="1200"/>
              <a:t>Stress that these are not real GloVe values. The purpose is only to show the arithmetic idea: subtract one concept, add another relation, then search for the nearest vector.</a:t>
            </a:r>
          </a:p>
        </p:txBody>
      </p:sp>
      <p:sp>
        <p:nvSpPr>
          <p:cNvPr id="974830772" name="Slide Number Placeholder 3"/>
          <p:cNvSpPr>
            <a:spLocks noGrp="1"/>
          </p:cNvSpPr>
          <p:nvPr>
            <p:ph type="sldNum" sz="quarter" idx="10"/>
          </p:nvPr>
        </p:nvSpPr>
        <p:spPr bwMode="auto"/>
        <p:txBody>
          <a:bodyPr/>
          <a:lstStyle/>
          <a:p>
            <a:pPr>
              <a:defRPr/>
            </a:pPr>
            <a:fld id="{2DD16676-4E94-480B-D0A3-C1FFE6329748}" type="slidenum">
              <a:rPr/>
              <a:t>26</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572923386" name="Google Shape;305;g38cc5498cfd_0_11: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8621243" name="Google Shape;306;g38cc5498cfd_0_11: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4 minutes. Optional live demo.</a:t>
            </a:r>
          </a:p>
          <a:p>
            <a:pPr marL="0" lvl="0" indent="0" algn="l">
              <a:buNone/>
            </a:pPr>
            <a:r>
              <a:rPr lang="en-US" sz="1200"/>
              <a:t>Script:</a:t>
            </a:r>
          </a:p>
          <a:p>
            <a:pPr marL="0" lvl="0" indent="0" algn="l">
              <a:buNone/>
            </a:pPr>
            <a:r>
              <a:rPr lang="en-US" sz="1200"/>
              <a:t>This is a good point for a short interactive demonstration if time permits. Open TensorFlow Embedding Projector and search for a few familiar words.</a:t>
            </a:r>
          </a:p>
          <a:p>
            <a:pPr marL="0" lvl="0" indent="0" algn="l">
              <a:buNone/>
            </a:pPr>
            <a:r>
              <a:rPr lang="en-US" sz="1200"/>
              <a:t>Suggested examples: king, queen, doctor, hospital, music, computer, Singapore. Ask students what nearest neighbours they expect before showing them.</a:t>
            </a:r>
          </a:p>
          <a:p>
            <a:pPr marL="0" lvl="0" indent="0" algn="l">
              <a:buNone/>
            </a:pPr>
            <a:r>
              <a:rPr lang="en-US" sz="1200"/>
              <a:t>Keep the demo short. The teaching point is that high-dimensional embeddings can be projected into 2D or 3D for exploration, but the projection is only an approximation.</a:t>
            </a:r>
          </a:p>
          <a:p>
            <a:pPr marL="0" lvl="0" indent="0" algn="l">
              <a:buNone/>
            </a:pPr>
            <a:r>
              <a:rPr lang="en-US" sz="1200"/>
              <a:t>If the internet or projector is unreliable, skip the live demo and simply explain the screenshot.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49411703" name="Slide Image Placeholder 1"/>
          <p:cNvSpPr>
            <a:spLocks noGrp="1" noRot="1" noChangeAspect="1"/>
          </p:cNvSpPr>
          <p:nvPr>
            <p:ph type="sldImg"/>
          </p:nvPr>
        </p:nvSpPr>
        <p:spPr bwMode="auto"/>
      </p:sp>
      <p:sp>
        <p:nvSpPr>
          <p:cNvPr id="435904322" name="Notes Placeholder 2"/>
          <p:cNvSpPr>
            <a:spLocks noGrp="1"/>
          </p:cNvSpPr>
          <p:nvPr>
            <p:ph type="body" idx="1"/>
          </p:nvPr>
        </p:nvSpPr>
        <p:spPr bwMode="auto"/>
        <p:txBody>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GloVe stands for Global Vectors. It was proposed by Pennington, Socher, and Manning in 2014.</a:t>
            </a:r>
          </a:p>
          <a:p>
            <a:pPr marL="0" lvl="0" indent="0" algn="l">
              <a:buNone/>
            </a:pPr>
            <a:r>
              <a:rPr lang="en-US" sz="1200"/>
              <a:t>GloVe combines the matrix view and the predictive embedding view. It uses global co-occurrence statistics, but learns dense vectors through an optimization objective.</a:t>
            </a:r>
          </a:p>
          <a:p>
            <a:pPr marL="0" lvl="0" indent="0" algn="l">
              <a:buNone/>
            </a:pPr>
            <a:r>
              <a:rPr lang="en-US" sz="1200"/>
              <a:t>A simplified way to say it is: the dot product between two word vectors should reflect the log of their co-occurrence statistics. In the actual model there are bias terms and a weighting function, so avoid presenting it as an exact plain equality.</a:t>
            </a:r>
          </a:p>
          <a:p>
            <a:pPr marL="0" lvl="0" indent="0" algn="l">
              <a:buNone/>
            </a:pPr>
            <a:r>
              <a:rPr lang="en-US" sz="1200"/>
              <a:t>For the TMA, students will load pre-trained GloVe vectors, such as glove.6B.100d.txt, and use them as features.</a:t>
            </a:r>
          </a:p>
        </p:txBody>
      </p:sp>
      <p:sp>
        <p:nvSpPr>
          <p:cNvPr id="1112151145" name="Slide Number Placeholder 3"/>
          <p:cNvSpPr>
            <a:spLocks noGrp="1"/>
          </p:cNvSpPr>
          <p:nvPr>
            <p:ph type="sldNum" sz="quarter" idx="10"/>
          </p:nvPr>
        </p:nvSpPr>
        <p:spPr bwMode="auto"/>
        <p:txBody>
          <a:bodyPr/>
          <a:lstStyle/>
          <a:p>
            <a:pPr>
              <a:defRPr/>
            </a:pPr>
            <a:fld id="{05682B60-4595-CBE8-85E6-876F4E1F1FF7}" type="slidenum">
              <a:rPr/>
              <a:t>28</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077279969" name="Google Shape;459;g38cc5498cfd_0_519: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30931394" name="Google Shape;460;g38cc5498cfd_0_519: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2 minutes.</a:t>
            </a:r>
          </a:p>
          <a:p>
            <a:pPr marL="0" lvl="0" indent="0" algn="l">
              <a:buNone/>
            </a:pPr>
            <a:r>
              <a:rPr lang="en-US" sz="1200"/>
              <a:t>Script:</a:t>
            </a:r>
          </a:p>
          <a:p>
            <a:pPr marL="0" lvl="0" indent="0" algn="l">
              <a:buNone/>
            </a:pPr>
            <a:r>
              <a:rPr lang="en-US" sz="1200"/>
              <a:t>This slide prepares the limitation of static embeddings using the word “bank.”</a:t>
            </a:r>
          </a:p>
          <a:p>
            <a:pPr marL="0" lvl="0" indent="0" algn="l">
              <a:buNone/>
            </a:pPr>
            <a:r>
              <a:rPr lang="en-US" sz="1200"/>
              <a:t>The neighbours shown here, such as river, shore, muddy, slope, and boats, clearly suggest the river-bank sense. But the same word “bank” can also mean a financial institution.</a:t>
            </a:r>
          </a:p>
          <a:p>
            <a:pPr marL="0" lvl="0" indent="0" algn="l">
              <a:buNone/>
            </a:pPr>
            <a:r>
              <a:rPr lang="en-US" sz="1200"/>
              <a:t>A static embedding gives one vector to the spelling bank. It cannot create a separate vector for river bank and bank account unless we use a different modelling approach.</a:t>
            </a:r>
          </a:p>
          <a:p>
            <a:pPr marL="0" lvl="0" indent="0" algn="l">
              <a:buNone/>
            </a:pPr>
            <a:r>
              <a:rPr lang="en-US" sz="1200"/>
              <a:t>This is the bridge to polysemy.</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07783977" name="Slide Image Placeholder 1"/>
          <p:cNvSpPr>
            <a:spLocks noGrp="1" noRot="1" noChangeAspect="1"/>
          </p:cNvSpPr>
          <p:nvPr>
            <p:ph type="sldImg"/>
          </p:nvPr>
        </p:nvSpPr>
        <p:spPr bwMode="auto"/>
      </p:sp>
      <p:sp>
        <p:nvSpPr>
          <p:cNvPr id="1474471865" name="Notes Placeholder 2"/>
          <p:cNvSpPr>
            <a:spLocks noGrp="1"/>
          </p:cNvSpPr>
          <p:nvPr>
            <p:ph type="body" idx="1"/>
          </p:nvPr>
        </p:nvSpPr>
        <p:spPr bwMode="auto"/>
        <p:txBody>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Polysemy means one word form has multiple meanings. In Word2Vec and GloVe, “bank” has one embedding vector, even though it can mean river bank or financial bank.</a:t>
            </a:r>
          </a:p>
          <a:p>
            <a:pPr marL="0" lvl="0" indent="0" algn="l">
              <a:buNone/>
            </a:pPr>
            <a:r>
              <a:rPr lang="en-US" sz="1200"/>
              <a:t>That single vector averages evidence from all usages in the training corpus. If financial uses are more common, the vector may lean financial. If river contexts are common, it may contain more geographical signal.</a:t>
            </a:r>
          </a:p>
          <a:p>
            <a:pPr marL="0" lvl="0" indent="0" algn="l">
              <a:buNone/>
            </a:pPr>
            <a:r>
              <a:rPr lang="en-US" sz="1200"/>
              <a:t>This matters for classification. A word like bank could appear in a business article or in a world/news story about flooding. A static embedding alone may not disambiguate which sense is intended.</a:t>
            </a:r>
          </a:p>
          <a:p>
            <a:pPr marL="0" lvl="0" indent="0" algn="l">
              <a:buNone/>
            </a:pPr>
            <a:r>
              <a:rPr lang="en-US" sz="1200"/>
              <a:t>This is one major reason modern contextual embeddings are more powerful: they create context-dependent representations.</a:t>
            </a:r>
          </a:p>
        </p:txBody>
      </p:sp>
      <p:sp>
        <p:nvSpPr>
          <p:cNvPr id="1822943976" name="Slide Number Placeholder 3"/>
          <p:cNvSpPr>
            <a:spLocks noGrp="1"/>
          </p:cNvSpPr>
          <p:nvPr>
            <p:ph type="sldNum" sz="quarter" idx="10"/>
          </p:nvPr>
        </p:nvSpPr>
        <p:spPr bwMode="auto"/>
        <p:txBody>
          <a:bodyPr/>
          <a:lstStyle/>
          <a:p>
            <a:pPr>
              <a:defRPr/>
            </a:pPr>
            <a:fld id="{7961FC2B-1233-F396-9937-29D88108DD7B}" type="slidenum">
              <a:rPr/>
              <a:t>30</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342958315" name="Slide Image Placeholder 1"/>
          <p:cNvSpPr>
            <a:spLocks noGrp="1" noRot="1" noChangeAspect="1"/>
          </p:cNvSpPr>
          <p:nvPr>
            <p:ph type="sldImg"/>
          </p:nvPr>
        </p:nvSpPr>
        <p:spPr bwMode="auto"/>
      </p:sp>
      <p:sp>
        <p:nvSpPr>
          <p:cNvPr id="1132362446" name="Notes Placeholder 2"/>
          <p:cNvSpPr>
            <a:spLocks noGrp="1"/>
          </p:cNvSpPr>
          <p:nvPr>
            <p:ph type="body" idx="1"/>
          </p:nvPr>
        </p:nvSpPr>
        <p:spPr bwMode="auto"/>
        <p:txBody>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A classifier usually needs one vector per document. But GloVe gives one vector per word. The simplest solution is to average the word embeddings in the document.</a:t>
            </a:r>
          </a:p>
          <a:p>
            <a:pPr marL="0" lvl="0" indent="0" algn="l">
              <a:buNone/>
            </a:pPr>
            <a:r>
              <a:rPr lang="en-US" sz="1200"/>
              <a:t>The document vector is the mean of the word vectors: add them and divide by the number of tokens.</a:t>
            </a:r>
          </a:p>
          <a:p>
            <a:pPr marL="0" lvl="0" indent="0" algn="l">
              <a:buNone/>
            </a:pPr>
            <a:r>
              <a:rPr lang="en-US" sz="1200"/>
              <a:t>This is easy and often works surprisingly well as a baseline, but it has limitations. Word order is lost, so “dog bites man” and “man bites dog” look the same. All words contribute equally unless we add weighting. Out-of-vocabulary words also cause problems.</a:t>
            </a:r>
          </a:p>
          <a:p>
            <a:pPr marL="0" lvl="0" indent="0" algn="l">
              <a:buNone/>
            </a:pPr>
            <a:r>
              <a:rPr lang="en-US" sz="1200"/>
              <a:t>For the TMA, be careful to follow the specified handling of OOV tokens.</a:t>
            </a:r>
          </a:p>
        </p:txBody>
      </p:sp>
      <p:sp>
        <p:nvSpPr>
          <p:cNvPr id="435647455" name="Slide Number Placeholder 3"/>
          <p:cNvSpPr>
            <a:spLocks noGrp="1"/>
          </p:cNvSpPr>
          <p:nvPr>
            <p:ph type="sldNum" sz="quarter" idx="10"/>
          </p:nvPr>
        </p:nvSpPr>
        <p:spPr bwMode="auto"/>
        <p:txBody>
          <a:bodyPr/>
          <a:lstStyle/>
          <a:p>
            <a:pPr>
              <a:defRPr/>
            </a:pPr>
            <a:fld id="{BF7120DF-E99C-E3AA-0EC2-066A4401DDC6}" type="slidenum">
              <a:rPr/>
              <a:t>31</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42442977" name="Slide Image Placeholder 1"/>
          <p:cNvSpPr>
            <a:spLocks noGrp="1" noRot="1" noChangeAspect="1"/>
          </p:cNvSpPr>
          <p:nvPr>
            <p:ph type="sldImg"/>
          </p:nvPr>
        </p:nvSpPr>
        <p:spPr bwMode="auto"/>
      </p:sp>
      <p:sp>
        <p:nvSpPr>
          <p:cNvPr id="1010656403" name="Notes Placeholder 2"/>
          <p:cNvSpPr>
            <a:spLocks noGrp="1"/>
          </p:cNvSpPr>
          <p:nvPr>
            <p:ph type="body" idx="1"/>
          </p:nvPr>
        </p:nvSpPr>
        <p:spPr bwMode="auto"/>
        <p:txBody>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Cosine similarity is a recurring calculation in this lecture, the lab, and the assessment.</a:t>
            </a:r>
          </a:p>
          <a:p>
            <a:pPr marL="0" lvl="0" indent="0" algn="l">
              <a:buNone/>
            </a:pPr>
            <a:r>
              <a:rPr lang="en-US" sz="1200"/>
              <a:t>The formula is dot product divided by the product of the two vector norms. Emphasize that the dot product alone is not cosine similarity.</a:t>
            </a:r>
          </a:p>
          <a:p>
            <a:pPr marL="0" lvl="0" indent="0" algn="l">
              <a:buNone/>
            </a:pPr>
            <a:r>
              <a:rPr lang="en-US" sz="1200"/>
              <a:t>The result ranges from -1 to 1. In many embedding applications, values closer to 1 mean very similar direction. Values near 0 mean weak or no similarity. Negative values mean opposite directions in the vector space.</a:t>
            </a:r>
          </a:p>
          <a:p>
            <a:pPr marL="0" lvl="0" indent="0" algn="l">
              <a:buNone/>
            </a:pPr>
            <a:r>
              <a:rPr lang="en-US" sz="1200"/>
              <a:t>The main practical message: always normalize by both vector lengths.</a:t>
            </a:r>
          </a:p>
        </p:txBody>
      </p:sp>
      <p:sp>
        <p:nvSpPr>
          <p:cNvPr id="576496259" name="Slide Number Placeholder 3"/>
          <p:cNvSpPr>
            <a:spLocks noGrp="1"/>
          </p:cNvSpPr>
          <p:nvPr>
            <p:ph type="sldNum" sz="quarter" idx="10"/>
          </p:nvPr>
        </p:nvSpPr>
        <p:spPr bwMode="auto"/>
        <p:txBody>
          <a:bodyPr/>
          <a:lstStyle/>
          <a:p>
            <a:pPr>
              <a:defRPr/>
            </a:pPr>
            <a:fld id="{D571C2E5-F3E1-C785-DFAF-30DD4BDB728B}" type="slidenum">
              <a:rPr/>
              <a:t>32</a:t>
            </a:fld>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1609684293" name="Google Shape;572;g382766c9cee_0_438: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88126067" name="Google Shape;573;g382766c9cee_0_438: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2 minutes.</a:t>
            </a:r>
          </a:p>
          <a:p>
            <a:pPr marL="0" lvl="0" indent="0" algn="l">
              <a:buNone/>
            </a:pPr>
            <a:r>
              <a:rPr lang="en-US" sz="1200"/>
              <a:t>Script:</a:t>
            </a:r>
          </a:p>
          <a:p>
            <a:pPr marL="0" lvl="0" indent="0" algn="l">
              <a:buNone/>
            </a:pPr>
            <a:r>
              <a:rPr lang="en-US" sz="1200"/>
              <a:t>There are two broad ways to evaluate embeddings.</a:t>
            </a:r>
          </a:p>
          <a:p>
            <a:pPr marL="0" lvl="0" indent="0" algn="l">
              <a:buNone/>
            </a:pPr>
            <a:r>
              <a:rPr lang="en-US" sz="1200"/>
              <a:t>Intrinsic evaluation tests the embeddings directly. Examples include analogy tasks, similarity tasks, or bilingual lexicon induction.</a:t>
            </a:r>
          </a:p>
          <a:p>
            <a:pPr marL="0" lvl="0" indent="0" algn="l">
              <a:buNone/>
            </a:pPr>
            <a:r>
              <a:rPr lang="en-US" sz="1200"/>
              <a:t>Extrinsic evaluation tests whether the embeddings improve a downstream application such as classification, search, question answering, or sentiment analysis.</a:t>
            </a:r>
          </a:p>
          <a:p>
            <a:pPr marL="0" lvl="0" indent="0" algn="l">
              <a:buNone/>
            </a:pPr>
            <a:r>
              <a:rPr lang="en-US" sz="1200"/>
              <a:t>For students, the most important mindset is: a beautiful embedding space is useful only if it helps the actual task or gives interpretable evidence.</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761945879" name="Slide Image Placeholder 1"/>
          <p:cNvSpPr>
            <a:spLocks noGrp="1" noRot="1" noChangeAspect="1"/>
          </p:cNvSpPr>
          <p:nvPr>
            <p:ph type="sldImg"/>
          </p:nvPr>
        </p:nvSpPr>
        <p:spPr bwMode="auto"/>
      </p:sp>
      <p:sp>
        <p:nvSpPr>
          <p:cNvPr id="1670217568" name="Notes Placeholder 2"/>
          <p:cNvSpPr>
            <a:spLocks noGrp="1"/>
          </p:cNvSpPr>
          <p:nvPr>
            <p:ph type="body" idx="1"/>
          </p:nvPr>
        </p:nvSpPr>
        <p:spPr bwMode="auto"/>
        <p:txBody>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This slide is very assessment-relevant. First pitfall: computing only the dot product and calling it cosine similarity. That is wrong unless the vectors are already normalized.</a:t>
            </a:r>
          </a:p>
          <a:p>
            <a:pPr marL="0" lvl="0" indent="0" algn="l">
              <a:buNone/>
            </a:pPr>
            <a:r>
              <a:rPr lang="en-US" sz="1200"/>
              <a:t>Second: OOV handling. In the TMA, if the instruction says use a zero vector for OOV words, do that consistently. Dropping OOV words changes the denominator of the average and changes document vectors.</a:t>
            </a:r>
          </a:p>
          <a:p>
            <a:pPr marL="0" lvl="0" indent="0" algn="l">
              <a:buNone/>
            </a:pPr>
            <a:r>
              <a:rPr lang="en-US" sz="1200"/>
              <a:t>Third: do not mix up CBOW and skip-gram. CBOW predicts the centre from context; skip-gram predicts context from the centre.</a:t>
            </a:r>
          </a:p>
          <a:p>
            <a:pPr marL="0" lvl="0" indent="0" algn="l">
              <a:buNone/>
            </a:pPr>
            <a:r>
              <a:rPr lang="en-US" sz="1200"/>
              <a:t>Connect this directly to TMA Q2b and the ECA baseline option involving averaged GloVe plus logistic regression.</a:t>
            </a:r>
          </a:p>
        </p:txBody>
      </p:sp>
      <p:sp>
        <p:nvSpPr>
          <p:cNvPr id="170720443" name="Slide Number Placeholder 3"/>
          <p:cNvSpPr>
            <a:spLocks noGrp="1"/>
          </p:cNvSpPr>
          <p:nvPr>
            <p:ph type="sldNum" sz="quarter" idx="10"/>
          </p:nvPr>
        </p:nvSpPr>
        <p:spPr bwMode="auto"/>
        <p:txBody>
          <a:bodyPr/>
          <a:lstStyle/>
          <a:p>
            <a:pPr>
              <a:defRPr/>
            </a:pPr>
            <a:fld id="{D376B485-21D2-9010-BFCE-5290F7C805E2}" type="slidenum">
              <a:rPr/>
              <a:t>34</a:t>
            </a:fld>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769291525" name="Google Shape;482;g382766c9cee_0_6: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3557792" name="Google Shape;483;g382766c9cee_0_6: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5 minutes for setup; actual lab can continue after lecture.</a:t>
            </a:r>
          </a:p>
          <a:p>
            <a:pPr marL="0" lvl="0" indent="0" algn="l">
              <a:buNone/>
            </a:pPr>
            <a:r>
              <a:rPr lang="en-US" sz="1200"/>
              <a:t>Script:</a:t>
            </a:r>
          </a:p>
          <a:p>
            <a:pPr marL="0" lvl="0" indent="0" algn="l">
              <a:buNone/>
            </a:pPr>
            <a:r>
              <a:rPr lang="en-US" sz="1200"/>
              <a:t>This is the first lab activity. The two tasks are: train an embedding, and then use that embedding to initialize a language model.</a:t>
            </a:r>
          </a:p>
          <a:p>
            <a:pPr marL="0" lvl="0" indent="0" algn="l">
              <a:buNone/>
            </a:pPr>
            <a:r>
              <a:rPr lang="en-US" sz="1200"/>
              <a:t>Before students start, clarify the objective. We are not trying to train a production-quality embedding. We are trying to see how the concepts from the lecture become code.</a:t>
            </a:r>
          </a:p>
          <a:p>
            <a:pPr marL="0" lvl="0" indent="0" algn="l">
              <a:buNone/>
            </a:pPr>
            <a:r>
              <a:rPr lang="en-US" sz="1200"/>
              <a:t>Ask students to watch for three things: how training samples are created from context windows, where the embedding matrix appears in the model, and how the learned vectors are reused in the language model.</a:t>
            </a:r>
          </a:p>
          <a:p>
            <a:pPr marL="0" lvl="0" indent="0" algn="l">
              <a:buNone/>
            </a:pPr>
            <a:r>
              <a:rPr lang="en-US" sz="1200"/>
              <a:t>If time is limited, demonstrate the expected workflow and let students complete the rest during the lab portion.</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891310217" name="Slide Image Placeholder 1"/>
          <p:cNvSpPr>
            <a:spLocks noGrp="1" noRot="1" noChangeAspect="1"/>
          </p:cNvSpPr>
          <p:nvPr>
            <p:ph type="sldImg"/>
          </p:nvPr>
        </p:nvSpPr>
        <p:spPr bwMode="auto"/>
      </p:sp>
      <p:sp>
        <p:nvSpPr>
          <p:cNvPr id="485035491" name="Notes Placeholder 2"/>
          <p:cNvSpPr>
            <a:spLocks noGrp="1"/>
          </p:cNvSpPr>
          <p:nvPr>
            <p:ph type="body" idx="1"/>
          </p:nvPr>
        </p:nvSpPr>
        <p:spPr bwMode="auto"/>
        <p:txBody>
          <a:bodyPr/>
          <a:lstStyle/>
          <a:p>
            <a:pPr marL="0" lvl="0" indent="0" algn="l">
              <a:buNone/>
            </a:pPr>
            <a:r>
              <a:rPr lang="en-US" sz="1200"/>
              <a:t>Suggested time: 30 seconds.</a:t>
            </a:r>
          </a:p>
          <a:p>
            <a:pPr marL="0" lvl="0" indent="0" algn="l">
              <a:buNone/>
            </a:pPr>
            <a:r>
              <a:rPr lang="en-US" sz="1200"/>
              <a:t>Script:</a:t>
            </a:r>
          </a:p>
          <a:p>
            <a:pPr marL="0" lvl="0" indent="0" algn="l">
              <a:buNone/>
            </a:pPr>
            <a:r>
              <a:rPr lang="en-US" sz="1200"/>
              <a:t>Now we switch to the second main block: statistical language models.</a:t>
            </a:r>
          </a:p>
          <a:p>
            <a:pPr marL="0" lvl="0" indent="0" algn="l">
              <a:buNone/>
            </a:pPr>
            <a:r>
              <a:rPr lang="en-US" sz="1200"/>
              <a:t>The bridge is natural. Embeddings represent words and documents. Language models assign probabilities to word sequences.</a:t>
            </a:r>
          </a:p>
          <a:p>
            <a:pPr marL="0" lvl="0" indent="0" algn="l">
              <a:buNone/>
            </a:pPr>
            <a:r>
              <a:rPr lang="en-US" sz="1200"/>
              <a:t>We will start with n-grams, smoothing, and perplexity because these ideas remain useful even when studying modern neural language models.</a:t>
            </a:r>
          </a:p>
        </p:txBody>
      </p:sp>
      <p:sp>
        <p:nvSpPr>
          <p:cNvPr id="1342961952" name="Slide Number Placeholder 3"/>
          <p:cNvSpPr>
            <a:spLocks noGrp="1"/>
          </p:cNvSpPr>
          <p:nvPr>
            <p:ph type="sldNum" sz="quarter" idx="10"/>
          </p:nvPr>
        </p:nvSpPr>
        <p:spPr bwMode="auto"/>
        <p:txBody>
          <a:bodyPr/>
          <a:lstStyle/>
          <a:p>
            <a:pPr>
              <a:defRPr/>
            </a:pPr>
            <a:fld id="{F4950D59-54D1-BEEF-BAA4-EC471D1335A3}" type="slidenum">
              <a:rPr/>
              <a:t>36</a:t>
            </a:fld>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63290800" name="Slide Image Placeholder 1"/>
          <p:cNvSpPr>
            <a:spLocks noGrp="1" noRot="1" noChangeAspect="1"/>
          </p:cNvSpPr>
          <p:nvPr>
            <p:ph type="sldImg"/>
          </p:nvPr>
        </p:nvSpPr>
        <p:spPr bwMode="auto"/>
      </p:sp>
      <p:sp>
        <p:nvSpPr>
          <p:cNvPr id="1131764928" name="Notes Placeholder 2"/>
          <p:cNvSpPr>
            <a:spLocks noGrp="1"/>
          </p:cNvSpPr>
          <p:nvPr>
            <p:ph type="body" idx="1"/>
          </p:nvPr>
        </p:nvSpPr>
        <p:spPr bwMode="auto"/>
        <p:txBody>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A language model is a probability distribution over sequences of words. It tells us how likely a sequence is: P(w1, w2, ..., wn).</a:t>
            </a:r>
          </a:p>
          <a:p>
            <a:pPr marL="0" lvl="0" indent="0" algn="l">
              <a:buNone/>
            </a:pPr>
            <a:r>
              <a:rPr lang="en-US" sz="1200"/>
              <a:t>This supports three important functions. First, generation: sample likely next words. Second, scoring: judge whether a sentence is fluent or likely. Third, classification: choose the class-specific language model that assigns the highest probability to a document.</a:t>
            </a:r>
          </a:p>
          <a:p>
            <a:pPr marL="0" lvl="0" indent="0" algn="l">
              <a:buNone/>
            </a:pPr>
            <a:r>
              <a:rPr lang="en-US" sz="1200"/>
              <a:t>The chain rule decomposes a full sentence probability into a product of conditional probabilities. The challenge is that the full history becomes too large to estimate directly.</a:t>
            </a:r>
          </a:p>
        </p:txBody>
      </p:sp>
      <p:sp>
        <p:nvSpPr>
          <p:cNvPr id="895994250" name="Slide Number Placeholder 3"/>
          <p:cNvSpPr>
            <a:spLocks noGrp="1"/>
          </p:cNvSpPr>
          <p:nvPr>
            <p:ph type="sldNum" sz="quarter" idx="10"/>
          </p:nvPr>
        </p:nvSpPr>
        <p:spPr bwMode="auto"/>
        <p:txBody>
          <a:bodyPr/>
          <a:lstStyle/>
          <a:p>
            <a:pPr>
              <a:defRPr/>
            </a:pPr>
            <a:fld id="{E72EDE94-83DC-AB46-6255-C93F51DDE122}" type="slidenum">
              <a:rPr/>
              <a:t>37</a:t>
            </a:fld>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153526878" name="Slide Image Placeholder 1"/>
          <p:cNvSpPr>
            <a:spLocks noGrp="1" noRot="1" noChangeAspect="1"/>
          </p:cNvSpPr>
          <p:nvPr>
            <p:ph type="sldImg"/>
          </p:nvPr>
        </p:nvSpPr>
        <p:spPr bwMode="auto"/>
      </p:sp>
      <p:sp>
        <p:nvSpPr>
          <p:cNvPr id="952778273" name="Notes Placeholder 2"/>
          <p:cNvSpPr>
            <a:spLocks noGrp="1"/>
          </p:cNvSpPr>
          <p:nvPr>
            <p:ph type="body" idx="1"/>
          </p:nvPr>
        </p:nvSpPr>
        <p:spPr bwMode="auto"/>
        <p:txBody>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The Markov assumption solves the full-history problem by using only a limited recent context.</a:t>
            </a:r>
          </a:p>
          <a:p>
            <a:pPr marL="0" lvl="0" indent="0" algn="l">
              <a:buNone/>
            </a:pPr>
            <a:r>
              <a:rPr lang="en-US" sz="1200"/>
              <a:t>A unigram model ignores context. A bigram model uses one previous word. A trigram model uses two previous words.</a:t>
            </a:r>
          </a:p>
          <a:p>
            <a:pPr marL="0" lvl="0" indent="0" algn="l">
              <a:buNone/>
            </a:pPr>
            <a:r>
              <a:rPr lang="en-US" sz="1200"/>
              <a:t>For a bigram model, the probability of the next word is estimated by counts: count of the bigram divided by count of the previous word.</a:t>
            </a:r>
          </a:p>
          <a:p>
            <a:pPr marL="0" lvl="0" indent="0" algn="l">
              <a:buNone/>
            </a:pPr>
            <a:r>
              <a:rPr lang="en-US" sz="1200"/>
              <a:t>This is maximum likelihood estimation. It is simple and interpretable, but it depends heavily on what has been observed in the training data.</a:t>
            </a:r>
          </a:p>
        </p:txBody>
      </p:sp>
      <p:sp>
        <p:nvSpPr>
          <p:cNvPr id="1649726032" name="Slide Number Placeholder 3"/>
          <p:cNvSpPr>
            <a:spLocks noGrp="1"/>
          </p:cNvSpPr>
          <p:nvPr>
            <p:ph type="sldNum" sz="quarter" idx="10"/>
          </p:nvPr>
        </p:nvSpPr>
        <p:spPr bwMode="auto"/>
        <p:txBody>
          <a:bodyPr/>
          <a:lstStyle/>
          <a:p>
            <a:pPr>
              <a:defRPr/>
            </a:pPr>
            <a:fld id="{1503D143-86FE-3100-D7E0-A0BA1E1AE913}" type="slidenum">
              <a:rPr/>
              <a:t>38</a:t>
            </a:fld>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901443162" name="Slide Image Placeholder 1"/>
          <p:cNvSpPr>
            <a:spLocks noGrp="1" noRot="1" noChangeAspect="1"/>
          </p:cNvSpPr>
          <p:nvPr>
            <p:ph type="sldImg"/>
          </p:nvPr>
        </p:nvSpPr>
        <p:spPr bwMode="auto"/>
      </p:sp>
      <p:sp>
        <p:nvSpPr>
          <p:cNvPr id="1643064560" name="Notes Placeholder 2"/>
          <p:cNvSpPr>
            <a:spLocks noGrp="1"/>
          </p:cNvSpPr>
          <p:nvPr>
            <p:ph type="body" idx="1"/>
          </p:nvPr>
        </p:nvSpPr>
        <p:spPr bwMode="auto"/>
        <p:txBody>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Work through this example slowly. The training sentence is “the cat sat on the mat,” but imagine a larger corpus where cat appears 10 times and cat sat appears 2 times.</a:t>
            </a:r>
          </a:p>
          <a:p>
            <a:pPr marL="0" lvl="0" indent="0" algn="l">
              <a:buNone/>
            </a:pPr>
            <a:r>
              <a:rPr lang="en-US" sz="1200"/>
              <a:t>The bigram probability P(sat | cat) is count(cat sat) divided by count(cat), so 2 divided by 10 equals 0.2.</a:t>
            </a:r>
          </a:p>
          <a:p>
            <a:pPr marL="0" lvl="0" indent="0" algn="l">
              <a:buNone/>
            </a:pPr>
            <a:r>
              <a:rPr lang="en-US" sz="1200"/>
              <a:t>The remaining probability mass is distributed over other words that can follow cat: meows, runs, slept, and so on.</a:t>
            </a:r>
          </a:p>
          <a:p>
            <a:pPr marL="0" lvl="0" indent="0" algn="l">
              <a:buNone/>
            </a:pPr>
            <a:r>
              <a:rPr lang="en-US" sz="1200"/>
              <a:t>This example makes clear that n-gram probabilities are empirical estimates from observed counts.</a:t>
            </a:r>
          </a:p>
        </p:txBody>
      </p:sp>
      <p:sp>
        <p:nvSpPr>
          <p:cNvPr id="585562640" name="Slide Number Placeholder 3"/>
          <p:cNvSpPr>
            <a:spLocks noGrp="1"/>
          </p:cNvSpPr>
          <p:nvPr>
            <p:ph type="sldNum" sz="quarter" idx="10"/>
          </p:nvPr>
        </p:nvSpPr>
        <p:spPr bwMode="auto"/>
        <p:txBody>
          <a:bodyPr/>
          <a:lstStyle/>
          <a:p>
            <a:pPr>
              <a:defRPr/>
            </a:pPr>
            <a:fld id="{38D1616A-7B3B-9291-1157-D667439D3C17}" type="slidenum">
              <a:rPr/>
              <a:t>39</a:t>
            </a:fld>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974912039" name="Slide Image Placeholder 1"/>
          <p:cNvSpPr>
            <a:spLocks noGrp="1" noRot="1" noChangeAspect="1"/>
          </p:cNvSpPr>
          <p:nvPr>
            <p:ph type="sldImg"/>
          </p:nvPr>
        </p:nvSpPr>
        <p:spPr bwMode="auto"/>
      </p:sp>
      <p:sp>
        <p:nvSpPr>
          <p:cNvPr id="1400489514" name="Notes Placeholder 2"/>
          <p:cNvSpPr>
            <a:spLocks noGrp="1"/>
          </p:cNvSpPr>
          <p:nvPr>
            <p:ph type="body" idx="1"/>
          </p:nvPr>
        </p:nvSpPr>
        <p:spPr bwMode="auto"/>
        <p:txBody>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The sparsity problem is the main weakness of maximum likelihood n-gram models.</a:t>
            </a:r>
          </a:p>
          <a:p>
            <a:pPr marL="0" lvl="0" indent="0" algn="l">
              <a:buNone/>
            </a:pPr>
            <a:r>
              <a:rPr lang="en-US" sz="1200"/>
              <a:t>If a bigram never occurred in training, MLE assigns it probability zero. Then any sentence containing that bigram gets probability zero, even if the sentence is perfectly grammatical.</a:t>
            </a:r>
          </a:p>
          <a:p>
            <a:pPr marL="0" lvl="0" indent="0" algn="l">
              <a:buNone/>
            </a:pPr>
            <a:r>
              <a:rPr lang="en-US" sz="1200"/>
              <a:t>For example, “the dog ate the steak” may be reasonable, but if dog ate never appeared in the training data, the model cannot score it properly.</a:t>
            </a:r>
          </a:p>
          <a:p>
            <a:pPr marL="0" lvl="0" indent="0" algn="l">
              <a:buNone/>
            </a:pPr>
            <a:r>
              <a:rPr lang="en-US" sz="1200"/>
              <a:t>This is disastrous for classification because one unseen bigram can wipe out the probability of the whole document. That is why smoothing is necessary.</a:t>
            </a:r>
          </a:p>
        </p:txBody>
      </p:sp>
      <p:sp>
        <p:nvSpPr>
          <p:cNvPr id="479762674" name="Slide Number Placeholder 3"/>
          <p:cNvSpPr>
            <a:spLocks noGrp="1"/>
          </p:cNvSpPr>
          <p:nvPr>
            <p:ph type="sldNum" sz="quarter" idx="10"/>
          </p:nvPr>
        </p:nvSpPr>
        <p:spPr bwMode="auto"/>
        <p:txBody>
          <a:bodyPr/>
          <a:lstStyle/>
          <a:p>
            <a:pPr>
              <a:defRPr/>
            </a:pPr>
            <a:fld id="{3B9FDEBC-D2BD-59CE-1137-1635DFB06EA3}" type="slidenum">
              <a:rPr/>
              <a:t>40</a:t>
            </a:fld>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286522639" name="Slide Image Placeholder 1"/>
          <p:cNvSpPr>
            <a:spLocks noGrp="1" noRot="1" noChangeAspect="1"/>
          </p:cNvSpPr>
          <p:nvPr>
            <p:ph type="sldImg"/>
          </p:nvPr>
        </p:nvSpPr>
        <p:spPr bwMode="auto"/>
      </p:sp>
      <p:sp>
        <p:nvSpPr>
          <p:cNvPr id="1916726160" name="Notes Placeholder 2"/>
          <p:cNvSpPr>
            <a:spLocks noGrp="1"/>
          </p:cNvSpPr>
          <p:nvPr>
            <p:ph type="body" idx="1"/>
          </p:nvPr>
        </p:nvSpPr>
        <p:spPr bwMode="auto"/>
        <p:txBody>
          <a:bodyPr/>
          <a:lstStyle/>
          <a:p>
            <a:pPr marL="0" lvl="0" indent="0" algn="l">
              <a:buNone/>
            </a:pPr>
            <a:r>
              <a:rPr lang="en-US" sz="1200"/>
              <a:t>Suggested time: 4 minutes.</a:t>
            </a:r>
          </a:p>
          <a:p>
            <a:pPr marL="0" lvl="0" indent="0" algn="l">
              <a:buNone/>
            </a:pPr>
            <a:r>
              <a:rPr lang="en-US" sz="1200"/>
              <a:t>Script:</a:t>
            </a:r>
          </a:p>
          <a:p>
            <a:pPr marL="0" lvl="0" indent="0" algn="l">
              <a:buNone/>
            </a:pPr>
            <a:r>
              <a:rPr lang="en-US" sz="1200"/>
              <a:t>Add-1 or Laplace smoothing is the simplest fix. We pretend every possible bigram has been seen once.</a:t>
            </a:r>
          </a:p>
          <a:p>
            <a:pPr marL="0" lvl="0" indent="0" algn="l">
              <a:buNone/>
            </a:pPr>
            <a:r>
              <a:rPr lang="en-US" sz="1200"/>
              <a:t>The numerator becomes count of the bigram plus 1. The denominator becomes count of the previous word plus V, where V is the vocabulary size.</a:t>
            </a:r>
          </a:p>
          <a:p>
            <a:pPr marL="0" lvl="0" indent="0" algn="l">
              <a:buNone/>
            </a:pPr>
            <a:r>
              <a:rPr lang="en-US" sz="1200"/>
              <a:t>The plus V is important because there are V possible next words, and we added one pseudo-count to each of them.</a:t>
            </a:r>
          </a:p>
          <a:p>
            <a:pPr marL="0" lvl="0" indent="0" algn="l">
              <a:buNone/>
            </a:pPr>
            <a:r>
              <a:rPr lang="en-US" sz="1200"/>
              <a:t>For the TMA, emphasize the critical detail: V must be the global vocabulary size, not a separate per-class vocabulary size. Otherwise different class language models are not comparable.</a:t>
            </a:r>
          </a:p>
        </p:txBody>
      </p:sp>
      <p:sp>
        <p:nvSpPr>
          <p:cNvPr id="1296318430" name="Slide Number Placeholder 3"/>
          <p:cNvSpPr>
            <a:spLocks noGrp="1"/>
          </p:cNvSpPr>
          <p:nvPr>
            <p:ph type="sldNum" sz="quarter" idx="10"/>
          </p:nvPr>
        </p:nvSpPr>
        <p:spPr bwMode="auto"/>
        <p:txBody>
          <a:bodyPr/>
          <a:lstStyle/>
          <a:p>
            <a:pPr>
              <a:defRPr/>
            </a:pPr>
            <a:fld id="{E04C4129-3918-C13A-5DC6-882755A049B3}" type="slidenum">
              <a:rPr/>
              <a:t>41</a:t>
            </a:fld>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744870470" name="Slide Image Placeholder 1"/>
          <p:cNvSpPr>
            <a:spLocks noGrp="1" noRot="1" noChangeAspect="1"/>
          </p:cNvSpPr>
          <p:nvPr>
            <p:ph type="sldImg"/>
          </p:nvPr>
        </p:nvSpPr>
        <p:spPr bwMode="auto"/>
      </p:sp>
      <p:sp>
        <p:nvSpPr>
          <p:cNvPr id="924715082" name="Notes Placeholder 2"/>
          <p:cNvSpPr>
            <a:spLocks noGrp="1"/>
          </p:cNvSpPr>
          <p:nvPr>
            <p:ph type="body" idx="1"/>
          </p:nvPr>
        </p:nvSpPr>
        <p:spPr bwMode="auto"/>
        <p:txBody>
          <a:bodyPr/>
          <a:lstStyle/>
          <a:p>
            <a:pPr marL="0" lvl="0" indent="0" algn="l">
              <a:buNone/>
            </a:pPr>
            <a:r>
              <a:rPr lang="en-US" sz="1200"/>
              <a:t>Suggested time: 4 minutes.</a:t>
            </a:r>
          </a:p>
          <a:p>
            <a:pPr marL="0" lvl="0" indent="0" algn="l">
              <a:buNone/>
            </a:pPr>
            <a:r>
              <a:rPr lang="en-US" sz="1200"/>
              <a:t>Script:</a:t>
            </a:r>
          </a:p>
          <a:p>
            <a:pPr marL="0" lvl="0" indent="0" algn="l">
              <a:buNone/>
            </a:pPr>
            <a:r>
              <a:rPr lang="en-US" sz="1200"/>
              <a:t>This worked example shows how smoothing changes probabilities.</a:t>
            </a:r>
          </a:p>
          <a:p>
            <a:pPr marL="0" lvl="0" indent="0" algn="l">
              <a:buNone/>
            </a:pPr>
            <a:r>
              <a:rPr lang="en-US" sz="1200"/>
              <a:t>The vocabulary has five words. The word “the” appears four times. The bigram “the cat” appears three times, and “the mat” appears once.</a:t>
            </a:r>
          </a:p>
          <a:p>
            <a:pPr marL="0" lvl="0" indent="0" algn="l">
              <a:buNone/>
            </a:pPr>
            <a:r>
              <a:rPr lang="en-US" sz="1200"/>
              <a:t>Without smoothing, P(sat | the) would be zero because “the sat” was not observed. With add-1 smoothing, it becomes 1 divided by 9.</a:t>
            </a:r>
          </a:p>
          <a:p>
            <a:pPr marL="0" lvl="0" indent="0" algn="l">
              <a:buNone/>
            </a:pPr>
            <a:r>
              <a:rPr lang="en-US" sz="1200"/>
              <a:t>Check the denominator: count(the) is 4, vocabulary size is 5, so the denominator is 9. The probabilities across all five possible next words sum to 1.</a:t>
            </a:r>
          </a:p>
          <a:p>
            <a:pPr marL="0" lvl="0" indent="0" algn="l">
              <a:buNone/>
            </a:pPr>
            <a:r>
              <a:rPr lang="en-US" sz="1200"/>
              <a:t>This is the practical sanity check students should use in their implementation.</a:t>
            </a:r>
          </a:p>
        </p:txBody>
      </p:sp>
      <p:sp>
        <p:nvSpPr>
          <p:cNvPr id="1965671384" name="Slide Number Placeholder 3"/>
          <p:cNvSpPr>
            <a:spLocks noGrp="1"/>
          </p:cNvSpPr>
          <p:nvPr>
            <p:ph type="sldNum" sz="quarter" idx="10"/>
          </p:nvPr>
        </p:nvSpPr>
        <p:spPr bwMode="auto"/>
        <p:txBody>
          <a:bodyPr/>
          <a:lstStyle/>
          <a:p>
            <a:pPr>
              <a:defRPr/>
            </a:pPr>
            <a:fld id="{8AC85402-8F72-23E3-2A54-64C8D2A78E62}" type="slidenum">
              <a:rPr/>
              <a:t>42</a:t>
            </a:fld>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1694863853" name="Slide Image Placeholder 1"/>
          <p:cNvSpPr>
            <a:spLocks noGrp="1" noRot="1" noChangeAspect="1"/>
          </p:cNvSpPr>
          <p:nvPr>
            <p:ph type="sldImg"/>
          </p:nvPr>
        </p:nvSpPr>
        <p:spPr bwMode="auto"/>
      </p:sp>
      <p:sp>
        <p:nvSpPr>
          <p:cNvPr id="1873212393" name="Notes Placeholder 2"/>
          <p:cNvSpPr>
            <a:spLocks noGrp="1"/>
          </p:cNvSpPr>
          <p:nvPr>
            <p:ph type="body" idx="1"/>
          </p:nvPr>
        </p:nvSpPr>
        <p:spPr bwMode="auto"/>
        <p:txBody>
          <a:bodyPr/>
          <a:lstStyle/>
          <a:p>
            <a:pPr marL="0" lvl="0" indent="0" algn="l">
              <a:buNone/>
            </a:pPr>
            <a:r>
              <a:rPr lang="en-US" sz="1200"/>
              <a:t>Suggested time: 2 minutes.</a:t>
            </a:r>
          </a:p>
          <a:p>
            <a:pPr marL="0" lvl="0" indent="0" algn="l">
              <a:buNone/>
            </a:pPr>
            <a:r>
              <a:rPr lang="en-US" sz="1200"/>
              <a:t>Script:</a:t>
            </a:r>
          </a:p>
          <a:p>
            <a:pPr marL="0" lvl="0" indent="0" algn="l">
              <a:buNone/>
            </a:pPr>
            <a:r>
              <a:rPr lang="en-US" sz="1200"/>
              <a:t>There are many smoothing methods beyond add-1.</a:t>
            </a:r>
          </a:p>
          <a:p>
            <a:pPr marL="0" lvl="0" indent="0" algn="l">
              <a:buNone/>
            </a:pPr>
            <a:r>
              <a:rPr lang="en-US" sz="1200"/>
              <a:t>Add-k uses a smaller value than 1, which can be tuned. Backoff uses a lower-order model when a higher-order n-gram is unseen. Interpolation combines unigram, bigram, and trigram probabilities with weights.</a:t>
            </a:r>
          </a:p>
          <a:p>
            <a:pPr marL="0" lvl="0" indent="0" algn="l">
              <a:buNone/>
            </a:pPr>
            <a:r>
              <a:rPr lang="en-US" sz="1200"/>
              <a:t>For this course and TMA Q3, keep the implementation focus on add-1 smoothing. Mention the others only to show that smoothing is a broader family of techniques.</a:t>
            </a:r>
          </a:p>
        </p:txBody>
      </p:sp>
      <p:sp>
        <p:nvSpPr>
          <p:cNvPr id="1351347967" name="Slide Number Placeholder 3"/>
          <p:cNvSpPr>
            <a:spLocks noGrp="1"/>
          </p:cNvSpPr>
          <p:nvPr>
            <p:ph type="sldNum" sz="quarter" idx="10"/>
          </p:nvPr>
        </p:nvSpPr>
        <p:spPr bwMode="auto"/>
        <p:txBody>
          <a:bodyPr/>
          <a:lstStyle/>
          <a:p>
            <a:pPr>
              <a:defRPr/>
            </a:pPr>
            <a:fld id="{033B5ADF-CF48-5395-FE12-6D36AD0D9486}" type="slidenum">
              <a:rPr/>
              <a:t>43</a:t>
            </a:fld>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325886116" name="Slide Image Placeholder 1"/>
          <p:cNvSpPr>
            <a:spLocks noGrp="1" noRot="1" noChangeAspect="1"/>
          </p:cNvSpPr>
          <p:nvPr>
            <p:ph type="sldImg"/>
          </p:nvPr>
        </p:nvSpPr>
        <p:spPr bwMode="auto"/>
      </p:sp>
      <p:sp>
        <p:nvSpPr>
          <p:cNvPr id="247891371" name="Notes Placeholder 2"/>
          <p:cNvSpPr>
            <a:spLocks noGrp="1"/>
          </p:cNvSpPr>
          <p:nvPr>
            <p:ph type="body" idx="1"/>
          </p:nvPr>
        </p:nvSpPr>
        <p:spPr bwMode="auto"/>
        <p:txBody>
          <a:bodyPr/>
          <a:lstStyle/>
          <a:p>
            <a:pPr marL="0" lvl="0" indent="0" algn="l">
              <a:buNone/>
            </a:pPr>
            <a:r>
              <a:rPr lang="en-US" sz="1200"/>
              <a:t>Suggested time: 4 minutes.</a:t>
            </a:r>
          </a:p>
          <a:p>
            <a:pPr marL="0" lvl="0" indent="0" algn="l">
              <a:buNone/>
            </a:pPr>
            <a:r>
              <a:rPr lang="en-US" sz="1200"/>
              <a:t>Script:</a:t>
            </a:r>
          </a:p>
          <a:p>
            <a:pPr marL="0" lvl="0" indent="0" algn="l">
              <a:buNone/>
            </a:pPr>
            <a:r>
              <a:rPr lang="en-US" sz="1200"/>
              <a:t>Perplexity measures how surprised or confused a language model is on a test sequence.</a:t>
            </a:r>
          </a:p>
          <a:p>
            <a:pPr marL="0" lvl="0" indent="0" algn="l">
              <a:buNone/>
            </a:pPr>
            <a:r>
              <a:rPr lang="en-US" sz="1200"/>
              <a:t>The formula uses the average negative log probability and exponentiates it. Lower perplexity means the model assigns higher probability to the observed text, so it is better at explaining the data.</a:t>
            </a:r>
          </a:p>
          <a:p>
            <a:pPr marL="0" lvl="0" indent="0" algn="l">
              <a:buNone/>
            </a:pPr>
            <a:r>
              <a:rPr lang="en-US" sz="1200"/>
              <a:t>A useful intuition: perplexity of 100 means the model behaves roughly as if it is choosing uniformly among 100 plausible next words.</a:t>
            </a:r>
          </a:p>
          <a:p>
            <a:pPr marL="0" lvl="0" indent="0" algn="l">
              <a:buNone/>
            </a:pPr>
            <a:r>
              <a:rPr lang="en-US" sz="1200"/>
              <a:t>For TMA Q3c, students will build a 4 by 4 perplexity matrix. Each class-specific language model is evaluated on documents from each class. Ideally, the diagonal values should be lowest.</a:t>
            </a:r>
          </a:p>
        </p:txBody>
      </p:sp>
      <p:sp>
        <p:nvSpPr>
          <p:cNvPr id="963258348" name="Slide Number Placeholder 3"/>
          <p:cNvSpPr>
            <a:spLocks noGrp="1"/>
          </p:cNvSpPr>
          <p:nvPr>
            <p:ph type="sldNum" sz="quarter" idx="10"/>
          </p:nvPr>
        </p:nvSpPr>
        <p:spPr bwMode="auto"/>
        <p:txBody>
          <a:bodyPr/>
          <a:lstStyle/>
          <a:p>
            <a:pPr>
              <a:defRPr/>
            </a:pPr>
            <a:fld id="{6752D82A-3EF2-C25F-4D89-8A9E7A3FB619}" type="slidenum">
              <a:rPr/>
              <a:t>44</a:t>
            </a:fld>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626845088" name="Slide Image Placeholder 1"/>
          <p:cNvSpPr>
            <a:spLocks noGrp="1" noRot="1" noChangeAspect="1"/>
          </p:cNvSpPr>
          <p:nvPr>
            <p:ph type="sldImg"/>
          </p:nvPr>
        </p:nvSpPr>
        <p:spPr bwMode="auto"/>
      </p:sp>
      <p:sp>
        <p:nvSpPr>
          <p:cNvPr id="194084490" name="Notes Placeholder 2"/>
          <p:cNvSpPr>
            <a:spLocks noGrp="1"/>
          </p:cNvSpPr>
          <p:nvPr>
            <p:ph type="body" idx="1"/>
          </p:nvPr>
        </p:nvSpPr>
        <p:spPr bwMode="auto"/>
        <p:txBody>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This slide explains the ceiling of n-gram models.</a:t>
            </a:r>
          </a:p>
          <a:p>
            <a:pPr marL="0" lvl="0" indent="0" algn="l">
              <a:buNone/>
            </a:pPr>
            <a:r>
              <a:rPr lang="en-US" sz="1200"/>
              <a:t>First, they do not generalize across similar words. “The cat sat” and “the dog sat” are treated as independent events unless both are observed.</a:t>
            </a:r>
          </a:p>
          <a:p>
            <a:pPr marL="0" lvl="0" indent="0" algn="l">
              <a:buNone/>
            </a:pPr>
            <a:r>
              <a:rPr lang="en-US" sz="1200"/>
              <a:t>Second, the context window is fixed. A bigram model sees only one previous word, so long-range dependencies are invisible.</a:t>
            </a:r>
          </a:p>
          <a:p>
            <a:pPr marL="0" lvl="0" indent="0" algn="l">
              <a:buNone/>
            </a:pPr>
            <a:r>
              <a:rPr lang="en-US" sz="1200"/>
              <a:t>Third, the number of possible n-grams grows exponentially with n, so we cannot observe enough data.</a:t>
            </a:r>
          </a:p>
          <a:p>
            <a:pPr marL="0" lvl="0" indent="0" algn="l">
              <a:buNone/>
            </a:pPr>
            <a:r>
              <a:rPr lang="en-US" sz="1200"/>
              <a:t>This motivates neural language models, where shared embeddings let the model generalize across similar words and learn richer context patterns.</a:t>
            </a:r>
          </a:p>
        </p:txBody>
      </p:sp>
      <p:sp>
        <p:nvSpPr>
          <p:cNvPr id="626254597" name="Slide Number Placeholder 3"/>
          <p:cNvSpPr>
            <a:spLocks noGrp="1"/>
          </p:cNvSpPr>
          <p:nvPr>
            <p:ph type="sldNum" sz="quarter" idx="10"/>
          </p:nvPr>
        </p:nvSpPr>
        <p:spPr bwMode="auto"/>
        <p:txBody>
          <a:bodyPr/>
          <a:lstStyle/>
          <a:p>
            <a:pPr>
              <a:defRPr/>
            </a:pPr>
            <a:fld id="{FCB9311D-246A-641F-33CF-40CF84323B39}" type="slidenum">
              <a:rPr/>
              <a:t>45</a:t>
            </a:fld>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bwMode="auto">
        <a:xfrm>
          <a:off x="0" y="0"/>
          <a:ext cx="0" cy="0"/>
          <a:chOff x="0" y="0"/>
          <a:chExt cx="0" cy="0"/>
        </a:xfrm>
      </p:grpSpPr>
      <p:sp>
        <p:nvSpPr>
          <p:cNvPr id="2123819157" name="Slide Image Placeholder 1"/>
          <p:cNvSpPr>
            <a:spLocks noGrp="1" noRot="1" noChangeAspect="1"/>
          </p:cNvSpPr>
          <p:nvPr>
            <p:ph type="sldImg"/>
          </p:nvPr>
        </p:nvSpPr>
        <p:spPr bwMode="auto"/>
      </p:sp>
      <p:sp>
        <p:nvSpPr>
          <p:cNvPr id="551717322" name="Notes Placeholder 2"/>
          <p:cNvSpPr>
            <a:spLocks noGrp="1"/>
          </p:cNvSpPr>
          <p:nvPr>
            <p:ph type="body" idx="1"/>
          </p:nvPr>
        </p:nvSpPr>
        <p:spPr bwMode="auto"/>
        <p:txBody>
          <a:bodyPr/>
          <a:lstStyle/>
          <a:p>
            <a:pPr marL="0" lvl="0" indent="0" algn="l">
              <a:buNone/>
            </a:pPr>
            <a:r>
              <a:rPr lang="en-US" sz="1200"/>
              <a:t>Suggested time: 3 minutes.</a:t>
            </a:r>
          </a:p>
          <a:p>
            <a:pPr marL="0" lvl="0" indent="0" algn="l">
              <a:buNone/>
            </a:pPr>
            <a:r>
              <a:rPr lang="en-US" sz="1200"/>
              <a:t>Script:</a:t>
            </a:r>
          </a:p>
          <a:p>
            <a:pPr marL="0" lvl="0" indent="0" algn="l">
              <a:buNone/>
            </a:pPr>
            <a:r>
              <a:rPr lang="en-US" sz="1200"/>
              <a:t>This is another assessment-focused slide.</a:t>
            </a:r>
          </a:p>
          <a:p>
            <a:pPr marL="0" lvl="0" indent="0" algn="l">
              <a:buNone/>
            </a:pPr>
            <a:r>
              <a:rPr lang="en-US" sz="1200"/>
              <a:t>First, use the global vocabulary size for V. Per-class V makes the language models incomparable.</a:t>
            </a:r>
          </a:p>
          <a:p>
            <a:pPr marL="0" lvl="0" indent="0" algn="l">
              <a:buNone/>
            </a:pPr>
            <a:r>
              <a:rPr lang="en-US" sz="1200"/>
              <a:t>Second, keep the log base consistent. Natural log and log base 2 can both be used in principle, but do not mix them inside one calculation.</a:t>
            </a:r>
          </a:p>
          <a:p>
            <a:pPr marL="0" lvl="0" indent="0" algn="l">
              <a:buNone/>
            </a:pPr>
            <a:r>
              <a:rPr lang="en-US" sz="1200"/>
              <a:t>Third, normalize perplexity by the number of predicted tokens or bigrams, not by the number of documents.</a:t>
            </a:r>
          </a:p>
          <a:p>
            <a:pPr marL="0" lvl="0" indent="0" algn="l">
              <a:buNone/>
            </a:pPr>
            <a:r>
              <a:rPr lang="en-US" sz="1200"/>
              <a:t>Connect this directly to TMA Q3a, Q3b, and Q3c: per-class bigram LMs, log-likelihood classification, and the 4 by 4 perplexity matrix.</a:t>
            </a:r>
          </a:p>
        </p:txBody>
      </p:sp>
      <p:sp>
        <p:nvSpPr>
          <p:cNvPr id="2115694526" name="Slide Number Placeholder 3"/>
          <p:cNvSpPr>
            <a:spLocks noGrp="1"/>
          </p:cNvSpPr>
          <p:nvPr>
            <p:ph type="sldNum" sz="quarter" idx="10"/>
          </p:nvPr>
        </p:nvSpPr>
        <p:spPr bwMode="auto"/>
        <p:txBody>
          <a:bodyPr/>
          <a:lstStyle/>
          <a:p>
            <a:pPr>
              <a:defRPr/>
            </a:pPr>
            <a:fld id="{FC404B7D-FDBF-0037-3D05-7411C4F18D7E}" type="slidenum">
              <a:rPr/>
              <a:t>46</a:t>
            </a:fld>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
        <p:cNvGrpSpPr/>
        <p:nvPr/>
      </p:nvGrpSpPr>
      <p:grpSpPr bwMode="auto">
        <a:xfrm>
          <a:off x="0" y="0"/>
          <a:ext cx="0" cy="0"/>
          <a:chOff x="0" y="0"/>
          <a:chExt cx="0" cy="0"/>
        </a:xfrm>
      </p:grpSpPr>
      <p:sp>
        <p:nvSpPr>
          <p:cNvPr id="952355099" name="Google Shape;579;g382766c9cee_0_447:notes"/>
          <p:cNvSpPr>
            <a:spLocks noGrp="1" noRot="1" noChangeAspect="1"/>
          </p:cNvSpPr>
          <p:nvPr>
            <p:ph type="sldImg" idx="2"/>
          </p:nvPr>
        </p:nvSpPr>
        <p:spPr bwMode="auto">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59519749" name="Google Shape;580;g382766c9cee_0_447:notes"/>
          <p:cNvSpPr txBox="1">
            <a:spLocks noGrp="1"/>
          </p:cNvSpPr>
          <p:nvPr>
            <p:ph type="body" idx="1"/>
          </p:nvPr>
        </p:nvSpPr>
        <p:spPr bwMode="auto">
          <a:xfrm>
            <a:off x="685800" y="4343400"/>
            <a:ext cx="5486400" cy="4114800"/>
          </a:xfrm>
          <a:prstGeom prst="rect">
            <a:avLst/>
          </a:prstGeom>
        </p:spPr>
        <p:txBody>
          <a:bodyPr spcFirstLastPara="1" wrap="square" lIns="91425" tIns="91425" rIns="91425" bIns="91425" anchor="t" anchorCtr="0">
            <a:noAutofit/>
          </a:bodyPr>
          <a:lstStyle/>
          <a:p>
            <a:pPr marL="0" lvl="0" indent="0" algn="l">
              <a:buNone/>
            </a:pPr>
            <a:r>
              <a:rPr lang="en-US" sz="1200"/>
              <a:t>Suggested time: 30 seconds.</a:t>
            </a:r>
          </a:p>
          <a:p>
            <a:pPr marL="0" lvl="0" indent="0" algn="l">
              <a:buNone/>
            </a:pPr>
            <a:r>
              <a:rPr lang="en-US" sz="1200"/>
              <a:t>Script:</a:t>
            </a:r>
          </a:p>
          <a:p>
            <a:pPr marL="0" lvl="0" indent="0" algn="l">
              <a:buNone/>
            </a:pPr>
            <a:r>
              <a:rPr lang="en-US" sz="1200"/>
              <a:t>The main reference for today is Jurafsky and Martin’s Speech and Language Processing, especially the chapters on vector semantics, embeddings, n-gram language models, smoothing, and evaluation.</a:t>
            </a:r>
          </a:p>
          <a:p>
            <a:pPr marL="0" lvl="0" indent="0" algn="l">
              <a:buNone/>
            </a:pPr>
            <a:r>
              <a:rPr lang="en-US" sz="1200"/>
              <a:t>Close by reminding students of the big picture: today’s classical ideas are not obsolete. Embeddings, probability, smoothing, and evaluation are still the conceptual foundation under modern neural NLP and LLMs.</a:t>
            </a: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PhAnim="0" matchingName="Title Slide 01" type="title" userDrawn="1">
  <p:cSld name="TITLE">
    <p:spTree>
      <p:nvGrpSpPr>
        <p:cNvPr id="1" name=""/>
        <p:cNvGrpSpPr/>
        <p:nvPr/>
      </p:nvGrpSpPr>
      <p:grpSpPr bwMode="auto">
        <a:xfrm>
          <a:off x="0" y="0"/>
          <a:ext cx="0" cy="0"/>
          <a:chOff x="0" y="0"/>
          <a:chExt cx="0" cy="0"/>
        </a:xfrm>
      </p:grpSpPr>
      <p:sp>
        <p:nvSpPr>
          <p:cNvPr id="1465286013" name="Google Shape;11;p2"/>
          <p:cNvSpPr/>
          <p:nvPr/>
        </p:nvSpPr>
        <p:spPr bwMode="auto">
          <a:xfrm>
            <a:off x="0" y="0"/>
            <a:ext cx="9144000" cy="5160899"/>
          </a:xfrm>
          <a:prstGeom prst="rect">
            <a:avLst/>
          </a:prstGeom>
          <a:solidFill>
            <a:srgbClr val="CE0000"/>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b="0" i="0" u="none" strike="noStrike" cap="none">
              <a:solidFill>
                <a:srgbClr val="CE0000"/>
              </a:solidFill>
              <a:latin typeface="Arial"/>
              <a:ea typeface="Arial"/>
              <a:cs typeface="Arial"/>
            </a:endParaRPr>
          </a:p>
        </p:txBody>
      </p:sp>
      <p:pic>
        <p:nvPicPr>
          <p:cNvPr id="1887036402" name="Google Shape;12;p2" descr="Template01-02.png"/>
          <p:cNvPicPr/>
          <p:nvPr/>
        </p:nvPicPr>
        <p:blipFill rotWithShape="1">
          <a:blip r:embed="rId2">
            <a:alphaModFix/>
          </a:blip>
          <a:srcRect/>
          <a:stretch/>
        </p:blipFill>
        <p:spPr bwMode="auto">
          <a:xfrm>
            <a:off x="0" y="-1"/>
            <a:ext cx="6427421" cy="5160778"/>
          </a:xfrm>
          <a:prstGeom prst="rect">
            <a:avLst/>
          </a:prstGeom>
          <a:noFill/>
          <a:ln>
            <a:noFill/>
          </a:ln>
        </p:spPr>
      </p:pic>
      <p:sp>
        <p:nvSpPr>
          <p:cNvPr id="256289665" name="Google Shape;13;p2"/>
          <p:cNvSpPr txBox="1">
            <a:spLocks noGrp="1"/>
          </p:cNvSpPr>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4500"/>
              <a:buFont typeface="Montserrat Medium"/>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99917674" name="Google Shape;14;p2"/>
          <p:cNvSpPr txBox="1">
            <a:spLocks noGrp="1"/>
          </p:cNvSpPr>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FFFFFF"/>
              </a:buClr>
              <a:buSzPts val="2000"/>
              <a:buNone/>
              <a:defRPr sz="2000">
                <a:solidFill>
                  <a:srgbClr val="FFFFFF"/>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pic>
        <p:nvPicPr>
          <p:cNvPr id="2085110828" name="Google Shape;15;p2" descr="holding device-02.png"/>
          <p:cNvPicPr/>
          <p:nvPr/>
        </p:nvPicPr>
        <p:blipFill rotWithShape="1">
          <a:blip r:embed="rId3">
            <a:alphaModFix/>
          </a:blip>
          <a:srcRect/>
          <a:stretch/>
        </p:blipFill>
        <p:spPr bwMode="auto">
          <a:xfrm>
            <a:off x="348471" y="-1"/>
            <a:ext cx="143662" cy="1219200"/>
          </a:xfrm>
          <a:prstGeom prst="rect">
            <a:avLst/>
          </a:prstGeom>
          <a:noFill/>
          <a:ln>
            <a:noFill/>
          </a:ln>
        </p:spPr>
      </p:pic>
      <p:pic>
        <p:nvPicPr>
          <p:cNvPr id="1655748862" name="Google Shape;16;p2" descr="01 Singapore University of Social Sciences_Horizontal Format_Version A_White Background_RGB.png"/>
          <p:cNvPicPr/>
          <p:nvPr/>
        </p:nvPicPr>
        <p:blipFill rotWithShape="1">
          <a:blip r:embed="rId4">
            <a:alphaModFix/>
          </a:blip>
          <a:srcRect/>
          <a:stretch/>
        </p:blipFill>
        <p:spPr bwMode="auto">
          <a:xfrm>
            <a:off x="349250" y="4562257"/>
            <a:ext cx="732371" cy="37107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PhAnim="0" matchingName="13_Title and Content" userDrawn="1">
  <p:cSld name="13_Title and Content">
    <p:spTree>
      <p:nvGrpSpPr>
        <p:cNvPr id="1" name=""/>
        <p:cNvGrpSpPr/>
        <p:nvPr/>
      </p:nvGrpSpPr>
      <p:grpSpPr bwMode="auto">
        <a:xfrm>
          <a:off x="0" y="0"/>
          <a:ext cx="0" cy="0"/>
          <a:chOff x="0" y="0"/>
          <a:chExt cx="0" cy="0"/>
        </a:xfrm>
      </p:grpSpPr>
      <p:sp>
        <p:nvSpPr>
          <p:cNvPr id="2002143285" name="Google Shape;18;p3"/>
          <p:cNvSpPr txBox="1">
            <a:spLocks noGrp="1"/>
          </p:cNvSpPr>
          <p:nvPr>
            <p:ph type="title"/>
          </p:nvPr>
        </p:nvSpPr>
        <p:spPr bwMode="auto">
          <a:xfrm>
            <a:off x="685800" y="285749"/>
            <a:ext cx="7543800" cy="693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90018"/>
              </a:buClr>
              <a:buSzPts val="2400"/>
              <a:buFont typeface="Montserrat Medium"/>
              <a:buNone/>
              <a:defRPr sz="2400">
                <a:solidFill>
                  <a:srgbClr val="890018"/>
                </a:solidFill>
                <a:latin typeface="Montserrat Medium"/>
                <a:ea typeface="Montserrat Medium"/>
                <a:cs typeface="Montserrat Medium"/>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25667557" name="Google Shape;19;p3"/>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lvl="0" indent="-228600" algn="l">
              <a:spcBef>
                <a:spcPts val="360"/>
              </a:spcBef>
              <a:spcAft>
                <a:spcPts val="0"/>
              </a:spcAft>
              <a:buClr>
                <a:schemeClr val="dk1"/>
              </a:buClr>
              <a:buSzPts val="1800"/>
              <a:buNone/>
              <a:defRPr sz="1800">
                <a:solidFill>
                  <a:schemeClr val="dk1"/>
                </a:solidFill>
                <a:latin typeface="Arial"/>
                <a:ea typeface="Arial"/>
                <a:cs typeface="Arial"/>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676672742" name="Google Shape;20;p3"/>
          <p:cNvSpPr txBox="1">
            <a:spLocks noGrp="1"/>
          </p:cNvSpPr>
          <p:nvPr>
            <p:ph type="sldNum" idx="12"/>
          </p:nvPr>
        </p:nvSpPr>
        <p:spPr bwMode="auto">
          <a:xfrm>
            <a:off x="6657975" y="4745735"/>
            <a:ext cx="21336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800" b="0" i="0" u="none" strike="noStrike" cap="none">
                <a:solidFill>
                  <a:srgbClr val="003B5C"/>
                </a:solidFill>
                <a:latin typeface="Arial"/>
                <a:ea typeface="Arial"/>
                <a:cs typeface="Arial"/>
              </a:defRPr>
            </a:lvl1pPr>
            <a:lvl2pPr marL="0" marR="0" lvl="1" indent="0" algn="r" rtl="0">
              <a:spcBef>
                <a:spcPts val="0"/>
              </a:spcBef>
              <a:buNone/>
              <a:defRPr sz="800" b="0" i="0" u="none" strike="noStrike" cap="none">
                <a:solidFill>
                  <a:srgbClr val="003B5C"/>
                </a:solidFill>
                <a:latin typeface="Arial"/>
                <a:ea typeface="Arial"/>
                <a:cs typeface="Arial"/>
              </a:defRPr>
            </a:lvl2pPr>
            <a:lvl3pPr marL="0" marR="0" lvl="2" indent="0" algn="r" rtl="0">
              <a:spcBef>
                <a:spcPts val="0"/>
              </a:spcBef>
              <a:buNone/>
              <a:defRPr sz="800" b="0" i="0" u="none" strike="noStrike" cap="none">
                <a:solidFill>
                  <a:srgbClr val="003B5C"/>
                </a:solidFill>
                <a:latin typeface="Arial"/>
                <a:ea typeface="Arial"/>
                <a:cs typeface="Arial"/>
              </a:defRPr>
            </a:lvl3pPr>
            <a:lvl4pPr marL="0" marR="0" lvl="3" indent="0" algn="r" rtl="0">
              <a:spcBef>
                <a:spcPts val="0"/>
              </a:spcBef>
              <a:buNone/>
              <a:defRPr sz="800" b="0" i="0" u="none" strike="noStrike" cap="none">
                <a:solidFill>
                  <a:srgbClr val="003B5C"/>
                </a:solidFill>
                <a:latin typeface="Arial"/>
                <a:ea typeface="Arial"/>
                <a:cs typeface="Arial"/>
              </a:defRPr>
            </a:lvl4pPr>
            <a:lvl5pPr marL="0" marR="0" lvl="4" indent="0" algn="r" rtl="0">
              <a:spcBef>
                <a:spcPts val="0"/>
              </a:spcBef>
              <a:buNone/>
              <a:defRPr sz="800" b="0" i="0" u="none" strike="noStrike" cap="none">
                <a:solidFill>
                  <a:srgbClr val="003B5C"/>
                </a:solidFill>
                <a:latin typeface="Arial"/>
                <a:ea typeface="Arial"/>
                <a:cs typeface="Arial"/>
              </a:defRPr>
            </a:lvl5pPr>
            <a:lvl6pPr marL="0" marR="0" lvl="5" indent="0" algn="r" rtl="0">
              <a:spcBef>
                <a:spcPts val="0"/>
              </a:spcBef>
              <a:buNone/>
              <a:defRPr sz="800" b="0" i="0" u="none" strike="noStrike" cap="none">
                <a:solidFill>
                  <a:srgbClr val="003B5C"/>
                </a:solidFill>
                <a:latin typeface="Arial"/>
                <a:ea typeface="Arial"/>
                <a:cs typeface="Arial"/>
              </a:defRPr>
            </a:lvl6pPr>
            <a:lvl7pPr marL="0" marR="0" lvl="6" indent="0" algn="r" rtl="0">
              <a:spcBef>
                <a:spcPts val="0"/>
              </a:spcBef>
              <a:buNone/>
              <a:defRPr sz="800" b="0" i="0" u="none" strike="noStrike" cap="none">
                <a:solidFill>
                  <a:srgbClr val="003B5C"/>
                </a:solidFill>
                <a:latin typeface="Arial"/>
                <a:ea typeface="Arial"/>
                <a:cs typeface="Arial"/>
              </a:defRPr>
            </a:lvl7pPr>
            <a:lvl8pPr marL="0" marR="0" lvl="7" indent="0" algn="r" rtl="0">
              <a:spcBef>
                <a:spcPts val="0"/>
              </a:spcBef>
              <a:buNone/>
              <a:defRPr sz="800" b="0" i="0" u="none" strike="noStrike" cap="none">
                <a:solidFill>
                  <a:srgbClr val="003B5C"/>
                </a:solidFill>
                <a:latin typeface="Arial"/>
                <a:ea typeface="Arial"/>
                <a:cs typeface="Arial"/>
              </a:defRPr>
            </a:lvl8pPr>
            <a:lvl9pPr marL="0" marR="0" lvl="8" indent="0" algn="r" rtl="0">
              <a:spcBef>
                <a:spcPts val="0"/>
              </a:spcBef>
              <a:buNone/>
              <a:defRPr sz="800" b="0" i="0" u="none" strike="noStrike" cap="none">
                <a:solidFill>
                  <a:srgbClr val="003B5C"/>
                </a:solidFill>
                <a:latin typeface="Arial"/>
                <a:ea typeface="Arial"/>
                <a:cs typeface="Arial"/>
              </a:defRPr>
            </a:lvl9pPr>
          </a:lstStyle>
          <a:p>
            <a:pPr marL="0" lvl="0" indent="0" algn="r" rtl="0">
              <a:spcBef>
                <a:spcPts val="0"/>
              </a:spcBef>
              <a:spcAft>
                <a:spcPts val="0"/>
              </a:spcAft>
              <a:buNone/>
              <a:defRPr/>
            </a:pPr>
            <a:r>
              <a:rPr lang="en"/>
              <a:t>Presentation Title | </a:t>
            </a:r>
            <a:fld id="{00000000-1234-1234-1234-123412341234}" type="slidenum">
              <a:rPr lang="en" b="1"/>
              <a:t>‹#›</a:t>
            </a:fld>
            <a:endParaRPr b="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PhAnim="0" matchingName="2_Title Slide 01" userDrawn="1">
  <p:cSld name="2_Title Slide 01">
    <p:spTree>
      <p:nvGrpSpPr>
        <p:cNvPr id="1" name=""/>
        <p:cNvGrpSpPr/>
        <p:nvPr/>
      </p:nvGrpSpPr>
      <p:grpSpPr bwMode="auto">
        <a:xfrm>
          <a:off x="0" y="0"/>
          <a:ext cx="0" cy="0"/>
          <a:chOff x="0" y="0"/>
          <a:chExt cx="0" cy="0"/>
        </a:xfrm>
      </p:grpSpPr>
      <p:pic>
        <p:nvPicPr>
          <p:cNvPr id="1414162058" name="Google Shape;22;p4" descr="Template01-01.png"/>
          <p:cNvPicPr/>
          <p:nvPr/>
        </p:nvPicPr>
        <p:blipFill rotWithShape="1">
          <a:blip r:embed="rId2">
            <a:alphaModFix/>
          </a:blip>
          <a:srcRect/>
          <a:stretch/>
        </p:blipFill>
        <p:spPr bwMode="auto">
          <a:xfrm>
            <a:off x="0" y="0"/>
            <a:ext cx="9144000" cy="5138776"/>
          </a:xfrm>
          <a:prstGeom prst="rect">
            <a:avLst/>
          </a:prstGeom>
          <a:noFill/>
          <a:ln>
            <a:noFill/>
          </a:ln>
        </p:spPr>
      </p:pic>
      <p:pic>
        <p:nvPicPr>
          <p:cNvPr id="364375874" name="Google Shape;23;p4" descr="01 Singapore University of Social Sciences_Horizontal Format_Version A_White Background_RGB.png"/>
          <p:cNvPicPr/>
          <p:nvPr/>
        </p:nvPicPr>
        <p:blipFill rotWithShape="1">
          <a:blip r:embed="rId3">
            <a:alphaModFix/>
          </a:blip>
          <a:srcRect/>
          <a:stretch/>
        </p:blipFill>
        <p:spPr bwMode="auto">
          <a:xfrm>
            <a:off x="3352956" y="1962727"/>
            <a:ext cx="2438090" cy="1235324"/>
          </a:xfrm>
          <a:prstGeom prst="rect">
            <a:avLst/>
          </a:prstGeom>
          <a:noFill/>
          <a:ln>
            <a:noFill/>
          </a:ln>
        </p:spPr>
      </p:pic>
      <p:sp>
        <p:nvSpPr>
          <p:cNvPr id="2001303175" name="Google Shape;24;p4"/>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PhAnim="0" matchingName="1_Title Slide 01" userDrawn="1">
  <p:cSld name="1_Title Slide 01">
    <p:spTree>
      <p:nvGrpSpPr>
        <p:cNvPr id="1" name=""/>
        <p:cNvGrpSpPr/>
        <p:nvPr/>
      </p:nvGrpSpPr>
      <p:grpSpPr bwMode="auto">
        <a:xfrm>
          <a:off x="0" y="0"/>
          <a:ext cx="0" cy="0"/>
          <a:chOff x="0" y="0"/>
          <a:chExt cx="0" cy="0"/>
        </a:xfrm>
      </p:grpSpPr>
      <p:sp>
        <p:nvSpPr>
          <p:cNvPr id="1330611999" name="Google Shape;26;p5"/>
          <p:cNvSpPr/>
          <p:nvPr/>
        </p:nvSpPr>
        <p:spPr bwMode="auto">
          <a:xfrm>
            <a:off x="0" y="0"/>
            <a:ext cx="9144000" cy="5160899"/>
          </a:xfrm>
          <a:prstGeom prst="rect">
            <a:avLst/>
          </a:prstGeom>
          <a:solidFill>
            <a:srgbClr val="042A4A"/>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rgbClr val="CE0000"/>
              </a:solidFill>
              <a:latin typeface="Arial"/>
              <a:ea typeface="Arial"/>
              <a:cs typeface="Arial"/>
            </a:endParaRPr>
          </a:p>
        </p:txBody>
      </p:sp>
      <p:pic>
        <p:nvPicPr>
          <p:cNvPr id="1555429437" name="Google Shape;27;p5" descr="03 Singapore University of Social Sciences_Horizontal Format_Version A_Blue Background_RGB-01.png"/>
          <p:cNvPicPr/>
          <p:nvPr/>
        </p:nvPicPr>
        <p:blipFill rotWithShape="1">
          <a:blip r:embed="rId2">
            <a:alphaModFix/>
          </a:blip>
          <a:srcRect/>
          <a:stretch/>
        </p:blipFill>
        <p:spPr bwMode="auto">
          <a:xfrm>
            <a:off x="351798" y="4561374"/>
            <a:ext cx="726021" cy="363011"/>
          </a:xfrm>
          <a:prstGeom prst="rect">
            <a:avLst/>
          </a:prstGeom>
          <a:noFill/>
          <a:ln>
            <a:noFill/>
          </a:ln>
        </p:spPr>
      </p:pic>
      <p:sp>
        <p:nvSpPr>
          <p:cNvPr id="1720915655" name="Google Shape;28;p5"/>
          <p:cNvSpPr txBox="1">
            <a:spLocks noGrp="1"/>
          </p:cNvSpPr>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4500"/>
              <a:buFont typeface="Montserrat Medium"/>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999818540" name="Google Shape;29;p5"/>
          <p:cNvSpPr txBox="1">
            <a:spLocks noGrp="1"/>
          </p:cNvSpPr>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FFFFFF"/>
              </a:buClr>
              <a:buSzPts val="2000"/>
              <a:buNone/>
              <a:defRPr sz="2000">
                <a:solidFill>
                  <a:srgbClr val="FFFFFF"/>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pic>
        <p:nvPicPr>
          <p:cNvPr id="2135997247" name="Google Shape;30;p5" descr="holding device-02.png"/>
          <p:cNvPicPr/>
          <p:nvPr/>
        </p:nvPicPr>
        <p:blipFill rotWithShape="1">
          <a:blip r:embed="rId3">
            <a:alphaModFix/>
          </a:blip>
          <a:srcRect/>
          <a:stretch/>
        </p:blipFill>
        <p:spPr bwMode="auto">
          <a:xfrm>
            <a:off x="348471" y="-1"/>
            <a:ext cx="143662" cy="1219200"/>
          </a:xfrm>
          <a:prstGeom prst="rect">
            <a:avLst/>
          </a:prstGeom>
          <a:noFill/>
          <a:ln>
            <a:noFill/>
          </a:ln>
        </p:spPr>
      </p:pic>
      <p:sp>
        <p:nvSpPr>
          <p:cNvPr id="109952704" name="Google Shape;31;p5"/>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PhAnim="0" matchingName="Title Slide 3" userDrawn="1">
  <p:cSld name="Title Slide 3">
    <p:spTree>
      <p:nvGrpSpPr>
        <p:cNvPr id="1" name=""/>
        <p:cNvGrpSpPr/>
        <p:nvPr/>
      </p:nvGrpSpPr>
      <p:grpSpPr bwMode="auto">
        <a:xfrm>
          <a:off x="0" y="0"/>
          <a:ext cx="0" cy="0"/>
          <a:chOff x="0" y="0"/>
          <a:chExt cx="0" cy="0"/>
        </a:xfrm>
      </p:grpSpPr>
      <p:sp>
        <p:nvSpPr>
          <p:cNvPr id="541606746" name="Google Shape;33;p6"/>
          <p:cNvSpPr>
            <a:spLocks noGrp="1"/>
          </p:cNvSpPr>
          <p:nvPr>
            <p:ph type="pic" idx="2"/>
          </p:nvPr>
        </p:nvSpPr>
        <p:spPr bwMode="auto">
          <a:xfrm>
            <a:off x="0" y="-14596"/>
            <a:ext cx="9144000" cy="5158200"/>
          </a:xfrm>
          <a:prstGeom prst="rect">
            <a:avLst/>
          </a:prstGeom>
          <a:noFill/>
          <a:ln>
            <a:noFill/>
          </a:ln>
        </p:spPr>
      </p:sp>
      <p:sp>
        <p:nvSpPr>
          <p:cNvPr id="638269631" name="Google Shape;34;p6"/>
          <p:cNvSpPr txBox="1">
            <a:spLocks noGrp="1"/>
          </p:cNvSpPr>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4500"/>
              <a:buFont typeface="Montserrat Medium"/>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076843317" name="Google Shape;35;p6"/>
          <p:cNvSpPr txBox="1">
            <a:spLocks noGrp="1"/>
          </p:cNvSpPr>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FFFFFF"/>
              </a:buClr>
              <a:buSzPts val="2000"/>
              <a:buNone/>
              <a:defRPr sz="2000">
                <a:solidFill>
                  <a:srgbClr val="FFFFFF"/>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sp>
        <p:nvSpPr>
          <p:cNvPr id="339713352" name="Google Shape;36;p6"/>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matchingName="Section Divider" userDrawn="1">
  <p:cSld name="Section Divider">
    <p:spTree>
      <p:nvGrpSpPr>
        <p:cNvPr id="1" name=""/>
        <p:cNvGrpSpPr/>
        <p:nvPr/>
      </p:nvGrpSpPr>
      <p:grpSpPr bwMode="auto">
        <a:xfrm>
          <a:off x="0" y="0"/>
          <a:ext cx="0" cy="0"/>
          <a:chOff x="0" y="0"/>
          <a:chExt cx="0" cy="0"/>
        </a:xfrm>
      </p:grpSpPr>
      <p:sp>
        <p:nvSpPr>
          <p:cNvPr id="405506293" name="Google Shape;38;p7"/>
          <p:cNvSpPr/>
          <p:nvPr/>
        </p:nvSpPr>
        <p:spPr bwMode="auto">
          <a:xfrm>
            <a:off x="0" y="0"/>
            <a:ext cx="9144000" cy="5160899"/>
          </a:xfrm>
          <a:prstGeom prst="rect">
            <a:avLst/>
          </a:prstGeom>
          <a:solidFill>
            <a:srgbClr val="99D6EA"/>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rgbClr val="CE0000"/>
              </a:solidFill>
              <a:latin typeface="Arial"/>
              <a:ea typeface="Arial"/>
              <a:cs typeface="Arial"/>
            </a:endParaRPr>
          </a:p>
        </p:txBody>
      </p:sp>
      <p:pic>
        <p:nvPicPr>
          <p:cNvPr id="1145397050" name="Google Shape;39;p7" descr="Template01-02.png"/>
          <p:cNvPicPr/>
          <p:nvPr/>
        </p:nvPicPr>
        <p:blipFill rotWithShape="1">
          <a:blip r:embed="rId2">
            <a:alphaModFix/>
          </a:blip>
          <a:srcRect/>
          <a:stretch/>
        </p:blipFill>
        <p:spPr bwMode="auto">
          <a:xfrm>
            <a:off x="0" y="-1"/>
            <a:ext cx="6427421" cy="5160778"/>
          </a:xfrm>
          <a:prstGeom prst="rect">
            <a:avLst/>
          </a:prstGeom>
          <a:noFill/>
          <a:ln>
            <a:noFill/>
          </a:ln>
        </p:spPr>
      </p:pic>
      <p:pic>
        <p:nvPicPr>
          <p:cNvPr id="1625133058" name="Google Shape;40;p7" descr="holding device-02.png"/>
          <p:cNvPicPr/>
          <p:nvPr/>
        </p:nvPicPr>
        <p:blipFill rotWithShape="1">
          <a:blip r:embed="rId3">
            <a:alphaModFix/>
          </a:blip>
          <a:srcRect/>
          <a:stretch/>
        </p:blipFill>
        <p:spPr bwMode="auto">
          <a:xfrm>
            <a:off x="348471" y="-1"/>
            <a:ext cx="143662" cy="1219200"/>
          </a:xfrm>
          <a:prstGeom prst="rect">
            <a:avLst/>
          </a:prstGeom>
          <a:noFill/>
          <a:ln>
            <a:noFill/>
          </a:ln>
        </p:spPr>
      </p:pic>
      <p:sp>
        <p:nvSpPr>
          <p:cNvPr id="1335967237" name="Google Shape;41;p7"/>
          <p:cNvSpPr txBox="1">
            <a:spLocks noGrp="1"/>
          </p:cNvSpPr>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4800"/>
              <a:buFont typeface="Montserrat Medium"/>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76222165" name="Google Shape;42;p7"/>
          <p:cNvSpPr txBox="1">
            <a:spLocks noGrp="1"/>
          </p:cNvSpPr>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FFFFFF"/>
              </a:buClr>
              <a:buSzPts val="2000"/>
              <a:buNone/>
              <a:defRPr sz="2000">
                <a:solidFill>
                  <a:srgbClr val="FFFFFF"/>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pic>
        <p:nvPicPr>
          <p:cNvPr id="488918727" name="Google Shape;43;p7" descr="01 Singapore University of Social Sciences_Horizontal Format_Version A_White Background_RGB.png"/>
          <p:cNvPicPr/>
          <p:nvPr/>
        </p:nvPicPr>
        <p:blipFill rotWithShape="1">
          <a:blip r:embed="rId4">
            <a:alphaModFix/>
          </a:blip>
          <a:srcRect/>
          <a:stretch/>
        </p:blipFill>
        <p:spPr bwMode="auto">
          <a:xfrm>
            <a:off x="349250" y="4562257"/>
            <a:ext cx="732371" cy="371076"/>
          </a:xfrm>
          <a:prstGeom prst="rect">
            <a:avLst/>
          </a:prstGeom>
          <a:noFill/>
          <a:ln>
            <a:noFill/>
          </a:ln>
        </p:spPr>
      </p:pic>
      <p:sp>
        <p:nvSpPr>
          <p:cNvPr id="359888972" name="Google Shape;44;p7"/>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PhAnim="0" matchingName="1_Section Divider" userDrawn="1">
  <p:cSld name="1_Section Divider">
    <p:spTree>
      <p:nvGrpSpPr>
        <p:cNvPr id="1" name=""/>
        <p:cNvGrpSpPr/>
        <p:nvPr/>
      </p:nvGrpSpPr>
      <p:grpSpPr bwMode="auto">
        <a:xfrm>
          <a:off x="0" y="0"/>
          <a:ext cx="0" cy="0"/>
          <a:chOff x="0" y="0"/>
          <a:chExt cx="0" cy="0"/>
        </a:xfrm>
      </p:grpSpPr>
      <p:sp>
        <p:nvSpPr>
          <p:cNvPr id="2117803309" name="Google Shape;46;p8"/>
          <p:cNvSpPr/>
          <p:nvPr/>
        </p:nvSpPr>
        <p:spPr bwMode="auto">
          <a:xfrm>
            <a:off x="0" y="0"/>
            <a:ext cx="9144000" cy="5160899"/>
          </a:xfrm>
          <a:prstGeom prst="rect">
            <a:avLst/>
          </a:prstGeom>
          <a:solidFill>
            <a:srgbClr val="C8C9C7"/>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rgbClr val="CE0000"/>
              </a:solidFill>
              <a:latin typeface="Arial"/>
              <a:ea typeface="Arial"/>
              <a:cs typeface="Arial"/>
            </a:endParaRPr>
          </a:p>
        </p:txBody>
      </p:sp>
      <p:pic>
        <p:nvPicPr>
          <p:cNvPr id="2080623505" name="Google Shape;47;p8" descr="Template01-02.png"/>
          <p:cNvPicPr/>
          <p:nvPr/>
        </p:nvPicPr>
        <p:blipFill rotWithShape="1">
          <a:blip r:embed="rId2">
            <a:alphaModFix/>
          </a:blip>
          <a:srcRect/>
          <a:stretch/>
        </p:blipFill>
        <p:spPr bwMode="auto">
          <a:xfrm>
            <a:off x="0" y="-1"/>
            <a:ext cx="6427421" cy="5160778"/>
          </a:xfrm>
          <a:prstGeom prst="rect">
            <a:avLst/>
          </a:prstGeom>
          <a:noFill/>
          <a:ln>
            <a:noFill/>
          </a:ln>
        </p:spPr>
      </p:pic>
      <p:pic>
        <p:nvPicPr>
          <p:cNvPr id="463680953" name="Google Shape;48;p8" descr="holding device-02.png"/>
          <p:cNvPicPr/>
          <p:nvPr/>
        </p:nvPicPr>
        <p:blipFill rotWithShape="1">
          <a:blip r:embed="rId3">
            <a:alphaModFix/>
          </a:blip>
          <a:srcRect/>
          <a:stretch/>
        </p:blipFill>
        <p:spPr bwMode="auto">
          <a:xfrm>
            <a:off x="348471" y="-1"/>
            <a:ext cx="143662" cy="1219200"/>
          </a:xfrm>
          <a:prstGeom prst="rect">
            <a:avLst/>
          </a:prstGeom>
          <a:noFill/>
          <a:ln>
            <a:noFill/>
          </a:ln>
        </p:spPr>
      </p:pic>
      <p:sp>
        <p:nvSpPr>
          <p:cNvPr id="1259366263" name="Google Shape;49;p8"/>
          <p:cNvSpPr txBox="1">
            <a:spLocks noGrp="1"/>
          </p:cNvSpPr>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4800"/>
              <a:buFont typeface="Montserrat Medium"/>
              <a:buNone/>
              <a:defRPr sz="48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312903412" name="Google Shape;50;p8"/>
          <p:cNvSpPr txBox="1">
            <a:spLocks noGrp="1"/>
          </p:cNvSpPr>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FFFFFF"/>
              </a:buClr>
              <a:buSzPts val="2000"/>
              <a:buNone/>
              <a:defRPr sz="2000">
                <a:solidFill>
                  <a:srgbClr val="FFFFFF"/>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pic>
        <p:nvPicPr>
          <p:cNvPr id="723495232" name="Google Shape;51;p8" descr="01 Singapore University of Social Sciences_Horizontal Format_Version A_White Background_RGB.png"/>
          <p:cNvPicPr/>
          <p:nvPr/>
        </p:nvPicPr>
        <p:blipFill rotWithShape="1">
          <a:blip r:embed="rId4">
            <a:alphaModFix/>
          </a:blip>
          <a:srcRect/>
          <a:stretch/>
        </p:blipFill>
        <p:spPr bwMode="auto">
          <a:xfrm>
            <a:off x="349250" y="4562257"/>
            <a:ext cx="732371" cy="371076"/>
          </a:xfrm>
          <a:prstGeom prst="rect">
            <a:avLst/>
          </a:prstGeom>
          <a:noFill/>
          <a:ln>
            <a:noFill/>
          </a:ln>
        </p:spPr>
      </p:pic>
      <p:sp>
        <p:nvSpPr>
          <p:cNvPr id="896244676" name="Google Shape;52;p8"/>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PhAnim="0" matchingName="3_Section Divider" userDrawn="1">
  <p:cSld name="3_Section Divider">
    <p:spTree>
      <p:nvGrpSpPr>
        <p:cNvPr id="1" name=""/>
        <p:cNvGrpSpPr/>
        <p:nvPr/>
      </p:nvGrpSpPr>
      <p:grpSpPr bwMode="auto">
        <a:xfrm>
          <a:off x="0" y="0"/>
          <a:ext cx="0" cy="0"/>
          <a:chOff x="0" y="0"/>
          <a:chExt cx="0" cy="0"/>
        </a:xfrm>
      </p:grpSpPr>
      <p:sp>
        <p:nvSpPr>
          <p:cNvPr id="77022102" name="Google Shape;54;p9"/>
          <p:cNvSpPr/>
          <p:nvPr/>
        </p:nvSpPr>
        <p:spPr bwMode="auto">
          <a:xfrm>
            <a:off x="0" y="0"/>
            <a:ext cx="9144000" cy="5160899"/>
          </a:xfrm>
          <a:prstGeom prst="rect">
            <a:avLst/>
          </a:prstGeom>
          <a:solidFill>
            <a:srgbClr val="99D6EA"/>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rgbClr val="CE0000"/>
              </a:solidFill>
              <a:latin typeface="Arial"/>
              <a:ea typeface="Arial"/>
              <a:cs typeface="Arial"/>
            </a:endParaRPr>
          </a:p>
        </p:txBody>
      </p:sp>
      <p:pic>
        <p:nvPicPr>
          <p:cNvPr id="278600625" name="Google Shape;55;p9" descr="holding device-02.png"/>
          <p:cNvPicPr/>
          <p:nvPr/>
        </p:nvPicPr>
        <p:blipFill rotWithShape="1">
          <a:blip r:embed="rId2">
            <a:alphaModFix/>
          </a:blip>
          <a:srcRect/>
          <a:stretch/>
        </p:blipFill>
        <p:spPr bwMode="auto">
          <a:xfrm>
            <a:off x="348471" y="-1"/>
            <a:ext cx="143662" cy="1219200"/>
          </a:xfrm>
          <a:prstGeom prst="rect">
            <a:avLst/>
          </a:prstGeom>
          <a:noFill/>
          <a:ln>
            <a:noFill/>
          </a:ln>
        </p:spPr>
      </p:pic>
      <p:sp>
        <p:nvSpPr>
          <p:cNvPr id="233164257" name="Google Shape;56;p9"/>
          <p:cNvSpPr txBox="1">
            <a:spLocks noGrp="1"/>
          </p:cNvSpPr>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4800"/>
              <a:buFont typeface="Montserrat Medium"/>
              <a:buNone/>
              <a:defRPr sz="4800">
                <a:solidFill>
                  <a:srgbClr val="003B5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098000909" name="Google Shape;57;p9"/>
          <p:cNvSpPr txBox="1">
            <a:spLocks noGrp="1"/>
          </p:cNvSpPr>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003B5C"/>
              </a:buClr>
              <a:buSzPts val="2000"/>
              <a:buNone/>
              <a:defRPr sz="2000">
                <a:solidFill>
                  <a:srgbClr val="003B5C"/>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pic>
        <p:nvPicPr>
          <p:cNvPr id="187909996" name="Google Shape;58;p9" descr="01 Singapore University of Social Sciences_Horizontal Format_Version A_White Background_RGB.png"/>
          <p:cNvPicPr/>
          <p:nvPr/>
        </p:nvPicPr>
        <p:blipFill rotWithShape="1">
          <a:blip r:embed="rId3">
            <a:alphaModFix/>
          </a:blip>
          <a:srcRect/>
          <a:stretch/>
        </p:blipFill>
        <p:spPr bwMode="auto">
          <a:xfrm>
            <a:off x="349250" y="4562257"/>
            <a:ext cx="732371" cy="371076"/>
          </a:xfrm>
          <a:prstGeom prst="rect">
            <a:avLst/>
          </a:prstGeom>
          <a:noFill/>
          <a:ln>
            <a:noFill/>
          </a:ln>
        </p:spPr>
      </p:pic>
      <p:sp>
        <p:nvSpPr>
          <p:cNvPr id="212329483" name="Google Shape;59;p9"/>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PhAnim="0" matchingName="4_Section Divider" userDrawn="1">
  <p:cSld name="4_Section Divider">
    <p:spTree>
      <p:nvGrpSpPr>
        <p:cNvPr id="1" name=""/>
        <p:cNvGrpSpPr/>
        <p:nvPr/>
      </p:nvGrpSpPr>
      <p:grpSpPr bwMode="auto">
        <a:xfrm>
          <a:off x="0" y="0"/>
          <a:ext cx="0" cy="0"/>
          <a:chOff x="0" y="0"/>
          <a:chExt cx="0" cy="0"/>
        </a:xfrm>
      </p:grpSpPr>
      <p:sp>
        <p:nvSpPr>
          <p:cNvPr id="1913815796" name="Google Shape;61;p10"/>
          <p:cNvSpPr/>
          <p:nvPr/>
        </p:nvSpPr>
        <p:spPr bwMode="auto">
          <a:xfrm>
            <a:off x="0" y="0"/>
            <a:ext cx="9144000" cy="5160899"/>
          </a:xfrm>
          <a:prstGeom prst="rect">
            <a:avLst/>
          </a:prstGeom>
          <a:solidFill>
            <a:srgbClr val="C8C9C7"/>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rgbClr val="CE0000"/>
              </a:solidFill>
              <a:latin typeface="Arial"/>
              <a:ea typeface="Arial"/>
              <a:cs typeface="Arial"/>
            </a:endParaRPr>
          </a:p>
        </p:txBody>
      </p:sp>
      <p:pic>
        <p:nvPicPr>
          <p:cNvPr id="1585721490" name="Google Shape;62;p10" descr="holding device-02.png"/>
          <p:cNvPicPr/>
          <p:nvPr/>
        </p:nvPicPr>
        <p:blipFill rotWithShape="1">
          <a:blip r:embed="rId2">
            <a:alphaModFix/>
          </a:blip>
          <a:srcRect/>
          <a:stretch/>
        </p:blipFill>
        <p:spPr bwMode="auto">
          <a:xfrm>
            <a:off x="348471" y="-1"/>
            <a:ext cx="143662" cy="1219200"/>
          </a:xfrm>
          <a:prstGeom prst="rect">
            <a:avLst/>
          </a:prstGeom>
          <a:noFill/>
          <a:ln>
            <a:noFill/>
          </a:ln>
        </p:spPr>
      </p:pic>
      <p:sp>
        <p:nvSpPr>
          <p:cNvPr id="1211983853" name="Google Shape;63;p10"/>
          <p:cNvSpPr txBox="1">
            <a:spLocks noGrp="1"/>
          </p:cNvSpPr>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4800"/>
              <a:buFont typeface="Montserrat Medium"/>
              <a:buNone/>
              <a:defRPr sz="4800">
                <a:solidFill>
                  <a:srgbClr val="003B5C"/>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418370910" name="Google Shape;64;p10"/>
          <p:cNvSpPr txBox="1">
            <a:spLocks noGrp="1"/>
          </p:cNvSpPr>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rgbClr val="003B5C"/>
              </a:buClr>
              <a:buSzPts val="2000"/>
              <a:buNone/>
              <a:defRPr sz="2000">
                <a:solidFill>
                  <a:srgbClr val="003B5C"/>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pic>
        <p:nvPicPr>
          <p:cNvPr id="1580649528" name="Google Shape;65;p10" descr="01 Singapore University of Social Sciences_Horizontal Format_Version A_White Background_RGB.png"/>
          <p:cNvPicPr/>
          <p:nvPr/>
        </p:nvPicPr>
        <p:blipFill rotWithShape="1">
          <a:blip r:embed="rId3">
            <a:alphaModFix/>
          </a:blip>
          <a:srcRect/>
          <a:stretch/>
        </p:blipFill>
        <p:spPr bwMode="auto">
          <a:xfrm>
            <a:off x="349250" y="4562257"/>
            <a:ext cx="732371" cy="371076"/>
          </a:xfrm>
          <a:prstGeom prst="rect">
            <a:avLst/>
          </a:prstGeom>
          <a:noFill/>
          <a:ln>
            <a:noFill/>
          </a:ln>
        </p:spPr>
      </p:pic>
      <p:sp>
        <p:nvSpPr>
          <p:cNvPr id="190039842" name="Google Shape;66;p10"/>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PhAnim="0" matchingName="6_Section Divider" userDrawn="1">
  <p:cSld name="6_Section Divider">
    <p:spTree>
      <p:nvGrpSpPr>
        <p:cNvPr id="1" name=""/>
        <p:cNvGrpSpPr/>
        <p:nvPr/>
      </p:nvGrpSpPr>
      <p:grpSpPr bwMode="auto">
        <a:xfrm>
          <a:off x="0" y="0"/>
          <a:ext cx="0" cy="0"/>
          <a:chOff x="0" y="0"/>
          <a:chExt cx="0" cy="0"/>
        </a:xfrm>
      </p:grpSpPr>
      <p:sp>
        <p:nvSpPr>
          <p:cNvPr id="588491176" name="Google Shape;68;p11"/>
          <p:cNvSpPr>
            <a:spLocks noGrp="1"/>
          </p:cNvSpPr>
          <p:nvPr>
            <p:ph type="pic" idx="2"/>
          </p:nvPr>
        </p:nvSpPr>
        <p:spPr bwMode="auto">
          <a:xfrm>
            <a:off x="0" y="-14596"/>
            <a:ext cx="9144000" cy="5158200"/>
          </a:xfrm>
          <a:prstGeom prst="rect">
            <a:avLst/>
          </a:prstGeom>
          <a:noFill/>
          <a:ln>
            <a:noFill/>
          </a:ln>
        </p:spPr>
      </p:sp>
      <p:sp>
        <p:nvSpPr>
          <p:cNvPr id="333019245" name="Google Shape;69;p11"/>
          <p:cNvSpPr txBox="1">
            <a:spLocks noGrp="1"/>
          </p:cNvSpPr>
          <p:nvPr>
            <p:ph type="ctrTitle"/>
          </p:nvPr>
        </p:nvSpPr>
        <p:spPr bwMode="auto">
          <a:xfrm>
            <a:off x="257175" y="1246732"/>
            <a:ext cx="7772400" cy="1060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4500"/>
              <a:buFont typeface="Montserrat Medium"/>
              <a:buNone/>
              <a:defRPr sz="45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81582353" name="Google Shape;70;p11"/>
          <p:cNvSpPr txBox="1">
            <a:spLocks noGrp="1"/>
          </p:cNvSpPr>
          <p:nvPr>
            <p:ph type="subTitle" idx="1"/>
          </p:nvPr>
        </p:nvSpPr>
        <p:spPr bwMode="auto">
          <a:xfrm>
            <a:off x="253128" y="2456199"/>
            <a:ext cx="6400800" cy="1314600"/>
          </a:xfrm>
          <a:prstGeom prst="rect">
            <a:avLst/>
          </a:prstGeom>
          <a:noFill/>
          <a:ln>
            <a:noFill/>
          </a:ln>
        </p:spPr>
        <p:txBody>
          <a:bodyPr spcFirstLastPara="1" wrap="square" lIns="91425" tIns="45700" rIns="91425" bIns="45700" anchor="t" anchorCtr="0">
            <a:normAutofit/>
          </a:bodyPr>
          <a:lstStyle>
            <a:lvl1pPr lvl="0" algn="l">
              <a:spcBef>
                <a:spcPts val="400"/>
              </a:spcBef>
              <a:spcAft>
                <a:spcPts val="0"/>
              </a:spcAft>
              <a:buClr>
                <a:schemeClr val="lt1"/>
              </a:buClr>
              <a:buSzPts val="2000"/>
              <a:buNone/>
              <a:defRPr sz="2000">
                <a:solidFill>
                  <a:schemeClr val="lt1"/>
                </a:solidFill>
              </a:defRPr>
            </a:lvl1pPr>
            <a:lvl2pPr lvl="1" algn="ctr">
              <a:spcBef>
                <a:spcPts val="260"/>
              </a:spcBef>
              <a:spcAft>
                <a:spcPts val="0"/>
              </a:spcAft>
              <a:buClr>
                <a:srgbClr val="888F9A"/>
              </a:buClr>
              <a:buSzPts val="1300"/>
              <a:buNone/>
              <a:defRPr>
                <a:solidFill>
                  <a:srgbClr val="888F9A"/>
                </a:solidFill>
              </a:defRPr>
            </a:lvl2pPr>
            <a:lvl3pPr lvl="2" algn="ctr">
              <a:spcBef>
                <a:spcPts val="240"/>
              </a:spcBef>
              <a:spcAft>
                <a:spcPts val="0"/>
              </a:spcAft>
              <a:buClr>
                <a:srgbClr val="888F9A"/>
              </a:buClr>
              <a:buSzPts val="1200"/>
              <a:buNone/>
              <a:defRPr>
                <a:solidFill>
                  <a:srgbClr val="888F9A"/>
                </a:solidFill>
              </a:defRPr>
            </a:lvl3pPr>
            <a:lvl4pPr lvl="3" algn="ctr">
              <a:spcBef>
                <a:spcPts val="200"/>
              </a:spcBef>
              <a:spcAft>
                <a:spcPts val="0"/>
              </a:spcAft>
              <a:buClr>
                <a:srgbClr val="888F9A"/>
              </a:buClr>
              <a:buSzPts val="1000"/>
              <a:buNone/>
              <a:defRPr>
                <a:solidFill>
                  <a:srgbClr val="888F9A"/>
                </a:solidFill>
              </a:defRPr>
            </a:lvl4pPr>
            <a:lvl5pPr lvl="4" algn="ctr">
              <a:spcBef>
                <a:spcPts val="160"/>
              </a:spcBef>
              <a:spcAft>
                <a:spcPts val="0"/>
              </a:spcAft>
              <a:buClr>
                <a:srgbClr val="888F9A"/>
              </a:buClr>
              <a:buSzPts val="800"/>
              <a:buNone/>
              <a:defRPr>
                <a:solidFill>
                  <a:srgbClr val="888F9A"/>
                </a:solidFill>
              </a:defRPr>
            </a:lvl5pPr>
            <a:lvl6pPr lvl="5" algn="ctr">
              <a:spcBef>
                <a:spcPts val="400"/>
              </a:spcBef>
              <a:spcAft>
                <a:spcPts val="0"/>
              </a:spcAft>
              <a:buClr>
                <a:srgbClr val="888F9A"/>
              </a:buClr>
              <a:buSzPts val="2000"/>
              <a:buNone/>
              <a:defRPr>
                <a:solidFill>
                  <a:srgbClr val="888F9A"/>
                </a:solidFill>
              </a:defRPr>
            </a:lvl6pPr>
            <a:lvl7pPr lvl="6" algn="ctr">
              <a:spcBef>
                <a:spcPts val="400"/>
              </a:spcBef>
              <a:spcAft>
                <a:spcPts val="0"/>
              </a:spcAft>
              <a:buClr>
                <a:srgbClr val="888F9A"/>
              </a:buClr>
              <a:buSzPts val="2000"/>
              <a:buNone/>
              <a:defRPr>
                <a:solidFill>
                  <a:srgbClr val="888F9A"/>
                </a:solidFill>
              </a:defRPr>
            </a:lvl7pPr>
            <a:lvl8pPr lvl="7" algn="ctr">
              <a:spcBef>
                <a:spcPts val="400"/>
              </a:spcBef>
              <a:spcAft>
                <a:spcPts val="0"/>
              </a:spcAft>
              <a:buClr>
                <a:srgbClr val="888F9A"/>
              </a:buClr>
              <a:buSzPts val="2000"/>
              <a:buNone/>
              <a:defRPr>
                <a:solidFill>
                  <a:srgbClr val="888F9A"/>
                </a:solidFill>
              </a:defRPr>
            </a:lvl8pPr>
            <a:lvl9pPr lvl="8" algn="ctr">
              <a:spcBef>
                <a:spcPts val="400"/>
              </a:spcBef>
              <a:spcAft>
                <a:spcPts val="0"/>
              </a:spcAft>
              <a:buClr>
                <a:srgbClr val="888F9A"/>
              </a:buClr>
              <a:buSzPts val="2000"/>
              <a:buNone/>
              <a:defRPr>
                <a:solidFill>
                  <a:srgbClr val="888F9A"/>
                </a:solidFill>
              </a:defRPr>
            </a:lvl9pPr>
          </a:lstStyle>
          <a:p>
            <a:pPr>
              <a:defRPr/>
            </a:pPr>
            <a:endParaRPr/>
          </a:p>
        </p:txBody>
      </p:sp>
      <p:sp>
        <p:nvSpPr>
          <p:cNvPr id="489609593" name="Google Shape;71;p11"/>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PhAnim="0" matchingName="2_Title and Content" userDrawn="1">
  <p:cSld name="2_Title and Content">
    <p:spTree>
      <p:nvGrpSpPr>
        <p:cNvPr id="1" name=""/>
        <p:cNvGrpSpPr/>
        <p:nvPr/>
      </p:nvGrpSpPr>
      <p:grpSpPr bwMode="auto">
        <a:xfrm>
          <a:off x="0" y="0"/>
          <a:ext cx="0" cy="0"/>
          <a:chOff x="0" y="0"/>
          <a:chExt cx="0" cy="0"/>
        </a:xfrm>
      </p:grpSpPr>
      <p:sp>
        <p:nvSpPr>
          <p:cNvPr id="845206373" name="Google Shape;73;p12"/>
          <p:cNvSpPr/>
          <p:nvPr/>
        </p:nvSpPr>
        <p:spPr bwMode="auto">
          <a:xfrm>
            <a:off x="4962278" y="-2182305"/>
            <a:ext cx="4720549" cy="4606871"/>
          </a:xfrm>
          <a:custGeom>
            <a:avLst/>
            <a:gdLst/>
            <a:ahLst/>
            <a:cxnLst/>
            <a:rect l="l" t="t" r="r" b="b"/>
            <a:pathLst>
              <a:path w="4720549" h="4606871" extrusionOk="0">
                <a:moveTo>
                  <a:pt x="87482" y="0"/>
                </a:moveTo>
                <a:lnTo>
                  <a:pt x="4720549" y="0"/>
                </a:lnTo>
                <a:lnTo>
                  <a:pt x="4720549" y="4493153"/>
                </a:lnTo>
                <a:lnTo>
                  <a:pt x="4562058" y="4529732"/>
                </a:lnTo>
                <a:cubicBezTo>
                  <a:pt x="4314892" y="4580310"/>
                  <a:pt x="4058977" y="4606871"/>
                  <a:pt x="3796859" y="4606871"/>
                </a:cubicBezTo>
                <a:cubicBezTo>
                  <a:pt x="1699912" y="4606871"/>
                  <a:pt x="0" y="2906959"/>
                  <a:pt x="0" y="810012"/>
                </a:cubicBezTo>
                <a:cubicBezTo>
                  <a:pt x="0" y="547894"/>
                  <a:pt x="26561" y="291979"/>
                  <a:pt x="77139" y="44813"/>
                </a:cubicBezTo>
                <a:close/>
              </a:path>
            </a:pathLst>
          </a:cu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chemeClr val="lt1"/>
              </a:solidFill>
              <a:latin typeface="Arial"/>
              <a:ea typeface="Arial"/>
              <a:cs typeface="Arial"/>
            </a:endParaRPr>
          </a:p>
        </p:txBody>
      </p:sp>
      <p:pic>
        <p:nvPicPr>
          <p:cNvPr id="1958462100" name="Google Shape;74;p12" descr="Template01-08.png"/>
          <p:cNvPicPr/>
          <p:nvPr/>
        </p:nvPicPr>
        <p:blipFill rotWithShape="1">
          <a:blip r:embed="rId2">
            <a:alphaModFix/>
          </a:blip>
          <a:srcRect/>
          <a:stretch/>
        </p:blipFill>
        <p:spPr bwMode="auto">
          <a:xfrm>
            <a:off x="342901" y="-14596"/>
            <a:ext cx="80450" cy="645796"/>
          </a:xfrm>
          <a:prstGeom prst="rect">
            <a:avLst/>
          </a:prstGeom>
          <a:noFill/>
          <a:ln>
            <a:noFill/>
          </a:ln>
        </p:spPr>
      </p:pic>
      <p:sp>
        <p:nvSpPr>
          <p:cNvPr id="1626517531" name="Google Shape;75;p12"/>
          <p:cNvSpPr txBox="1">
            <a:spLocks noGrp="1"/>
          </p:cNvSpPr>
          <p:nvPr>
            <p:ph type="title"/>
          </p:nvPr>
        </p:nvSpPr>
        <p:spPr bwMode="auto">
          <a:xfrm>
            <a:off x="260226" y="344600"/>
            <a:ext cx="8531400" cy="823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780955319" name="Google Shape;76;p12"/>
          <p:cNvSpPr txBox="1">
            <a:spLocks noGrp="1"/>
          </p:cNvSpPr>
          <p:nvPr>
            <p:ph type="body" idx="1"/>
          </p:nvPr>
        </p:nvSpPr>
        <p:spPr bwMode="auto">
          <a:xfrm>
            <a:off x="260213" y="1905100"/>
            <a:ext cx="3747000" cy="2475600"/>
          </a:xfrm>
          <a:prstGeom prst="rect">
            <a:avLst/>
          </a:prstGeom>
          <a:noFill/>
          <a:ln>
            <a:noFill/>
          </a:ln>
        </p:spPr>
        <p:txBody>
          <a:bodyPr spcFirstLastPara="1" wrap="square" lIns="91425" tIns="45700" rIns="91425" bIns="45700" anchor="t" anchorCtr="0">
            <a:normAutofit/>
          </a:bodyPr>
          <a:lstStyle>
            <a:lvl1pPr marL="457200" lvl="0" indent="-317500" algn="l">
              <a:spcBef>
                <a:spcPts val="280"/>
              </a:spcBef>
              <a:spcAft>
                <a:spcPts val="0"/>
              </a:spcAft>
              <a:buClr>
                <a:schemeClr val="dk1"/>
              </a:buClr>
              <a:buSzPts val="1400"/>
              <a:buChar char="•"/>
              <a:defRPr sz="14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999441239" name="Google Shape;77;p12"/>
          <p:cNvSpPr txBox="1"/>
          <p:nvPr/>
        </p:nvSpPr>
        <p:spPr bwMode="auto">
          <a:xfrm>
            <a:off x="7132482" y="4812819"/>
            <a:ext cx="1968300" cy="2739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defRPr/>
            </a:pPr>
            <a:fld id="{00000000-1234-1234-1234-123412341234}" type="slidenum">
              <a:rPr lang="en" sz="800" b="1">
                <a:solidFill>
                  <a:srgbClr val="003B5C"/>
                </a:solidFill>
                <a:latin typeface="Arial"/>
                <a:ea typeface="Arial"/>
                <a:cs typeface="Arial"/>
              </a:rPr>
              <a:t>‹#›</a:t>
            </a:fld>
            <a:endParaRPr sz="800" b="1">
              <a:solidFill>
                <a:srgbClr val="003B5C"/>
              </a:solidFill>
              <a:latin typeface="Arial"/>
              <a:ea typeface="Arial"/>
              <a:cs typeface="Arial"/>
            </a:endParaRPr>
          </a:p>
        </p:txBody>
      </p:sp>
      <p:sp>
        <p:nvSpPr>
          <p:cNvPr id="1412301294" name="Google Shape;78;p12"/>
          <p:cNvSpPr txBox="1">
            <a:spLocks noGrp="1"/>
          </p:cNvSpPr>
          <p:nvPr>
            <p:ph type="body" idx="2"/>
          </p:nvPr>
        </p:nvSpPr>
        <p:spPr bwMode="auto">
          <a:xfrm>
            <a:off x="260213" y="1517622"/>
            <a:ext cx="3747000" cy="29610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None/>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833967391" name="Google Shape;79;p12"/>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PhAnim="0" matchingName="Title and Content" userDrawn="1">
  <p:cSld name="Title and Content">
    <p:spTree>
      <p:nvGrpSpPr>
        <p:cNvPr id="1" name=""/>
        <p:cNvGrpSpPr/>
        <p:nvPr/>
      </p:nvGrpSpPr>
      <p:grpSpPr bwMode="auto">
        <a:xfrm>
          <a:off x="0" y="0"/>
          <a:ext cx="0" cy="0"/>
          <a:chOff x="0" y="0"/>
          <a:chExt cx="0" cy="0"/>
        </a:xfrm>
      </p:grpSpPr>
      <p:pic>
        <p:nvPicPr>
          <p:cNvPr id="1815436960" name="Google Shape;81;p13" descr="Template01-08.png"/>
          <p:cNvPicPr/>
          <p:nvPr/>
        </p:nvPicPr>
        <p:blipFill rotWithShape="1">
          <a:blip r:embed="rId2">
            <a:alphaModFix/>
          </a:blip>
          <a:srcRect/>
          <a:stretch/>
        </p:blipFill>
        <p:spPr bwMode="auto">
          <a:xfrm>
            <a:off x="342901" y="-14596"/>
            <a:ext cx="80450" cy="645796"/>
          </a:xfrm>
          <a:prstGeom prst="rect">
            <a:avLst/>
          </a:prstGeom>
          <a:noFill/>
          <a:ln>
            <a:noFill/>
          </a:ln>
        </p:spPr>
      </p:pic>
      <p:sp>
        <p:nvSpPr>
          <p:cNvPr id="736705316" name="Google Shape;82;p13"/>
          <p:cNvSpPr txBox="1">
            <a:spLocks noGrp="1"/>
          </p:cNvSpPr>
          <p:nvPr>
            <p:ph type="title"/>
          </p:nvPr>
        </p:nvSpPr>
        <p:spPr bwMode="auto">
          <a:xfrm>
            <a:off x="260213" y="645796"/>
            <a:ext cx="3915000" cy="823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015930948" name="Google Shape;83;p13"/>
          <p:cNvSpPr txBox="1">
            <a:spLocks noGrp="1"/>
          </p:cNvSpPr>
          <p:nvPr>
            <p:ph type="body" idx="1"/>
          </p:nvPr>
        </p:nvSpPr>
        <p:spPr bwMode="auto">
          <a:xfrm>
            <a:off x="260213" y="1905100"/>
            <a:ext cx="37470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8455088" name="Google Shape;84;p13"/>
          <p:cNvSpPr txBox="1"/>
          <p:nvPr/>
        </p:nvSpPr>
        <p:spPr bwMode="auto">
          <a:xfrm>
            <a:off x="6855645" y="4720540"/>
            <a:ext cx="1968300" cy="2739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defRPr/>
            </a:pPr>
            <a:r>
              <a:rPr lang="en" sz="800">
                <a:solidFill>
                  <a:srgbClr val="003B5C"/>
                </a:solidFill>
                <a:latin typeface="Arial"/>
                <a:ea typeface="Arial"/>
                <a:cs typeface="Arial"/>
              </a:rPr>
              <a:t>Presentation Title | </a:t>
            </a:r>
            <a:fld id="{00000000-1234-1234-1234-123412341234}" type="slidenum">
              <a:rPr lang="en" sz="800" b="1">
                <a:solidFill>
                  <a:srgbClr val="003B5C"/>
                </a:solidFill>
                <a:latin typeface="Arial"/>
                <a:ea typeface="Arial"/>
                <a:cs typeface="Arial"/>
              </a:rPr>
              <a:t>‹#›</a:t>
            </a:fld>
            <a:endParaRPr sz="800" b="1">
              <a:solidFill>
                <a:srgbClr val="003B5C"/>
              </a:solidFill>
              <a:latin typeface="Arial"/>
              <a:ea typeface="Arial"/>
              <a:cs typeface="Arial"/>
            </a:endParaRPr>
          </a:p>
        </p:txBody>
      </p:sp>
      <p:sp>
        <p:nvSpPr>
          <p:cNvPr id="2132651186" name="Google Shape;85;p13"/>
          <p:cNvSpPr>
            <a:spLocks noGrp="1"/>
          </p:cNvSpPr>
          <p:nvPr>
            <p:ph type="pic" idx="2"/>
          </p:nvPr>
        </p:nvSpPr>
        <p:spPr bwMode="auto">
          <a:xfrm>
            <a:off x="4451726" y="0"/>
            <a:ext cx="4692300" cy="5143500"/>
          </a:xfrm>
          <a:prstGeom prst="rect">
            <a:avLst/>
          </a:prstGeom>
          <a:noFill/>
          <a:ln>
            <a:noFill/>
          </a:ln>
        </p:spPr>
      </p:sp>
      <p:sp>
        <p:nvSpPr>
          <p:cNvPr id="1576475490" name="Google Shape;86;p13"/>
          <p:cNvSpPr txBox="1">
            <a:spLocks noGrp="1"/>
          </p:cNvSpPr>
          <p:nvPr>
            <p:ph type="body" idx="3"/>
          </p:nvPr>
        </p:nvSpPr>
        <p:spPr bwMode="auto">
          <a:xfrm>
            <a:off x="260213" y="1517622"/>
            <a:ext cx="3747000" cy="29610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None/>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939866446" name="Google Shape;87;p13"/>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PhAnim="0" matchingName="4_Title and Content" userDrawn="1">
  <p:cSld name="4_Title and Content">
    <p:spTree>
      <p:nvGrpSpPr>
        <p:cNvPr id="1" name=""/>
        <p:cNvGrpSpPr/>
        <p:nvPr/>
      </p:nvGrpSpPr>
      <p:grpSpPr bwMode="auto">
        <a:xfrm>
          <a:off x="0" y="0"/>
          <a:ext cx="0" cy="0"/>
          <a:chOff x="0" y="0"/>
          <a:chExt cx="0" cy="0"/>
        </a:xfrm>
      </p:grpSpPr>
      <p:pic>
        <p:nvPicPr>
          <p:cNvPr id="714106433" name="Google Shape;89;p14" descr="Template01-08.png"/>
          <p:cNvPicPr/>
          <p:nvPr/>
        </p:nvPicPr>
        <p:blipFill rotWithShape="1">
          <a:blip r:embed="rId2">
            <a:alphaModFix/>
          </a:blip>
          <a:srcRect/>
          <a:stretch/>
        </p:blipFill>
        <p:spPr bwMode="auto">
          <a:xfrm>
            <a:off x="342901" y="-14596"/>
            <a:ext cx="80450" cy="645796"/>
          </a:xfrm>
          <a:prstGeom prst="rect">
            <a:avLst/>
          </a:prstGeom>
          <a:noFill/>
          <a:ln>
            <a:noFill/>
          </a:ln>
        </p:spPr>
      </p:pic>
      <p:sp>
        <p:nvSpPr>
          <p:cNvPr id="782970555" name="Google Shape;90;p14"/>
          <p:cNvSpPr txBox="1">
            <a:spLocks noGrp="1"/>
          </p:cNvSpPr>
          <p:nvPr>
            <p:ph type="title"/>
          </p:nvPr>
        </p:nvSpPr>
        <p:spPr bwMode="auto">
          <a:xfrm>
            <a:off x="260226" y="344600"/>
            <a:ext cx="8531400" cy="823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715627525" name="Google Shape;91;p14"/>
          <p:cNvSpPr txBox="1">
            <a:spLocks noGrp="1"/>
          </p:cNvSpPr>
          <p:nvPr>
            <p:ph type="body" idx="1"/>
          </p:nvPr>
        </p:nvSpPr>
        <p:spPr bwMode="auto">
          <a:xfrm>
            <a:off x="260213" y="1905100"/>
            <a:ext cx="37470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582900905" name="Google Shape;92;p14"/>
          <p:cNvSpPr txBox="1"/>
          <p:nvPr/>
        </p:nvSpPr>
        <p:spPr bwMode="auto">
          <a:xfrm>
            <a:off x="6855645" y="4720540"/>
            <a:ext cx="1968300" cy="2739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defRPr/>
            </a:pPr>
            <a:r>
              <a:rPr lang="en" sz="800">
                <a:solidFill>
                  <a:srgbClr val="003B5C"/>
                </a:solidFill>
                <a:latin typeface="Arial"/>
                <a:ea typeface="Arial"/>
                <a:cs typeface="Arial"/>
              </a:rPr>
              <a:t>Presentation Title | </a:t>
            </a:r>
            <a:fld id="{00000000-1234-1234-1234-123412341234}" type="slidenum">
              <a:rPr lang="en" sz="800" b="1">
                <a:solidFill>
                  <a:srgbClr val="003B5C"/>
                </a:solidFill>
                <a:latin typeface="Arial"/>
                <a:ea typeface="Arial"/>
                <a:cs typeface="Arial"/>
              </a:rPr>
              <a:t>‹#›</a:t>
            </a:fld>
            <a:endParaRPr sz="800" b="1">
              <a:solidFill>
                <a:srgbClr val="003B5C"/>
              </a:solidFill>
              <a:latin typeface="Arial"/>
              <a:ea typeface="Arial"/>
              <a:cs typeface="Arial"/>
            </a:endParaRPr>
          </a:p>
        </p:txBody>
      </p:sp>
      <p:sp>
        <p:nvSpPr>
          <p:cNvPr id="1958442556" name="Google Shape;93;p14"/>
          <p:cNvSpPr>
            <a:spLocks noGrp="1"/>
          </p:cNvSpPr>
          <p:nvPr>
            <p:ph type="pic" idx="2"/>
          </p:nvPr>
        </p:nvSpPr>
        <p:spPr bwMode="auto">
          <a:xfrm>
            <a:off x="4496270" y="645795"/>
            <a:ext cx="4295400" cy="1740900"/>
          </a:xfrm>
          <a:prstGeom prst="rect">
            <a:avLst/>
          </a:prstGeom>
          <a:noFill/>
          <a:ln>
            <a:noFill/>
          </a:ln>
        </p:spPr>
      </p:sp>
      <p:sp>
        <p:nvSpPr>
          <p:cNvPr id="1505348435" name="Google Shape;94;p14"/>
          <p:cNvSpPr>
            <a:spLocks noGrp="1"/>
          </p:cNvSpPr>
          <p:nvPr>
            <p:ph type="pic" idx="3"/>
          </p:nvPr>
        </p:nvSpPr>
        <p:spPr bwMode="auto">
          <a:xfrm>
            <a:off x="4496270" y="2636138"/>
            <a:ext cx="4295400" cy="1740900"/>
          </a:xfrm>
          <a:prstGeom prst="rect">
            <a:avLst/>
          </a:prstGeom>
          <a:noFill/>
          <a:ln>
            <a:noFill/>
          </a:ln>
        </p:spPr>
      </p:sp>
      <p:sp>
        <p:nvSpPr>
          <p:cNvPr id="1172919112" name="Google Shape;95;p14"/>
          <p:cNvSpPr txBox="1">
            <a:spLocks noGrp="1"/>
          </p:cNvSpPr>
          <p:nvPr>
            <p:ph type="body" idx="4"/>
          </p:nvPr>
        </p:nvSpPr>
        <p:spPr bwMode="auto">
          <a:xfrm>
            <a:off x="260213" y="1517622"/>
            <a:ext cx="3747000" cy="29610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None/>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675268920" name="Google Shape;96;p14"/>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PhAnim="0" matchingName="1_Title and Content" userDrawn="1">
  <p:cSld name="1_Title and Content">
    <p:spTree>
      <p:nvGrpSpPr>
        <p:cNvPr id="1" name=""/>
        <p:cNvGrpSpPr/>
        <p:nvPr/>
      </p:nvGrpSpPr>
      <p:grpSpPr bwMode="auto">
        <a:xfrm>
          <a:off x="0" y="0"/>
          <a:ext cx="0" cy="0"/>
          <a:chOff x="0" y="0"/>
          <a:chExt cx="0" cy="0"/>
        </a:xfrm>
      </p:grpSpPr>
      <p:sp>
        <p:nvSpPr>
          <p:cNvPr id="1065606507" name="Google Shape;98;p15"/>
          <p:cNvSpPr txBox="1">
            <a:spLocks noGrp="1"/>
          </p:cNvSpPr>
          <p:nvPr>
            <p:ph type="title"/>
          </p:nvPr>
        </p:nvSpPr>
        <p:spPr bwMode="auto">
          <a:xfrm>
            <a:off x="260226" y="344600"/>
            <a:ext cx="8531400" cy="823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341233212" name="Google Shape;99;p15"/>
          <p:cNvSpPr txBox="1"/>
          <p:nvPr/>
        </p:nvSpPr>
        <p:spPr bwMode="auto">
          <a:xfrm>
            <a:off x="6855645" y="4720540"/>
            <a:ext cx="1968300" cy="2739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defRPr/>
            </a:pPr>
            <a:r>
              <a:rPr lang="en" sz="800">
                <a:solidFill>
                  <a:srgbClr val="003B5C"/>
                </a:solidFill>
                <a:latin typeface="Arial"/>
                <a:ea typeface="Arial"/>
                <a:cs typeface="Arial"/>
              </a:rPr>
              <a:t>Presentation Title | </a:t>
            </a:r>
            <a:fld id="{00000000-1234-1234-1234-123412341234}" type="slidenum">
              <a:rPr lang="en" sz="800" b="1">
                <a:solidFill>
                  <a:srgbClr val="003B5C"/>
                </a:solidFill>
                <a:latin typeface="Arial"/>
                <a:ea typeface="Arial"/>
                <a:cs typeface="Arial"/>
              </a:rPr>
              <a:t>‹#›</a:t>
            </a:fld>
            <a:endParaRPr sz="800" b="1">
              <a:solidFill>
                <a:srgbClr val="003B5C"/>
              </a:solidFill>
              <a:latin typeface="Arial"/>
              <a:ea typeface="Arial"/>
              <a:cs typeface="Arial"/>
            </a:endParaRPr>
          </a:p>
        </p:txBody>
      </p:sp>
      <p:pic>
        <p:nvPicPr>
          <p:cNvPr id="1603594189" name="Google Shape;100;p15" descr="Template01-08.png"/>
          <p:cNvPicPr/>
          <p:nvPr/>
        </p:nvPicPr>
        <p:blipFill rotWithShape="1">
          <a:blip r:embed="rId2">
            <a:alphaModFix/>
          </a:blip>
          <a:srcRect/>
          <a:stretch/>
        </p:blipFill>
        <p:spPr bwMode="auto">
          <a:xfrm>
            <a:off x="342901" y="0"/>
            <a:ext cx="80450" cy="645796"/>
          </a:xfrm>
          <a:prstGeom prst="rect">
            <a:avLst/>
          </a:prstGeom>
          <a:noFill/>
          <a:ln>
            <a:noFill/>
          </a:ln>
        </p:spPr>
      </p:pic>
      <p:sp>
        <p:nvSpPr>
          <p:cNvPr id="1554632056" name="Google Shape;101;p15"/>
          <p:cNvSpPr txBox="1">
            <a:spLocks noGrp="1"/>
          </p:cNvSpPr>
          <p:nvPr>
            <p:ph type="body" idx="1"/>
          </p:nvPr>
        </p:nvSpPr>
        <p:spPr bwMode="auto">
          <a:xfrm>
            <a:off x="260213" y="1517622"/>
            <a:ext cx="3747000" cy="29610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None/>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418956444" name="Google Shape;102;p15"/>
          <p:cNvSpPr txBox="1">
            <a:spLocks noGrp="1"/>
          </p:cNvSpPr>
          <p:nvPr>
            <p:ph type="body" idx="2"/>
          </p:nvPr>
        </p:nvSpPr>
        <p:spPr bwMode="auto">
          <a:xfrm>
            <a:off x="260213" y="1905100"/>
            <a:ext cx="25491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25056088" name="Google Shape;103;p15"/>
          <p:cNvSpPr txBox="1">
            <a:spLocks noGrp="1"/>
          </p:cNvSpPr>
          <p:nvPr>
            <p:ph type="body" idx="3"/>
          </p:nvPr>
        </p:nvSpPr>
        <p:spPr bwMode="auto">
          <a:xfrm>
            <a:off x="2954152" y="1905100"/>
            <a:ext cx="25491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042861225" name="Google Shape;104;p15"/>
          <p:cNvSpPr>
            <a:spLocks noGrp="1"/>
          </p:cNvSpPr>
          <p:nvPr>
            <p:ph type="pic" idx="4"/>
          </p:nvPr>
        </p:nvSpPr>
        <p:spPr bwMode="auto">
          <a:xfrm>
            <a:off x="4451726" y="0"/>
            <a:ext cx="4692300" cy="5143500"/>
          </a:xfrm>
          <a:prstGeom prst="rect">
            <a:avLst/>
          </a:prstGeom>
          <a:noFill/>
          <a:ln>
            <a:noFill/>
          </a:ln>
        </p:spPr>
      </p:sp>
      <p:sp>
        <p:nvSpPr>
          <p:cNvPr id="1217381291" name="Google Shape;105;p15"/>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PhAnim="0" matchingName="5_Title and Content" userDrawn="1">
  <p:cSld name="5_Title and Content">
    <p:spTree>
      <p:nvGrpSpPr>
        <p:cNvPr id="1" name=""/>
        <p:cNvGrpSpPr/>
        <p:nvPr/>
      </p:nvGrpSpPr>
      <p:grpSpPr bwMode="auto">
        <a:xfrm>
          <a:off x="0" y="0"/>
          <a:ext cx="0" cy="0"/>
          <a:chOff x="0" y="0"/>
          <a:chExt cx="0" cy="0"/>
        </a:xfrm>
      </p:grpSpPr>
      <p:sp>
        <p:nvSpPr>
          <p:cNvPr id="1625524421" name="Google Shape;107;p16"/>
          <p:cNvSpPr txBox="1">
            <a:spLocks noGrp="1"/>
          </p:cNvSpPr>
          <p:nvPr>
            <p:ph type="title"/>
          </p:nvPr>
        </p:nvSpPr>
        <p:spPr bwMode="auto">
          <a:xfrm>
            <a:off x="538636" y="9959"/>
            <a:ext cx="7901100" cy="823500"/>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Clr>
                <a:srgbClr val="003B5C"/>
              </a:buClr>
              <a:buSzPts val="2500"/>
              <a:buFont typeface="Montserrat Medium"/>
              <a:buNone/>
              <a:defRPr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84145043" name="Google Shape;108;p16"/>
          <p:cNvSpPr txBox="1"/>
          <p:nvPr/>
        </p:nvSpPr>
        <p:spPr bwMode="auto">
          <a:xfrm>
            <a:off x="7153613" y="4817014"/>
            <a:ext cx="1968300" cy="2739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defRPr/>
            </a:pPr>
            <a:fld id="{00000000-1234-1234-1234-123412341234}" type="slidenum">
              <a:rPr lang="en" sz="800" b="1">
                <a:solidFill>
                  <a:srgbClr val="003B5C"/>
                </a:solidFill>
                <a:latin typeface="Arial"/>
                <a:ea typeface="Arial"/>
                <a:cs typeface="Arial"/>
              </a:rPr>
              <a:t>‹#›</a:t>
            </a:fld>
            <a:endParaRPr sz="800" b="1">
              <a:solidFill>
                <a:srgbClr val="003B5C"/>
              </a:solidFill>
              <a:latin typeface="Arial"/>
              <a:ea typeface="Arial"/>
              <a:cs typeface="Arial"/>
            </a:endParaRPr>
          </a:p>
        </p:txBody>
      </p:sp>
      <p:pic>
        <p:nvPicPr>
          <p:cNvPr id="394419017" name="Google Shape;109;p16" descr="Template01-08.png"/>
          <p:cNvPicPr/>
          <p:nvPr/>
        </p:nvPicPr>
        <p:blipFill rotWithShape="1">
          <a:blip r:embed="rId2">
            <a:alphaModFix/>
          </a:blip>
          <a:srcRect/>
          <a:stretch/>
        </p:blipFill>
        <p:spPr bwMode="auto">
          <a:xfrm>
            <a:off x="342901" y="0"/>
            <a:ext cx="80450" cy="645796"/>
          </a:xfrm>
          <a:prstGeom prst="rect">
            <a:avLst/>
          </a:prstGeom>
          <a:noFill/>
          <a:ln>
            <a:noFill/>
          </a:ln>
        </p:spPr>
      </p:pic>
      <p:sp>
        <p:nvSpPr>
          <p:cNvPr id="642075377" name="Google Shape;110;p16"/>
          <p:cNvSpPr txBox="1">
            <a:spLocks noGrp="1"/>
          </p:cNvSpPr>
          <p:nvPr>
            <p:ph type="body" idx="1"/>
          </p:nvPr>
        </p:nvSpPr>
        <p:spPr bwMode="auto">
          <a:xfrm>
            <a:off x="260213" y="1517622"/>
            <a:ext cx="3747000" cy="29610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None/>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324985317" name="Google Shape;111;p16"/>
          <p:cNvSpPr txBox="1">
            <a:spLocks noGrp="1"/>
          </p:cNvSpPr>
          <p:nvPr>
            <p:ph type="body" idx="2"/>
          </p:nvPr>
        </p:nvSpPr>
        <p:spPr bwMode="auto">
          <a:xfrm>
            <a:off x="260212" y="1905100"/>
            <a:ext cx="41403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753788902" name="Google Shape;112;p16"/>
          <p:cNvSpPr txBox="1">
            <a:spLocks noGrp="1"/>
          </p:cNvSpPr>
          <p:nvPr>
            <p:ph type="body" idx="3"/>
          </p:nvPr>
        </p:nvSpPr>
        <p:spPr bwMode="auto">
          <a:xfrm>
            <a:off x="4557988" y="1905100"/>
            <a:ext cx="41403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109260145" name="Google Shape;113;p16"/>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PhAnim="0" matchingName="3_Title and Content" userDrawn="1">
  <p:cSld name="3_Title and Content">
    <p:spTree>
      <p:nvGrpSpPr>
        <p:cNvPr id="1" name=""/>
        <p:cNvGrpSpPr/>
        <p:nvPr/>
      </p:nvGrpSpPr>
      <p:grpSpPr bwMode="auto">
        <a:xfrm>
          <a:off x="0" y="0"/>
          <a:ext cx="0" cy="0"/>
          <a:chOff x="0" y="0"/>
          <a:chExt cx="0" cy="0"/>
        </a:xfrm>
      </p:grpSpPr>
      <p:sp>
        <p:nvSpPr>
          <p:cNvPr id="2144326135" name="Google Shape;115;p17"/>
          <p:cNvSpPr txBox="1">
            <a:spLocks noGrp="1"/>
          </p:cNvSpPr>
          <p:nvPr>
            <p:ph type="title"/>
          </p:nvPr>
        </p:nvSpPr>
        <p:spPr bwMode="auto">
          <a:xfrm>
            <a:off x="260226" y="344600"/>
            <a:ext cx="8531400" cy="823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35539466" name="Google Shape;116;p17"/>
          <p:cNvSpPr txBox="1">
            <a:spLocks noGrp="1"/>
          </p:cNvSpPr>
          <p:nvPr>
            <p:ph type="body" idx="1"/>
          </p:nvPr>
        </p:nvSpPr>
        <p:spPr bwMode="auto">
          <a:xfrm>
            <a:off x="260213" y="1905100"/>
            <a:ext cx="25491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075694140" name="Google Shape;117;p17"/>
          <p:cNvSpPr txBox="1"/>
          <p:nvPr/>
        </p:nvSpPr>
        <p:spPr bwMode="auto">
          <a:xfrm>
            <a:off x="6855645" y="4720540"/>
            <a:ext cx="1968300" cy="27390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defRPr/>
            </a:pPr>
            <a:r>
              <a:rPr lang="en" sz="800">
                <a:solidFill>
                  <a:srgbClr val="003B5C"/>
                </a:solidFill>
                <a:latin typeface="Arial"/>
                <a:ea typeface="Arial"/>
                <a:cs typeface="Arial"/>
              </a:rPr>
              <a:t>Presentation Title | </a:t>
            </a:r>
            <a:fld id="{00000000-1234-1234-1234-123412341234}" type="slidenum">
              <a:rPr lang="en" sz="800" b="1">
                <a:solidFill>
                  <a:srgbClr val="003B5C"/>
                </a:solidFill>
                <a:latin typeface="Arial"/>
                <a:ea typeface="Arial"/>
                <a:cs typeface="Arial"/>
              </a:rPr>
              <a:t>‹#›</a:t>
            </a:fld>
            <a:endParaRPr sz="800" b="1">
              <a:solidFill>
                <a:srgbClr val="003B5C"/>
              </a:solidFill>
              <a:latin typeface="Arial"/>
              <a:ea typeface="Arial"/>
              <a:cs typeface="Arial"/>
            </a:endParaRPr>
          </a:p>
        </p:txBody>
      </p:sp>
      <p:pic>
        <p:nvPicPr>
          <p:cNvPr id="532014782" name="Google Shape;118;p17" descr="Template01-08.png"/>
          <p:cNvPicPr/>
          <p:nvPr/>
        </p:nvPicPr>
        <p:blipFill rotWithShape="1">
          <a:blip r:embed="rId2">
            <a:alphaModFix/>
          </a:blip>
          <a:srcRect/>
          <a:stretch/>
        </p:blipFill>
        <p:spPr bwMode="auto">
          <a:xfrm>
            <a:off x="342901" y="0"/>
            <a:ext cx="80450" cy="645796"/>
          </a:xfrm>
          <a:prstGeom prst="rect">
            <a:avLst/>
          </a:prstGeom>
          <a:noFill/>
          <a:ln>
            <a:noFill/>
          </a:ln>
        </p:spPr>
      </p:pic>
      <p:sp>
        <p:nvSpPr>
          <p:cNvPr id="53889205" name="Google Shape;119;p17"/>
          <p:cNvSpPr>
            <a:spLocks noGrp="1"/>
          </p:cNvSpPr>
          <p:nvPr>
            <p:ph type="pic" idx="2"/>
          </p:nvPr>
        </p:nvSpPr>
        <p:spPr bwMode="auto">
          <a:xfrm>
            <a:off x="6357698" y="-14596"/>
            <a:ext cx="2786400" cy="5158200"/>
          </a:xfrm>
          <a:prstGeom prst="rect">
            <a:avLst/>
          </a:prstGeom>
          <a:noFill/>
          <a:ln>
            <a:noFill/>
          </a:ln>
        </p:spPr>
      </p:sp>
      <p:sp>
        <p:nvSpPr>
          <p:cNvPr id="1905512989" name="Google Shape;120;p17"/>
          <p:cNvSpPr txBox="1">
            <a:spLocks noGrp="1"/>
          </p:cNvSpPr>
          <p:nvPr>
            <p:ph type="body" idx="3"/>
          </p:nvPr>
        </p:nvSpPr>
        <p:spPr bwMode="auto">
          <a:xfrm>
            <a:off x="260213" y="1517622"/>
            <a:ext cx="3747000" cy="296100"/>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None/>
              <a:defRPr sz="1600"/>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280407599" name="Google Shape;121;p17"/>
          <p:cNvSpPr txBox="1">
            <a:spLocks noGrp="1"/>
          </p:cNvSpPr>
          <p:nvPr>
            <p:ph type="body" idx="4"/>
          </p:nvPr>
        </p:nvSpPr>
        <p:spPr bwMode="auto">
          <a:xfrm>
            <a:off x="2954152" y="1905100"/>
            <a:ext cx="2549100" cy="2475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025994282" name="Google Shape;122;p17"/>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defRPr>
            </a:lvl1pPr>
            <a:lvl2pPr lvl="1">
              <a:buNone/>
              <a:defRPr sz="1300">
                <a:solidFill>
                  <a:schemeClr val="dk1"/>
                </a:solidFill>
              </a:defRPr>
            </a:lvl2pPr>
            <a:lvl3pPr lvl="2">
              <a:buNone/>
              <a:defRPr sz="1300">
                <a:solidFill>
                  <a:schemeClr val="dk1"/>
                </a:solidFill>
              </a:defRPr>
            </a:lvl3pPr>
            <a:lvl4pPr lvl="3">
              <a:buNone/>
              <a:defRPr sz="1300">
                <a:solidFill>
                  <a:schemeClr val="dk1"/>
                </a:solidFill>
              </a:defRPr>
            </a:lvl4pPr>
            <a:lvl5pPr lvl="4">
              <a:buNone/>
              <a:defRPr sz="1300">
                <a:solidFill>
                  <a:schemeClr val="dk1"/>
                </a:solidFill>
              </a:defRPr>
            </a:lvl5pPr>
            <a:lvl6pPr lvl="5">
              <a:buNone/>
              <a:defRPr sz="1300">
                <a:solidFill>
                  <a:schemeClr val="dk1"/>
                </a:solidFill>
              </a:defRPr>
            </a:lvl6pPr>
            <a:lvl7pPr lvl="6">
              <a:buNone/>
              <a:defRPr sz="1300">
                <a:solidFill>
                  <a:schemeClr val="dk1"/>
                </a:solidFill>
              </a:defRPr>
            </a:lvl7pPr>
            <a:lvl8pPr lvl="7">
              <a:buNone/>
              <a:defRPr sz="1300">
                <a:solidFill>
                  <a:schemeClr val="dk1"/>
                </a:solidFill>
              </a:defRPr>
            </a:lvl8pPr>
            <a:lvl9pPr lvl="8">
              <a:buNone/>
              <a:defRPr sz="1300">
                <a:solidFill>
                  <a:schemeClr val="dk1"/>
                </a:solidFill>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PhAnim="0" matchingName="Custom Layout" userDrawn="1">
  <p:cSld name="Custom Layout">
    <p:spTree>
      <p:nvGrpSpPr>
        <p:cNvPr id="1" name=""/>
        <p:cNvGrpSpPr/>
        <p:nvPr/>
      </p:nvGrpSpPr>
      <p:grpSpPr bwMode="auto">
        <a:xfrm>
          <a:off x="0" y="0"/>
          <a:ext cx="0" cy="0"/>
          <a:chOff x="0" y="0"/>
          <a:chExt cx="0" cy="0"/>
        </a:xfrm>
      </p:grpSpPr>
      <p:sp>
        <p:nvSpPr>
          <p:cNvPr id="2029217876" name="Google Shape;124;p18"/>
          <p:cNvSpPr>
            <a:spLocks noGrp="1"/>
          </p:cNvSpPr>
          <p:nvPr>
            <p:ph type="pic" idx="2"/>
          </p:nvPr>
        </p:nvSpPr>
        <p:spPr bwMode="auto">
          <a:xfrm>
            <a:off x="0" y="-14596"/>
            <a:ext cx="9144000" cy="5158200"/>
          </a:xfrm>
          <a:prstGeom prst="rect">
            <a:avLst/>
          </a:prstGeom>
          <a:noFill/>
          <a:ln>
            <a:noFill/>
          </a:ln>
        </p:spPr>
      </p:sp>
      <p:sp>
        <p:nvSpPr>
          <p:cNvPr id="372347589" name="Google Shape;125;p18"/>
          <p:cNvSpPr txBox="1">
            <a:spLocks noGrp="1"/>
          </p:cNvSpPr>
          <p:nvPr>
            <p:ph type="sldNum" idx="12"/>
          </p:nvPr>
        </p:nvSpPr>
        <p:spPr bwMode="auto">
          <a:xfrm>
            <a:off x="6657975" y="4745735"/>
            <a:ext cx="21336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r>
              <a:rPr lang="en"/>
              <a:t>Presentation Title | </a:t>
            </a:r>
            <a:fld id="{00000000-1234-1234-1234-123412341234}" type="slidenum">
              <a:rPr lang="en" b="1"/>
              <a:t>‹#›</a:t>
            </a:fld>
            <a:endParaRPr b="1"/>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PhAnim="0" matchingName="Closing Slide" userDrawn="1">
  <p:cSld name="Closing Slide">
    <p:spTree>
      <p:nvGrpSpPr>
        <p:cNvPr id="1" name=""/>
        <p:cNvGrpSpPr/>
        <p:nvPr/>
      </p:nvGrpSpPr>
      <p:grpSpPr bwMode="auto">
        <a:xfrm>
          <a:off x="0" y="0"/>
          <a:ext cx="0" cy="0"/>
          <a:chOff x="0" y="0"/>
          <a:chExt cx="0" cy="0"/>
        </a:xfrm>
      </p:grpSpPr>
      <p:sp>
        <p:nvSpPr>
          <p:cNvPr id="403610302" name="Google Shape;127;p19"/>
          <p:cNvSpPr/>
          <p:nvPr/>
        </p:nvSpPr>
        <p:spPr bwMode="auto">
          <a:xfrm>
            <a:off x="0" y="0"/>
            <a:ext cx="9144000" cy="5160899"/>
          </a:xfrm>
          <a:prstGeom prst="rect">
            <a:avLst/>
          </a:prstGeom>
          <a:solidFill>
            <a:srgbClr val="042A4A"/>
          </a:solidFill>
          <a:ln w="9525" cap="flat" cmpd="sng">
            <a:solidFill>
              <a:srgbClr val="00395B"/>
            </a:solidFill>
            <a:prstDash val="solid"/>
            <a:round/>
            <a:headEnd type="none" w="sm" len="sm"/>
            <a:tailEnd type="none" w="sm" len="sm"/>
          </a:ln>
          <a:effectLst>
            <a:outerShdw blurRad="40000" dist="23000" dir="5400000" rotWithShape="0">
              <a:srgbClr val="000000">
                <a:alpha val="34902"/>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defRPr/>
            </a:pPr>
            <a:endParaRPr sz="1800">
              <a:solidFill>
                <a:srgbClr val="003B5C"/>
              </a:solidFill>
              <a:latin typeface="Arial"/>
              <a:ea typeface="Arial"/>
              <a:cs typeface="Arial"/>
            </a:endParaRPr>
          </a:p>
        </p:txBody>
      </p:sp>
      <p:pic>
        <p:nvPicPr>
          <p:cNvPr id="1716250514" name="Google Shape;128;p19" descr="03 Singapore University of Social Sciences_Horizontal Format_Version A_Blue Background_RGB-01.png"/>
          <p:cNvPicPr/>
          <p:nvPr/>
        </p:nvPicPr>
        <p:blipFill rotWithShape="1">
          <a:blip r:embed="rId2">
            <a:alphaModFix/>
          </a:blip>
          <a:srcRect/>
          <a:stretch/>
        </p:blipFill>
        <p:spPr bwMode="auto">
          <a:xfrm>
            <a:off x="351798" y="4365912"/>
            <a:ext cx="1116944" cy="558473"/>
          </a:xfrm>
          <a:prstGeom prst="rect">
            <a:avLst/>
          </a:prstGeom>
          <a:noFill/>
          <a:ln>
            <a:noFill/>
          </a:ln>
        </p:spPr>
      </p:pic>
      <p:sp>
        <p:nvSpPr>
          <p:cNvPr id="126168989" name="Google Shape;129;p19"/>
          <p:cNvSpPr txBox="1">
            <a:spLocks noGrp="1"/>
          </p:cNvSpPr>
          <p:nvPr>
            <p:ph type="sldNum" idx="12"/>
          </p:nvPr>
        </p:nvSpPr>
        <p:spPr bwMode="auto">
          <a:xfrm>
            <a:off x="6657975" y="4745735"/>
            <a:ext cx="21336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800" b="1">
                <a:solidFill>
                  <a:srgbClr val="FFFFFF"/>
                </a:solidFill>
                <a:latin typeface="Arial"/>
                <a:ea typeface="Arial"/>
                <a:cs typeface="Arial"/>
              </a:defRPr>
            </a:lvl1pPr>
            <a:lvl2pPr marL="0" lvl="1" indent="0" algn="r">
              <a:spcBef>
                <a:spcPts val="0"/>
              </a:spcBef>
              <a:buNone/>
              <a:defRPr sz="800" b="1">
                <a:solidFill>
                  <a:srgbClr val="FFFFFF"/>
                </a:solidFill>
                <a:latin typeface="Arial"/>
                <a:ea typeface="Arial"/>
                <a:cs typeface="Arial"/>
              </a:defRPr>
            </a:lvl2pPr>
            <a:lvl3pPr marL="0" lvl="2" indent="0" algn="r">
              <a:spcBef>
                <a:spcPts val="0"/>
              </a:spcBef>
              <a:buNone/>
              <a:defRPr sz="800" b="1">
                <a:solidFill>
                  <a:srgbClr val="FFFFFF"/>
                </a:solidFill>
                <a:latin typeface="Arial"/>
                <a:ea typeface="Arial"/>
                <a:cs typeface="Arial"/>
              </a:defRPr>
            </a:lvl3pPr>
            <a:lvl4pPr marL="0" lvl="3" indent="0" algn="r">
              <a:spcBef>
                <a:spcPts val="0"/>
              </a:spcBef>
              <a:buNone/>
              <a:defRPr sz="800" b="1">
                <a:solidFill>
                  <a:srgbClr val="FFFFFF"/>
                </a:solidFill>
                <a:latin typeface="Arial"/>
                <a:ea typeface="Arial"/>
                <a:cs typeface="Arial"/>
              </a:defRPr>
            </a:lvl4pPr>
            <a:lvl5pPr marL="0" lvl="4" indent="0" algn="r">
              <a:spcBef>
                <a:spcPts val="0"/>
              </a:spcBef>
              <a:buNone/>
              <a:defRPr sz="800" b="1">
                <a:solidFill>
                  <a:srgbClr val="FFFFFF"/>
                </a:solidFill>
                <a:latin typeface="Arial"/>
                <a:ea typeface="Arial"/>
                <a:cs typeface="Arial"/>
              </a:defRPr>
            </a:lvl5pPr>
            <a:lvl6pPr marL="0" lvl="5" indent="0" algn="r">
              <a:spcBef>
                <a:spcPts val="0"/>
              </a:spcBef>
              <a:buNone/>
              <a:defRPr sz="800" b="1">
                <a:solidFill>
                  <a:srgbClr val="FFFFFF"/>
                </a:solidFill>
                <a:latin typeface="Arial"/>
                <a:ea typeface="Arial"/>
                <a:cs typeface="Arial"/>
              </a:defRPr>
            </a:lvl6pPr>
            <a:lvl7pPr marL="0" lvl="6" indent="0" algn="r">
              <a:spcBef>
                <a:spcPts val="0"/>
              </a:spcBef>
              <a:buNone/>
              <a:defRPr sz="800" b="1">
                <a:solidFill>
                  <a:srgbClr val="FFFFFF"/>
                </a:solidFill>
                <a:latin typeface="Arial"/>
                <a:ea typeface="Arial"/>
                <a:cs typeface="Arial"/>
              </a:defRPr>
            </a:lvl7pPr>
            <a:lvl8pPr marL="0" lvl="7" indent="0" algn="r">
              <a:spcBef>
                <a:spcPts val="0"/>
              </a:spcBef>
              <a:buNone/>
              <a:defRPr sz="800" b="1">
                <a:solidFill>
                  <a:srgbClr val="FFFFFF"/>
                </a:solidFill>
                <a:latin typeface="Arial"/>
                <a:ea typeface="Arial"/>
                <a:cs typeface="Arial"/>
              </a:defRPr>
            </a:lvl8pPr>
            <a:lvl9pPr marL="0" lvl="8" indent="0" algn="r">
              <a:spcBef>
                <a:spcPts val="0"/>
              </a:spcBef>
              <a:buNone/>
              <a:defRPr sz="800" b="1">
                <a:solidFill>
                  <a:srgbClr val="FFFFFF"/>
                </a:solidFill>
                <a:latin typeface="Arial"/>
                <a:ea typeface="Arial"/>
                <a:cs typeface="Arial"/>
              </a:defRPr>
            </a:lvl9pPr>
          </a:lstStyle>
          <a:p>
            <a:pPr marL="0" lvl="0" indent="0" algn="r" rtl="0">
              <a:spcBef>
                <a:spcPts val="0"/>
              </a:spcBef>
              <a:spcAft>
                <a:spcPts val="0"/>
              </a:spcAft>
              <a:buNone/>
              <a:defRPr/>
            </a:pPr>
            <a:r>
              <a:rPr lang="en"/>
              <a:t>suss.edu.sg</a:t>
            </a:r>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PhAnim="0" matchingName="14_Title and Content" userDrawn="1">
  <p:cSld name="14_Title and Content">
    <p:spTree>
      <p:nvGrpSpPr>
        <p:cNvPr id="1" name=""/>
        <p:cNvGrpSpPr/>
        <p:nvPr/>
      </p:nvGrpSpPr>
      <p:grpSpPr bwMode="auto">
        <a:xfrm>
          <a:off x="0" y="0"/>
          <a:ext cx="0" cy="0"/>
          <a:chOff x="0" y="0"/>
          <a:chExt cx="0" cy="0"/>
        </a:xfrm>
      </p:grpSpPr>
      <p:sp>
        <p:nvSpPr>
          <p:cNvPr id="1948369872" name="Google Shape;131;p20"/>
          <p:cNvSpPr txBox="1">
            <a:spLocks noGrp="1"/>
          </p:cNvSpPr>
          <p:nvPr>
            <p:ph type="title"/>
          </p:nvPr>
        </p:nvSpPr>
        <p:spPr bwMode="auto">
          <a:xfrm>
            <a:off x="685800" y="28575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90018"/>
              </a:buClr>
              <a:buSzPts val="2100"/>
              <a:buFont typeface="Lucida Sans"/>
              <a:buNone/>
              <a:defRPr sz="21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735045834" name="Google Shape;132;p20"/>
          <p:cNvSpPr txBox="1">
            <a:spLocks noGrp="1"/>
          </p:cNvSpPr>
          <p:nvPr>
            <p:ph type="body" idx="1"/>
          </p:nvPr>
        </p:nvSpPr>
        <p:spPr bwMode="auto">
          <a:xfrm>
            <a:off x="685800" y="742950"/>
            <a:ext cx="7543800" cy="256500"/>
          </a:xfrm>
          <a:prstGeom prst="rect">
            <a:avLst/>
          </a:prstGeom>
          <a:noFill/>
          <a:ln>
            <a:noFill/>
          </a:ln>
        </p:spPr>
        <p:txBody>
          <a:bodyPr spcFirstLastPara="1" wrap="square" lIns="91425" tIns="45700" rIns="91425" bIns="45700" anchor="t" anchorCtr="0">
            <a:normAutofit/>
          </a:bodyPr>
          <a:lstStyle>
            <a:lvl1pPr marL="457200" lvl="0" indent="-228600" algn="l">
              <a:spcBef>
                <a:spcPts val="300"/>
              </a:spcBef>
              <a:spcAft>
                <a:spcPts val="0"/>
              </a:spcAft>
              <a:buClr>
                <a:srgbClr val="890018"/>
              </a:buClr>
              <a:buSzPts val="1500"/>
              <a:buNone/>
              <a:defRPr sz="1500" b="1">
                <a:solidFill>
                  <a:srgbClr val="890018"/>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21449963" name="Google Shape;133;p20"/>
          <p:cNvSpPr txBox="1">
            <a:spLocks noGrp="1"/>
          </p:cNvSpPr>
          <p:nvPr>
            <p:ph type="dt" idx="10"/>
          </p:nvPr>
        </p:nvSpPr>
        <p:spPr bwMode="auto">
          <a:xfrm>
            <a:off x="4644008" y="4904292"/>
            <a:ext cx="1905000" cy="2058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050">
                <a:solidFill>
                  <a:srgbClr val="0098ED"/>
                </a:solidFill>
                <a:latin typeface="Lucida Sans"/>
                <a:ea typeface="Lucida Sans"/>
                <a:cs typeface="Lucida San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92241802" name="Google Shape;134;p20"/>
          <p:cNvSpPr txBox="1">
            <a:spLocks noGrp="1"/>
          </p:cNvSpPr>
          <p:nvPr>
            <p:ph type="ftr" idx="11"/>
          </p:nvPr>
        </p:nvSpPr>
        <p:spPr bwMode="auto">
          <a:xfrm>
            <a:off x="35496" y="4904292"/>
            <a:ext cx="2895600" cy="2058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50">
                <a:solidFill>
                  <a:srgbClr val="0098ED"/>
                </a:solidFill>
                <a:latin typeface="Lucida Sans"/>
                <a:ea typeface="Lucida Sans"/>
                <a:cs typeface="Lucida San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2011195468" name="Google Shape;135;p20"/>
          <p:cNvSpPr txBox="1">
            <a:spLocks noGrp="1"/>
          </p:cNvSpPr>
          <p:nvPr>
            <p:ph type="sldNum" idx="12"/>
          </p:nvPr>
        </p:nvSpPr>
        <p:spPr bwMode="auto">
          <a:xfrm>
            <a:off x="6588224" y="4904292"/>
            <a:ext cx="457200" cy="2058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1050">
                <a:solidFill>
                  <a:srgbClr val="0098ED"/>
                </a:solidFill>
                <a:latin typeface="Lucida Sans"/>
                <a:ea typeface="Lucida Sans"/>
                <a:cs typeface="Lucida Sans"/>
              </a:defRPr>
            </a:lvl1pPr>
            <a:lvl2pPr marL="0" lvl="1" indent="0" algn="l">
              <a:spcBef>
                <a:spcPts val="0"/>
              </a:spcBef>
              <a:buNone/>
              <a:defRPr sz="1050">
                <a:solidFill>
                  <a:srgbClr val="0098ED"/>
                </a:solidFill>
                <a:latin typeface="Lucida Sans"/>
                <a:ea typeface="Lucida Sans"/>
                <a:cs typeface="Lucida Sans"/>
              </a:defRPr>
            </a:lvl2pPr>
            <a:lvl3pPr marL="0" lvl="2" indent="0" algn="l">
              <a:spcBef>
                <a:spcPts val="0"/>
              </a:spcBef>
              <a:buNone/>
              <a:defRPr sz="1050">
                <a:solidFill>
                  <a:srgbClr val="0098ED"/>
                </a:solidFill>
                <a:latin typeface="Lucida Sans"/>
                <a:ea typeface="Lucida Sans"/>
                <a:cs typeface="Lucida Sans"/>
              </a:defRPr>
            </a:lvl3pPr>
            <a:lvl4pPr marL="0" lvl="3" indent="0" algn="l">
              <a:spcBef>
                <a:spcPts val="0"/>
              </a:spcBef>
              <a:buNone/>
              <a:defRPr sz="1050">
                <a:solidFill>
                  <a:srgbClr val="0098ED"/>
                </a:solidFill>
                <a:latin typeface="Lucida Sans"/>
                <a:ea typeface="Lucida Sans"/>
                <a:cs typeface="Lucida Sans"/>
              </a:defRPr>
            </a:lvl4pPr>
            <a:lvl5pPr marL="0" lvl="4" indent="0" algn="l">
              <a:spcBef>
                <a:spcPts val="0"/>
              </a:spcBef>
              <a:buNone/>
              <a:defRPr sz="1050">
                <a:solidFill>
                  <a:srgbClr val="0098ED"/>
                </a:solidFill>
                <a:latin typeface="Lucida Sans"/>
                <a:ea typeface="Lucida Sans"/>
                <a:cs typeface="Lucida Sans"/>
              </a:defRPr>
            </a:lvl5pPr>
            <a:lvl6pPr marL="0" lvl="5" indent="0" algn="l">
              <a:spcBef>
                <a:spcPts val="0"/>
              </a:spcBef>
              <a:buNone/>
              <a:defRPr sz="1050">
                <a:solidFill>
                  <a:srgbClr val="0098ED"/>
                </a:solidFill>
                <a:latin typeface="Lucida Sans"/>
                <a:ea typeface="Lucida Sans"/>
                <a:cs typeface="Lucida Sans"/>
              </a:defRPr>
            </a:lvl6pPr>
            <a:lvl7pPr marL="0" lvl="6" indent="0" algn="l">
              <a:spcBef>
                <a:spcPts val="0"/>
              </a:spcBef>
              <a:buNone/>
              <a:defRPr sz="1050">
                <a:solidFill>
                  <a:srgbClr val="0098ED"/>
                </a:solidFill>
                <a:latin typeface="Lucida Sans"/>
                <a:ea typeface="Lucida Sans"/>
                <a:cs typeface="Lucida Sans"/>
              </a:defRPr>
            </a:lvl7pPr>
            <a:lvl8pPr marL="0" lvl="7" indent="0" algn="l">
              <a:spcBef>
                <a:spcPts val="0"/>
              </a:spcBef>
              <a:buNone/>
              <a:defRPr sz="1050">
                <a:solidFill>
                  <a:srgbClr val="0098ED"/>
                </a:solidFill>
                <a:latin typeface="Lucida Sans"/>
                <a:ea typeface="Lucida Sans"/>
                <a:cs typeface="Lucida Sans"/>
              </a:defRPr>
            </a:lvl8pPr>
            <a:lvl9pPr marL="0" lvl="8" indent="0" algn="l">
              <a:spcBef>
                <a:spcPts val="0"/>
              </a:spcBef>
              <a:buNone/>
              <a:defRPr sz="1050">
                <a:solidFill>
                  <a:srgbClr val="0098ED"/>
                </a:solidFill>
                <a:latin typeface="Lucida Sans"/>
                <a:ea typeface="Lucida Sans"/>
                <a:cs typeface="Lucida Sans"/>
              </a:defRPr>
            </a:lvl9pPr>
          </a:lstStyle>
          <a:p>
            <a:pPr marL="0" lvl="0" indent="0" algn="l"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PhAnim="0" matchingName="40_Title and Content" userDrawn="1">
  <p:cSld name="40_Title and Content">
    <p:spTree>
      <p:nvGrpSpPr>
        <p:cNvPr id="1" name=""/>
        <p:cNvGrpSpPr/>
        <p:nvPr/>
      </p:nvGrpSpPr>
      <p:grpSpPr bwMode="auto">
        <a:xfrm>
          <a:off x="0" y="0"/>
          <a:ext cx="0" cy="0"/>
          <a:chOff x="0" y="0"/>
          <a:chExt cx="0" cy="0"/>
        </a:xfrm>
      </p:grpSpPr>
      <p:sp>
        <p:nvSpPr>
          <p:cNvPr id="905048865" name="Google Shape;137;p21"/>
          <p:cNvSpPr txBox="1">
            <a:spLocks noGrp="1"/>
          </p:cNvSpPr>
          <p:nvPr>
            <p:ph type="title"/>
          </p:nvPr>
        </p:nvSpPr>
        <p:spPr bwMode="auto">
          <a:xfrm>
            <a:off x="685800" y="28575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90018"/>
              </a:buClr>
              <a:buSzPts val="2100"/>
              <a:buFont typeface="Lucida Sans"/>
              <a:buNone/>
              <a:defRPr sz="21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427061229" name="Google Shape;138;p21"/>
          <p:cNvSpPr txBox="1">
            <a:spLocks noGrp="1"/>
          </p:cNvSpPr>
          <p:nvPr>
            <p:ph type="body" idx="1"/>
          </p:nvPr>
        </p:nvSpPr>
        <p:spPr bwMode="auto">
          <a:xfrm>
            <a:off x="685800" y="742950"/>
            <a:ext cx="7543800" cy="256500"/>
          </a:xfrm>
          <a:prstGeom prst="rect">
            <a:avLst/>
          </a:prstGeom>
          <a:noFill/>
          <a:ln>
            <a:noFill/>
          </a:ln>
        </p:spPr>
        <p:txBody>
          <a:bodyPr spcFirstLastPara="1" wrap="square" lIns="91425" tIns="45700" rIns="91425" bIns="45700" anchor="t" anchorCtr="0">
            <a:normAutofit/>
          </a:bodyPr>
          <a:lstStyle>
            <a:lvl1pPr marL="457200" lvl="0" indent="-228600" algn="l">
              <a:spcBef>
                <a:spcPts val="300"/>
              </a:spcBef>
              <a:spcAft>
                <a:spcPts val="0"/>
              </a:spcAft>
              <a:buClr>
                <a:srgbClr val="890018"/>
              </a:buClr>
              <a:buSzPts val="1500"/>
              <a:buNone/>
              <a:defRPr sz="1500" b="1">
                <a:solidFill>
                  <a:srgbClr val="890018"/>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013789426" name="Google Shape;139;p21"/>
          <p:cNvSpPr txBox="1">
            <a:spLocks noGrp="1"/>
          </p:cNvSpPr>
          <p:nvPr>
            <p:ph type="dt" idx="10"/>
          </p:nvPr>
        </p:nvSpPr>
        <p:spPr bwMode="auto">
          <a:xfrm>
            <a:off x="4644008" y="4904292"/>
            <a:ext cx="1905000" cy="2058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050">
                <a:solidFill>
                  <a:srgbClr val="0098ED"/>
                </a:solidFill>
                <a:latin typeface="Lucida Sans"/>
                <a:ea typeface="Lucida Sans"/>
                <a:cs typeface="Lucida San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196388825" name="Google Shape;140;p21"/>
          <p:cNvSpPr txBox="1">
            <a:spLocks noGrp="1"/>
          </p:cNvSpPr>
          <p:nvPr>
            <p:ph type="ftr" idx="11"/>
          </p:nvPr>
        </p:nvSpPr>
        <p:spPr bwMode="auto">
          <a:xfrm>
            <a:off x="35496" y="4904292"/>
            <a:ext cx="2895600" cy="2058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050">
                <a:solidFill>
                  <a:srgbClr val="0098ED"/>
                </a:solidFill>
                <a:latin typeface="Lucida Sans"/>
                <a:ea typeface="Lucida Sans"/>
                <a:cs typeface="Lucida Sans"/>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1937280442" name="Google Shape;141;p21"/>
          <p:cNvSpPr txBox="1">
            <a:spLocks noGrp="1"/>
          </p:cNvSpPr>
          <p:nvPr>
            <p:ph type="sldNum" idx="12"/>
          </p:nvPr>
        </p:nvSpPr>
        <p:spPr bwMode="auto">
          <a:xfrm>
            <a:off x="6588224" y="4904292"/>
            <a:ext cx="457200" cy="205800"/>
          </a:xfrm>
          <a:prstGeom prst="rect">
            <a:avLst/>
          </a:prstGeom>
          <a:noFill/>
          <a:ln>
            <a:noFill/>
          </a:ln>
        </p:spPr>
        <p:txBody>
          <a:bodyPr spcFirstLastPara="1" wrap="square" lIns="91425" tIns="45700" rIns="91425" bIns="45700" anchor="t" anchorCtr="0">
            <a:noAutofit/>
          </a:bodyPr>
          <a:lstStyle>
            <a:lvl1pPr marL="0" lvl="0" indent="0" algn="l">
              <a:spcBef>
                <a:spcPts val="0"/>
              </a:spcBef>
              <a:buNone/>
              <a:defRPr sz="1050">
                <a:solidFill>
                  <a:srgbClr val="0098ED"/>
                </a:solidFill>
                <a:latin typeface="Lucida Sans"/>
                <a:ea typeface="Lucida Sans"/>
                <a:cs typeface="Lucida Sans"/>
              </a:defRPr>
            </a:lvl1pPr>
            <a:lvl2pPr marL="0" lvl="1" indent="0" algn="l">
              <a:spcBef>
                <a:spcPts val="0"/>
              </a:spcBef>
              <a:buNone/>
              <a:defRPr sz="1050">
                <a:solidFill>
                  <a:srgbClr val="0098ED"/>
                </a:solidFill>
                <a:latin typeface="Lucida Sans"/>
                <a:ea typeface="Lucida Sans"/>
                <a:cs typeface="Lucida Sans"/>
              </a:defRPr>
            </a:lvl2pPr>
            <a:lvl3pPr marL="0" lvl="2" indent="0" algn="l">
              <a:spcBef>
                <a:spcPts val="0"/>
              </a:spcBef>
              <a:buNone/>
              <a:defRPr sz="1050">
                <a:solidFill>
                  <a:srgbClr val="0098ED"/>
                </a:solidFill>
                <a:latin typeface="Lucida Sans"/>
                <a:ea typeface="Lucida Sans"/>
                <a:cs typeface="Lucida Sans"/>
              </a:defRPr>
            </a:lvl3pPr>
            <a:lvl4pPr marL="0" lvl="3" indent="0" algn="l">
              <a:spcBef>
                <a:spcPts val="0"/>
              </a:spcBef>
              <a:buNone/>
              <a:defRPr sz="1050">
                <a:solidFill>
                  <a:srgbClr val="0098ED"/>
                </a:solidFill>
                <a:latin typeface="Lucida Sans"/>
                <a:ea typeface="Lucida Sans"/>
                <a:cs typeface="Lucida Sans"/>
              </a:defRPr>
            </a:lvl4pPr>
            <a:lvl5pPr marL="0" lvl="4" indent="0" algn="l">
              <a:spcBef>
                <a:spcPts val="0"/>
              </a:spcBef>
              <a:buNone/>
              <a:defRPr sz="1050">
                <a:solidFill>
                  <a:srgbClr val="0098ED"/>
                </a:solidFill>
                <a:latin typeface="Lucida Sans"/>
                <a:ea typeface="Lucida Sans"/>
                <a:cs typeface="Lucida Sans"/>
              </a:defRPr>
            </a:lvl5pPr>
            <a:lvl6pPr marL="0" lvl="5" indent="0" algn="l">
              <a:spcBef>
                <a:spcPts val="0"/>
              </a:spcBef>
              <a:buNone/>
              <a:defRPr sz="1050">
                <a:solidFill>
                  <a:srgbClr val="0098ED"/>
                </a:solidFill>
                <a:latin typeface="Lucida Sans"/>
                <a:ea typeface="Lucida Sans"/>
                <a:cs typeface="Lucida Sans"/>
              </a:defRPr>
            </a:lvl6pPr>
            <a:lvl7pPr marL="0" lvl="6" indent="0" algn="l">
              <a:spcBef>
                <a:spcPts val="0"/>
              </a:spcBef>
              <a:buNone/>
              <a:defRPr sz="1050">
                <a:solidFill>
                  <a:srgbClr val="0098ED"/>
                </a:solidFill>
                <a:latin typeface="Lucida Sans"/>
                <a:ea typeface="Lucida Sans"/>
                <a:cs typeface="Lucida Sans"/>
              </a:defRPr>
            </a:lvl7pPr>
            <a:lvl8pPr marL="0" lvl="7" indent="0" algn="l">
              <a:spcBef>
                <a:spcPts val="0"/>
              </a:spcBef>
              <a:buNone/>
              <a:defRPr sz="1050">
                <a:solidFill>
                  <a:srgbClr val="0098ED"/>
                </a:solidFill>
                <a:latin typeface="Lucida Sans"/>
                <a:ea typeface="Lucida Sans"/>
                <a:cs typeface="Lucida Sans"/>
              </a:defRPr>
            </a:lvl8pPr>
            <a:lvl9pPr marL="0" lvl="8" indent="0" algn="l">
              <a:spcBef>
                <a:spcPts val="0"/>
              </a:spcBef>
              <a:buNone/>
              <a:defRPr sz="1050">
                <a:solidFill>
                  <a:srgbClr val="0098ED"/>
                </a:solidFill>
                <a:latin typeface="Lucida Sans"/>
                <a:ea typeface="Lucida Sans"/>
                <a:cs typeface="Lucida Sans"/>
              </a:defRPr>
            </a:lvl9pPr>
          </a:lstStyle>
          <a:p>
            <a:pPr marL="0" lvl="0" indent="0" algn="l"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PhAnim="0" matchingName="41_Title and Content" userDrawn="1">
  <p:cSld name="41_Title and Content">
    <p:spTree>
      <p:nvGrpSpPr>
        <p:cNvPr id="1" name=""/>
        <p:cNvGrpSpPr/>
        <p:nvPr/>
      </p:nvGrpSpPr>
      <p:grpSpPr bwMode="auto">
        <a:xfrm>
          <a:off x="0" y="0"/>
          <a:ext cx="0" cy="0"/>
          <a:chOff x="0" y="0"/>
          <a:chExt cx="0" cy="0"/>
        </a:xfrm>
      </p:grpSpPr>
      <p:sp>
        <p:nvSpPr>
          <p:cNvPr id="1138040432" name="Google Shape;143;p22"/>
          <p:cNvSpPr txBox="1">
            <a:spLocks noGrp="1"/>
          </p:cNvSpPr>
          <p:nvPr>
            <p:ph type="title"/>
          </p:nvPr>
        </p:nvSpPr>
        <p:spPr bwMode="auto">
          <a:xfrm>
            <a:off x="685800" y="28575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90018"/>
              </a:buClr>
              <a:buSzPts val="1800"/>
              <a:buFont typeface="Lucida Sans"/>
              <a:buNone/>
              <a:defRPr sz="18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649451678" name="Google Shape;144;p22"/>
          <p:cNvSpPr txBox="1">
            <a:spLocks noGrp="1"/>
          </p:cNvSpPr>
          <p:nvPr>
            <p:ph type="body" idx="1"/>
          </p:nvPr>
        </p:nvSpPr>
        <p:spPr bwMode="auto">
          <a:xfrm>
            <a:off x="685800" y="742950"/>
            <a:ext cx="7543800" cy="228600"/>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rgbClr val="890018"/>
              </a:buClr>
              <a:buSzPts val="1200"/>
              <a:buNone/>
              <a:defRPr sz="1200" b="1">
                <a:solidFill>
                  <a:srgbClr val="890018"/>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163083204" name="Google Shape;145;p22"/>
          <p:cNvSpPr txBox="1">
            <a:spLocks noGrp="1"/>
          </p:cNvSpPr>
          <p:nvPr>
            <p:ph type="body" idx="2"/>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rgbClr val="474B55"/>
              </a:buClr>
              <a:buSzPts val="1200"/>
              <a:buNone/>
              <a:defRPr sz="1200">
                <a:solidFill>
                  <a:srgbClr val="474B55"/>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912123169" name="Google Shape;146;p22"/>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rgbClr val="890018"/>
                </a:solidFill>
                <a:latin typeface="Lucida Sans"/>
                <a:ea typeface="Lucida Sans"/>
                <a:cs typeface="Lucida Sans"/>
              </a:defRPr>
            </a:lvl1pPr>
            <a:lvl2pPr lvl="1">
              <a:buNone/>
              <a:defRPr sz="1300">
                <a:solidFill>
                  <a:srgbClr val="890018"/>
                </a:solidFill>
                <a:latin typeface="Lucida Sans"/>
                <a:ea typeface="Lucida Sans"/>
                <a:cs typeface="Lucida Sans"/>
              </a:defRPr>
            </a:lvl2pPr>
            <a:lvl3pPr lvl="2">
              <a:buNone/>
              <a:defRPr sz="1300">
                <a:solidFill>
                  <a:srgbClr val="890018"/>
                </a:solidFill>
                <a:latin typeface="Lucida Sans"/>
                <a:ea typeface="Lucida Sans"/>
                <a:cs typeface="Lucida Sans"/>
              </a:defRPr>
            </a:lvl3pPr>
            <a:lvl4pPr lvl="3">
              <a:buNone/>
              <a:defRPr sz="1300">
                <a:solidFill>
                  <a:srgbClr val="890018"/>
                </a:solidFill>
                <a:latin typeface="Lucida Sans"/>
                <a:ea typeface="Lucida Sans"/>
                <a:cs typeface="Lucida Sans"/>
              </a:defRPr>
            </a:lvl4pPr>
            <a:lvl5pPr lvl="4">
              <a:buNone/>
              <a:defRPr sz="1300">
                <a:solidFill>
                  <a:srgbClr val="890018"/>
                </a:solidFill>
                <a:latin typeface="Lucida Sans"/>
                <a:ea typeface="Lucida Sans"/>
                <a:cs typeface="Lucida Sans"/>
              </a:defRPr>
            </a:lvl5pPr>
            <a:lvl6pPr lvl="5">
              <a:buNone/>
              <a:defRPr sz="1300">
                <a:solidFill>
                  <a:srgbClr val="890018"/>
                </a:solidFill>
                <a:latin typeface="Lucida Sans"/>
                <a:ea typeface="Lucida Sans"/>
                <a:cs typeface="Lucida Sans"/>
              </a:defRPr>
            </a:lvl6pPr>
            <a:lvl7pPr lvl="6">
              <a:buNone/>
              <a:defRPr sz="1300">
                <a:solidFill>
                  <a:srgbClr val="890018"/>
                </a:solidFill>
                <a:latin typeface="Lucida Sans"/>
                <a:ea typeface="Lucida Sans"/>
                <a:cs typeface="Lucida Sans"/>
              </a:defRPr>
            </a:lvl7pPr>
            <a:lvl8pPr lvl="7">
              <a:buNone/>
              <a:defRPr sz="1300">
                <a:solidFill>
                  <a:srgbClr val="890018"/>
                </a:solidFill>
                <a:latin typeface="Lucida Sans"/>
                <a:ea typeface="Lucida Sans"/>
                <a:cs typeface="Lucida Sans"/>
              </a:defRPr>
            </a:lvl8pPr>
            <a:lvl9pPr lvl="8">
              <a:buNone/>
              <a:defRPr sz="1300">
                <a:solidFill>
                  <a:srgbClr val="890018"/>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PhAnim="0" matchingName="42_Title and Content" userDrawn="1">
  <p:cSld name="42_Title and Content">
    <p:spTree>
      <p:nvGrpSpPr>
        <p:cNvPr id="1" name=""/>
        <p:cNvGrpSpPr/>
        <p:nvPr/>
      </p:nvGrpSpPr>
      <p:grpSpPr bwMode="auto">
        <a:xfrm>
          <a:off x="0" y="0"/>
          <a:ext cx="0" cy="0"/>
          <a:chOff x="0" y="0"/>
          <a:chExt cx="0" cy="0"/>
        </a:xfrm>
      </p:grpSpPr>
      <p:sp>
        <p:nvSpPr>
          <p:cNvPr id="1855136026" name="Google Shape;148;p23"/>
          <p:cNvSpPr txBox="1">
            <a:spLocks noGrp="1"/>
          </p:cNvSpPr>
          <p:nvPr>
            <p:ph type="title"/>
          </p:nvPr>
        </p:nvSpPr>
        <p:spPr bwMode="auto">
          <a:xfrm>
            <a:off x="685800" y="28575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90018"/>
              </a:buClr>
              <a:buSzPts val="1800"/>
              <a:buFont typeface="Lucida Sans"/>
              <a:buNone/>
              <a:defRPr sz="18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316306545" name="Google Shape;149;p23"/>
          <p:cNvSpPr txBox="1">
            <a:spLocks noGrp="1"/>
          </p:cNvSpPr>
          <p:nvPr>
            <p:ph type="body" idx="1"/>
          </p:nvPr>
        </p:nvSpPr>
        <p:spPr bwMode="auto">
          <a:xfrm>
            <a:off x="685800" y="742950"/>
            <a:ext cx="7543800" cy="228600"/>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rgbClr val="890018"/>
              </a:buClr>
              <a:buSzPts val="1200"/>
              <a:buNone/>
              <a:defRPr sz="1200" b="1">
                <a:solidFill>
                  <a:srgbClr val="890018"/>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024195745" name="Google Shape;150;p23"/>
          <p:cNvSpPr txBox="1">
            <a:spLocks noGrp="1"/>
          </p:cNvSpPr>
          <p:nvPr>
            <p:ph type="body" idx="2"/>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rgbClr val="474B55"/>
              </a:buClr>
              <a:buSzPts val="1200"/>
              <a:buNone/>
              <a:defRPr sz="1200">
                <a:solidFill>
                  <a:srgbClr val="474B55"/>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480570531" name="Google Shape;151;p23"/>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rgbClr val="890018"/>
                </a:solidFill>
                <a:latin typeface="Lucida Sans"/>
                <a:ea typeface="Lucida Sans"/>
                <a:cs typeface="Lucida Sans"/>
              </a:defRPr>
            </a:lvl1pPr>
            <a:lvl2pPr lvl="1">
              <a:buNone/>
              <a:defRPr sz="1300">
                <a:solidFill>
                  <a:srgbClr val="890018"/>
                </a:solidFill>
                <a:latin typeface="Lucida Sans"/>
                <a:ea typeface="Lucida Sans"/>
                <a:cs typeface="Lucida Sans"/>
              </a:defRPr>
            </a:lvl2pPr>
            <a:lvl3pPr lvl="2">
              <a:buNone/>
              <a:defRPr sz="1300">
                <a:solidFill>
                  <a:srgbClr val="890018"/>
                </a:solidFill>
                <a:latin typeface="Lucida Sans"/>
                <a:ea typeface="Lucida Sans"/>
                <a:cs typeface="Lucida Sans"/>
              </a:defRPr>
            </a:lvl3pPr>
            <a:lvl4pPr lvl="3">
              <a:buNone/>
              <a:defRPr sz="1300">
                <a:solidFill>
                  <a:srgbClr val="890018"/>
                </a:solidFill>
                <a:latin typeface="Lucida Sans"/>
                <a:ea typeface="Lucida Sans"/>
                <a:cs typeface="Lucida Sans"/>
              </a:defRPr>
            </a:lvl4pPr>
            <a:lvl5pPr lvl="4">
              <a:buNone/>
              <a:defRPr sz="1300">
                <a:solidFill>
                  <a:srgbClr val="890018"/>
                </a:solidFill>
                <a:latin typeface="Lucida Sans"/>
                <a:ea typeface="Lucida Sans"/>
                <a:cs typeface="Lucida Sans"/>
              </a:defRPr>
            </a:lvl5pPr>
            <a:lvl6pPr lvl="5">
              <a:buNone/>
              <a:defRPr sz="1300">
                <a:solidFill>
                  <a:srgbClr val="890018"/>
                </a:solidFill>
                <a:latin typeface="Lucida Sans"/>
                <a:ea typeface="Lucida Sans"/>
                <a:cs typeface="Lucida Sans"/>
              </a:defRPr>
            </a:lvl6pPr>
            <a:lvl7pPr lvl="6">
              <a:buNone/>
              <a:defRPr sz="1300">
                <a:solidFill>
                  <a:srgbClr val="890018"/>
                </a:solidFill>
                <a:latin typeface="Lucida Sans"/>
                <a:ea typeface="Lucida Sans"/>
                <a:cs typeface="Lucida Sans"/>
              </a:defRPr>
            </a:lvl7pPr>
            <a:lvl8pPr lvl="7">
              <a:buNone/>
              <a:defRPr sz="1300">
                <a:solidFill>
                  <a:srgbClr val="890018"/>
                </a:solidFill>
                <a:latin typeface="Lucida Sans"/>
                <a:ea typeface="Lucida Sans"/>
                <a:cs typeface="Lucida Sans"/>
              </a:defRPr>
            </a:lvl8pPr>
            <a:lvl9pPr lvl="8">
              <a:buNone/>
              <a:defRPr sz="1300">
                <a:solidFill>
                  <a:srgbClr val="890018"/>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PhAnim="0" matchingName="43_Title and Content" type="obj" userDrawn="1">
  <p:cSld name="OBJECT">
    <p:spTree>
      <p:nvGrpSpPr>
        <p:cNvPr id="1" name=""/>
        <p:cNvGrpSpPr/>
        <p:nvPr/>
      </p:nvGrpSpPr>
      <p:grpSpPr bwMode="auto">
        <a:xfrm>
          <a:off x="0" y="0"/>
          <a:ext cx="0" cy="0"/>
          <a:chOff x="0" y="0"/>
          <a:chExt cx="0" cy="0"/>
        </a:xfrm>
      </p:grpSpPr>
      <p:sp>
        <p:nvSpPr>
          <p:cNvPr id="2146823199" name="Google Shape;153;p24"/>
          <p:cNvSpPr txBox="1">
            <a:spLocks noGrp="1"/>
          </p:cNvSpPr>
          <p:nvPr>
            <p:ph type="title"/>
          </p:nvPr>
        </p:nvSpPr>
        <p:spPr bwMode="auto">
          <a:xfrm>
            <a:off x="260226" y="344600"/>
            <a:ext cx="8531400" cy="8235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003B5C"/>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383940743" name="Google Shape;154;p24"/>
          <p:cNvSpPr txBox="1">
            <a:spLocks noGrp="1"/>
          </p:cNvSpPr>
          <p:nvPr>
            <p:ph type="body" idx="1"/>
          </p:nvPr>
        </p:nvSpPr>
        <p:spPr bwMode="auto">
          <a:xfrm>
            <a:off x="260225" y="1244725"/>
            <a:ext cx="8531400" cy="3013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836047588" name="Google Shape;155;p24"/>
          <p:cNvSpPr txBox="1">
            <a:spLocks noGrp="1"/>
          </p:cNvSpPr>
          <p:nvPr>
            <p:ph type="dt" idx="10"/>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524650945" name="Google Shape;156;p24"/>
          <p:cNvSpPr txBox="1">
            <a:spLocks noGrp="1"/>
          </p:cNvSpPr>
          <p:nvPr>
            <p:ph type="ftr" idx="11"/>
          </p:nvPr>
        </p:nvSpPr>
        <p:spPr bwMode="auto">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Arial"/>
                <a:ea typeface="Arial"/>
                <a:cs typeface="Arial"/>
              </a:defRPr>
            </a:lvl1pPr>
            <a:lvl2pPr marR="0" lvl="1" algn="l" rtl="0">
              <a:spcBef>
                <a:spcPts val="0"/>
              </a:spcBef>
              <a:spcAft>
                <a:spcPts val="0"/>
              </a:spcAft>
              <a:buSzPts val="1400"/>
              <a:buNone/>
              <a:defRPr sz="1800" b="0" i="0" u="none" strike="noStrike" cap="none">
                <a:solidFill>
                  <a:schemeClr val="dk1"/>
                </a:solidFill>
                <a:latin typeface="Arial"/>
                <a:ea typeface="Arial"/>
                <a:cs typeface="Arial"/>
              </a:defRPr>
            </a:lvl2pPr>
            <a:lvl3pPr marR="0" lvl="2" algn="l" rtl="0">
              <a:spcBef>
                <a:spcPts val="0"/>
              </a:spcBef>
              <a:spcAft>
                <a:spcPts val="0"/>
              </a:spcAft>
              <a:buSzPts val="1400"/>
              <a:buNone/>
              <a:defRPr sz="1800" b="0" i="0" u="none" strike="noStrike" cap="none">
                <a:solidFill>
                  <a:schemeClr val="dk1"/>
                </a:solidFill>
                <a:latin typeface="Arial"/>
                <a:ea typeface="Arial"/>
                <a:cs typeface="Arial"/>
              </a:defRPr>
            </a:lvl3pPr>
            <a:lvl4pPr marR="0" lvl="3" algn="l" rtl="0">
              <a:spcBef>
                <a:spcPts val="0"/>
              </a:spcBef>
              <a:spcAft>
                <a:spcPts val="0"/>
              </a:spcAft>
              <a:buSzPts val="1400"/>
              <a:buNone/>
              <a:defRPr sz="1800" b="0" i="0" u="none" strike="noStrike" cap="none">
                <a:solidFill>
                  <a:schemeClr val="dk1"/>
                </a:solidFill>
                <a:latin typeface="Arial"/>
                <a:ea typeface="Arial"/>
                <a:cs typeface="Arial"/>
              </a:defRPr>
            </a:lvl4pPr>
            <a:lvl5pPr marR="0" lvl="4" algn="l" rtl="0">
              <a:spcBef>
                <a:spcPts val="0"/>
              </a:spcBef>
              <a:spcAft>
                <a:spcPts val="0"/>
              </a:spcAft>
              <a:buSzPts val="1400"/>
              <a:buNone/>
              <a:defRPr sz="1800" b="0" i="0" u="none" strike="noStrike" cap="none">
                <a:solidFill>
                  <a:schemeClr val="dk1"/>
                </a:solidFill>
                <a:latin typeface="Arial"/>
                <a:ea typeface="Arial"/>
                <a:cs typeface="Arial"/>
              </a:defRPr>
            </a:lvl5pPr>
            <a:lvl6pPr marR="0" lvl="5" algn="l" rtl="0">
              <a:spcBef>
                <a:spcPts val="0"/>
              </a:spcBef>
              <a:spcAft>
                <a:spcPts val="0"/>
              </a:spcAft>
              <a:buSzPts val="1400"/>
              <a:buNone/>
              <a:defRPr sz="1800" b="0" i="0" u="none" strike="noStrike" cap="none">
                <a:solidFill>
                  <a:schemeClr val="dk1"/>
                </a:solidFill>
                <a:latin typeface="Arial"/>
                <a:ea typeface="Arial"/>
                <a:cs typeface="Arial"/>
              </a:defRPr>
            </a:lvl6pPr>
            <a:lvl7pPr marR="0" lvl="6" algn="l" rtl="0">
              <a:spcBef>
                <a:spcPts val="0"/>
              </a:spcBef>
              <a:spcAft>
                <a:spcPts val="0"/>
              </a:spcAft>
              <a:buSzPts val="1400"/>
              <a:buNone/>
              <a:defRPr sz="1800" b="0" i="0" u="none" strike="noStrike" cap="none">
                <a:solidFill>
                  <a:schemeClr val="dk1"/>
                </a:solidFill>
                <a:latin typeface="Arial"/>
                <a:ea typeface="Arial"/>
                <a:cs typeface="Arial"/>
              </a:defRPr>
            </a:lvl7pPr>
            <a:lvl8pPr marR="0" lvl="7" algn="l" rtl="0">
              <a:spcBef>
                <a:spcPts val="0"/>
              </a:spcBef>
              <a:spcAft>
                <a:spcPts val="0"/>
              </a:spcAft>
              <a:buSzPts val="1400"/>
              <a:buNone/>
              <a:defRPr sz="1800" b="0" i="0" u="none" strike="noStrike" cap="none">
                <a:solidFill>
                  <a:schemeClr val="dk1"/>
                </a:solidFill>
                <a:latin typeface="Arial"/>
                <a:ea typeface="Arial"/>
                <a:cs typeface="Arial"/>
              </a:defRPr>
            </a:lvl8pPr>
            <a:lvl9pPr marR="0" lvl="8" algn="l" rtl="0">
              <a:spcBef>
                <a:spcPts val="0"/>
              </a:spcBef>
              <a:spcAft>
                <a:spcPts val="0"/>
              </a:spcAft>
              <a:buSzPts val="1400"/>
              <a:buNone/>
              <a:defRPr sz="1800" b="0" i="0" u="none" strike="noStrike" cap="none">
                <a:solidFill>
                  <a:schemeClr val="dk1"/>
                </a:solidFill>
                <a:latin typeface="Arial"/>
                <a:ea typeface="Arial"/>
                <a:cs typeface="Arial"/>
              </a:defRPr>
            </a:lvl9pPr>
          </a:lstStyle>
          <a:p>
            <a:pPr>
              <a:defRPr/>
            </a:pPr>
            <a:endParaRPr/>
          </a:p>
        </p:txBody>
      </p:sp>
      <p:sp>
        <p:nvSpPr>
          <p:cNvPr id="719362678" name="Google Shape;157;p24"/>
          <p:cNvSpPr txBox="1">
            <a:spLocks noGrp="1"/>
          </p:cNvSpPr>
          <p:nvPr>
            <p:ph type="sldNum" idx="12"/>
          </p:nvPr>
        </p:nvSpPr>
        <p:spPr bwMode="auto">
          <a:xfrm>
            <a:off x="6657975" y="4745735"/>
            <a:ext cx="2133600" cy="273900"/>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PhAnim="0" matchingName="50_Title and Content" userDrawn="1">
  <p:cSld name="50_Title and Content">
    <p:spTree>
      <p:nvGrpSpPr>
        <p:cNvPr id="1" name=""/>
        <p:cNvGrpSpPr/>
        <p:nvPr/>
      </p:nvGrpSpPr>
      <p:grpSpPr bwMode="auto">
        <a:xfrm>
          <a:off x="0" y="0"/>
          <a:ext cx="0" cy="0"/>
          <a:chOff x="0" y="0"/>
          <a:chExt cx="0" cy="0"/>
        </a:xfrm>
      </p:grpSpPr>
      <p:sp>
        <p:nvSpPr>
          <p:cNvPr id="230829803" name="Google Shape;159;p25"/>
          <p:cNvSpPr txBox="1">
            <a:spLocks noGrp="1"/>
          </p:cNvSpPr>
          <p:nvPr>
            <p:ph type="title"/>
          </p:nvPr>
        </p:nvSpPr>
        <p:spPr bwMode="auto">
          <a:xfrm>
            <a:off x="685800" y="28575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rgbClr val="890018"/>
              </a:buClr>
              <a:buSzPts val="1800"/>
              <a:buFont typeface="Lucida Sans"/>
              <a:buNone/>
              <a:defRPr sz="1800">
                <a:solidFill>
                  <a:srgbClr val="890018"/>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305284915" name="Google Shape;160;p25"/>
          <p:cNvSpPr txBox="1">
            <a:spLocks noGrp="1"/>
          </p:cNvSpPr>
          <p:nvPr>
            <p:ph type="body" idx="1"/>
          </p:nvPr>
        </p:nvSpPr>
        <p:spPr bwMode="auto">
          <a:xfrm>
            <a:off x="685800" y="742950"/>
            <a:ext cx="7543800" cy="228600"/>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rgbClr val="890018"/>
              </a:buClr>
              <a:buSzPts val="1200"/>
              <a:buNone/>
              <a:defRPr sz="1200" b="1">
                <a:solidFill>
                  <a:srgbClr val="890018"/>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740163482" name="Google Shape;161;p25"/>
          <p:cNvSpPr txBox="1">
            <a:spLocks noGrp="1"/>
          </p:cNvSpPr>
          <p:nvPr>
            <p:ph type="body" idx="2"/>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lvl="0" indent="-228600" algn="l">
              <a:spcBef>
                <a:spcPts val="240"/>
              </a:spcBef>
              <a:spcAft>
                <a:spcPts val="0"/>
              </a:spcAft>
              <a:buClr>
                <a:srgbClr val="474B55"/>
              </a:buClr>
              <a:buSzPts val="1200"/>
              <a:buNone/>
              <a:defRPr sz="1200">
                <a:solidFill>
                  <a:srgbClr val="474B55"/>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413117861" name="Google Shape;162;p25"/>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rgbClr val="890018"/>
                </a:solidFill>
                <a:latin typeface="Lucida Sans"/>
                <a:ea typeface="Lucida Sans"/>
                <a:cs typeface="Lucida Sans"/>
              </a:defRPr>
            </a:lvl1pPr>
            <a:lvl2pPr lvl="1">
              <a:buNone/>
              <a:defRPr sz="1300">
                <a:solidFill>
                  <a:srgbClr val="890018"/>
                </a:solidFill>
                <a:latin typeface="Lucida Sans"/>
                <a:ea typeface="Lucida Sans"/>
                <a:cs typeface="Lucida Sans"/>
              </a:defRPr>
            </a:lvl2pPr>
            <a:lvl3pPr lvl="2">
              <a:buNone/>
              <a:defRPr sz="1300">
                <a:solidFill>
                  <a:srgbClr val="890018"/>
                </a:solidFill>
                <a:latin typeface="Lucida Sans"/>
                <a:ea typeface="Lucida Sans"/>
                <a:cs typeface="Lucida Sans"/>
              </a:defRPr>
            </a:lvl3pPr>
            <a:lvl4pPr lvl="3">
              <a:buNone/>
              <a:defRPr sz="1300">
                <a:solidFill>
                  <a:srgbClr val="890018"/>
                </a:solidFill>
                <a:latin typeface="Lucida Sans"/>
                <a:ea typeface="Lucida Sans"/>
                <a:cs typeface="Lucida Sans"/>
              </a:defRPr>
            </a:lvl4pPr>
            <a:lvl5pPr lvl="4">
              <a:buNone/>
              <a:defRPr sz="1300">
                <a:solidFill>
                  <a:srgbClr val="890018"/>
                </a:solidFill>
                <a:latin typeface="Lucida Sans"/>
                <a:ea typeface="Lucida Sans"/>
                <a:cs typeface="Lucida Sans"/>
              </a:defRPr>
            </a:lvl5pPr>
            <a:lvl6pPr lvl="5">
              <a:buNone/>
              <a:defRPr sz="1300">
                <a:solidFill>
                  <a:srgbClr val="890018"/>
                </a:solidFill>
                <a:latin typeface="Lucida Sans"/>
                <a:ea typeface="Lucida Sans"/>
                <a:cs typeface="Lucida Sans"/>
              </a:defRPr>
            </a:lvl6pPr>
            <a:lvl7pPr lvl="6">
              <a:buNone/>
              <a:defRPr sz="1300">
                <a:solidFill>
                  <a:srgbClr val="890018"/>
                </a:solidFill>
                <a:latin typeface="Lucida Sans"/>
                <a:ea typeface="Lucida Sans"/>
                <a:cs typeface="Lucida Sans"/>
              </a:defRPr>
            </a:lvl7pPr>
            <a:lvl8pPr lvl="7">
              <a:buNone/>
              <a:defRPr sz="1300">
                <a:solidFill>
                  <a:srgbClr val="890018"/>
                </a:solidFill>
                <a:latin typeface="Lucida Sans"/>
                <a:ea typeface="Lucida Sans"/>
                <a:cs typeface="Lucida Sans"/>
              </a:defRPr>
            </a:lvl8pPr>
            <a:lvl9pPr lvl="8">
              <a:buNone/>
              <a:defRPr sz="1300">
                <a:solidFill>
                  <a:srgbClr val="890018"/>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PhAnim="0" matchingName="55_Title and Content" userDrawn="1">
  <p:cSld name="55_Title and Content">
    <p:spTree>
      <p:nvGrpSpPr>
        <p:cNvPr id="1" name=""/>
        <p:cNvGrpSpPr/>
        <p:nvPr/>
      </p:nvGrpSpPr>
      <p:grpSpPr bwMode="auto">
        <a:xfrm>
          <a:off x="0" y="0"/>
          <a:ext cx="0" cy="0"/>
          <a:chOff x="0" y="0"/>
          <a:chExt cx="0" cy="0"/>
        </a:xfrm>
      </p:grpSpPr>
      <p:sp>
        <p:nvSpPr>
          <p:cNvPr id="1382725298" name="Google Shape;164;p26"/>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285750" algn="l">
              <a:lnSpc>
                <a:spcPct val="100000"/>
              </a:lnSpc>
              <a:spcBef>
                <a:spcPts val="0"/>
              </a:spcBef>
              <a:spcAft>
                <a:spcPts val="0"/>
              </a:spcAft>
              <a:buClr>
                <a:schemeClr val="dk1"/>
              </a:buClr>
              <a:buSzPts val="900"/>
              <a:buFont typeface="Arial"/>
              <a:buChar char="•"/>
              <a:defRPr sz="900">
                <a:solidFill>
                  <a:schemeClr val="dk1"/>
                </a:solidFill>
                <a:latin typeface="Lucida Sans"/>
                <a:ea typeface="Lucida Sans"/>
                <a:cs typeface="Lucida Sans"/>
              </a:defRPr>
            </a:lvl1pPr>
            <a:lvl2pPr marL="914400" lvl="1" indent="-285750" algn="l">
              <a:spcBef>
                <a:spcPts val="0"/>
              </a:spcBef>
              <a:spcAft>
                <a:spcPts val="0"/>
              </a:spcAft>
              <a:buClr>
                <a:schemeClr val="dk1"/>
              </a:buClr>
              <a:buSzPts val="900"/>
              <a:buChar char="–"/>
              <a:defRPr sz="900">
                <a:latin typeface="Lucida Sans"/>
                <a:ea typeface="Lucida Sans"/>
                <a:cs typeface="Lucida Sans"/>
              </a:defRPr>
            </a:lvl2pPr>
            <a:lvl3pPr marL="1371600" lvl="2" indent="-285750" algn="l">
              <a:spcBef>
                <a:spcPts val="0"/>
              </a:spcBef>
              <a:spcAft>
                <a:spcPts val="0"/>
              </a:spcAft>
              <a:buClr>
                <a:schemeClr val="dk1"/>
              </a:buClr>
              <a:buSzPts val="900"/>
              <a:buFont typeface="Noto Sans Symbols"/>
              <a:buChar char="⮚"/>
              <a:defRPr sz="900">
                <a:latin typeface="Lucida Sans"/>
                <a:ea typeface="Lucida Sans"/>
                <a:cs typeface="Lucida Sans"/>
              </a:defRPr>
            </a:lvl3pPr>
            <a:lvl4pPr marL="1828800" lvl="3" indent="-285750" algn="l">
              <a:spcBef>
                <a:spcPts val="0"/>
              </a:spcBef>
              <a:spcAft>
                <a:spcPts val="0"/>
              </a:spcAft>
              <a:buClr>
                <a:schemeClr val="dk1"/>
              </a:buClr>
              <a:buSzPts val="900"/>
              <a:buFont typeface="Noto Sans Symbols"/>
              <a:buChar char="▪"/>
              <a:defRPr sz="9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512911555" name="Google Shape;165;p26"/>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350"/>
              <a:buFont typeface="Lucida Sans"/>
              <a:buNone/>
              <a:defRPr sz="135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74372531" name="Google Shape;166;p26"/>
          <p:cNvSpPr txBox="1">
            <a:spLocks noGrp="1"/>
          </p:cNvSpPr>
          <p:nvPr>
            <p:ph type="body" idx="2"/>
          </p:nvPr>
        </p:nvSpPr>
        <p:spPr bwMode="auto">
          <a:xfrm>
            <a:off x="685800" y="742950"/>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180"/>
              </a:spcBef>
              <a:spcAft>
                <a:spcPts val="0"/>
              </a:spcAft>
              <a:buClr>
                <a:schemeClr val="dk1"/>
              </a:buClr>
              <a:buSzPts val="900"/>
              <a:buFont typeface="Arial"/>
              <a:buNone/>
              <a:defRPr sz="900" b="1">
                <a:solidFill>
                  <a:schemeClr val="dk1"/>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555956231" name="Google Shape;167;p26"/>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PhAnim="0" matchingName="59_Title and Content" userDrawn="1">
  <p:cSld name="59_Title and Content">
    <p:spTree>
      <p:nvGrpSpPr>
        <p:cNvPr id="1" name=""/>
        <p:cNvGrpSpPr/>
        <p:nvPr/>
      </p:nvGrpSpPr>
      <p:grpSpPr bwMode="auto">
        <a:xfrm>
          <a:off x="0" y="0"/>
          <a:ext cx="0" cy="0"/>
          <a:chOff x="0" y="0"/>
          <a:chExt cx="0" cy="0"/>
        </a:xfrm>
      </p:grpSpPr>
      <p:sp>
        <p:nvSpPr>
          <p:cNvPr id="1793486154" name="Google Shape;169;p27"/>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273072578" name="Google Shape;170;p27"/>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364280554" name="Google Shape;171;p27"/>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528441521" name="Google Shape;172;p27"/>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PhAnim="0" matchingName="60_Title and Content" userDrawn="1">
  <p:cSld name="60_Title and Content">
    <p:spTree>
      <p:nvGrpSpPr>
        <p:cNvPr id="1" name=""/>
        <p:cNvGrpSpPr/>
        <p:nvPr/>
      </p:nvGrpSpPr>
      <p:grpSpPr bwMode="auto">
        <a:xfrm>
          <a:off x="0" y="0"/>
          <a:ext cx="0" cy="0"/>
          <a:chOff x="0" y="0"/>
          <a:chExt cx="0" cy="0"/>
        </a:xfrm>
      </p:grpSpPr>
      <p:sp>
        <p:nvSpPr>
          <p:cNvPr id="312482326" name="Google Shape;174;p28"/>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369577544" name="Google Shape;175;p28"/>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023627912" name="Google Shape;176;p28"/>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474362743" name="Google Shape;177;p28"/>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PhAnim="0" matchingName="61_Title and Content" userDrawn="1">
  <p:cSld name="61_Title and Content">
    <p:spTree>
      <p:nvGrpSpPr>
        <p:cNvPr id="1" name=""/>
        <p:cNvGrpSpPr/>
        <p:nvPr/>
      </p:nvGrpSpPr>
      <p:grpSpPr bwMode="auto">
        <a:xfrm>
          <a:off x="0" y="0"/>
          <a:ext cx="0" cy="0"/>
          <a:chOff x="0" y="0"/>
          <a:chExt cx="0" cy="0"/>
        </a:xfrm>
      </p:grpSpPr>
      <p:sp>
        <p:nvSpPr>
          <p:cNvPr id="1226704004" name="Google Shape;179;p29"/>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746556696" name="Google Shape;180;p29"/>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59265611" name="Google Shape;181;p29"/>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733862801" name="Google Shape;182;p29"/>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PhAnim="0" matchingName="62_Title and Content" userDrawn="1">
  <p:cSld name="62_Title and Content">
    <p:spTree>
      <p:nvGrpSpPr>
        <p:cNvPr id="1" name=""/>
        <p:cNvGrpSpPr/>
        <p:nvPr/>
      </p:nvGrpSpPr>
      <p:grpSpPr bwMode="auto">
        <a:xfrm>
          <a:off x="0" y="0"/>
          <a:ext cx="0" cy="0"/>
          <a:chOff x="0" y="0"/>
          <a:chExt cx="0" cy="0"/>
        </a:xfrm>
      </p:grpSpPr>
      <p:sp>
        <p:nvSpPr>
          <p:cNvPr id="14551419" name="Google Shape;184;p30"/>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817436637" name="Google Shape;185;p30"/>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19876705" name="Google Shape;186;p30"/>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734878860" name="Google Shape;187;p30"/>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PhAnim="0" matchingName="7_Title and Content" userDrawn="1">
  <p:cSld name="7_Title and Content">
    <p:spTree>
      <p:nvGrpSpPr>
        <p:cNvPr id="1" name=""/>
        <p:cNvGrpSpPr/>
        <p:nvPr/>
      </p:nvGrpSpPr>
      <p:grpSpPr bwMode="auto">
        <a:xfrm>
          <a:off x="0" y="0"/>
          <a:ext cx="0" cy="0"/>
          <a:chOff x="0" y="0"/>
          <a:chExt cx="0" cy="0"/>
        </a:xfrm>
      </p:grpSpPr>
      <p:sp>
        <p:nvSpPr>
          <p:cNvPr id="1042946082" name="Google Shape;189;p31"/>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729204620" name="Google Shape;190;p31"/>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353242085" name="Google Shape;191;p31"/>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054556574" name="Google Shape;192;p31"/>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PhAnim="0" matchingName="8_Title and Content" userDrawn="1">
  <p:cSld name="8_Title and Content">
    <p:spTree>
      <p:nvGrpSpPr>
        <p:cNvPr id="1" name=""/>
        <p:cNvGrpSpPr/>
        <p:nvPr/>
      </p:nvGrpSpPr>
      <p:grpSpPr bwMode="auto">
        <a:xfrm>
          <a:off x="0" y="0"/>
          <a:ext cx="0" cy="0"/>
          <a:chOff x="0" y="0"/>
          <a:chExt cx="0" cy="0"/>
        </a:xfrm>
      </p:grpSpPr>
      <p:sp>
        <p:nvSpPr>
          <p:cNvPr id="199700956" name="Google Shape;194;p32"/>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347392937" name="Google Shape;195;p32"/>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001919195" name="Google Shape;196;p32"/>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681552560" name="Google Shape;197;p32"/>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PhAnim="0" matchingName="9_Title and Content" userDrawn="1">
  <p:cSld name="9_Title and Content">
    <p:spTree>
      <p:nvGrpSpPr>
        <p:cNvPr id="1" name=""/>
        <p:cNvGrpSpPr/>
        <p:nvPr/>
      </p:nvGrpSpPr>
      <p:grpSpPr bwMode="auto">
        <a:xfrm>
          <a:off x="0" y="0"/>
          <a:ext cx="0" cy="0"/>
          <a:chOff x="0" y="0"/>
          <a:chExt cx="0" cy="0"/>
        </a:xfrm>
      </p:grpSpPr>
      <p:sp>
        <p:nvSpPr>
          <p:cNvPr id="1059318161" name="Google Shape;199;p33"/>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095985573" name="Google Shape;200;p33"/>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545385943" name="Google Shape;201;p33"/>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033720191" name="Google Shape;202;p33"/>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PhAnim="0" matchingName="10_Title and Content" userDrawn="1">
  <p:cSld name="10_Title and Content">
    <p:spTree>
      <p:nvGrpSpPr>
        <p:cNvPr id="1" name=""/>
        <p:cNvGrpSpPr/>
        <p:nvPr/>
      </p:nvGrpSpPr>
      <p:grpSpPr bwMode="auto">
        <a:xfrm>
          <a:off x="0" y="0"/>
          <a:ext cx="0" cy="0"/>
          <a:chOff x="0" y="0"/>
          <a:chExt cx="0" cy="0"/>
        </a:xfrm>
      </p:grpSpPr>
      <p:sp>
        <p:nvSpPr>
          <p:cNvPr id="393006523" name="Google Shape;204;p34"/>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160808337" name="Google Shape;205;p34"/>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887099035" name="Google Shape;206;p34"/>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742021920" name="Google Shape;207;p34"/>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PhAnim="0" matchingName="11_Title and Content" userDrawn="1">
  <p:cSld name="11_Title and Content">
    <p:spTree>
      <p:nvGrpSpPr>
        <p:cNvPr id="1" name=""/>
        <p:cNvGrpSpPr/>
        <p:nvPr/>
      </p:nvGrpSpPr>
      <p:grpSpPr bwMode="auto">
        <a:xfrm>
          <a:off x="0" y="0"/>
          <a:ext cx="0" cy="0"/>
          <a:chOff x="0" y="0"/>
          <a:chExt cx="0" cy="0"/>
        </a:xfrm>
      </p:grpSpPr>
      <p:sp>
        <p:nvSpPr>
          <p:cNvPr id="252548295" name="Google Shape;209;p35"/>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271992939" name="Google Shape;210;p35"/>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543409377" name="Google Shape;211;p35"/>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685046206" name="Google Shape;212;p35"/>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PhAnim="0" matchingName="12_Title and Content" userDrawn="1">
  <p:cSld name="12_Title and Content">
    <p:spTree>
      <p:nvGrpSpPr>
        <p:cNvPr id="1" name=""/>
        <p:cNvGrpSpPr/>
        <p:nvPr/>
      </p:nvGrpSpPr>
      <p:grpSpPr bwMode="auto">
        <a:xfrm>
          <a:off x="0" y="0"/>
          <a:ext cx="0" cy="0"/>
          <a:chOff x="0" y="0"/>
          <a:chExt cx="0" cy="0"/>
        </a:xfrm>
      </p:grpSpPr>
      <p:sp>
        <p:nvSpPr>
          <p:cNvPr id="805347801" name="Google Shape;214;p36"/>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110150228" name="Google Shape;215;p36"/>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879088003" name="Google Shape;216;p36"/>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48984336" name="Google Shape;217;p36"/>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PhAnim="0" matchingName="15_Title and Content" userDrawn="1">
  <p:cSld name="15_Title and Content">
    <p:spTree>
      <p:nvGrpSpPr>
        <p:cNvPr id="1" name=""/>
        <p:cNvGrpSpPr/>
        <p:nvPr/>
      </p:nvGrpSpPr>
      <p:grpSpPr bwMode="auto">
        <a:xfrm>
          <a:off x="0" y="0"/>
          <a:ext cx="0" cy="0"/>
          <a:chOff x="0" y="0"/>
          <a:chExt cx="0" cy="0"/>
        </a:xfrm>
      </p:grpSpPr>
      <p:sp>
        <p:nvSpPr>
          <p:cNvPr id="1062023703" name="Google Shape;219;p37"/>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667687048" name="Google Shape;220;p37"/>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667518494" name="Google Shape;221;p37"/>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537805817" name="Google Shape;222;p37"/>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PhAnim="0" matchingName="16_Title and Content" userDrawn="1">
  <p:cSld name="16_Title and Content">
    <p:spTree>
      <p:nvGrpSpPr>
        <p:cNvPr id="1" name=""/>
        <p:cNvGrpSpPr/>
        <p:nvPr/>
      </p:nvGrpSpPr>
      <p:grpSpPr bwMode="auto">
        <a:xfrm>
          <a:off x="0" y="0"/>
          <a:ext cx="0" cy="0"/>
          <a:chOff x="0" y="0"/>
          <a:chExt cx="0" cy="0"/>
        </a:xfrm>
      </p:grpSpPr>
      <p:sp>
        <p:nvSpPr>
          <p:cNvPr id="1008234747" name="Google Shape;224;p38"/>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094138828" name="Google Shape;225;p38"/>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025737112" name="Google Shape;226;p38"/>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65939859" name="Google Shape;227;p38"/>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PhAnim="0" matchingName="17_Title and Content" userDrawn="1">
  <p:cSld name="17_Title and Content">
    <p:spTree>
      <p:nvGrpSpPr>
        <p:cNvPr id="1" name=""/>
        <p:cNvGrpSpPr/>
        <p:nvPr/>
      </p:nvGrpSpPr>
      <p:grpSpPr bwMode="auto">
        <a:xfrm>
          <a:off x="0" y="0"/>
          <a:ext cx="0" cy="0"/>
          <a:chOff x="0" y="0"/>
          <a:chExt cx="0" cy="0"/>
        </a:xfrm>
      </p:grpSpPr>
      <p:sp>
        <p:nvSpPr>
          <p:cNvPr id="1839897219" name="Google Shape;229;p39"/>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976987824" name="Google Shape;230;p39"/>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503557677" name="Google Shape;231;p39"/>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362311716" name="Google Shape;232;p39"/>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PhAnim="0" matchingName="18_Title and Content" userDrawn="1">
  <p:cSld name="18_Title and Content">
    <p:spTree>
      <p:nvGrpSpPr>
        <p:cNvPr id="1" name=""/>
        <p:cNvGrpSpPr/>
        <p:nvPr/>
      </p:nvGrpSpPr>
      <p:grpSpPr bwMode="auto">
        <a:xfrm>
          <a:off x="0" y="0"/>
          <a:ext cx="0" cy="0"/>
          <a:chOff x="0" y="0"/>
          <a:chExt cx="0" cy="0"/>
        </a:xfrm>
      </p:grpSpPr>
      <p:sp>
        <p:nvSpPr>
          <p:cNvPr id="958963073" name="Google Shape;234;p40"/>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482245757" name="Google Shape;235;p40"/>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662708912" name="Google Shape;236;p40"/>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661639624" name="Google Shape;237;p40"/>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PhAnim="0" matchingName="19_Title and Content" userDrawn="1">
  <p:cSld name="19_Title and Content">
    <p:spTree>
      <p:nvGrpSpPr>
        <p:cNvPr id="1" name=""/>
        <p:cNvGrpSpPr/>
        <p:nvPr/>
      </p:nvGrpSpPr>
      <p:grpSpPr bwMode="auto">
        <a:xfrm>
          <a:off x="0" y="0"/>
          <a:ext cx="0" cy="0"/>
          <a:chOff x="0" y="0"/>
          <a:chExt cx="0" cy="0"/>
        </a:xfrm>
      </p:grpSpPr>
      <p:sp>
        <p:nvSpPr>
          <p:cNvPr id="1900067394" name="Google Shape;239;p41"/>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463258691" name="Google Shape;240;p41"/>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844395066" name="Google Shape;241;p41"/>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55095395" name="Google Shape;242;p41"/>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PhAnim="0" matchingName="20_Title and Content" userDrawn="1">
  <p:cSld name="20_Title and Content">
    <p:spTree>
      <p:nvGrpSpPr>
        <p:cNvPr id="1" name=""/>
        <p:cNvGrpSpPr/>
        <p:nvPr/>
      </p:nvGrpSpPr>
      <p:grpSpPr bwMode="auto">
        <a:xfrm>
          <a:off x="0" y="0"/>
          <a:ext cx="0" cy="0"/>
          <a:chOff x="0" y="0"/>
          <a:chExt cx="0" cy="0"/>
        </a:xfrm>
      </p:grpSpPr>
      <p:sp>
        <p:nvSpPr>
          <p:cNvPr id="295020300" name="Google Shape;244;p42"/>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360574784" name="Google Shape;245;p42"/>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488892782" name="Google Shape;246;p42"/>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116946884" name="Google Shape;247;p42"/>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PhAnim="0" matchingName="21_Title and Content" userDrawn="1">
  <p:cSld name="21_Title and Content">
    <p:spTree>
      <p:nvGrpSpPr>
        <p:cNvPr id="1" name=""/>
        <p:cNvGrpSpPr/>
        <p:nvPr/>
      </p:nvGrpSpPr>
      <p:grpSpPr bwMode="auto">
        <a:xfrm>
          <a:off x="0" y="0"/>
          <a:ext cx="0" cy="0"/>
          <a:chOff x="0" y="0"/>
          <a:chExt cx="0" cy="0"/>
        </a:xfrm>
      </p:grpSpPr>
      <p:sp>
        <p:nvSpPr>
          <p:cNvPr id="2010620697" name="Google Shape;249;p43"/>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407626363" name="Google Shape;250;p43"/>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634474992" name="Google Shape;251;p43"/>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82873595" name="Google Shape;252;p43"/>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PhAnim="0" matchingName="22_Title and Content" userDrawn="1">
  <p:cSld name="22_Title and Content">
    <p:spTree>
      <p:nvGrpSpPr>
        <p:cNvPr id="1" name=""/>
        <p:cNvGrpSpPr/>
        <p:nvPr/>
      </p:nvGrpSpPr>
      <p:grpSpPr bwMode="auto">
        <a:xfrm>
          <a:off x="0" y="0"/>
          <a:ext cx="0" cy="0"/>
          <a:chOff x="0" y="0"/>
          <a:chExt cx="0" cy="0"/>
        </a:xfrm>
      </p:grpSpPr>
      <p:sp>
        <p:nvSpPr>
          <p:cNvPr id="1356792876" name="Google Shape;254;p44"/>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985890729" name="Google Shape;255;p44"/>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135429798" name="Google Shape;256;p44"/>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197065610" name="Google Shape;257;p44"/>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PhAnim="0" matchingName="23_Title and Content" userDrawn="1">
  <p:cSld name="23_Title and Content">
    <p:spTree>
      <p:nvGrpSpPr>
        <p:cNvPr id="1" name=""/>
        <p:cNvGrpSpPr/>
        <p:nvPr/>
      </p:nvGrpSpPr>
      <p:grpSpPr bwMode="auto">
        <a:xfrm>
          <a:off x="0" y="0"/>
          <a:ext cx="0" cy="0"/>
          <a:chOff x="0" y="0"/>
          <a:chExt cx="0" cy="0"/>
        </a:xfrm>
      </p:grpSpPr>
      <p:sp>
        <p:nvSpPr>
          <p:cNvPr id="555316345" name="Google Shape;259;p45"/>
          <p:cNvSpPr txBox="1">
            <a:spLocks noGrp="1"/>
          </p:cNvSpPr>
          <p:nvPr>
            <p:ph type="body" idx="1"/>
          </p:nvPr>
        </p:nvSpPr>
        <p:spPr bwMode="auto">
          <a:xfrm>
            <a:off x="685800" y="1040858"/>
            <a:ext cx="7543800" cy="3429000"/>
          </a:xfrm>
          <a:prstGeom prst="rect">
            <a:avLst/>
          </a:prstGeom>
          <a:noFill/>
          <a:ln>
            <a:noFill/>
          </a:ln>
        </p:spPr>
        <p:txBody>
          <a:bodyPr spcFirstLastPara="1" wrap="square" lIns="91425" tIns="45700" rIns="91425" bIns="45700" anchor="t" anchorCtr="0">
            <a:normAutofit/>
          </a:bodyPr>
          <a:lstStyle>
            <a:lvl1pPr marL="457200" marR="0" lvl="0" indent="-304800" algn="l">
              <a:lnSpc>
                <a:spcPct val="100000"/>
              </a:lnSpc>
              <a:spcBef>
                <a:spcPts val="0"/>
              </a:spcBef>
              <a:spcAft>
                <a:spcPts val="0"/>
              </a:spcAft>
              <a:buClr>
                <a:schemeClr val="dk1"/>
              </a:buClr>
              <a:buSzPts val="1200"/>
              <a:buFont typeface="Arial"/>
              <a:buChar char="•"/>
              <a:defRPr sz="1200">
                <a:solidFill>
                  <a:schemeClr val="dk1"/>
                </a:solidFill>
                <a:latin typeface="Lucida Sans"/>
                <a:ea typeface="Lucida Sans"/>
                <a:cs typeface="Lucida Sans"/>
              </a:defRPr>
            </a:lvl1pPr>
            <a:lvl2pPr marL="914400" lvl="1" indent="-304800" algn="l">
              <a:spcBef>
                <a:spcPts val="0"/>
              </a:spcBef>
              <a:spcAft>
                <a:spcPts val="0"/>
              </a:spcAft>
              <a:buClr>
                <a:schemeClr val="dk1"/>
              </a:buClr>
              <a:buSzPts val="1200"/>
              <a:buChar char="–"/>
              <a:defRPr sz="1200">
                <a:latin typeface="Lucida Sans"/>
                <a:ea typeface="Lucida Sans"/>
                <a:cs typeface="Lucida Sans"/>
              </a:defRPr>
            </a:lvl2pPr>
            <a:lvl3pPr marL="1371600" lvl="2" indent="-304800" algn="l">
              <a:spcBef>
                <a:spcPts val="0"/>
              </a:spcBef>
              <a:spcAft>
                <a:spcPts val="0"/>
              </a:spcAft>
              <a:buClr>
                <a:schemeClr val="dk1"/>
              </a:buClr>
              <a:buSzPts val="1200"/>
              <a:buFont typeface="Noto Sans Symbols"/>
              <a:buChar char="⮚"/>
              <a:defRPr sz="1200">
                <a:latin typeface="Lucida Sans"/>
                <a:ea typeface="Lucida Sans"/>
                <a:cs typeface="Lucida Sans"/>
              </a:defRPr>
            </a:lvl3pPr>
            <a:lvl4pPr marL="1828800" lvl="3" indent="-304800" algn="l">
              <a:spcBef>
                <a:spcPts val="0"/>
              </a:spcBef>
              <a:spcAft>
                <a:spcPts val="0"/>
              </a:spcAft>
              <a:buClr>
                <a:schemeClr val="dk1"/>
              </a:buClr>
              <a:buSzPts val="1200"/>
              <a:buFont typeface="Noto Sans Symbols"/>
              <a:buChar char="▪"/>
              <a:defRPr sz="1200">
                <a:latin typeface="Lucida Sans"/>
                <a:ea typeface="Lucida Sans"/>
                <a:cs typeface="Lucida Sans"/>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2118656796" name="Google Shape;260;p45"/>
          <p:cNvSpPr txBox="1">
            <a:spLocks noGrp="1"/>
          </p:cNvSpPr>
          <p:nvPr>
            <p:ph type="title"/>
          </p:nvPr>
        </p:nvSpPr>
        <p:spPr bwMode="auto">
          <a:xfrm>
            <a:off x="685800" y="141480"/>
            <a:ext cx="7543800" cy="457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Clr>
                <a:schemeClr val="lt1"/>
              </a:buClr>
              <a:buSzPts val="1800"/>
              <a:buFont typeface="Lucida Sans"/>
              <a:buNone/>
              <a:defRPr sz="1800" b="1">
                <a:solidFill>
                  <a:schemeClr val="lt1"/>
                </a:solidFill>
                <a:latin typeface="Lucida Sans"/>
                <a:ea typeface="Lucida Sans"/>
                <a:cs typeface="Lucida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1410774682" name="Google Shape;261;p45"/>
          <p:cNvSpPr txBox="1">
            <a:spLocks noGrp="1"/>
          </p:cNvSpPr>
          <p:nvPr>
            <p:ph type="body" idx="2"/>
          </p:nvPr>
        </p:nvSpPr>
        <p:spPr bwMode="auto">
          <a:xfrm>
            <a:off x="685800" y="789552"/>
            <a:ext cx="7543800" cy="228600"/>
          </a:xfrm>
          <a:prstGeom prst="rect">
            <a:avLst/>
          </a:prstGeom>
          <a:noFill/>
          <a:ln>
            <a:noFill/>
          </a:ln>
        </p:spPr>
        <p:txBody>
          <a:bodyPr spcFirstLastPara="1" wrap="square" lIns="91425" tIns="45700" rIns="91425" bIns="45700" anchor="t" anchorCtr="0">
            <a:normAutofit/>
          </a:bodyPr>
          <a:lstStyle>
            <a:lvl1pPr marL="457200" marR="0" lvl="0" indent="-228600" algn="l">
              <a:lnSpc>
                <a:spcPct val="100000"/>
              </a:lnSpc>
              <a:spcBef>
                <a:spcPts val="240"/>
              </a:spcBef>
              <a:spcAft>
                <a:spcPts val="0"/>
              </a:spcAft>
              <a:buClr>
                <a:srgbClr val="DA291C"/>
              </a:buClr>
              <a:buSzPts val="1200"/>
              <a:buFont typeface="Arial"/>
              <a:buNone/>
              <a:defRPr sz="1200" b="1">
                <a:solidFill>
                  <a:srgbClr val="DA291C"/>
                </a:solidFill>
                <a:latin typeface="Lucida Sans"/>
                <a:ea typeface="Lucida Sans"/>
                <a:cs typeface="Lucida Sans"/>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pPr>
              <a:defRPr/>
            </a:pPr>
            <a:endParaRPr/>
          </a:p>
        </p:txBody>
      </p:sp>
      <p:sp>
        <p:nvSpPr>
          <p:cNvPr id="1888643824" name="Google Shape;262;p45"/>
          <p:cNvSpPr txBox="1">
            <a:spLocks noGrp="1"/>
          </p:cNvSpPr>
          <p:nvPr>
            <p:ph type="sldNum" idx="12"/>
          </p:nvPr>
        </p:nvSpPr>
        <p:spPr bwMode="auto">
          <a:xfrm>
            <a:off x="8556784" y="4749851"/>
            <a:ext cx="548700" cy="393600"/>
          </a:xfrm>
          <a:prstGeom prst="rect">
            <a:avLst/>
          </a:prstGeom>
        </p:spPr>
        <p:txBody>
          <a:bodyPr spcFirstLastPara="1" wrap="square" lIns="91425" tIns="45700" rIns="91425" bIns="45700" anchor="t" anchorCtr="0">
            <a:noAutofit/>
          </a:bodyPr>
          <a:lstStyle>
            <a:lvl1pPr lvl="0">
              <a:buNone/>
              <a:defRPr sz="1300">
                <a:solidFill>
                  <a:schemeClr val="dk1"/>
                </a:solidFill>
                <a:latin typeface="Lucida Sans"/>
                <a:ea typeface="Lucida Sans"/>
                <a:cs typeface="Lucida Sans"/>
              </a:defRPr>
            </a:lvl1pPr>
            <a:lvl2pPr lvl="1">
              <a:buNone/>
              <a:defRPr sz="1300">
                <a:solidFill>
                  <a:schemeClr val="dk1"/>
                </a:solidFill>
                <a:latin typeface="Lucida Sans"/>
                <a:ea typeface="Lucida Sans"/>
                <a:cs typeface="Lucida Sans"/>
              </a:defRPr>
            </a:lvl2pPr>
            <a:lvl3pPr lvl="2">
              <a:buNone/>
              <a:defRPr sz="1300">
                <a:solidFill>
                  <a:schemeClr val="dk1"/>
                </a:solidFill>
                <a:latin typeface="Lucida Sans"/>
                <a:ea typeface="Lucida Sans"/>
                <a:cs typeface="Lucida Sans"/>
              </a:defRPr>
            </a:lvl3pPr>
            <a:lvl4pPr lvl="3">
              <a:buNone/>
              <a:defRPr sz="1300">
                <a:solidFill>
                  <a:schemeClr val="dk1"/>
                </a:solidFill>
                <a:latin typeface="Lucida Sans"/>
                <a:ea typeface="Lucida Sans"/>
                <a:cs typeface="Lucida Sans"/>
              </a:defRPr>
            </a:lvl4pPr>
            <a:lvl5pPr lvl="4">
              <a:buNone/>
              <a:defRPr sz="1300">
                <a:solidFill>
                  <a:schemeClr val="dk1"/>
                </a:solidFill>
                <a:latin typeface="Lucida Sans"/>
                <a:ea typeface="Lucida Sans"/>
                <a:cs typeface="Lucida Sans"/>
              </a:defRPr>
            </a:lvl5pPr>
            <a:lvl6pPr lvl="5">
              <a:buNone/>
              <a:defRPr sz="1300">
                <a:solidFill>
                  <a:schemeClr val="dk1"/>
                </a:solidFill>
                <a:latin typeface="Lucida Sans"/>
                <a:ea typeface="Lucida Sans"/>
                <a:cs typeface="Lucida Sans"/>
              </a:defRPr>
            </a:lvl6pPr>
            <a:lvl7pPr lvl="6">
              <a:buNone/>
              <a:defRPr sz="1300">
                <a:solidFill>
                  <a:schemeClr val="dk1"/>
                </a:solidFill>
                <a:latin typeface="Lucida Sans"/>
                <a:ea typeface="Lucida Sans"/>
                <a:cs typeface="Lucida Sans"/>
              </a:defRPr>
            </a:lvl7pPr>
            <a:lvl8pPr lvl="7">
              <a:buNone/>
              <a:defRPr sz="1300">
                <a:solidFill>
                  <a:schemeClr val="dk1"/>
                </a:solidFill>
                <a:latin typeface="Lucida Sans"/>
                <a:ea typeface="Lucida Sans"/>
                <a:cs typeface="Lucida Sans"/>
              </a:defRPr>
            </a:lvl8pPr>
            <a:lvl9pPr lvl="8">
              <a:buNone/>
              <a:defRPr sz="1300">
                <a:solidFill>
                  <a:schemeClr val="dk1"/>
                </a:solidFill>
                <a:latin typeface="Lucida Sans"/>
                <a:ea typeface="Lucida Sans"/>
                <a:cs typeface="Lucida Sans"/>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PhAnim="0" matchingName="Title and two columns" type="twoColTx" userDrawn="1">
  <p:cSld name="TITLE_AND_TWO_COLUMNS">
    <p:spTree>
      <p:nvGrpSpPr>
        <p:cNvPr id="1" name=""/>
        <p:cNvGrpSpPr/>
        <p:nvPr/>
      </p:nvGrpSpPr>
      <p:grpSpPr bwMode="auto">
        <a:xfrm>
          <a:off x="0" y="0"/>
          <a:ext cx="0" cy="0"/>
          <a:chOff x="0" y="0"/>
          <a:chExt cx="0" cy="0"/>
        </a:xfrm>
      </p:grpSpPr>
      <p:sp>
        <p:nvSpPr>
          <p:cNvPr id="1311734987" name="Google Shape;264;p46"/>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lvl1pPr lvl="0">
              <a:spcBef>
                <a:spcPts val="0"/>
              </a:spcBef>
              <a:spcAft>
                <a:spcPts val="0"/>
              </a:spcAft>
              <a:buSzPts val="2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41278854" name="Google Shape;265;p46"/>
          <p:cNvSpPr txBox="1">
            <a:spLocks noGrp="1"/>
          </p:cNvSpPr>
          <p:nvPr>
            <p:ph type="body" idx="1"/>
          </p:nvPr>
        </p:nvSpPr>
        <p:spPr bwMode="auto">
          <a:xfrm>
            <a:off x="311700" y="1152475"/>
            <a:ext cx="3999900" cy="3416400"/>
          </a:xfrm>
          <a:prstGeom prst="rect">
            <a:avLst/>
          </a:prstGeom>
        </p:spPr>
        <p:txBody>
          <a:bodyPr spcFirstLastPara="1" wrap="square" lIns="91425" tIns="45700" rIns="91425" bIns="45700" anchor="t" anchorCtr="0">
            <a:normAutofit/>
          </a:bodyPr>
          <a:lstStyle>
            <a:lvl1pPr marL="457200" lvl="0" indent="-317500">
              <a:spcBef>
                <a:spcPts val="280"/>
              </a:spcBef>
              <a:spcAft>
                <a:spcPts val="0"/>
              </a:spcAft>
              <a:buSzPts val="1400"/>
              <a:buChar char="•"/>
              <a:defRPr sz="1400"/>
            </a:lvl1pPr>
            <a:lvl2pPr marL="914400" lvl="1" indent="-304800">
              <a:spcBef>
                <a:spcPts val="260"/>
              </a:spcBef>
              <a:spcAft>
                <a:spcPts val="0"/>
              </a:spcAft>
              <a:buSzPts val="1200"/>
              <a:buChar char="–"/>
              <a:defRPr sz="1200"/>
            </a:lvl2pPr>
            <a:lvl3pPr marL="1371600" lvl="2" indent="-304800">
              <a:spcBef>
                <a:spcPts val="240"/>
              </a:spcBef>
              <a:spcAft>
                <a:spcPts val="0"/>
              </a:spcAft>
              <a:buSzPts val="1200"/>
              <a:buChar char="•"/>
              <a:defRPr sz="1200"/>
            </a:lvl3pPr>
            <a:lvl4pPr marL="1828800" lvl="3" indent="-304800">
              <a:spcBef>
                <a:spcPts val="200"/>
              </a:spcBef>
              <a:spcAft>
                <a:spcPts val="0"/>
              </a:spcAft>
              <a:buSzPts val="1200"/>
              <a:buChar char="–"/>
              <a:defRPr sz="1200"/>
            </a:lvl4pPr>
            <a:lvl5pPr marL="2286000" lvl="4" indent="-304800">
              <a:spcBef>
                <a:spcPts val="160"/>
              </a:spcBef>
              <a:spcAft>
                <a:spcPts val="0"/>
              </a:spcAft>
              <a:buSzPts val="1200"/>
              <a:buChar char="»"/>
              <a:defRPr sz="1200"/>
            </a:lvl5pPr>
            <a:lvl6pPr marL="2743200" lvl="5" indent="-304800">
              <a:spcBef>
                <a:spcPts val="400"/>
              </a:spcBef>
              <a:spcAft>
                <a:spcPts val="0"/>
              </a:spcAft>
              <a:buSzPts val="1200"/>
              <a:buChar char="•"/>
              <a:defRPr sz="1200"/>
            </a:lvl6pPr>
            <a:lvl7pPr marL="3200400" lvl="6" indent="-304800">
              <a:spcBef>
                <a:spcPts val="400"/>
              </a:spcBef>
              <a:spcAft>
                <a:spcPts val="0"/>
              </a:spcAft>
              <a:buSzPts val="1200"/>
              <a:buChar char="•"/>
              <a:defRPr sz="1200"/>
            </a:lvl7pPr>
            <a:lvl8pPr marL="3657600" lvl="7" indent="-304800">
              <a:spcBef>
                <a:spcPts val="400"/>
              </a:spcBef>
              <a:spcAft>
                <a:spcPts val="0"/>
              </a:spcAft>
              <a:buSzPts val="1200"/>
              <a:buChar char="•"/>
              <a:defRPr sz="1200"/>
            </a:lvl8pPr>
            <a:lvl9pPr marL="4114800" lvl="8" indent="-304800">
              <a:spcBef>
                <a:spcPts val="400"/>
              </a:spcBef>
              <a:spcAft>
                <a:spcPts val="0"/>
              </a:spcAft>
              <a:buSzPts val="1200"/>
              <a:buChar char="•"/>
              <a:defRPr sz="1200"/>
            </a:lvl9pPr>
          </a:lstStyle>
          <a:p>
            <a:pPr>
              <a:defRPr/>
            </a:pPr>
            <a:endParaRPr/>
          </a:p>
        </p:txBody>
      </p:sp>
      <p:sp>
        <p:nvSpPr>
          <p:cNvPr id="294582429" name="Google Shape;266;p46"/>
          <p:cNvSpPr txBox="1">
            <a:spLocks noGrp="1"/>
          </p:cNvSpPr>
          <p:nvPr>
            <p:ph type="body" idx="2"/>
          </p:nvPr>
        </p:nvSpPr>
        <p:spPr bwMode="auto">
          <a:xfrm>
            <a:off x="4832399" y="1152475"/>
            <a:ext cx="3999900" cy="3416400"/>
          </a:xfrm>
          <a:prstGeom prst="rect">
            <a:avLst/>
          </a:prstGeom>
        </p:spPr>
        <p:txBody>
          <a:bodyPr spcFirstLastPara="1" wrap="square" lIns="91425" tIns="45700" rIns="91425" bIns="45700" anchor="t" anchorCtr="0">
            <a:normAutofit/>
          </a:bodyPr>
          <a:lstStyle>
            <a:lvl1pPr marL="457200" lvl="0" indent="-317500">
              <a:spcBef>
                <a:spcPts val="280"/>
              </a:spcBef>
              <a:spcAft>
                <a:spcPts val="0"/>
              </a:spcAft>
              <a:buSzPts val="1400"/>
              <a:buChar char="•"/>
              <a:defRPr sz="1400"/>
            </a:lvl1pPr>
            <a:lvl2pPr marL="914400" lvl="1" indent="-304800">
              <a:spcBef>
                <a:spcPts val="260"/>
              </a:spcBef>
              <a:spcAft>
                <a:spcPts val="0"/>
              </a:spcAft>
              <a:buSzPts val="1200"/>
              <a:buChar char="–"/>
              <a:defRPr sz="1200"/>
            </a:lvl2pPr>
            <a:lvl3pPr marL="1371600" lvl="2" indent="-304800">
              <a:spcBef>
                <a:spcPts val="240"/>
              </a:spcBef>
              <a:spcAft>
                <a:spcPts val="0"/>
              </a:spcAft>
              <a:buSzPts val="1200"/>
              <a:buChar char="•"/>
              <a:defRPr sz="1200"/>
            </a:lvl3pPr>
            <a:lvl4pPr marL="1828800" lvl="3" indent="-304800">
              <a:spcBef>
                <a:spcPts val="200"/>
              </a:spcBef>
              <a:spcAft>
                <a:spcPts val="0"/>
              </a:spcAft>
              <a:buSzPts val="1200"/>
              <a:buChar char="–"/>
              <a:defRPr sz="1200"/>
            </a:lvl4pPr>
            <a:lvl5pPr marL="2286000" lvl="4" indent="-304800">
              <a:spcBef>
                <a:spcPts val="160"/>
              </a:spcBef>
              <a:spcAft>
                <a:spcPts val="0"/>
              </a:spcAft>
              <a:buSzPts val="1200"/>
              <a:buChar char="»"/>
              <a:defRPr sz="1200"/>
            </a:lvl5pPr>
            <a:lvl6pPr marL="2743200" lvl="5" indent="-304800">
              <a:spcBef>
                <a:spcPts val="400"/>
              </a:spcBef>
              <a:spcAft>
                <a:spcPts val="0"/>
              </a:spcAft>
              <a:buSzPts val="1200"/>
              <a:buChar char="•"/>
              <a:defRPr sz="1200"/>
            </a:lvl6pPr>
            <a:lvl7pPr marL="3200400" lvl="6" indent="-304800">
              <a:spcBef>
                <a:spcPts val="400"/>
              </a:spcBef>
              <a:spcAft>
                <a:spcPts val="0"/>
              </a:spcAft>
              <a:buSzPts val="1200"/>
              <a:buChar char="•"/>
              <a:defRPr sz="1200"/>
            </a:lvl7pPr>
            <a:lvl8pPr marL="3657600" lvl="7" indent="-304800">
              <a:spcBef>
                <a:spcPts val="400"/>
              </a:spcBef>
              <a:spcAft>
                <a:spcPts val="0"/>
              </a:spcAft>
              <a:buSzPts val="1200"/>
              <a:buChar char="•"/>
              <a:defRPr sz="1200"/>
            </a:lvl8pPr>
            <a:lvl9pPr marL="4114800" lvl="8" indent="-304800">
              <a:spcBef>
                <a:spcPts val="400"/>
              </a:spcBef>
              <a:spcAft>
                <a:spcPts val="0"/>
              </a:spcAft>
              <a:buSzPts val="1200"/>
              <a:buChar char="•"/>
              <a:defRPr sz="1200"/>
            </a:lvl9pPr>
          </a:lstStyle>
          <a:p>
            <a:pPr>
              <a:defRPr/>
            </a:pPr>
            <a:endParaRPr/>
          </a:p>
        </p:txBody>
      </p:sp>
      <p:sp>
        <p:nvSpPr>
          <p:cNvPr id="564392707" name="Google Shape;267;p46"/>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PhAnim="0" matchingName="Caption" userDrawn="1">
  <p:cSld name="CAPTION_ONLY">
    <p:spTree>
      <p:nvGrpSpPr>
        <p:cNvPr id="1" name=""/>
        <p:cNvGrpSpPr/>
        <p:nvPr/>
      </p:nvGrpSpPr>
      <p:grpSpPr bwMode="auto">
        <a:xfrm>
          <a:off x="0" y="0"/>
          <a:ext cx="0" cy="0"/>
          <a:chOff x="0" y="0"/>
          <a:chExt cx="0" cy="0"/>
        </a:xfrm>
      </p:grpSpPr>
      <p:sp>
        <p:nvSpPr>
          <p:cNvPr id="253405329" name="Google Shape;269;p47"/>
          <p:cNvSpPr txBox="1">
            <a:spLocks noGrp="1"/>
          </p:cNvSpPr>
          <p:nvPr>
            <p:ph type="body" idx="1"/>
          </p:nvPr>
        </p:nvSpPr>
        <p:spPr bwMode="auto">
          <a:xfrm>
            <a:off x="311700" y="4230575"/>
            <a:ext cx="5998800" cy="605100"/>
          </a:xfrm>
          <a:prstGeom prst="rect">
            <a:avLst/>
          </a:prstGeom>
        </p:spPr>
        <p:txBody>
          <a:bodyPr spcFirstLastPara="1" wrap="square" lIns="91425" tIns="45700" rIns="91425" bIns="45700" anchor="ctr" anchorCtr="0">
            <a:normAutofit/>
          </a:bodyPr>
          <a:lstStyle>
            <a:lvl1pPr marL="457200" lvl="0" indent="-228600">
              <a:lnSpc>
                <a:spcPct val="100000"/>
              </a:lnSpc>
              <a:spcBef>
                <a:spcPts val="280"/>
              </a:spcBef>
              <a:spcAft>
                <a:spcPts val="0"/>
              </a:spcAft>
              <a:buSzPts val="1800"/>
              <a:buNone/>
              <a:defRPr/>
            </a:lvl1pPr>
          </a:lstStyle>
          <a:p>
            <a:pPr>
              <a:defRPr/>
            </a:pPr>
            <a:endParaRPr/>
          </a:p>
        </p:txBody>
      </p:sp>
      <p:sp>
        <p:nvSpPr>
          <p:cNvPr id="1951574041" name="Google Shape;270;p47"/>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PhAnim="0" matchingName="Title and body" type="tx" userDrawn="1">
  <p:cSld name="TITLE_AND_BODY">
    <p:spTree>
      <p:nvGrpSpPr>
        <p:cNvPr id="1" name=""/>
        <p:cNvGrpSpPr/>
        <p:nvPr/>
      </p:nvGrpSpPr>
      <p:grpSpPr bwMode="auto">
        <a:xfrm>
          <a:off x="0" y="0"/>
          <a:ext cx="0" cy="0"/>
          <a:chOff x="0" y="0"/>
          <a:chExt cx="0" cy="0"/>
        </a:xfrm>
      </p:grpSpPr>
      <p:sp>
        <p:nvSpPr>
          <p:cNvPr id="1032640753" name="Google Shape;272;p48"/>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lvl1pPr lvl="0">
              <a:spcBef>
                <a:spcPts val="0"/>
              </a:spcBef>
              <a:spcAft>
                <a:spcPts val="0"/>
              </a:spcAft>
              <a:buSzPts val="2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047358837" name="Google Shape;273;p48"/>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lvl1pPr marL="457200" lvl="0" indent="-342900">
              <a:spcBef>
                <a:spcPts val="280"/>
              </a:spcBef>
              <a:spcAft>
                <a:spcPts val="0"/>
              </a:spcAft>
              <a:buSzPts val="1800"/>
              <a:buChar char="•"/>
              <a:defRPr/>
            </a:lvl1pPr>
            <a:lvl2pPr marL="914400" lvl="1" indent="-330200">
              <a:spcBef>
                <a:spcPts val="260"/>
              </a:spcBef>
              <a:spcAft>
                <a:spcPts val="0"/>
              </a:spcAft>
              <a:buSzPts val="1600"/>
              <a:buChar char="–"/>
              <a:defRPr/>
            </a:lvl2pPr>
            <a:lvl3pPr marL="1371600" lvl="2" indent="-317500">
              <a:spcBef>
                <a:spcPts val="240"/>
              </a:spcBef>
              <a:spcAft>
                <a:spcPts val="0"/>
              </a:spcAft>
              <a:buSzPts val="1400"/>
              <a:buChar char="•"/>
              <a:defRPr/>
            </a:lvl3pPr>
            <a:lvl4pPr marL="1828800" lvl="3" indent="-304800">
              <a:spcBef>
                <a:spcPts val="200"/>
              </a:spcBef>
              <a:spcAft>
                <a:spcPts val="0"/>
              </a:spcAft>
              <a:buSzPts val="1200"/>
              <a:buChar char="–"/>
              <a:defRPr/>
            </a:lvl4pPr>
            <a:lvl5pPr marL="2286000" lvl="4" indent="-292100">
              <a:spcBef>
                <a:spcPts val="160"/>
              </a:spcBef>
              <a:spcAft>
                <a:spcPts val="0"/>
              </a:spcAft>
              <a:buSzPts val="1000"/>
              <a:buChar char="»"/>
              <a:defRPr/>
            </a:lvl5pPr>
            <a:lvl6pPr marL="2743200" lvl="5" indent="-292100">
              <a:spcBef>
                <a:spcPts val="400"/>
              </a:spcBef>
              <a:spcAft>
                <a:spcPts val="0"/>
              </a:spcAft>
              <a:buSzPts val="1000"/>
              <a:buChar char="•"/>
              <a:defRPr/>
            </a:lvl6pPr>
            <a:lvl7pPr marL="3200400" lvl="6" indent="-292100">
              <a:spcBef>
                <a:spcPts val="400"/>
              </a:spcBef>
              <a:spcAft>
                <a:spcPts val="0"/>
              </a:spcAft>
              <a:buSzPts val="1000"/>
              <a:buChar char="•"/>
              <a:defRPr/>
            </a:lvl7pPr>
            <a:lvl8pPr marL="3657600" lvl="7" indent="-292100">
              <a:spcBef>
                <a:spcPts val="400"/>
              </a:spcBef>
              <a:spcAft>
                <a:spcPts val="0"/>
              </a:spcAft>
              <a:buSzPts val="1000"/>
              <a:buChar char="•"/>
              <a:defRPr/>
            </a:lvl8pPr>
            <a:lvl9pPr marL="4114800" lvl="8" indent="-292100">
              <a:spcBef>
                <a:spcPts val="400"/>
              </a:spcBef>
              <a:spcAft>
                <a:spcPts val="0"/>
              </a:spcAft>
              <a:buSzPts val="1000"/>
              <a:buChar char="•"/>
              <a:defRPr/>
            </a:lvl9pPr>
          </a:lstStyle>
          <a:p>
            <a:pPr>
              <a:defRPr/>
            </a:pPr>
            <a:endParaRPr/>
          </a:p>
        </p:txBody>
      </p:sp>
      <p:sp>
        <p:nvSpPr>
          <p:cNvPr id="1427274916" name="Google Shape;274;p48"/>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PhAnim="0" matchingName="Section header" type="secHead" userDrawn="1">
  <p:cSld name="SECTION_HEADER">
    <p:spTree>
      <p:nvGrpSpPr>
        <p:cNvPr id="1" name=""/>
        <p:cNvGrpSpPr/>
        <p:nvPr/>
      </p:nvGrpSpPr>
      <p:grpSpPr bwMode="auto">
        <a:xfrm>
          <a:off x="0" y="0"/>
          <a:ext cx="0" cy="0"/>
          <a:chOff x="0" y="0"/>
          <a:chExt cx="0" cy="0"/>
        </a:xfrm>
      </p:grpSpPr>
      <p:sp>
        <p:nvSpPr>
          <p:cNvPr id="957060197" name="Google Shape;278;p50"/>
          <p:cNvSpPr txBox="1">
            <a:spLocks noGrp="1"/>
          </p:cNvSpPr>
          <p:nvPr>
            <p:ph type="title"/>
          </p:nvPr>
        </p:nvSpPr>
        <p:spPr bwMode="auto">
          <a:xfrm>
            <a:off x="311700" y="2150850"/>
            <a:ext cx="8520600" cy="841800"/>
          </a:xfrm>
          <a:prstGeom prst="rect">
            <a:avLst/>
          </a:prstGeom>
        </p:spPr>
        <p:txBody>
          <a:bodyPr spcFirstLastPara="1" wrap="square" lIns="91425" tIns="45700" rIns="91425" bIns="45700"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pPr>
              <a:defRPr/>
            </a:pPr>
            <a:endParaRPr/>
          </a:p>
        </p:txBody>
      </p:sp>
      <p:sp>
        <p:nvSpPr>
          <p:cNvPr id="791393780" name="Google Shape;279;p50"/>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PhAnim="0" matchingName="Title only" type="titleOnly" userDrawn="1">
  <p:cSld name="TITLE_ONLY">
    <p:spTree>
      <p:nvGrpSpPr>
        <p:cNvPr id="1" name=""/>
        <p:cNvGrpSpPr/>
        <p:nvPr/>
      </p:nvGrpSpPr>
      <p:grpSpPr bwMode="auto">
        <a:xfrm>
          <a:off x="0" y="0"/>
          <a:ext cx="0" cy="0"/>
          <a:chOff x="0" y="0"/>
          <a:chExt cx="0" cy="0"/>
        </a:xfrm>
      </p:grpSpPr>
      <p:sp>
        <p:nvSpPr>
          <p:cNvPr id="1427055831" name="Google Shape;281;p51"/>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lvl1pPr lvl="0">
              <a:spcBef>
                <a:spcPts val="0"/>
              </a:spcBef>
              <a:spcAft>
                <a:spcPts val="0"/>
              </a:spcAft>
              <a:buSzPts val="25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pPr>
              <a:defRPr/>
            </a:pPr>
            <a:endParaRPr/>
          </a:p>
        </p:txBody>
      </p:sp>
      <p:sp>
        <p:nvSpPr>
          <p:cNvPr id="2006459922" name="Google Shape;282;p51"/>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defRPr/>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image" Target="../media/image1.png"/><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
        <p:cNvGrpSpPr/>
        <p:nvPr/>
      </p:nvGrpSpPr>
      <p:grpSpPr bwMode="auto">
        <a:xfrm>
          <a:off x="0" y="0"/>
          <a:ext cx="0" cy="0"/>
          <a:chOff x="0" y="0"/>
          <a:chExt cx="0" cy="0"/>
        </a:xfrm>
      </p:grpSpPr>
      <p:sp>
        <p:nvSpPr>
          <p:cNvPr id="882195213" name="Google Shape;6;p1"/>
          <p:cNvSpPr txBox="1">
            <a:spLocks noGrp="1"/>
          </p:cNvSpPr>
          <p:nvPr>
            <p:ph type="title"/>
          </p:nvPr>
        </p:nvSpPr>
        <p:spPr bwMode="auto">
          <a:xfrm>
            <a:off x="260226" y="344600"/>
            <a:ext cx="8531400" cy="8235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Clr>
                <a:srgbClr val="890018"/>
              </a:buClr>
              <a:buSzPts val="2500"/>
              <a:buFont typeface="Montserrat Medium"/>
              <a:buNone/>
              <a:defRPr sz="2500" i="0" u="none" strike="noStrike" cap="none">
                <a:solidFill>
                  <a:srgbClr val="890018"/>
                </a:solidFill>
                <a:latin typeface="Montserrat Medium"/>
                <a:ea typeface="Montserrat Medium"/>
                <a:cs typeface="Montserrat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pPr>
              <a:defRPr/>
            </a:pPr>
            <a:endParaRPr/>
          </a:p>
        </p:txBody>
      </p:sp>
      <p:sp>
        <p:nvSpPr>
          <p:cNvPr id="646444150" name="Google Shape;7;p1"/>
          <p:cNvSpPr txBox="1">
            <a:spLocks noGrp="1"/>
          </p:cNvSpPr>
          <p:nvPr>
            <p:ph type="body" idx="1"/>
          </p:nvPr>
        </p:nvSpPr>
        <p:spPr bwMode="auto">
          <a:xfrm>
            <a:off x="260225" y="1244725"/>
            <a:ext cx="8531400" cy="3013800"/>
          </a:xfrm>
          <a:prstGeom prst="rect">
            <a:avLst/>
          </a:prstGeom>
          <a:noFill/>
          <a:ln>
            <a:noFill/>
          </a:ln>
        </p:spPr>
        <p:txBody>
          <a:bodyPr spcFirstLastPara="1" wrap="square" lIns="91425" tIns="45700" rIns="91425" bIns="45700" anchor="t" anchorCtr="0">
            <a:normAutofit/>
          </a:bodyPr>
          <a:lstStyle>
            <a:lvl1pPr marL="457200" marR="0" lvl="0" indent="-342900" algn="l" rtl="0">
              <a:spcBef>
                <a:spcPts val="280"/>
              </a:spcBef>
              <a:spcAft>
                <a:spcPts val="0"/>
              </a:spcAft>
              <a:buClr>
                <a:schemeClr val="dk1"/>
              </a:buClr>
              <a:buSzPts val="1800"/>
              <a:buFont typeface="Arial"/>
              <a:buChar char="•"/>
              <a:defRPr sz="1800" b="0" i="0" u="none" strike="noStrike" cap="none">
                <a:solidFill>
                  <a:schemeClr val="dk1"/>
                </a:solidFill>
                <a:latin typeface="Arial"/>
                <a:ea typeface="Arial"/>
                <a:cs typeface="Arial"/>
              </a:defRPr>
            </a:lvl1pPr>
            <a:lvl2pPr marL="914400" marR="0" lvl="1" indent="-330200" algn="l" rtl="0">
              <a:spcBef>
                <a:spcPts val="260"/>
              </a:spcBef>
              <a:spcAft>
                <a:spcPts val="0"/>
              </a:spcAft>
              <a:buClr>
                <a:schemeClr val="dk1"/>
              </a:buClr>
              <a:buSzPts val="1600"/>
              <a:buFont typeface="Arial"/>
              <a:buChar char="–"/>
              <a:defRPr sz="1600" b="0" i="0" u="none" strike="noStrike" cap="none">
                <a:solidFill>
                  <a:schemeClr val="dk1"/>
                </a:solidFill>
                <a:latin typeface="Arial"/>
                <a:ea typeface="Arial"/>
                <a:cs typeface="Arial"/>
              </a:defRPr>
            </a:lvl2pPr>
            <a:lvl3pPr marL="1371600" marR="0" lvl="2" indent="-317500" algn="l" rtl="0">
              <a:spcBef>
                <a:spcPts val="240"/>
              </a:spcBef>
              <a:spcAft>
                <a:spcPts val="0"/>
              </a:spcAft>
              <a:buClr>
                <a:schemeClr val="dk1"/>
              </a:buClr>
              <a:buSzPts val="1400"/>
              <a:buFont typeface="Arial"/>
              <a:buChar char="•"/>
              <a:defRPr b="0" i="0" u="none" strike="noStrike" cap="none">
                <a:solidFill>
                  <a:schemeClr val="dk1"/>
                </a:solidFill>
                <a:latin typeface="Arial"/>
                <a:ea typeface="Arial"/>
                <a:cs typeface="Arial"/>
              </a:defRPr>
            </a:lvl3pPr>
            <a:lvl4pPr marL="1828800" marR="0" lvl="3" indent="-304800" algn="l" rtl="0">
              <a:spcBef>
                <a:spcPts val="200"/>
              </a:spcBef>
              <a:spcAft>
                <a:spcPts val="0"/>
              </a:spcAft>
              <a:buClr>
                <a:schemeClr val="dk1"/>
              </a:buClr>
              <a:buSzPts val="1200"/>
              <a:buFont typeface="Arial"/>
              <a:buChar char="–"/>
              <a:defRPr sz="1200" b="0" i="0" u="none" strike="noStrike" cap="none">
                <a:solidFill>
                  <a:schemeClr val="dk1"/>
                </a:solidFill>
                <a:latin typeface="Arial"/>
                <a:ea typeface="Arial"/>
                <a:cs typeface="Arial"/>
              </a:defRPr>
            </a:lvl4pPr>
            <a:lvl5pPr marL="2286000" marR="0" lvl="4" indent="-292100" algn="l" rtl="0">
              <a:spcBef>
                <a:spcPts val="160"/>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5pPr>
            <a:lvl6pPr marL="2743200" marR="0" lvl="5" indent="-292100" algn="l" rtl="0">
              <a:spcBef>
                <a:spcPts val="400"/>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6pPr>
            <a:lvl7pPr marL="3200400" marR="0" lvl="6" indent="-292100" algn="l" rtl="0">
              <a:spcBef>
                <a:spcPts val="400"/>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7pPr>
            <a:lvl8pPr marL="3657600" marR="0" lvl="7" indent="-292100" algn="l" rtl="0">
              <a:spcBef>
                <a:spcPts val="400"/>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8pPr>
            <a:lvl9pPr marL="4114800" marR="0" lvl="8" indent="-292100" algn="l" rtl="0">
              <a:spcBef>
                <a:spcPts val="400"/>
              </a:spcBef>
              <a:spcAft>
                <a:spcPts val="0"/>
              </a:spcAft>
              <a:buClr>
                <a:schemeClr val="dk1"/>
              </a:buClr>
              <a:buSzPts val="1000"/>
              <a:buFont typeface="Arial"/>
              <a:buChar char="•"/>
              <a:defRPr sz="1000" b="0" i="0" u="none" strike="noStrike" cap="none">
                <a:solidFill>
                  <a:schemeClr val="dk1"/>
                </a:solidFill>
                <a:latin typeface="Arial"/>
                <a:ea typeface="Arial"/>
                <a:cs typeface="Arial"/>
              </a:defRPr>
            </a:lvl9pPr>
          </a:lstStyle>
          <a:p>
            <a:pPr>
              <a:defRPr/>
            </a:pPr>
            <a:endParaRPr/>
          </a:p>
        </p:txBody>
      </p:sp>
      <p:sp>
        <p:nvSpPr>
          <p:cNvPr id="1457897670" name="Google Shape;8;p1"/>
          <p:cNvSpPr txBox="1">
            <a:spLocks noGrp="1"/>
          </p:cNvSpPr>
          <p:nvPr>
            <p:ph type="sldNum" idx="12"/>
          </p:nvPr>
        </p:nvSpPr>
        <p:spPr bwMode="auto">
          <a:xfrm>
            <a:off x="6657975" y="4745735"/>
            <a:ext cx="2133600" cy="2739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800" b="0" i="0" u="none" strike="noStrike" cap="none">
                <a:solidFill>
                  <a:srgbClr val="003B5C"/>
                </a:solidFill>
                <a:latin typeface="Arial"/>
                <a:ea typeface="Arial"/>
                <a:cs typeface="Arial"/>
              </a:defRPr>
            </a:lvl1pPr>
            <a:lvl2pPr marL="0" marR="0" lvl="1" indent="0" algn="r" rtl="0">
              <a:spcBef>
                <a:spcPts val="0"/>
              </a:spcBef>
              <a:buNone/>
              <a:defRPr sz="800" b="0" i="0" u="none" strike="noStrike" cap="none">
                <a:solidFill>
                  <a:srgbClr val="003B5C"/>
                </a:solidFill>
                <a:latin typeface="Arial"/>
                <a:ea typeface="Arial"/>
                <a:cs typeface="Arial"/>
              </a:defRPr>
            </a:lvl2pPr>
            <a:lvl3pPr marL="0" marR="0" lvl="2" indent="0" algn="r" rtl="0">
              <a:spcBef>
                <a:spcPts val="0"/>
              </a:spcBef>
              <a:buNone/>
              <a:defRPr sz="800" b="0" i="0" u="none" strike="noStrike" cap="none">
                <a:solidFill>
                  <a:srgbClr val="003B5C"/>
                </a:solidFill>
                <a:latin typeface="Arial"/>
                <a:ea typeface="Arial"/>
                <a:cs typeface="Arial"/>
              </a:defRPr>
            </a:lvl3pPr>
            <a:lvl4pPr marL="0" marR="0" lvl="3" indent="0" algn="r" rtl="0">
              <a:spcBef>
                <a:spcPts val="0"/>
              </a:spcBef>
              <a:buNone/>
              <a:defRPr sz="800" b="0" i="0" u="none" strike="noStrike" cap="none">
                <a:solidFill>
                  <a:srgbClr val="003B5C"/>
                </a:solidFill>
                <a:latin typeface="Arial"/>
                <a:ea typeface="Arial"/>
                <a:cs typeface="Arial"/>
              </a:defRPr>
            </a:lvl4pPr>
            <a:lvl5pPr marL="0" marR="0" lvl="4" indent="0" algn="r" rtl="0">
              <a:spcBef>
                <a:spcPts val="0"/>
              </a:spcBef>
              <a:buNone/>
              <a:defRPr sz="800" b="0" i="0" u="none" strike="noStrike" cap="none">
                <a:solidFill>
                  <a:srgbClr val="003B5C"/>
                </a:solidFill>
                <a:latin typeface="Arial"/>
                <a:ea typeface="Arial"/>
                <a:cs typeface="Arial"/>
              </a:defRPr>
            </a:lvl5pPr>
            <a:lvl6pPr marL="0" marR="0" lvl="5" indent="0" algn="r" rtl="0">
              <a:spcBef>
                <a:spcPts val="0"/>
              </a:spcBef>
              <a:buNone/>
              <a:defRPr sz="800" b="0" i="0" u="none" strike="noStrike" cap="none">
                <a:solidFill>
                  <a:srgbClr val="003B5C"/>
                </a:solidFill>
                <a:latin typeface="Arial"/>
                <a:ea typeface="Arial"/>
                <a:cs typeface="Arial"/>
              </a:defRPr>
            </a:lvl6pPr>
            <a:lvl7pPr marL="0" marR="0" lvl="6" indent="0" algn="r" rtl="0">
              <a:spcBef>
                <a:spcPts val="0"/>
              </a:spcBef>
              <a:buNone/>
              <a:defRPr sz="800" b="0" i="0" u="none" strike="noStrike" cap="none">
                <a:solidFill>
                  <a:srgbClr val="003B5C"/>
                </a:solidFill>
                <a:latin typeface="Arial"/>
                <a:ea typeface="Arial"/>
                <a:cs typeface="Arial"/>
              </a:defRPr>
            </a:lvl7pPr>
            <a:lvl8pPr marL="0" marR="0" lvl="7" indent="0" algn="r" rtl="0">
              <a:spcBef>
                <a:spcPts val="0"/>
              </a:spcBef>
              <a:buNone/>
              <a:defRPr sz="800" b="0" i="0" u="none" strike="noStrike" cap="none">
                <a:solidFill>
                  <a:srgbClr val="003B5C"/>
                </a:solidFill>
                <a:latin typeface="Arial"/>
                <a:ea typeface="Arial"/>
                <a:cs typeface="Arial"/>
              </a:defRPr>
            </a:lvl8pPr>
            <a:lvl9pPr marL="0" marR="0" lvl="8" indent="0" algn="r" rtl="0">
              <a:spcBef>
                <a:spcPts val="0"/>
              </a:spcBef>
              <a:buNone/>
              <a:defRPr sz="800" b="0" i="0" u="none" strike="noStrike" cap="none">
                <a:solidFill>
                  <a:srgbClr val="003B5C"/>
                </a:solidFill>
                <a:latin typeface="Arial"/>
                <a:ea typeface="Arial"/>
                <a:cs typeface="Arial"/>
              </a:defRPr>
            </a:lvl9pPr>
          </a:lstStyle>
          <a:p>
            <a:pPr marL="0" lvl="0" indent="0" algn="r" rtl="0">
              <a:spcBef>
                <a:spcPts val="0"/>
              </a:spcBef>
              <a:spcAft>
                <a:spcPts val="0"/>
              </a:spcAft>
              <a:buNone/>
              <a:defRPr/>
            </a:pPr>
            <a:r>
              <a:rPr lang="en"/>
              <a:t>Presentation Title | </a:t>
            </a:r>
            <a:fld id="{00000000-1234-1234-1234-123412341234}" type="slidenum">
              <a:rPr lang="en" b="1"/>
              <a:t>‹#›</a:t>
            </a:fld>
            <a:endParaRPr b="1"/>
          </a:p>
        </p:txBody>
      </p:sp>
      <p:pic>
        <p:nvPicPr>
          <p:cNvPr id="111995901" name="Google Shape;9;p1" descr="01 Singapore University of Social Sciences_Horizontal Format_Version A_White Background_RGB.png"/>
          <p:cNvPicPr/>
          <p:nvPr/>
        </p:nvPicPr>
        <p:blipFill rotWithShape="1">
          <a:blip r:embed="rId51">
            <a:alphaModFix/>
          </a:blip>
          <a:srcRect/>
          <a:stretch/>
        </p:blipFill>
        <p:spPr bwMode="auto">
          <a:xfrm>
            <a:off x="349250" y="4562257"/>
            <a:ext cx="732371" cy="371076"/>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5" r:id="rId37"/>
    <p:sldLayoutId id="2147483686" r:id="rId38"/>
    <p:sldLayoutId id="2147483687" r:id="rId39"/>
    <p:sldLayoutId id="2147483688" r:id="rId40"/>
    <p:sldLayoutId id="2147483689" r:id="rId41"/>
    <p:sldLayoutId id="2147483690" r:id="rId42"/>
    <p:sldLayoutId id="2147483691" r:id="rId43"/>
    <p:sldLayoutId id="2147483692" r:id="rId44"/>
    <p:sldLayoutId id="2147483693" r:id="rId45"/>
    <p:sldLayoutId id="2147483694" r:id="rId46"/>
    <p:sldLayoutId id="2147483695" r:id="rId47"/>
    <p:sldLayoutId id="2147483696" r:id="rId48"/>
    <p:sldLayoutId id="2147483697" r:id="rId4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www.youtube.com/watch?v=wjZofJX0v4M" TargetMode="External"/><Relationship Id="rId2" Type="http://schemas.openxmlformats.org/officeDocument/2006/relationships/notesSlide" Target="../notesSlides/notesSlide2.xml"/><Relationship Id="rId1" Type="http://schemas.openxmlformats.org/officeDocument/2006/relationships/slideLayout" Target="../slideLayouts/slideLayout47.xml"/><Relationship Id="rId4" Type="http://schemas.openxmlformats.org/officeDocument/2006/relationships/image" Target="../media/image9.jp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7.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47.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4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4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47.xml"/><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4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7.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4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7.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9.xml"/><Relationship Id="rId1" Type="http://schemas.openxmlformats.org/officeDocument/2006/relationships/slideLayout" Target="../slideLayouts/slideLayout47.xml"/><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4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4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47.xml"/></Relationships>
</file>

<file path=ppt/slides/_rels/slide23.xml.rels><?xml version="1.0" encoding="UTF-8" standalone="yes"?>
<Relationships xmlns="http://schemas.openxmlformats.org/package/2006/relationships"><Relationship Id="rId3" Type="http://schemas.openxmlformats.org/officeDocument/2006/relationships/hyperlink" Target="http://drive.google.com/file/d/1t9pT5alInOQNCU4Cj4uhVeQI3mQUA1lO/view" TargetMode="External"/><Relationship Id="rId2" Type="http://schemas.openxmlformats.org/officeDocument/2006/relationships/notesSlide" Target="../notesSlides/notesSlide23.xml"/><Relationship Id="rId1" Type="http://schemas.openxmlformats.org/officeDocument/2006/relationships/slideLayout" Target="../slideLayouts/slideLayout49.xml"/><Relationship Id="rId5" Type="http://schemas.openxmlformats.org/officeDocument/2006/relationships/hyperlink" Target="https://drive.google.com/file/d/1t9pT5alInOQNCU4Cj4uhVeQI3mQUA1lO/view?usp=sharing" TargetMode="External"/><Relationship Id="rId4" Type="http://schemas.openxmlformats.org/officeDocument/2006/relationships/image" Target="../media/image18.jpg"/></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47.xml"/></Relationships>
</file>

<file path=ppt/slides/_rels/slide2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5.xml"/><Relationship Id="rId1" Type="http://schemas.openxmlformats.org/officeDocument/2006/relationships/slideLayout" Target="../slideLayouts/slideLayout49.xml"/><Relationship Id="rId4" Type="http://schemas.openxmlformats.org/officeDocument/2006/relationships/hyperlink" Target="https://nlp.stanford.edu/projects/glove/" TargetMode="Externa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46.xml"/></Relationships>
</file>

<file path=ppt/slides/_rels/slide27.xml.rels><?xml version="1.0" encoding="UTF-8" standalone="yes"?>
<Relationships xmlns="http://schemas.openxmlformats.org/package/2006/relationships"><Relationship Id="rId3" Type="http://schemas.openxmlformats.org/officeDocument/2006/relationships/hyperlink" Target="https://projector.tensorflow.org/" TargetMode="External"/><Relationship Id="rId2" Type="http://schemas.openxmlformats.org/officeDocument/2006/relationships/notesSlide" Target="../notesSlides/notesSlide27.xml"/><Relationship Id="rId1" Type="http://schemas.openxmlformats.org/officeDocument/2006/relationships/slideLayout" Target="../slideLayouts/slideLayout47.xml"/><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4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4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4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4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4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4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4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4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4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4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4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4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4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4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4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4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47.xml"/></Relationships>
</file>

<file path=ppt/slides/_rels/slide47.xml.rels><?xml version="1.0" encoding="UTF-8" standalone="yes"?>
<Relationships xmlns="http://schemas.openxmlformats.org/package/2006/relationships"><Relationship Id="rId3" Type="http://schemas.openxmlformats.org/officeDocument/2006/relationships/hyperlink" Target="https://web.stanford.edu/~jurafsky/slp3/" TargetMode="External"/><Relationship Id="rId2" Type="http://schemas.openxmlformats.org/officeDocument/2006/relationships/notesSlide" Target="../notesSlides/notesSlide47.xml"/><Relationship Id="rId1" Type="http://schemas.openxmlformats.org/officeDocument/2006/relationships/slideLayout" Target="../slideLayouts/slideLayout47.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88409792" name="Google Shape;287;p52"/>
          <p:cNvSpPr txBox="1">
            <a:spLocks noGrp="1"/>
          </p:cNvSpPr>
          <p:nvPr>
            <p:ph type="ctrTitle"/>
          </p:nvPr>
        </p:nvSpPr>
        <p:spPr bwMode="auto">
          <a:xfrm>
            <a:off x="257175" y="1246732"/>
            <a:ext cx="7772400" cy="10602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Vector Representation</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46872742" name="Google Shape;300;p54"/>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Word embedding - intro</a:t>
            </a:r>
            <a:endParaRPr/>
          </a:p>
        </p:txBody>
      </p:sp>
      <p:pic>
        <p:nvPicPr>
          <p:cNvPr id="1747589980" name="Google Shape;302;p54" descr="Breaking down how Large Language Models work, visualizing how data flows through.&#10;Instead of sponsored ad reads, these lessons are funded directly by viewers: https://3b1b.co/support&#10;&#10;---&#10;&#10;Here are a few other relevant resources&#10;&#10;Build a GPT from scratch, by Andrej Karpathy&#10;https://youtu.be/kCc8FmEb1nY&#10;&#10;If you want a conceptual understanding of language models from the ground up, @vcubingx just started a short series of videos on the topic:&#10;https://youtu.be/1il-s4mgNdI?si=XaVxj6bsdy3VkgEX&#10;&#10;If you're interested in the herculean task of interpreting what these large networks might actually be doing, the Transformer Circuits posts by Anthropic are great. In particular, it was only after reading one of these that I started thinking of the combination of the value and output matrices as being a combined low-rank map from the embedding space to itself, which, at least in my mind, made things much clearer than other sources.&#10;https://transformer-circuits.pub/2021/framework/index.html&#10;&#10;History of language models by Brit Cruise,  @ArtOfTheProblem  &#10;https://youtu.be/OFS90-FX6pg&#10;&#10;An early paper on how directions in embedding spaces have meaning:&#10;https://arxiv.org/pdf/1301.3781.pdf&#10;&#10;Звуковая дорожка на русском языке: Влад Бурмистров.&#10;&#10;---&#10;&#10;Timestamps&#10;&#10;0:00 - Predict, sample, repeat&#10;3:03 - Inside a transformer&#10;6:36 - Chapter layout&#10;7:20 - The premise of Deep Learning&#10;12:27 - Word embeddings&#10;18:25 - Embeddings beyond words&#10;20:22 - Unembedding&#10;22:22 - Softmax with temperature&#10;26:03 - Up next" title="Transformers, the tech behind LLMs | Deep Learning Chapter 5">
            <a:hlinkClick r:id="rId3"/>
          </p:cNvPr>
          <p:cNvPicPr/>
          <p:nvPr/>
        </p:nvPicPr>
        <p:blipFill rotWithShape="1">
          <a:blip r:embed="rId4">
            <a:alphaModFix/>
          </a:blip>
          <a:stretch/>
        </p:blipFill>
        <p:spPr bwMode="auto">
          <a:xfrm>
            <a:off x="1235676" y="1017724"/>
            <a:ext cx="7003680" cy="3680751"/>
          </a:xfrm>
          <a:prstGeom prst="rect">
            <a:avLst/>
          </a:prstGeom>
          <a:noFill/>
          <a:ln>
            <a:noFill/>
          </a:ln>
        </p:spPr>
      </p:pic>
      <p:sp>
        <p:nvSpPr>
          <p:cNvPr id="1204539149" name="Google Shape;303;p54"/>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2</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747589980"/>
                                        </p:tgtEl>
                                        <p:attrNameLst>
                                          <p:attrName>style.visibility</p:attrName>
                                        </p:attrNameLst>
                                      </p:cBhvr>
                                      <p:to>
                                        <p:strVal val="visible"/>
                                      </p:to>
                                    </p:set>
                                    <p:animEffect transition="in" filter="fade">
                                      <p:cBhvr>
                                        <p:cTn id="7" dur="1000"/>
                                        <p:tgtEl>
                                          <p:spTgt spid="17475899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54834158" name="Google Shape;450;p73"/>
          <p:cNvSpPr txBox="1">
            <a:spLocks noGrp="1"/>
          </p:cNvSpPr>
          <p:nvPr>
            <p:ph type="title"/>
          </p:nvPr>
        </p:nvSpPr>
        <p:spPr bwMode="auto">
          <a:xfrm>
            <a:off x="260226" y="344597"/>
            <a:ext cx="8531398" cy="823500"/>
          </a:xfrm>
          <a:prstGeom prst="rect">
            <a:avLst/>
          </a:prstGeom>
        </p:spPr>
        <p:txBody>
          <a:bodyPr spcFirstLastPara="1" wrap="square" lIns="91422" tIns="45698" rIns="91422" bIns="45698" anchor="ctr" anchorCtr="0">
            <a:noAutofit/>
          </a:bodyPr>
          <a:lstStyle/>
          <a:p>
            <a:pPr marL="0" lvl="0" indent="0" algn="l" rtl="0">
              <a:spcBef>
                <a:spcPts val="0"/>
              </a:spcBef>
              <a:spcAft>
                <a:spcPts val="0"/>
              </a:spcAft>
              <a:buNone/>
              <a:defRPr/>
            </a:pPr>
            <a:r>
              <a:rPr lang="en"/>
              <a:t>How to represent a word or a document?</a:t>
            </a:r>
            <a:endParaRPr/>
          </a:p>
        </p:txBody>
      </p:sp>
      <p:sp>
        <p:nvSpPr>
          <p:cNvPr id="1193243092" name="Google Shape;451;p73"/>
          <p:cNvSpPr txBox="1">
            <a:spLocks noGrp="1"/>
          </p:cNvSpPr>
          <p:nvPr>
            <p:ph type="body" idx="1"/>
          </p:nvPr>
        </p:nvSpPr>
        <p:spPr bwMode="auto">
          <a:xfrm>
            <a:off x="1708048" y="1504272"/>
            <a:ext cx="2731798" cy="2471400"/>
          </a:xfrm>
          <a:prstGeom prst="rect">
            <a:avLst/>
          </a:prstGeom>
          <a:ln w="9525" cap="flat" cmpd="sng">
            <a:solidFill>
              <a:schemeClr val="dk1"/>
            </a:solidFill>
            <a:prstDash val="solid"/>
            <a:round/>
            <a:headEnd type="none" w="sm" len="sm"/>
            <a:tailEnd type="none" w="sm" len="sm"/>
          </a:ln>
        </p:spPr>
        <p:txBody>
          <a:bodyPr spcFirstLastPara="1" wrap="square" lIns="91422" tIns="45698" rIns="91422" bIns="45698" anchor="ctr" anchorCtr="0">
            <a:normAutofit/>
          </a:bodyPr>
          <a:lstStyle/>
          <a:p>
            <a:pPr marL="0" lvl="0" indent="0" algn="ctr" rtl="0">
              <a:spcBef>
                <a:spcPts val="358"/>
              </a:spcBef>
              <a:spcAft>
                <a:spcPts val="0"/>
              </a:spcAft>
              <a:buNone/>
              <a:defRPr/>
            </a:pPr>
            <a:r>
              <a:rPr lang="en"/>
              <a:t>Free entry in 2 a wkly comp to win FA Cup final tkts 21st May 2005. Text FA to 87121 to receive entry question(std txt rate)T&amp;C's apply 08452810075over18's</a:t>
            </a:r>
            <a:endParaRPr/>
          </a:p>
        </p:txBody>
      </p:sp>
      <p:sp>
        <p:nvSpPr>
          <p:cNvPr id="994512804" name="Google Shape;452;p73"/>
          <p:cNvSpPr txBox="1">
            <a:spLocks noGrp="1"/>
          </p:cNvSpPr>
          <p:nvPr>
            <p:ph type="sldNum" idx="12"/>
          </p:nvPr>
        </p:nvSpPr>
        <p:spPr bwMode="auto">
          <a:xfrm>
            <a:off x="6657975" y="4745733"/>
            <a:ext cx="2133598" cy="273898"/>
          </a:xfrm>
          <a:prstGeom prst="rect">
            <a:avLst/>
          </a:prstGeom>
        </p:spPr>
        <p:txBody>
          <a:bodyPr spcFirstLastPara="1" wrap="square" lIns="91422" tIns="45698" rIns="91422" bIns="45698" anchor="ctr" anchorCtr="0">
            <a:noAutofit/>
          </a:bodyPr>
          <a:lstStyle/>
          <a:p>
            <a:pPr marL="0" lvl="0" indent="0" algn="r" rtl="0">
              <a:spcBef>
                <a:spcPts val="0"/>
              </a:spcBef>
              <a:spcAft>
                <a:spcPts val="0"/>
              </a:spcAft>
              <a:buClr>
                <a:srgbClr val="000000"/>
              </a:buClr>
              <a:buFont typeface="Arial"/>
              <a:buNone/>
              <a:defRPr/>
            </a:pPr>
            <a:fld id="{AC2AC838-44E1-AF8E-DF39-E848719F9901}" type="slidenum">
              <a:rPr lang="en"/>
              <a:t>3</a:t>
            </a:fld>
            <a:endParaRPr/>
          </a:p>
        </p:txBody>
      </p:sp>
      <p:sp>
        <p:nvSpPr>
          <p:cNvPr id="1307708543" name="Google Shape;453;p73"/>
          <p:cNvSpPr/>
          <p:nvPr/>
        </p:nvSpPr>
        <p:spPr bwMode="auto">
          <a:xfrm>
            <a:off x="4483623" y="2568072"/>
            <a:ext cx="1134000" cy="343800"/>
          </a:xfrm>
          <a:prstGeom prst="rightArrow">
            <a:avLst>
              <a:gd name="adj1" fmla="val 50000"/>
              <a:gd name="adj2" fmla="val 50000"/>
            </a:avLst>
          </a:prstGeom>
          <a:solidFill>
            <a:schemeClr val="lt2"/>
          </a:solidFill>
          <a:ln w="9525" cap="flat" cmpd="sng">
            <a:solidFill>
              <a:schemeClr val="dk2"/>
            </a:solidFill>
            <a:prstDash val="solid"/>
            <a:round/>
            <a:headEnd type="none" w="sm" len="sm"/>
            <a:tailEnd type="none" w="sm" len="sm"/>
          </a:ln>
        </p:spPr>
        <p:txBody>
          <a:bodyPr spcFirstLastPara="1" wrap="square" lIns="91422" tIns="91422" rIns="91422" bIns="91422" anchor="ctr" anchorCtr="0">
            <a:noAutofit/>
          </a:bodyPr>
          <a:lstStyle/>
          <a:p>
            <a:pPr marL="0" lvl="0" indent="0" algn="ctr" rtl="0">
              <a:spcBef>
                <a:spcPts val="0"/>
              </a:spcBef>
              <a:spcAft>
                <a:spcPts val="0"/>
              </a:spcAft>
              <a:buNone/>
              <a:defRPr/>
            </a:pPr>
            <a:endParaRPr/>
          </a:p>
        </p:txBody>
      </p:sp>
      <p:sp>
        <p:nvSpPr>
          <p:cNvPr id="1900289568" name="Google Shape;454;p73"/>
          <p:cNvSpPr txBox="1"/>
          <p:nvPr/>
        </p:nvSpPr>
        <p:spPr bwMode="auto">
          <a:xfrm>
            <a:off x="5661398" y="2509123"/>
            <a:ext cx="1682398" cy="461700"/>
          </a:xfrm>
          <a:prstGeom prst="rect">
            <a:avLst/>
          </a:prstGeom>
          <a:noFill/>
          <a:ln>
            <a:noFill/>
          </a:ln>
        </p:spPr>
        <p:txBody>
          <a:bodyPr spcFirstLastPara="1" wrap="square" lIns="91422" tIns="91422" rIns="91422" bIns="91422" anchor="t" anchorCtr="0">
            <a:spAutoFit/>
          </a:bodyPr>
          <a:lstStyle/>
          <a:p>
            <a:pPr marL="0" lvl="0" indent="0" algn="l" rtl="0">
              <a:spcBef>
                <a:spcPts val="0"/>
              </a:spcBef>
              <a:spcAft>
                <a:spcPts val="0"/>
              </a:spcAft>
              <a:buNone/>
              <a:defRPr/>
            </a:pPr>
            <a:r>
              <a:rPr lang="en" sz="1800">
                <a:solidFill>
                  <a:schemeClr val="dk1"/>
                </a:solidFill>
              </a:rPr>
              <a:t>Ham or </a:t>
            </a:r>
            <a:r>
              <a:rPr lang="en" sz="1800">
                <a:solidFill>
                  <a:srgbClr val="890018"/>
                </a:solidFill>
              </a:rPr>
              <a:t>Spam</a:t>
            </a:r>
            <a:endParaRPr sz="1800">
              <a:solidFill>
                <a:srgbClr val="890018"/>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27843983" name="Title 1"/>
          <p:cNvSpPr>
            <a:spLocks noGrp="1"/>
          </p:cNvSpPr>
          <p:nvPr>
            <p:ph type="ctrTitle"/>
          </p:nvPr>
        </p:nvSpPr>
        <p:spPr bwMode="auto"/>
        <p:txBody>
          <a:bodyPr/>
          <a:lstStyle/>
          <a:p>
            <a:pPr>
              <a:defRPr/>
            </a:pPr>
            <a:r>
              <a:t>Word Semantics and Static Embeddings</a:t>
            </a:r>
          </a:p>
        </p:txBody>
      </p:sp>
      <p:sp>
        <p:nvSpPr>
          <p:cNvPr id="84952697" name="Subtitle 2"/>
          <p:cNvSpPr>
            <a:spLocks noGrp="1"/>
          </p:cNvSpPr>
          <p:nvPr>
            <p:ph type="subTitle" idx="1"/>
          </p:nvPr>
        </p:nvSpPr>
        <p:spPr bwMode="auto"/>
        <p:txBody>
          <a:bodyPr/>
          <a:lstStyle/>
          <a:p>
            <a:pPr>
              <a:defRPr/>
            </a:pPr>
            <a:r>
              <a:t>How do we represent what a word means?</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21143561" name="Title 1"/>
          <p:cNvSpPr>
            <a:spLocks noGrp="1"/>
          </p:cNvSpPr>
          <p:nvPr>
            <p:ph type="title"/>
          </p:nvPr>
        </p:nvSpPr>
        <p:spPr bwMode="auto"/>
        <p:txBody>
          <a:bodyPr/>
          <a:lstStyle/>
          <a:p>
            <a:pPr>
              <a:defRPr/>
            </a:pPr>
            <a:r>
              <a:t>The Meaning Problem</a:t>
            </a:r>
          </a:p>
        </p:txBody>
      </p:sp>
      <p:sp>
        <p:nvSpPr>
          <p:cNvPr id="1019059429" name="Text Placeholder 2"/>
          <p:cNvSpPr>
            <a:spLocks noGrp="1"/>
          </p:cNvSpPr>
          <p:nvPr>
            <p:ph type="body" idx="1"/>
          </p:nvPr>
        </p:nvSpPr>
        <p:spPr bwMode="auto"/>
        <p:txBody>
          <a:bodyPr/>
          <a:lstStyle/>
          <a:p>
            <a:pPr>
              <a:defRPr/>
            </a:pPr>
            <a:r>
              <a:t>How do you represent what a word means to a machine?</a:t>
            </a:r>
          </a:p>
          <a:p>
            <a:pPr>
              <a:defRPr/>
            </a:pPr>
            <a:r>
              <a:t>Symbolic representations -- WordNet</a:t>
            </a:r>
          </a:p>
          <a:p>
            <a:pPr lvl="1">
              <a:defRPr/>
            </a:pPr>
            <a:r>
              <a:rPr sz="1800"/>
              <a:t>Organises words into a hierarchy of meanings (synsets): car -&gt; vehicle -&gt; artifact -&gt; ...</a:t>
            </a:r>
            <a:endParaRPr/>
          </a:p>
          <a:p>
            <a:pPr lvl="1">
              <a:defRPr/>
            </a:pPr>
            <a:r>
              <a:rPr sz="1800"/>
              <a:t>Hand-constructed, expensive to maintain, no notion of degree of similarity</a:t>
            </a:r>
            <a:endParaRPr/>
          </a:p>
          <a:p>
            <a:pPr>
              <a:defRPr/>
            </a:pPr>
            <a:r>
              <a:t>One-hot encoding</a:t>
            </a:r>
          </a:p>
          <a:p>
            <a:pPr lvl="1">
              <a:defRPr/>
            </a:pPr>
            <a:r>
              <a:rPr sz="1800"/>
              <a:t>"cat" = [1,0,0,...], "dog" = [0,1,0,...] -- cosine similarity between any two words is 0</a:t>
            </a:r>
            <a:endParaRPr/>
          </a:p>
          <a:p>
            <a:pPr lvl="1">
              <a:defRPr/>
            </a:pPr>
            <a:r>
              <a:rPr sz="1800"/>
              <a:t>No notion of similarity at all</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261830852" name="Google Shape;332;p58"/>
          <p:cNvSpPr txBox="1">
            <a:spLocks noGrp="1"/>
          </p:cNvSpPr>
          <p:nvPr>
            <p:ph type="title"/>
          </p:nvPr>
        </p:nvSpPr>
        <p:spPr bwMode="auto">
          <a:xfrm>
            <a:off x="260226" y="344600"/>
            <a:ext cx="8531400" cy="823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Surface form definition</a:t>
            </a:r>
            <a:endParaRPr/>
          </a:p>
        </p:txBody>
      </p:sp>
      <p:sp>
        <p:nvSpPr>
          <p:cNvPr id="128532365" name="Google Shape;333;p58"/>
          <p:cNvSpPr txBox="1">
            <a:spLocks noGrp="1"/>
          </p:cNvSpPr>
          <p:nvPr>
            <p:ph type="body" idx="1"/>
          </p:nvPr>
        </p:nvSpPr>
        <p:spPr bwMode="auto">
          <a:xfrm>
            <a:off x="260225" y="1244725"/>
            <a:ext cx="4816200" cy="30138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defRPr/>
            </a:pPr>
            <a:r>
              <a:rPr lang="en"/>
              <a:t>Introductory logic classes:</a:t>
            </a:r>
            <a:endParaRPr/>
          </a:p>
          <a:p>
            <a:pPr marL="457200" lvl="0" indent="-342900" algn="l" rtl="0">
              <a:spcBef>
                <a:spcPts val="360"/>
              </a:spcBef>
              <a:spcAft>
                <a:spcPts val="0"/>
              </a:spcAft>
              <a:buSzPts val="1800"/>
              <a:buChar char="❏"/>
              <a:defRPr/>
            </a:pPr>
            <a:r>
              <a:rPr lang="en"/>
              <a:t>The meaning of "dog" is DOG; cat is CAT</a:t>
            </a:r>
            <a:endParaRPr/>
          </a:p>
          <a:p>
            <a:pPr marL="457200" lvl="0" indent="-342900" algn="l" rtl="0">
              <a:spcBef>
                <a:spcPts val="0"/>
              </a:spcBef>
              <a:spcAft>
                <a:spcPts val="0"/>
              </a:spcAft>
              <a:buSzPts val="1800"/>
              <a:buChar char="❏"/>
              <a:defRPr/>
            </a:pPr>
            <a:r>
              <a:rPr lang="en"/>
              <a:t>∀x DOG(x) ⟶ MAMMAL(x)</a:t>
            </a:r>
            <a:endParaRPr/>
          </a:p>
          <a:p>
            <a:pPr marL="0" lvl="0" indent="0" algn="l" rtl="0">
              <a:spcBef>
                <a:spcPts val="360"/>
              </a:spcBef>
              <a:spcAft>
                <a:spcPts val="0"/>
              </a:spcAft>
              <a:buNone/>
              <a:defRPr/>
            </a:pPr>
            <a:r>
              <a:rPr lang="en"/>
              <a:t>Surface definition is rigid and rely on expert annotation.</a:t>
            </a:r>
            <a:endParaRPr/>
          </a:p>
          <a:p>
            <a:pPr marL="0" lvl="0" indent="0" algn="l" rtl="0">
              <a:spcBef>
                <a:spcPts val="360"/>
              </a:spcBef>
              <a:spcAft>
                <a:spcPts val="0"/>
              </a:spcAft>
              <a:buNone/>
              <a:defRPr/>
            </a:pPr>
            <a:endParaRPr/>
          </a:p>
          <a:p>
            <a:pPr marL="0" lvl="0" indent="0" algn="l" rtl="0">
              <a:spcBef>
                <a:spcPts val="360"/>
              </a:spcBef>
              <a:spcAft>
                <a:spcPts val="0"/>
              </a:spcAft>
              <a:buNone/>
              <a:defRPr/>
            </a:pPr>
            <a:r>
              <a:rPr lang="en"/>
              <a:t>We would like a more flexible way of sense making → </a:t>
            </a:r>
            <a:r>
              <a:rPr lang="en" b="1"/>
              <a:t>vector semantics</a:t>
            </a:r>
            <a:endParaRPr b="1"/>
          </a:p>
        </p:txBody>
      </p:sp>
      <p:sp>
        <p:nvSpPr>
          <p:cNvPr id="372743617" name="Google Shape;334;p58"/>
          <p:cNvSpPr txBox="1">
            <a:spLocks noGrp="1"/>
          </p:cNvSpPr>
          <p:nvPr>
            <p:ph type="sldNum" idx="12"/>
          </p:nvPr>
        </p:nvSpPr>
        <p:spPr bwMode="auto">
          <a:xfrm>
            <a:off x="6657975" y="4745735"/>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defRPr/>
            </a:pPr>
            <a:fld id="{00000000-1234-1234-1234-123412341234}" type="slidenum">
              <a:rPr lang="en"/>
              <a:t>6</a:t>
            </a:fld>
            <a:endParaRPr/>
          </a:p>
        </p:txBody>
      </p:sp>
      <p:graphicFrame>
        <p:nvGraphicFramePr>
          <p:cNvPr id="1901738800" name="Google Shape;335;p58"/>
          <p:cNvGraphicFramePr>
            <a:graphicFrameLocks/>
          </p:cNvGraphicFramePr>
          <p:nvPr/>
        </p:nvGraphicFramePr>
        <p:xfrm>
          <a:off x="5211925" y="1469753"/>
          <a:ext cx="3000000" cy="3000000"/>
        </p:xfrm>
        <a:graphic>
          <a:graphicData uri="http://schemas.openxmlformats.org/drawingml/2006/table">
            <a:tbl>
              <a:tblPr>
                <a:tableStyleId>{1316267D-F331-429C-A7BD-D566D4DBC0C9}</a:tableStyleId>
              </a:tblPr>
              <a:tblGrid>
                <a:gridCol w="1074950">
                  <a:extLst>
                    <a:ext uri="{9D8B030D-6E8A-4147-A177-3AD203B41FA5}">
                      <a16:colId xmlns:a16="http://schemas.microsoft.com/office/drawing/2014/main" val="20000"/>
                    </a:ext>
                  </a:extLst>
                </a:gridCol>
                <a:gridCol w="1196700">
                  <a:extLst>
                    <a:ext uri="{9D8B030D-6E8A-4147-A177-3AD203B41FA5}">
                      <a16:colId xmlns:a16="http://schemas.microsoft.com/office/drawing/2014/main" val="20001"/>
                    </a:ext>
                  </a:extLst>
                </a:gridCol>
                <a:gridCol w="1277849">
                  <a:extLst>
                    <a:ext uri="{9D8B030D-6E8A-4147-A177-3AD203B41FA5}">
                      <a16:colId xmlns:a16="http://schemas.microsoft.com/office/drawing/2014/main" val="20002"/>
                    </a:ext>
                  </a:extLst>
                </a:gridCol>
              </a:tblGrid>
              <a:tr h="366250">
                <a:tc>
                  <a:txBody>
                    <a:bodyPr/>
                    <a:lstStyle/>
                    <a:p>
                      <a:pPr marL="0" lvl="0" indent="0" algn="l" rtl="0">
                        <a:spcBef>
                          <a:spcPts val="0"/>
                        </a:spcBef>
                        <a:spcAft>
                          <a:spcPts val="0"/>
                        </a:spcAft>
                        <a:buNone/>
                        <a:defRPr/>
                      </a:pPr>
                      <a:r>
                        <a:rPr lang="en" sz="1200"/>
                        <a:t>Word 1</a:t>
                      </a:r>
                      <a:endParaRPr sz="1200"/>
                    </a:p>
                  </a:txBody>
                  <a:tcPr marL="91425" marR="91425" marT="91425" marB="91425">
                    <a:solidFill>
                      <a:srgbClr val="A4C2F4"/>
                    </a:solidFill>
                  </a:tcPr>
                </a:tc>
                <a:tc>
                  <a:txBody>
                    <a:bodyPr/>
                    <a:lstStyle/>
                    <a:p>
                      <a:pPr marL="0" lvl="0" indent="0" algn="l" rtl="0">
                        <a:spcBef>
                          <a:spcPts val="0"/>
                        </a:spcBef>
                        <a:spcAft>
                          <a:spcPts val="0"/>
                        </a:spcAft>
                        <a:buNone/>
                        <a:defRPr/>
                      </a:pPr>
                      <a:r>
                        <a:rPr lang="en" sz="1200"/>
                        <a:t>Word 2</a:t>
                      </a:r>
                      <a:endParaRPr sz="1200"/>
                    </a:p>
                  </a:txBody>
                  <a:tcPr marL="91425" marR="91425" marT="91425" marB="91425">
                    <a:solidFill>
                      <a:srgbClr val="A4C2F4"/>
                    </a:solidFill>
                  </a:tcPr>
                </a:tc>
                <a:tc>
                  <a:txBody>
                    <a:bodyPr/>
                    <a:lstStyle/>
                    <a:p>
                      <a:pPr marL="0" lvl="0" indent="0" algn="l" rtl="0">
                        <a:spcBef>
                          <a:spcPts val="0"/>
                        </a:spcBef>
                        <a:spcAft>
                          <a:spcPts val="0"/>
                        </a:spcAft>
                        <a:buNone/>
                        <a:defRPr/>
                      </a:pPr>
                      <a:r>
                        <a:rPr lang="en" sz="1200"/>
                        <a:t>Similarity </a:t>
                      </a:r>
                      <a:endParaRPr sz="1200"/>
                    </a:p>
                  </a:txBody>
                  <a:tcPr marL="91425" marR="91425" marT="91425" marB="91425">
                    <a:solidFill>
                      <a:srgbClr val="A4C2F4"/>
                    </a:solidFill>
                  </a:tcPr>
                </a:tc>
                <a:extLst>
                  <a:ext uri="{0D108BD9-81ED-4DB2-BD59-A6C34878D82A}">
                    <a16:rowId xmlns:a16="http://schemas.microsoft.com/office/drawing/2014/main" val="10000"/>
                  </a:ext>
                </a:extLst>
              </a:tr>
              <a:tr h="366250">
                <a:tc>
                  <a:txBody>
                    <a:bodyPr/>
                    <a:lstStyle/>
                    <a:p>
                      <a:pPr marL="0" lvl="0" indent="0" algn="l" rtl="0">
                        <a:spcBef>
                          <a:spcPts val="0"/>
                        </a:spcBef>
                        <a:spcAft>
                          <a:spcPts val="0"/>
                        </a:spcAft>
                        <a:buNone/>
                        <a:defRPr/>
                      </a:pPr>
                      <a:r>
                        <a:rPr lang="en" sz="1200"/>
                        <a:t>vanish</a:t>
                      </a:r>
                      <a:endParaRPr sz="1200"/>
                    </a:p>
                  </a:txBody>
                  <a:tcPr marL="91425" marR="91425" marT="91425" marB="91425"/>
                </a:tc>
                <a:tc>
                  <a:txBody>
                    <a:bodyPr/>
                    <a:lstStyle/>
                    <a:p>
                      <a:pPr marL="0" lvl="0" indent="0" algn="l" rtl="0">
                        <a:spcBef>
                          <a:spcPts val="0"/>
                        </a:spcBef>
                        <a:spcAft>
                          <a:spcPts val="0"/>
                        </a:spcAft>
                        <a:buNone/>
                        <a:defRPr/>
                      </a:pPr>
                      <a:r>
                        <a:rPr lang="en" sz="1200"/>
                        <a:t>disappear</a:t>
                      </a:r>
                      <a:endParaRPr sz="1200"/>
                    </a:p>
                  </a:txBody>
                  <a:tcPr marL="91425" marR="91425" marT="91425" marB="91425"/>
                </a:tc>
                <a:tc>
                  <a:txBody>
                    <a:bodyPr/>
                    <a:lstStyle/>
                    <a:p>
                      <a:pPr marL="0" lvl="0" indent="0" algn="l" rtl="0">
                        <a:spcBef>
                          <a:spcPts val="0"/>
                        </a:spcBef>
                        <a:spcAft>
                          <a:spcPts val="0"/>
                        </a:spcAft>
                        <a:buNone/>
                        <a:defRPr/>
                      </a:pPr>
                      <a:r>
                        <a:rPr lang="en" sz="1200"/>
                        <a:t>9.8</a:t>
                      </a:r>
                      <a:endParaRPr sz="1200"/>
                    </a:p>
                  </a:txBody>
                  <a:tcPr marL="91425" marR="91425" marT="91425" marB="91425"/>
                </a:tc>
                <a:extLst>
                  <a:ext uri="{0D108BD9-81ED-4DB2-BD59-A6C34878D82A}">
                    <a16:rowId xmlns:a16="http://schemas.microsoft.com/office/drawing/2014/main" val="10001"/>
                  </a:ext>
                </a:extLst>
              </a:tr>
              <a:tr h="366250">
                <a:tc>
                  <a:txBody>
                    <a:bodyPr/>
                    <a:lstStyle/>
                    <a:p>
                      <a:pPr marL="0" lvl="0" indent="0" algn="l" rtl="0">
                        <a:spcBef>
                          <a:spcPts val="0"/>
                        </a:spcBef>
                        <a:spcAft>
                          <a:spcPts val="0"/>
                        </a:spcAft>
                        <a:buNone/>
                        <a:defRPr/>
                      </a:pPr>
                      <a:r>
                        <a:rPr lang="en" sz="1200"/>
                        <a:t>behave</a:t>
                      </a:r>
                      <a:endParaRPr sz="1200"/>
                    </a:p>
                  </a:txBody>
                  <a:tcPr marL="91425" marR="91425" marT="91425" marB="91425">
                    <a:solidFill>
                      <a:srgbClr val="C9DAF8"/>
                    </a:solidFill>
                  </a:tcPr>
                </a:tc>
                <a:tc>
                  <a:txBody>
                    <a:bodyPr/>
                    <a:lstStyle/>
                    <a:p>
                      <a:pPr marL="0" lvl="0" indent="0" algn="l" rtl="0">
                        <a:spcBef>
                          <a:spcPts val="0"/>
                        </a:spcBef>
                        <a:spcAft>
                          <a:spcPts val="0"/>
                        </a:spcAft>
                        <a:buNone/>
                        <a:defRPr/>
                      </a:pPr>
                      <a:r>
                        <a:rPr lang="en" sz="1200"/>
                        <a:t>obey</a:t>
                      </a:r>
                      <a:endParaRPr sz="1200"/>
                    </a:p>
                  </a:txBody>
                  <a:tcPr marL="91425" marR="91425" marT="91425" marB="91425">
                    <a:solidFill>
                      <a:srgbClr val="C9DAF8"/>
                    </a:solidFill>
                  </a:tcPr>
                </a:tc>
                <a:tc>
                  <a:txBody>
                    <a:bodyPr/>
                    <a:lstStyle/>
                    <a:p>
                      <a:pPr marL="0" lvl="0" indent="0" algn="l" rtl="0">
                        <a:spcBef>
                          <a:spcPts val="0"/>
                        </a:spcBef>
                        <a:spcAft>
                          <a:spcPts val="0"/>
                        </a:spcAft>
                        <a:buNone/>
                        <a:defRPr/>
                      </a:pPr>
                      <a:r>
                        <a:rPr lang="en" sz="1200"/>
                        <a:t>7.3</a:t>
                      </a:r>
                      <a:endParaRPr sz="1200"/>
                    </a:p>
                  </a:txBody>
                  <a:tcPr marL="91425" marR="91425" marT="91425" marB="91425">
                    <a:solidFill>
                      <a:srgbClr val="C9DAF8"/>
                    </a:solidFill>
                  </a:tcPr>
                </a:tc>
                <a:extLst>
                  <a:ext uri="{0D108BD9-81ED-4DB2-BD59-A6C34878D82A}">
                    <a16:rowId xmlns:a16="http://schemas.microsoft.com/office/drawing/2014/main" val="10002"/>
                  </a:ext>
                </a:extLst>
              </a:tr>
              <a:tr h="366250">
                <a:tc>
                  <a:txBody>
                    <a:bodyPr/>
                    <a:lstStyle/>
                    <a:p>
                      <a:pPr marL="0" lvl="0" indent="0" algn="l" rtl="0">
                        <a:spcBef>
                          <a:spcPts val="0"/>
                        </a:spcBef>
                        <a:spcAft>
                          <a:spcPts val="0"/>
                        </a:spcAft>
                        <a:buNone/>
                        <a:defRPr/>
                      </a:pPr>
                      <a:r>
                        <a:rPr lang="en" sz="1200"/>
                        <a:t>belief</a:t>
                      </a:r>
                      <a:endParaRPr sz="1200"/>
                    </a:p>
                  </a:txBody>
                  <a:tcPr marL="91425" marR="91425" marT="91425" marB="91425"/>
                </a:tc>
                <a:tc>
                  <a:txBody>
                    <a:bodyPr/>
                    <a:lstStyle/>
                    <a:p>
                      <a:pPr marL="0" lvl="0" indent="0" algn="l" rtl="0">
                        <a:spcBef>
                          <a:spcPts val="0"/>
                        </a:spcBef>
                        <a:spcAft>
                          <a:spcPts val="0"/>
                        </a:spcAft>
                        <a:buNone/>
                        <a:defRPr/>
                      </a:pPr>
                      <a:r>
                        <a:rPr lang="en" sz="1200"/>
                        <a:t>impression</a:t>
                      </a:r>
                      <a:endParaRPr sz="1200"/>
                    </a:p>
                  </a:txBody>
                  <a:tcPr marL="91425" marR="91425" marT="91425" marB="91425"/>
                </a:tc>
                <a:tc>
                  <a:txBody>
                    <a:bodyPr/>
                    <a:lstStyle/>
                    <a:p>
                      <a:pPr marL="0" lvl="0" indent="0" algn="l" rtl="0">
                        <a:spcBef>
                          <a:spcPts val="0"/>
                        </a:spcBef>
                        <a:spcAft>
                          <a:spcPts val="0"/>
                        </a:spcAft>
                        <a:buNone/>
                        <a:defRPr/>
                      </a:pPr>
                      <a:r>
                        <a:rPr lang="en" sz="1200"/>
                        <a:t>5.95</a:t>
                      </a:r>
                      <a:endParaRPr sz="1200"/>
                    </a:p>
                  </a:txBody>
                  <a:tcPr marL="91425" marR="91425" marT="91425" marB="91425"/>
                </a:tc>
                <a:extLst>
                  <a:ext uri="{0D108BD9-81ED-4DB2-BD59-A6C34878D82A}">
                    <a16:rowId xmlns:a16="http://schemas.microsoft.com/office/drawing/2014/main" val="10003"/>
                  </a:ext>
                </a:extLst>
              </a:tr>
              <a:tr h="366250">
                <a:tc>
                  <a:txBody>
                    <a:bodyPr/>
                    <a:lstStyle/>
                    <a:p>
                      <a:pPr marL="0" lvl="0" indent="0" algn="l" rtl="0">
                        <a:spcBef>
                          <a:spcPts val="0"/>
                        </a:spcBef>
                        <a:spcAft>
                          <a:spcPts val="0"/>
                        </a:spcAft>
                        <a:buNone/>
                        <a:defRPr/>
                      </a:pPr>
                      <a:r>
                        <a:rPr lang="en" sz="1200"/>
                        <a:t>muscle</a:t>
                      </a:r>
                      <a:endParaRPr sz="1200"/>
                    </a:p>
                  </a:txBody>
                  <a:tcPr marL="91425" marR="91425" marT="91425" marB="91425">
                    <a:solidFill>
                      <a:srgbClr val="C9DAF8"/>
                    </a:solidFill>
                  </a:tcPr>
                </a:tc>
                <a:tc>
                  <a:txBody>
                    <a:bodyPr/>
                    <a:lstStyle/>
                    <a:p>
                      <a:pPr marL="0" lvl="0" indent="0" algn="l" rtl="0">
                        <a:spcBef>
                          <a:spcPts val="0"/>
                        </a:spcBef>
                        <a:spcAft>
                          <a:spcPts val="0"/>
                        </a:spcAft>
                        <a:buNone/>
                        <a:defRPr/>
                      </a:pPr>
                      <a:r>
                        <a:rPr lang="en" sz="1200"/>
                        <a:t>bone</a:t>
                      </a:r>
                      <a:endParaRPr sz="1200"/>
                    </a:p>
                  </a:txBody>
                  <a:tcPr marL="91425" marR="91425" marT="91425" marB="91425">
                    <a:solidFill>
                      <a:srgbClr val="C9DAF8"/>
                    </a:solidFill>
                  </a:tcPr>
                </a:tc>
                <a:tc>
                  <a:txBody>
                    <a:bodyPr/>
                    <a:lstStyle/>
                    <a:p>
                      <a:pPr marL="0" lvl="0" indent="0" algn="l" rtl="0">
                        <a:spcBef>
                          <a:spcPts val="0"/>
                        </a:spcBef>
                        <a:spcAft>
                          <a:spcPts val="0"/>
                        </a:spcAft>
                        <a:buNone/>
                        <a:defRPr/>
                      </a:pPr>
                      <a:r>
                        <a:rPr lang="en" sz="1200"/>
                        <a:t>3.65</a:t>
                      </a:r>
                      <a:endParaRPr sz="1200"/>
                    </a:p>
                  </a:txBody>
                  <a:tcPr marL="91425" marR="91425" marT="91425" marB="91425">
                    <a:solidFill>
                      <a:srgbClr val="C9DAF8"/>
                    </a:solidFill>
                  </a:tcPr>
                </a:tc>
                <a:extLst>
                  <a:ext uri="{0D108BD9-81ED-4DB2-BD59-A6C34878D82A}">
                    <a16:rowId xmlns:a16="http://schemas.microsoft.com/office/drawing/2014/main" val="10004"/>
                  </a:ext>
                </a:extLst>
              </a:tr>
              <a:tr h="366250">
                <a:tc>
                  <a:txBody>
                    <a:bodyPr/>
                    <a:lstStyle/>
                    <a:p>
                      <a:pPr marL="0" lvl="0" indent="0" algn="l" rtl="0">
                        <a:spcBef>
                          <a:spcPts val="0"/>
                        </a:spcBef>
                        <a:spcAft>
                          <a:spcPts val="0"/>
                        </a:spcAft>
                        <a:buNone/>
                        <a:defRPr/>
                      </a:pPr>
                      <a:r>
                        <a:rPr lang="en" sz="1200"/>
                        <a:t>modest</a:t>
                      </a:r>
                      <a:endParaRPr sz="1200"/>
                    </a:p>
                  </a:txBody>
                  <a:tcPr marL="91425" marR="91425" marT="91425" marB="91425"/>
                </a:tc>
                <a:tc>
                  <a:txBody>
                    <a:bodyPr/>
                    <a:lstStyle/>
                    <a:p>
                      <a:pPr marL="0" lvl="0" indent="0" algn="l" rtl="0">
                        <a:spcBef>
                          <a:spcPts val="0"/>
                        </a:spcBef>
                        <a:spcAft>
                          <a:spcPts val="0"/>
                        </a:spcAft>
                        <a:buNone/>
                        <a:defRPr/>
                      </a:pPr>
                      <a:r>
                        <a:rPr lang="en" sz="1200"/>
                        <a:t>flexible</a:t>
                      </a:r>
                      <a:endParaRPr sz="1200"/>
                    </a:p>
                  </a:txBody>
                  <a:tcPr marL="91425" marR="91425" marT="91425" marB="91425"/>
                </a:tc>
                <a:tc>
                  <a:txBody>
                    <a:bodyPr/>
                    <a:lstStyle/>
                    <a:p>
                      <a:pPr marL="0" lvl="0" indent="0" algn="l" rtl="0">
                        <a:spcBef>
                          <a:spcPts val="0"/>
                        </a:spcBef>
                        <a:spcAft>
                          <a:spcPts val="0"/>
                        </a:spcAft>
                        <a:buNone/>
                        <a:defRPr/>
                      </a:pPr>
                      <a:r>
                        <a:rPr lang="en" sz="1200"/>
                        <a:t>0.98</a:t>
                      </a:r>
                      <a:endParaRPr sz="1200"/>
                    </a:p>
                  </a:txBody>
                  <a:tcPr marL="91425" marR="91425" marT="91425" marB="91425"/>
                </a:tc>
                <a:extLst>
                  <a:ext uri="{0D108BD9-81ED-4DB2-BD59-A6C34878D82A}">
                    <a16:rowId xmlns:a16="http://schemas.microsoft.com/office/drawing/2014/main" val="10005"/>
                  </a:ext>
                </a:extLst>
              </a:tr>
              <a:tr h="366250">
                <a:tc>
                  <a:txBody>
                    <a:bodyPr/>
                    <a:lstStyle/>
                    <a:p>
                      <a:pPr marL="0" lvl="0" indent="0" algn="l" rtl="0">
                        <a:spcBef>
                          <a:spcPts val="0"/>
                        </a:spcBef>
                        <a:spcAft>
                          <a:spcPts val="0"/>
                        </a:spcAft>
                        <a:buNone/>
                        <a:defRPr/>
                      </a:pPr>
                      <a:r>
                        <a:rPr lang="en" sz="1200"/>
                        <a:t>hole</a:t>
                      </a:r>
                      <a:endParaRPr sz="1200"/>
                    </a:p>
                  </a:txBody>
                  <a:tcPr marL="91425" marR="91425" marT="91425" marB="91425">
                    <a:solidFill>
                      <a:srgbClr val="C9DAF8"/>
                    </a:solidFill>
                  </a:tcPr>
                </a:tc>
                <a:tc>
                  <a:txBody>
                    <a:bodyPr/>
                    <a:lstStyle/>
                    <a:p>
                      <a:pPr marL="0" lvl="0" indent="0" algn="l" rtl="0">
                        <a:spcBef>
                          <a:spcPts val="0"/>
                        </a:spcBef>
                        <a:spcAft>
                          <a:spcPts val="0"/>
                        </a:spcAft>
                        <a:buNone/>
                        <a:defRPr/>
                      </a:pPr>
                      <a:r>
                        <a:rPr lang="en" sz="1200"/>
                        <a:t>agreement</a:t>
                      </a:r>
                      <a:endParaRPr sz="1200"/>
                    </a:p>
                  </a:txBody>
                  <a:tcPr marL="91425" marR="91425" marT="91425" marB="91425">
                    <a:solidFill>
                      <a:srgbClr val="C9DAF8"/>
                    </a:solidFill>
                  </a:tcPr>
                </a:tc>
                <a:tc>
                  <a:txBody>
                    <a:bodyPr/>
                    <a:lstStyle/>
                    <a:p>
                      <a:pPr marL="0" lvl="0" indent="0" algn="l" rtl="0">
                        <a:spcBef>
                          <a:spcPts val="0"/>
                        </a:spcBef>
                        <a:spcAft>
                          <a:spcPts val="0"/>
                        </a:spcAft>
                        <a:buNone/>
                        <a:defRPr/>
                      </a:pPr>
                      <a:r>
                        <a:rPr lang="en" sz="1200"/>
                        <a:t>0.3</a:t>
                      </a:r>
                      <a:endParaRPr sz="1200"/>
                    </a:p>
                  </a:txBody>
                  <a:tcPr marL="91425" marR="91425" marT="91425" marB="91425">
                    <a:solidFill>
                      <a:srgbClr val="C9DAF8"/>
                    </a:solidFill>
                  </a:tcPr>
                </a:tc>
                <a:extLst>
                  <a:ext uri="{0D108BD9-81ED-4DB2-BD59-A6C34878D82A}">
                    <a16:rowId xmlns:a16="http://schemas.microsoft.com/office/drawing/2014/main" val="10006"/>
                  </a:ext>
                </a:extLst>
              </a:tr>
            </a:tbl>
          </a:graphicData>
        </a:graphic>
      </p:graphicFrame>
      <p:sp>
        <p:nvSpPr>
          <p:cNvPr id="887430386" name="Google Shape;336;p58"/>
          <p:cNvSpPr txBox="1"/>
          <p:nvPr/>
        </p:nvSpPr>
        <p:spPr bwMode="auto">
          <a:xfrm>
            <a:off x="5252225" y="4081800"/>
            <a:ext cx="350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t>SimLex-999 dataset (Hill et al., 2015)</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89662905" name="Google Shape;325;p57"/>
          <p:cNvSpPr txBox="1">
            <a:spLocks noGrp="1"/>
          </p:cNvSpPr>
          <p:nvPr>
            <p:ph type="title"/>
          </p:nvPr>
        </p:nvSpPr>
        <p:spPr bwMode="auto">
          <a:xfrm>
            <a:off x="260226" y="344600"/>
            <a:ext cx="8531400" cy="823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Why do we need embedding?</a:t>
            </a:r>
            <a:endParaRPr/>
          </a:p>
        </p:txBody>
      </p:sp>
      <p:sp>
        <p:nvSpPr>
          <p:cNvPr id="182848267" name="Google Shape;326;p57"/>
          <p:cNvSpPr txBox="1">
            <a:spLocks noGrp="1"/>
          </p:cNvSpPr>
          <p:nvPr>
            <p:ph type="sldNum" idx="12"/>
          </p:nvPr>
        </p:nvSpPr>
        <p:spPr bwMode="auto">
          <a:xfrm>
            <a:off x="6657975" y="4745735"/>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defRPr/>
            </a:pPr>
            <a:fld id="{00000000-1234-1234-1234-123412341234}" type="slidenum">
              <a:rPr lang="en"/>
              <a:t>7</a:t>
            </a:fld>
            <a:endParaRPr/>
          </a:p>
        </p:txBody>
      </p:sp>
      <p:sp>
        <p:nvSpPr>
          <p:cNvPr id="485261117" name="Google Shape;327;p57"/>
          <p:cNvSpPr txBox="1">
            <a:spLocks noGrp="1"/>
          </p:cNvSpPr>
          <p:nvPr>
            <p:ph type="body" idx="1"/>
          </p:nvPr>
        </p:nvSpPr>
        <p:spPr bwMode="auto">
          <a:xfrm>
            <a:off x="260225" y="1244725"/>
            <a:ext cx="8531400" cy="3013800"/>
          </a:xfrm>
          <a:prstGeom prst="rect">
            <a:avLst/>
          </a:prstGeom>
        </p:spPr>
        <p:txBody>
          <a:bodyPr spcFirstLastPara="1" wrap="square" lIns="91425" tIns="45700" rIns="91425" bIns="45700" anchor="t" anchorCtr="0">
            <a:normAutofit/>
          </a:bodyPr>
          <a:lstStyle/>
          <a:p>
            <a:pPr marL="457200" lvl="0" indent="-342900" algn="l" rtl="0">
              <a:spcBef>
                <a:spcPts val="360"/>
              </a:spcBef>
              <a:spcAft>
                <a:spcPts val="0"/>
              </a:spcAft>
              <a:buSzPts val="1800"/>
              <a:buChar char="➢"/>
              <a:defRPr/>
            </a:pPr>
            <a:r>
              <a:rPr lang="en"/>
              <a:t>Analogical relations are secondary</a:t>
            </a:r>
            <a:endParaRPr/>
          </a:p>
          <a:p>
            <a:pPr marL="457200" lvl="0" indent="-342900" algn="l" rtl="0">
              <a:spcBef>
                <a:spcPts val="0"/>
              </a:spcBef>
              <a:spcAft>
                <a:spcPts val="0"/>
              </a:spcAft>
              <a:buSzPts val="1800"/>
              <a:buChar char="➢"/>
              <a:defRPr/>
            </a:pPr>
            <a:r>
              <a:rPr lang="en"/>
              <a:t>We need a continuous representation</a:t>
            </a:r>
            <a:endParaRPr/>
          </a:p>
          <a:p>
            <a:pPr marL="914400" lvl="1" indent="-342900" algn="l" rtl="0">
              <a:spcBef>
                <a:spcPts val="0"/>
              </a:spcBef>
              <a:spcAft>
                <a:spcPts val="0"/>
              </a:spcAft>
              <a:buSzPts val="1800"/>
              <a:buChar char="○"/>
              <a:defRPr/>
            </a:pPr>
            <a:r>
              <a:rPr lang="en"/>
              <a:t>for machine learning</a:t>
            </a:r>
            <a:endParaRPr/>
          </a:p>
          <a:p>
            <a:pPr marL="914400" lvl="1" indent="-342900" algn="l" rtl="0">
              <a:spcBef>
                <a:spcPts val="0"/>
              </a:spcBef>
              <a:spcAft>
                <a:spcPts val="0"/>
              </a:spcAft>
              <a:buSzPts val="1800"/>
              <a:buChar char="○"/>
              <a:defRPr/>
            </a:pPr>
            <a:r>
              <a:rPr lang="en" b="1"/>
              <a:t>for similarity comparison</a:t>
            </a:r>
            <a:endParaRPr b="1"/>
          </a:p>
          <a:p>
            <a:pPr marL="914400" lvl="1" indent="-342900" algn="l" rtl="0">
              <a:spcBef>
                <a:spcPts val="0"/>
              </a:spcBef>
              <a:spcAft>
                <a:spcPts val="0"/>
              </a:spcAft>
              <a:buSzPts val="1800"/>
              <a:buChar char="○"/>
              <a:defRPr/>
            </a:pPr>
            <a:r>
              <a:rPr lang="en"/>
              <a:t>knowing sofa and couch refer to the same concept is crucial</a:t>
            </a:r>
            <a:endParaRPr/>
          </a:p>
          <a:p>
            <a:pPr marL="1371600" lvl="2" indent="-342900" algn="l" rtl="0">
              <a:spcBef>
                <a:spcPts val="0"/>
              </a:spcBef>
              <a:spcAft>
                <a:spcPts val="0"/>
              </a:spcAft>
              <a:buSzPts val="1800"/>
              <a:buChar char="■"/>
              <a:defRPr/>
            </a:pPr>
            <a:r>
              <a:rPr lang="en"/>
              <a:t>for word sense disambiguation</a:t>
            </a:r>
            <a:endParaRPr/>
          </a:p>
          <a:p>
            <a:pPr marL="1371600" lvl="2" indent="-342900" algn="l" rtl="0">
              <a:spcBef>
                <a:spcPts val="0"/>
              </a:spcBef>
              <a:spcAft>
                <a:spcPts val="0"/>
              </a:spcAft>
              <a:buSzPts val="1800"/>
              <a:buChar char="■"/>
              <a:defRPr/>
            </a:pPr>
            <a:r>
              <a:rPr lang="en"/>
              <a:t>to break away from the </a:t>
            </a:r>
            <a:r>
              <a:rPr lang="en" i="1" u="sng"/>
              <a:t>surface form</a:t>
            </a:r>
            <a:endParaRPr i="1" u="sng"/>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26764132" name="Title 1"/>
          <p:cNvSpPr>
            <a:spLocks noGrp="1"/>
          </p:cNvSpPr>
          <p:nvPr>
            <p:ph type="title"/>
          </p:nvPr>
        </p:nvSpPr>
        <p:spPr bwMode="auto"/>
        <p:txBody>
          <a:bodyPr/>
          <a:lstStyle/>
          <a:p>
            <a:pPr>
              <a:defRPr/>
            </a:pPr>
            <a:r>
              <a:t>The Distributional Hypothesis</a:t>
            </a:r>
          </a:p>
        </p:txBody>
      </p:sp>
      <p:sp>
        <p:nvSpPr>
          <p:cNvPr id="1753283291" name="Text Placeholder 2"/>
          <p:cNvSpPr>
            <a:spLocks noGrp="1"/>
          </p:cNvSpPr>
          <p:nvPr>
            <p:ph type="body" idx="1"/>
          </p:nvPr>
        </p:nvSpPr>
        <p:spPr bwMode="auto"/>
        <p:txBody>
          <a:bodyPr/>
          <a:lstStyle/>
          <a:p>
            <a:pPr>
              <a:defRPr/>
            </a:pPr>
            <a:r>
              <a:t>"You shall know a word by the company it keeps." -- Firth (1957); Harris (1954)</a:t>
            </a:r>
          </a:p>
          <a:p>
            <a:pPr lvl="1">
              <a:defRPr/>
            </a:pPr>
            <a:r>
              <a:rPr sz="1800"/>
              <a:t>Words that appear in similar contexts have similar meanings</a:t>
            </a:r>
            <a:endParaRPr/>
          </a:p>
          <a:p>
            <a:pPr>
              <a:defRPr/>
            </a:pPr>
            <a:r>
              <a:t>From hypothesis to vectors</a:t>
            </a:r>
          </a:p>
          <a:p>
            <a:pPr lvl="1">
              <a:defRPr/>
            </a:pPr>
            <a:r>
              <a:rPr sz="1800"/>
              <a:t>Build a word-context co-occurrence matrix</a:t>
            </a:r>
            <a:endParaRPr/>
          </a:p>
          <a:p>
            <a:pPr lvl="1">
              <a:defRPr/>
            </a:pPr>
            <a:r>
              <a:rPr sz="1800"/>
              <a:t>Rows = words, columns = context words, values = how often word w appears near context word c</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667819555" name="Google Shape;341;p59"/>
          <p:cNvSpPr txBox="1">
            <a:spLocks noGrp="1"/>
          </p:cNvSpPr>
          <p:nvPr>
            <p:ph type="title"/>
          </p:nvPr>
        </p:nvSpPr>
        <p:spPr bwMode="auto">
          <a:xfrm>
            <a:off x="260226" y="344600"/>
            <a:ext cx="8531400" cy="8235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Defining meaning by linguistic distribution</a:t>
            </a:r>
            <a:endParaRPr/>
          </a:p>
        </p:txBody>
      </p:sp>
      <p:sp>
        <p:nvSpPr>
          <p:cNvPr id="1453285454" name="Google Shape;342;p59"/>
          <p:cNvSpPr txBox="1">
            <a:spLocks noGrp="1"/>
          </p:cNvSpPr>
          <p:nvPr>
            <p:ph type="body" idx="1"/>
          </p:nvPr>
        </p:nvSpPr>
        <p:spPr bwMode="auto">
          <a:xfrm>
            <a:off x="260225" y="1244725"/>
            <a:ext cx="3956700" cy="857100"/>
          </a:xfrm>
          <a:prstGeom prst="rect">
            <a:avLst/>
          </a:prstGeom>
        </p:spPr>
        <p:txBody>
          <a:bodyPr spcFirstLastPara="1" wrap="square" lIns="91425" tIns="45700" rIns="91425" bIns="45700" anchor="t" anchorCtr="0">
            <a:normAutofit/>
          </a:bodyPr>
          <a:lstStyle/>
          <a:p>
            <a:pPr marL="0" lvl="0" indent="0" algn="l" rtl="0">
              <a:spcBef>
                <a:spcPts val="360"/>
              </a:spcBef>
              <a:spcAft>
                <a:spcPts val="0"/>
              </a:spcAft>
              <a:buNone/>
              <a:defRPr/>
            </a:pPr>
            <a:endParaRPr/>
          </a:p>
          <a:p>
            <a:pPr marL="457200" lvl="0" indent="-342900" algn="l" rtl="0">
              <a:spcBef>
                <a:spcPts val="360"/>
              </a:spcBef>
              <a:spcAft>
                <a:spcPts val="0"/>
              </a:spcAft>
              <a:buSzPts val="1800"/>
              <a:buChar char="❏"/>
              <a:defRPr/>
            </a:pPr>
            <a:r>
              <a:rPr lang="en"/>
              <a:t>Tf-idf, counting-based vectorizer</a:t>
            </a:r>
            <a:endParaRPr/>
          </a:p>
        </p:txBody>
      </p:sp>
      <p:sp>
        <p:nvSpPr>
          <p:cNvPr id="1316285671" name="Google Shape;343;p59"/>
          <p:cNvSpPr txBox="1">
            <a:spLocks noGrp="1"/>
          </p:cNvSpPr>
          <p:nvPr>
            <p:ph type="sldNum" idx="12"/>
          </p:nvPr>
        </p:nvSpPr>
        <p:spPr bwMode="auto">
          <a:xfrm>
            <a:off x="6657975" y="4745735"/>
            <a:ext cx="2133600" cy="2739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Clr>
                <a:srgbClr val="000000"/>
              </a:buClr>
              <a:buFont typeface="Arial"/>
              <a:buNone/>
              <a:defRPr/>
            </a:pPr>
            <a:fld id="{00000000-1234-1234-1234-123412341234}" type="slidenum">
              <a:rPr lang="en"/>
              <a:t>9</a:t>
            </a:fld>
            <a:endParaRPr/>
          </a:p>
        </p:txBody>
      </p:sp>
      <p:graphicFrame>
        <p:nvGraphicFramePr>
          <p:cNvPr id="1106131645" name="Google Shape;344;p59"/>
          <p:cNvGraphicFramePr>
            <a:graphicFrameLocks/>
          </p:cNvGraphicFramePr>
          <p:nvPr/>
        </p:nvGraphicFramePr>
        <p:xfrm>
          <a:off x="5328000" y="1742238"/>
          <a:ext cx="3000000" cy="3000000"/>
        </p:xfrm>
        <a:graphic>
          <a:graphicData uri="http://schemas.openxmlformats.org/drawingml/2006/table">
            <a:tbl>
              <a:tblPr>
                <a:tableStyleId>{1316267D-F331-429C-A7BD-D566D4DBC0C9}</a:tableStyleId>
              </a:tblPr>
              <a:tblGrid>
                <a:gridCol w="383125">
                  <a:extLst>
                    <a:ext uri="{9D8B030D-6E8A-4147-A177-3AD203B41FA5}">
                      <a16:colId xmlns:a16="http://schemas.microsoft.com/office/drawing/2014/main" val="20000"/>
                    </a:ext>
                  </a:extLst>
                </a:gridCol>
                <a:gridCol w="383125">
                  <a:extLst>
                    <a:ext uri="{9D8B030D-6E8A-4147-A177-3AD203B41FA5}">
                      <a16:colId xmlns:a16="http://schemas.microsoft.com/office/drawing/2014/main" val="20001"/>
                    </a:ext>
                  </a:extLst>
                </a:gridCol>
                <a:gridCol w="383125">
                  <a:extLst>
                    <a:ext uri="{9D8B030D-6E8A-4147-A177-3AD203B41FA5}">
                      <a16:colId xmlns:a16="http://schemas.microsoft.com/office/drawing/2014/main" val="20002"/>
                    </a:ext>
                  </a:extLst>
                </a:gridCol>
                <a:gridCol w="383125">
                  <a:extLst>
                    <a:ext uri="{9D8B030D-6E8A-4147-A177-3AD203B41FA5}">
                      <a16:colId xmlns:a16="http://schemas.microsoft.com/office/drawing/2014/main" val="20003"/>
                    </a:ext>
                  </a:extLst>
                </a:gridCol>
                <a:gridCol w="383125">
                  <a:extLst>
                    <a:ext uri="{9D8B030D-6E8A-4147-A177-3AD203B41FA5}">
                      <a16:colId xmlns:a16="http://schemas.microsoft.com/office/drawing/2014/main" val="20004"/>
                    </a:ext>
                  </a:extLst>
                </a:gridCol>
                <a:gridCol w="383125">
                  <a:extLst>
                    <a:ext uri="{9D8B030D-6E8A-4147-A177-3AD203B41FA5}">
                      <a16:colId xmlns:a16="http://schemas.microsoft.com/office/drawing/2014/main" val="20005"/>
                    </a:ext>
                  </a:extLst>
                </a:gridCol>
                <a:gridCol w="383125">
                  <a:extLst>
                    <a:ext uri="{9D8B030D-6E8A-4147-A177-3AD203B41FA5}">
                      <a16:colId xmlns:a16="http://schemas.microsoft.com/office/drawing/2014/main" val="20006"/>
                    </a:ext>
                  </a:extLst>
                </a:gridCol>
                <a:gridCol w="383125">
                  <a:extLst>
                    <a:ext uri="{9D8B030D-6E8A-4147-A177-3AD203B41FA5}">
                      <a16:colId xmlns:a16="http://schemas.microsoft.com/office/drawing/2014/main" val="20007"/>
                    </a:ext>
                  </a:extLst>
                </a:gridCol>
              </a:tblGrid>
              <a:tr h="308700">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extLst>
                  <a:ext uri="{0D108BD9-81ED-4DB2-BD59-A6C34878D82A}">
                    <a16:rowId xmlns:a16="http://schemas.microsoft.com/office/drawing/2014/main" val="10000"/>
                  </a:ext>
                </a:extLst>
              </a:tr>
              <a:tr h="308700">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extLst>
                  <a:ext uri="{0D108BD9-81ED-4DB2-BD59-A6C34878D82A}">
                    <a16:rowId xmlns:a16="http://schemas.microsoft.com/office/drawing/2014/main" val="10001"/>
                  </a:ext>
                </a:extLst>
              </a:tr>
              <a:tr h="308700">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extLst>
                  <a:ext uri="{0D108BD9-81ED-4DB2-BD59-A6C34878D82A}">
                    <a16:rowId xmlns:a16="http://schemas.microsoft.com/office/drawing/2014/main" val="10002"/>
                  </a:ext>
                </a:extLst>
              </a:tr>
              <a:tr h="281050">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extLst>
                  <a:ext uri="{0D108BD9-81ED-4DB2-BD59-A6C34878D82A}">
                    <a16:rowId xmlns:a16="http://schemas.microsoft.com/office/drawing/2014/main" val="10003"/>
                  </a:ext>
                </a:extLst>
              </a:tr>
              <a:tr h="281050">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extLst>
                  <a:ext uri="{0D108BD9-81ED-4DB2-BD59-A6C34878D82A}">
                    <a16:rowId xmlns:a16="http://schemas.microsoft.com/office/drawing/2014/main" val="10004"/>
                  </a:ext>
                </a:extLst>
              </a:tr>
              <a:tr h="281050">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extLst>
                  <a:ext uri="{0D108BD9-81ED-4DB2-BD59-A6C34878D82A}">
                    <a16:rowId xmlns:a16="http://schemas.microsoft.com/office/drawing/2014/main" val="10005"/>
                  </a:ext>
                </a:extLst>
              </a:tr>
              <a:tr h="281050">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extLst>
                  <a:ext uri="{0D108BD9-81ED-4DB2-BD59-A6C34878D82A}">
                    <a16:rowId xmlns:a16="http://schemas.microsoft.com/office/drawing/2014/main" val="10006"/>
                  </a:ext>
                </a:extLst>
              </a:tr>
              <a:tr h="308700">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tc>
                  <a:txBody>
                    <a:bodyPr/>
                    <a:lstStyle/>
                    <a:p>
                      <a:pPr marL="0" lvl="0" indent="0" algn="l" rtl="0">
                        <a:spcBef>
                          <a:spcPts val="0"/>
                        </a:spcBef>
                        <a:spcAft>
                          <a:spcPts val="0"/>
                        </a:spcAft>
                        <a:buNone/>
                        <a:defRPr/>
                      </a:pPr>
                      <a:endParaRPr/>
                    </a:p>
                  </a:txBody>
                  <a:tcPr marL="91425" marR="91425" marT="91425" marB="91425"/>
                </a:tc>
                <a:extLst>
                  <a:ext uri="{0D108BD9-81ED-4DB2-BD59-A6C34878D82A}">
                    <a16:rowId xmlns:a16="http://schemas.microsoft.com/office/drawing/2014/main" val="10007"/>
                  </a:ext>
                </a:extLst>
              </a:tr>
            </a:tbl>
          </a:graphicData>
        </a:graphic>
      </p:graphicFrame>
      <p:sp>
        <p:nvSpPr>
          <p:cNvPr id="992735713" name="Google Shape;345;p59"/>
          <p:cNvSpPr txBox="1"/>
          <p:nvPr/>
        </p:nvSpPr>
        <p:spPr bwMode="auto">
          <a:xfrm rot="-1972300">
            <a:off x="5284811" y="1177100"/>
            <a:ext cx="885475" cy="4000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call</a:t>
            </a:r>
            <a:endParaRPr>
              <a:solidFill>
                <a:schemeClr val="dk1"/>
              </a:solidFill>
            </a:endParaRPr>
          </a:p>
        </p:txBody>
      </p:sp>
      <p:sp>
        <p:nvSpPr>
          <p:cNvPr id="951367534" name="Google Shape;346;p59"/>
          <p:cNvSpPr txBox="1"/>
          <p:nvPr/>
        </p:nvSpPr>
        <p:spPr bwMode="auto">
          <a:xfrm rot="-1972300">
            <a:off x="5679493" y="1177100"/>
            <a:ext cx="885475" cy="4000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text</a:t>
            </a:r>
            <a:endParaRPr>
              <a:solidFill>
                <a:schemeClr val="dk1"/>
              </a:solidFill>
            </a:endParaRPr>
          </a:p>
        </p:txBody>
      </p:sp>
      <p:sp>
        <p:nvSpPr>
          <p:cNvPr id="1104395008" name="Google Shape;347;p59"/>
          <p:cNvSpPr txBox="1"/>
          <p:nvPr/>
        </p:nvSpPr>
        <p:spPr bwMode="auto">
          <a:xfrm rot="-1972300">
            <a:off x="6074175" y="1177100"/>
            <a:ext cx="885475" cy="4000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free</a:t>
            </a:r>
            <a:endParaRPr>
              <a:solidFill>
                <a:schemeClr val="dk1"/>
              </a:solidFill>
            </a:endParaRPr>
          </a:p>
        </p:txBody>
      </p:sp>
      <p:sp>
        <p:nvSpPr>
          <p:cNvPr id="478711113" name="Google Shape;348;p59"/>
          <p:cNvSpPr txBox="1"/>
          <p:nvPr/>
        </p:nvSpPr>
        <p:spPr bwMode="auto">
          <a:xfrm rot="-1972300">
            <a:off x="6468857" y="1177100"/>
            <a:ext cx="885475" cy="4000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win</a:t>
            </a:r>
            <a:endParaRPr>
              <a:solidFill>
                <a:schemeClr val="dk1"/>
              </a:solidFill>
            </a:endParaRPr>
          </a:p>
        </p:txBody>
      </p:sp>
      <p:sp>
        <p:nvSpPr>
          <p:cNvPr id="348191787" name="Google Shape;349;p59"/>
          <p:cNvSpPr txBox="1"/>
          <p:nvPr/>
        </p:nvSpPr>
        <p:spPr bwMode="auto">
          <a:xfrm rot="-1972300">
            <a:off x="6863540" y="1177100"/>
            <a:ext cx="885475" cy="4000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a:t>
            </a:r>
            <a:endParaRPr>
              <a:solidFill>
                <a:schemeClr val="dk1"/>
              </a:solidFill>
            </a:endParaRPr>
          </a:p>
        </p:txBody>
      </p:sp>
      <p:sp>
        <p:nvSpPr>
          <p:cNvPr id="754147553" name="Google Shape;350;p59"/>
          <p:cNvSpPr txBox="1"/>
          <p:nvPr/>
        </p:nvSpPr>
        <p:spPr bwMode="auto">
          <a:xfrm rot="-1972300">
            <a:off x="7258222" y="1177100"/>
            <a:ext cx="885475" cy="4000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a:t>
            </a:r>
            <a:endParaRPr>
              <a:solidFill>
                <a:schemeClr val="dk1"/>
              </a:solidFill>
            </a:endParaRPr>
          </a:p>
        </p:txBody>
      </p:sp>
      <p:sp>
        <p:nvSpPr>
          <p:cNvPr id="744689996" name="Google Shape;351;p59"/>
          <p:cNvSpPr txBox="1"/>
          <p:nvPr/>
        </p:nvSpPr>
        <p:spPr bwMode="auto">
          <a:xfrm rot="-1972300">
            <a:off x="7652904" y="1177100"/>
            <a:ext cx="885475" cy="4000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let’s</a:t>
            </a:r>
            <a:endParaRPr>
              <a:solidFill>
                <a:schemeClr val="dk1"/>
              </a:solidFill>
            </a:endParaRPr>
          </a:p>
        </p:txBody>
      </p:sp>
      <p:sp>
        <p:nvSpPr>
          <p:cNvPr id="457395293" name="Google Shape;352;p59"/>
          <p:cNvSpPr txBox="1"/>
          <p:nvPr/>
        </p:nvSpPr>
        <p:spPr bwMode="auto">
          <a:xfrm rot="-1972300">
            <a:off x="8047586" y="1177100"/>
            <a:ext cx="885475" cy="40009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go</a:t>
            </a:r>
            <a:endParaRPr>
              <a:solidFill>
                <a:schemeClr val="dk1"/>
              </a:solidFill>
            </a:endParaRPr>
          </a:p>
        </p:txBody>
      </p:sp>
      <p:sp>
        <p:nvSpPr>
          <p:cNvPr id="297948079" name="Google Shape;353;p59"/>
          <p:cNvSpPr txBox="1"/>
          <p:nvPr/>
        </p:nvSpPr>
        <p:spPr bwMode="auto">
          <a:xfrm>
            <a:off x="4442411" y="1712263"/>
            <a:ext cx="885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email_0</a:t>
            </a:r>
            <a:endParaRPr>
              <a:solidFill>
                <a:schemeClr val="dk1"/>
              </a:solidFill>
            </a:endParaRPr>
          </a:p>
        </p:txBody>
      </p:sp>
      <p:sp>
        <p:nvSpPr>
          <p:cNvPr id="591477556" name="Google Shape;354;p59"/>
          <p:cNvSpPr txBox="1"/>
          <p:nvPr/>
        </p:nvSpPr>
        <p:spPr bwMode="auto">
          <a:xfrm>
            <a:off x="4442411" y="2097509"/>
            <a:ext cx="885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email_1</a:t>
            </a:r>
            <a:endParaRPr>
              <a:solidFill>
                <a:schemeClr val="dk1"/>
              </a:solidFill>
            </a:endParaRPr>
          </a:p>
        </p:txBody>
      </p:sp>
      <p:sp>
        <p:nvSpPr>
          <p:cNvPr id="745633901" name="Google Shape;355;p59"/>
          <p:cNvSpPr txBox="1"/>
          <p:nvPr/>
        </p:nvSpPr>
        <p:spPr bwMode="auto">
          <a:xfrm>
            <a:off x="4442411" y="2482756"/>
            <a:ext cx="885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email_2</a:t>
            </a:r>
            <a:endParaRPr>
              <a:solidFill>
                <a:schemeClr val="dk1"/>
              </a:solidFill>
            </a:endParaRPr>
          </a:p>
        </p:txBody>
      </p:sp>
      <p:sp>
        <p:nvSpPr>
          <p:cNvPr id="1519088010" name="Google Shape;356;p59"/>
          <p:cNvSpPr txBox="1"/>
          <p:nvPr/>
        </p:nvSpPr>
        <p:spPr bwMode="auto">
          <a:xfrm>
            <a:off x="4442411" y="2868002"/>
            <a:ext cx="885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email_3</a:t>
            </a:r>
            <a:endParaRPr>
              <a:solidFill>
                <a:schemeClr val="dk1"/>
              </a:solidFill>
            </a:endParaRPr>
          </a:p>
        </p:txBody>
      </p:sp>
      <p:sp>
        <p:nvSpPr>
          <p:cNvPr id="1560147965" name="Google Shape;357;p59"/>
          <p:cNvSpPr txBox="1"/>
          <p:nvPr/>
        </p:nvSpPr>
        <p:spPr bwMode="auto">
          <a:xfrm>
            <a:off x="4442411" y="3253249"/>
            <a:ext cx="885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email_4</a:t>
            </a:r>
            <a:endParaRPr>
              <a:solidFill>
                <a:schemeClr val="dk1"/>
              </a:solidFill>
            </a:endParaRPr>
          </a:p>
        </p:txBody>
      </p:sp>
      <p:sp>
        <p:nvSpPr>
          <p:cNvPr id="1654607771" name="Google Shape;358;p59"/>
          <p:cNvSpPr txBox="1"/>
          <p:nvPr/>
        </p:nvSpPr>
        <p:spPr bwMode="auto">
          <a:xfrm>
            <a:off x="4442411" y="3638495"/>
            <a:ext cx="885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a:t>
            </a:r>
            <a:endParaRPr>
              <a:solidFill>
                <a:schemeClr val="dk1"/>
              </a:solidFill>
            </a:endParaRPr>
          </a:p>
        </p:txBody>
      </p:sp>
      <p:sp>
        <p:nvSpPr>
          <p:cNvPr id="1199517123" name="Google Shape;359;p59"/>
          <p:cNvSpPr txBox="1"/>
          <p:nvPr/>
        </p:nvSpPr>
        <p:spPr bwMode="auto">
          <a:xfrm>
            <a:off x="4442411" y="4023741"/>
            <a:ext cx="885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a:t>
            </a:r>
            <a:endParaRPr>
              <a:solidFill>
                <a:schemeClr val="dk1"/>
              </a:solidFill>
            </a:endParaRPr>
          </a:p>
        </p:txBody>
      </p:sp>
      <p:sp>
        <p:nvSpPr>
          <p:cNvPr id="1331402372" name="Google Shape;360;p59"/>
          <p:cNvSpPr txBox="1"/>
          <p:nvPr/>
        </p:nvSpPr>
        <p:spPr bwMode="auto">
          <a:xfrm>
            <a:off x="4442411" y="4408988"/>
            <a:ext cx="8856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a:solidFill>
                  <a:schemeClr val="dk1"/>
                </a:solidFill>
              </a:rPr>
              <a:t>email_n</a:t>
            </a:r>
            <a:endParaRPr>
              <a:solidFill>
                <a:schemeClr val="dk1"/>
              </a:solidFill>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57268654" name="Title 1"/>
          <p:cNvSpPr>
            <a:spLocks noGrp="1"/>
          </p:cNvSpPr>
          <p:nvPr>
            <p:ph type="title"/>
          </p:nvPr>
        </p:nvSpPr>
        <p:spPr bwMode="auto"/>
        <p:txBody>
          <a:bodyPr/>
          <a:lstStyle/>
          <a:p>
            <a:pPr>
              <a:defRPr/>
            </a:pPr>
            <a:r>
              <a:t>Co-occurrence Matrix -- A Toy Example</a:t>
            </a:r>
          </a:p>
        </p:txBody>
      </p:sp>
      <p:sp>
        <p:nvSpPr>
          <p:cNvPr id="1415594898" name="Text Placeholder 2"/>
          <p:cNvSpPr>
            <a:spLocks noGrp="1"/>
          </p:cNvSpPr>
          <p:nvPr>
            <p:ph type="body" idx="1"/>
          </p:nvPr>
        </p:nvSpPr>
        <p:spPr bwMode="auto"/>
        <p:txBody>
          <a:bodyPr/>
          <a:lstStyle/>
          <a:p>
            <a:pPr>
              <a:defRPr/>
            </a:pPr>
            <a:endParaRPr/>
          </a:p>
        </p:txBody>
      </p:sp>
      <p:graphicFrame>
        <p:nvGraphicFramePr>
          <p:cNvPr id="1777013669" name="Table 3"/>
          <p:cNvGraphicFramePr>
            <a:graphicFrameLocks/>
          </p:cNvGraphicFramePr>
          <p:nvPr/>
        </p:nvGraphicFramePr>
        <p:xfrm>
          <a:off x="1199999" y="1549999"/>
          <a:ext cx="6799999" cy="2599999"/>
        </p:xfrm>
        <a:graphic>
          <a:graphicData uri="http://schemas.openxmlformats.org/drawingml/2006/table">
            <a:tbl>
              <a:tblPr firstRow="1" bandRow="1">
                <a:tableStyleId>{5C22544A-7EE6-4342-B048-85BDC9FD1C3A}</a:tableStyleId>
              </a:tblPr>
              <a:tblGrid>
                <a:gridCol w="1133332">
                  <a:extLst>
                    <a:ext uri="{9D8B030D-6E8A-4147-A177-3AD203B41FA5}">
                      <a16:colId xmlns:a16="http://schemas.microsoft.com/office/drawing/2014/main" val="20000"/>
                    </a:ext>
                  </a:extLst>
                </a:gridCol>
                <a:gridCol w="1133332">
                  <a:extLst>
                    <a:ext uri="{9D8B030D-6E8A-4147-A177-3AD203B41FA5}">
                      <a16:colId xmlns:a16="http://schemas.microsoft.com/office/drawing/2014/main" val="20001"/>
                    </a:ext>
                  </a:extLst>
                </a:gridCol>
                <a:gridCol w="1133332">
                  <a:extLst>
                    <a:ext uri="{9D8B030D-6E8A-4147-A177-3AD203B41FA5}">
                      <a16:colId xmlns:a16="http://schemas.microsoft.com/office/drawing/2014/main" val="20002"/>
                    </a:ext>
                  </a:extLst>
                </a:gridCol>
                <a:gridCol w="1133332">
                  <a:extLst>
                    <a:ext uri="{9D8B030D-6E8A-4147-A177-3AD203B41FA5}">
                      <a16:colId xmlns:a16="http://schemas.microsoft.com/office/drawing/2014/main" val="20003"/>
                    </a:ext>
                  </a:extLst>
                </a:gridCol>
                <a:gridCol w="1133332">
                  <a:extLst>
                    <a:ext uri="{9D8B030D-6E8A-4147-A177-3AD203B41FA5}">
                      <a16:colId xmlns:a16="http://schemas.microsoft.com/office/drawing/2014/main" val="20004"/>
                    </a:ext>
                  </a:extLst>
                </a:gridCol>
                <a:gridCol w="1133334">
                  <a:extLst>
                    <a:ext uri="{9D8B030D-6E8A-4147-A177-3AD203B41FA5}">
                      <a16:colId xmlns:a16="http://schemas.microsoft.com/office/drawing/2014/main" val="20005"/>
                    </a:ext>
                  </a:extLst>
                </a:gridCol>
              </a:tblGrid>
              <a:tr h="650000">
                <a:tc>
                  <a:txBody>
                    <a:bodyPr/>
                    <a:lstStyle/>
                    <a:p>
                      <a:pPr>
                        <a:defRPr/>
                      </a:pPr>
                      <a:endParaRPr/>
                    </a:p>
                  </a:txBody>
                  <a:tcPr/>
                </a:tc>
                <a:tc>
                  <a:txBody>
                    <a:bodyPr/>
                    <a:lstStyle/>
                    <a:p>
                      <a:pPr>
                        <a:defRPr/>
                      </a:pPr>
                      <a:r>
                        <a:rPr sz="1400"/>
                        <a:t>eats</a:t>
                      </a:r>
                      <a:endParaRPr/>
                    </a:p>
                  </a:txBody>
                  <a:tcPr/>
                </a:tc>
                <a:tc>
                  <a:txBody>
                    <a:bodyPr/>
                    <a:lstStyle/>
                    <a:p>
                      <a:pPr>
                        <a:defRPr/>
                      </a:pPr>
                      <a:r>
                        <a:rPr sz="1400"/>
                        <a:t>meows</a:t>
                      </a:r>
                      <a:endParaRPr/>
                    </a:p>
                  </a:txBody>
                  <a:tcPr/>
                </a:tc>
                <a:tc>
                  <a:txBody>
                    <a:bodyPr/>
                    <a:lstStyle/>
                    <a:p>
                      <a:pPr>
                        <a:defRPr/>
                      </a:pPr>
                      <a:r>
                        <a:rPr sz="1400"/>
                        <a:t>barks</a:t>
                      </a:r>
                      <a:endParaRPr/>
                    </a:p>
                  </a:txBody>
                  <a:tcPr/>
                </a:tc>
                <a:tc>
                  <a:txBody>
                    <a:bodyPr/>
                    <a:lstStyle/>
                    <a:p>
                      <a:pPr>
                        <a:defRPr/>
                      </a:pPr>
                      <a:r>
                        <a:rPr sz="1400"/>
                        <a:t>purrs</a:t>
                      </a:r>
                      <a:endParaRPr/>
                    </a:p>
                  </a:txBody>
                  <a:tcPr/>
                </a:tc>
                <a:tc>
                  <a:txBody>
                    <a:bodyPr/>
                    <a:lstStyle/>
                    <a:p>
                      <a:pPr>
                        <a:defRPr/>
                      </a:pPr>
                      <a:r>
                        <a:rPr sz="1400"/>
                        <a:t>runs</a:t>
                      </a:r>
                      <a:endParaRPr/>
                    </a:p>
                  </a:txBody>
                  <a:tcPr/>
                </a:tc>
                <a:extLst>
                  <a:ext uri="{0D108BD9-81ED-4DB2-BD59-A6C34878D82A}">
                    <a16:rowId xmlns:a16="http://schemas.microsoft.com/office/drawing/2014/main" val="10000"/>
                  </a:ext>
                </a:extLst>
              </a:tr>
              <a:tr h="650000">
                <a:tc>
                  <a:txBody>
                    <a:bodyPr/>
                    <a:lstStyle/>
                    <a:p>
                      <a:pPr>
                        <a:defRPr/>
                      </a:pPr>
                      <a:r>
                        <a:rPr sz="1400"/>
                        <a:t>cat</a:t>
                      </a:r>
                      <a:endParaRPr/>
                    </a:p>
                  </a:txBody>
                  <a:tcPr/>
                </a:tc>
                <a:tc>
                  <a:txBody>
                    <a:bodyPr/>
                    <a:lstStyle/>
                    <a:p>
                      <a:pPr>
                        <a:defRPr/>
                      </a:pPr>
                      <a:r>
                        <a:rPr sz="1400"/>
                        <a:t>5</a:t>
                      </a:r>
                      <a:endParaRPr/>
                    </a:p>
                  </a:txBody>
                  <a:tcPr/>
                </a:tc>
                <a:tc>
                  <a:txBody>
                    <a:bodyPr/>
                    <a:lstStyle/>
                    <a:p>
                      <a:pPr>
                        <a:defRPr/>
                      </a:pPr>
                      <a:r>
                        <a:rPr sz="1400"/>
                        <a:t>12</a:t>
                      </a:r>
                      <a:endParaRPr/>
                    </a:p>
                  </a:txBody>
                  <a:tcPr/>
                </a:tc>
                <a:tc>
                  <a:txBody>
                    <a:bodyPr/>
                    <a:lstStyle/>
                    <a:p>
                      <a:pPr>
                        <a:defRPr/>
                      </a:pPr>
                      <a:r>
                        <a:rPr sz="1400"/>
                        <a:t>1</a:t>
                      </a:r>
                      <a:endParaRPr/>
                    </a:p>
                  </a:txBody>
                  <a:tcPr/>
                </a:tc>
                <a:tc>
                  <a:txBody>
                    <a:bodyPr/>
                    <a:lstStyle/>
                    <a:p>
                      <a:pPr>
                        <a:defRPr/>
                      </a:pPr>
                      <a:r>
                        <a:rPr sz="1400"/>
                        <a:t>10</a:t>
                      </a:r>
                      <a:endParaRPr/>
                    </a:p>
                  </a:txBody>
                  <a:tcPr/>
                </a:tc>
                <a:tc>
                  <a:txBody>
                    <a:bodyPr/>
                    <a:lstStyle/>
                    <a:p>
                      <a:pPr>
                        <a:defRPr/>
                      </a:pPr>
                      <a:r>
                        <a:rPr sz="1400"/>
                        <a:t>8</a:t>
                      </a:r>
                      <a:endParaRPr/>
                    </a:p>
                  </a:txBody>
                  <a:tcPr/>
                </a:tc>
                <a:extLst>
                  <a:ext uri="{0D108BD9-81ED-4DB2-BD59-A6C34878D82A}">
                    <a16:rowId xmlns:a16="http://schemas.microsoft.com/office/drawing/2014/main" val="10001"/>
                  </a:ext>
                </a:extLst>
              </a:tr>
              <a:tr h="650000">
                <a:tc>
                  <a:txBody>
                    <a:bodyPr/>
                    <a:lstStyle/>
                    <a:p>
                      <a:pPr>
                        <a:defRPr/>
                      </a:pPr>
                      <a:r>
                        <a:rPr sz="1400"/>
                        <a:t>dog</a:t>
                      </a:r>
                      <a:endParaRPr/>
                    </a:p>
                  </a:txBody>
                  <a:tcPr/>
                </a:tc>
                <a:tc>
                  <a:txBody>
                    <a:bodyPr/>
                    <a:lstStyle/>
                    <a:p>
                      <a:pPr>
                        <a:defRPr/>
                      </a:pPr>
                      <a:r>
                        <a:rPr sz="1400"/>
                        <a:t>6</a:t>
                      </a:r>
                      <a:endParaRPr/>
                    </a:p>
                  </a:txBody>
                  <a:tcPr/>
                </a:tc>
                <a:tc>
                  <a:txBody>
                    <a:bodyPr/>
                    <a:lstStyle/>
                    <a:p>
                      <a:pPr>
                        <a:defRPr/>
                      </a:pPr>
                      <a:r>
                        <a:rPr sz="1400"/>
                        <a:t>0</a:t>
                      </a:r>
                      <a:endParaRPr/>
                    </a:p>
                  </a:txBody>
                  <a:tcPr/>
                </a:tc>
                <a:tc>
                  <a:txBody>
                    <a:bodyPr/>
                    <a:lstStyle/>
                    <a:p>
                      <a:pPr>
                        <a:defRPr/>
                      </a:pPr>
                      <a:r>
                        <a:rPr sz="1400"/>
                        <a:t>15</a:t>
                      </a:r>
                      <a:endParaRPr/>
                    </a:p>
                  </a:txBody>
                  <a:tcPr/>
                </a:tc>
                <a:tc>
                  <a:txBody>
                    <a:bodyPr/>
                    <a:lstStyle/>
                    <a:p>
                      <a:pPr>
                        <a:defRPr/>
                      </a:pPr>
                      <a:r>
                        <a:rPr sz="1400"/>
                        <a:t>0</a:t>
                      </a:r>
                      <a:endParaRPr/>
                    </a:p>
                  </a:txBody>
                  <a:tcPr/>
                </a:tc>
                <a:tc>
                  <a:txBody>
                    <a:bodyPr/>
                    <a:lstStyle/>
                    <a:p>
                      <a:pPr>
                        <a:defRPr/>
                      </a:pPr>
                      <a:r>
                        <a:rPr sz="1400"/>
                        <a:t>9</a:t>
                      </a:r>
                      <a:endParaRPr/>
                    </a:p>
                  </a:txBody>
                  <a:tcPr/>
                </a:tc>
                <a:extLst>
                  <a:ext uri="{0D108BD9-81ED-4DB2-BD59-A6C34878D82A}">
                    <a16:rowId xmlns:a16="http://schemas.microsoft.com/office/drawing/2014/main" val="10002"/>
                  </a:ext>
                </a:extLst>
              </a:tr>
              <a:tr h="650000">
                <a:tc>
                  <a:txBody>
                    <a:bodyPr/>
                    <a:lstStyle/>
                    <a:p>
                      <a:pPr>
                        <a:defRPr/>
                      </a:pPr>
                      <a:r>
                        <a:rPr sz="1400"/>
                        <a:t>car</a:t>
                      </a:r>
                      <a:endParaRPr/>
                    </a:p>
                  </a:txBody>
                  <a:tcPr/>
                </a:tc>
                <a:tc>
                  <a:txBody>
                    <a:bodyPr/>
                    <a:lstStyle/>
                    <a:p>
                      <a:pPr>
                        <a:defRPr/>
                      </a:pPr>
                      <a:r>
                        <a:rPr sz="1400"/>
                        <a:t>0</a:t>
                      </a:r>
                      <a:endParaRPr/>
                    </a:p>
                  </a:txBody>
                  <a:tcPr/>
                </a:tc>
                <a:tc>
                  <a:txBody>
                    <a:bodyPr/>
                    <a:lstStyle/>
                    <a:p>
                      <a:pPr>
                        <a:defRPr/>
                      </a:pPr>
                      <a:r>
                        <a:rPr sz="1400"/>
                        <a:t>0</a:t>
                      </a:r>
                      <a:endParaRPr/>
                    </a:p>
                  </a:txBody>
                  <a:tcPr/>
                </a:tc>
                <a:tc>
                  <a:txBody>
                    <a:bodyPr/>
                    <a:lstStyle/>
                    <a:p>
                      <a:pPr>
                        <a:defRPr/>
                      </a:pPr>
                      <a:r>
                        <a:rPr sz="1400"/>
                        <a:t>0</a:t>
                      </a:r>
                      <a:endParaRPr/>
                    </a:p>
                  </a:txBody>
                  <a:tcPr/>
                </a:tc>
                <a:tc>
                  <a:txBody>
                    <a:bodyPr/>
                    <a:lstStyle/>
                    <a:p>
                      <a:pPr>
                        <a:defRPr/>
                      </a:pPr>
                      <a:r>
                        <a:rPr sz="1400"/>
                        <a:t>0</a:t>
                      </a:r>
                      <a:endParaRPr/>
                    </a:p>
                  </a:txBody>
                  <a:tcPr/>
                </a:tc>
                <a:tc>
                  <a:txBody>
                    <a:bodyPr/>
                    <a:lstStyle/>
                    <a:p>
                      <a:pPr>
                        <a:defRPr/>
                      </a:pPr>
                      <a:r>
                        <a:rPr sz="1400"/>
                        <a:t>7</a:t>
                      </a:r>
                      <a:endParaRPr/>
                    </a:p>
                  </a:txBody>
                  <a:tcPr/>
                </a:tc>
                <a:extLst>
                  <a:ext uri="{0D108BD9-81ED-4DB2-BD59-A6C34878D82A}">
                    <a16:rowId xmlns:a16="http://schemas.microsoft.com/office/drawing/2014/main" val="10003"/>
                  </a:ext>
                </a:extLst>
              </a:tr>
            </a:tbl>
          </a:graphicData>
        </a:graphic>
      </p:graphicFrame>
      <p:sp>
        <p:nvSpPr>
          <p:cNvPr id="392002022" name="TextBox 4"/>
          <p:cNvSpPr txBox="1"/>
          <p:nvPr/>
        </p:nvSpPr>
        <p:spPr bwMode="auto">
          <a:xfrm>
            <a:off x="1199999" y="4299999"/>
            <a:ext cx="6799999" cy="599999"/>
          </a:xfrm>
          <a:prstGeom prst="rect">
            <a:avLst/>
          </a:prstGeom>
          <a:noFill/>
        </p:spPr>
        <p:txBody>
          <a:bodyPr wrap="square">
            <a:spAutoFit/>
          </a:bodyPr>
          <a:lstStyle/>
          <a:p>
            <a:pPr>
              <a:defRPr/>
            </a:pPr>
            <a:r>
              <a:rPr sz="1400" i="1"/>
              <a:t>"cat" and "dog" have similar row vectors; "car" is very different -- semantic similarity emerging from statistics.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14759063" name="Google Shape;365;p60"/>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Word-Context Matrix</a:t>
            </a:r>
            <a:endParaRPr/>
          </a:p>
        </p:txBody>
      </p:sp>
      <p:sp>
        <p:nvSpPr>
          <p:cNvPr id="1125831812" name="Google Shape;366;p60"/>
          <p:cNvSpPr txBox="1">
            <a:spLocks noGrp="1"/>
          </p:cNvSpPr>
          <p:nvPr>
            <p:ph type="body" idx="1"/>
          </p:nvPr>
        </p:nvSpPr>
        <p:spPr bwMode="auto">
          <a:xfrm>
            <a:off x="311700" y="1152475"/>
            <a:ext cx="2827500" cy="3416400"/>
          </a:xfrm>
          <a:prstGeom prst="rect">
            <a:avLst/>
          </a:prstGeom>
        </p:spPr>
        <p:txBody>
          <a:bodyPr spcFirstLastPara="1" wrap="square" lIns="91425" tIns="45700" rIns="91425" bIns="45700" anchor="t" anchorCtr="0">
            <a:normAutofit/>
          </a:bodyPr>
          <a:lstStyle/>
          <a:p>
            <a:pPr marL="457200" lvl="0" indent="-342900" algn="l" rtl="0">
              <a:spcBef>
                <a:spcPts val="280"/>
              </a:spcBef>
              <a:spcAft>
                <a:spcPts val="0"/>
              </a:spcAft>
              <a:buSzPts val="1800"/>
              <a:buChar char="❏"/>
              <a:defRPr/>
            </a:pPr>
            <a:r>
              <a:rPr lang="en"/>
              <a:t>each row represents a word in the vocabulary</a:t>
            </a:r>
            <a:endParaRPr/>
          </a:p>
          <a:p>
            <a:pPr marL="457200" lvl="0" indent="-342900" algn="l" rtl="0">
              <a:spcBef>
                <a:spcPts val="0"/>
              </a:spcBef>
              <a:spcAft>
                <a:spcPts val="0"/>
              </a:spcAft>
              <a:buSzPts val="1800"/>
              <a:buChar char="❏"/>
              <a:defRPr/>
            </a:pPr>
            <a:r>
              <a:rPr lang="en"/>
              <a:t>each column represents how often each other word in the vocabulary appears nearby</a:t>
            </a:r>
            <a:endParaRPr/>
          </a:p>
        </p:txBody>
      </p:sp>
      <p:sp>
        <p:nvSpPr>
          <p:cNvPr id="2111011627" name="Google Shape;367;p60"/>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11</a:t>
            </a:fld>
            <a:endParaRPr/>
          </a:p>
        </p:txBody>
      </p:sp>
      <p:pic>
        <p:nvPicPr>
          <p:cNvPr id="1583751910" name="Google Shape;368;p60"/>
          <p:cNvPicPr/>
          <p:nvPr/>
        </p:nvPicPr>
        <p:blipFill rotWithShape="1">
          <a:blip r:embed="rId3">
            <a:alphaModFix/>
          </a:blip>
          <a:stretch/>
        </p:blipFill>
        <p:spPr bwMode="auto">
          <a:xfrm>
            <a:off x="3079325" y="1132275"/>
            <a:ext cx="6033931" cy="3416401"/>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6789842" name="Google Shape;373;p61"/>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The word-context matrix</a:t>
            </a:r>
            <a:endParaRPr/>
          </a:p>
        </p:txBody>
      </p:sp>
      <p:sp>
        <p:nvSpPr>
          <p:cNvPr id="1682300691" name="Google Shape;374;p61"/>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0" lvl="0" indent="0" algn="l" rtl="0">
              <a:spcBef>
                <a:spcPts val="280"/>
              </a:spcBef>
              <a:spcAft>
                <a:spcPts val="0"/>
              </a:spcAft>
              <a:buNone/>
              <a:defRPr/>
            </a:pPr>
            <a:r>
              <a:rPr lang="en"/>
              <a:t>Let’s say within 4 words is considered nearby</a:t>
            </a:r>
            <a:endParaRPr/>
          </a:p>
          <a:p>
            <a:pPr marL="0" lvl="0" indent="0" algn="l" rtl="0">
              <a:spcBef>
                <a:spcPts val="280"/>
              </a:spcBef>
              <a:spcAft>
                <a:spcPts val="0"/>
              </a:spcAft>
              <a:buNone/>
              <a:defRPr/>
            </a:pPr>
            <a:r>
              <a:rPr lang="en"/>
              <a:t> </a:t>
            </a:r>
            <a:endParaRPr/>
          </a:p>
        </p:txBody>
      </p:sp>
      <p:sp>
        <p:nvSpPr>
          <p:cNvPr id="2051646486" name="Google Shape;375;p61"/>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12</a:t>
            </a:fld>
            <a:endParaRPr/>
          </a:p>
        </p:txBody>
      </p:sp>
      <p:graphicFrame>
        <p:nvGraphicFramePr>
          <p:cNvPr id="2064194272" name="Google Shape;376;p61"/>
          <p:cNvGraphicFramePr>
            <a:graphicFrameLocks/>
          </p:cNvGraphicFramePr>
          <p:nvPr/>
        </p:nvGraphicFramePr>
        <p:xfrm>
          <a:off x="855300" y="1564950"/>
          <a:ext cx="3000000" cy="3000000"/>
        </p:xfrm>
        <a:graphic>
          <a:graphicData uri="http://schemas.openxmlformats.org/drawingml/2006/table">
            <a:tbl>
              <a:tblPr>
                <a:tableStyleId>{1316267D-F331-429C-A7BD-D566D4DBC0C9}</a:tableStyleId>
              </a:tblPr>
              <a:tblGrid>
                <a:gridCol w="3135400">
                  <a:extLst>
                    <a:ext uri="{9D8B030D-6E8A-4147-A177-3AD203B41FA5}">
                      <a16:colId xmlns:a16="http://schemas.microsoft.com/office/drawing/2014/main" val="20000"/>
                    </a:ext>
                  </a:extLst>
                </a:gridCol>
                <a:gridCol w="1263400">
                  <a:extLst>
                    <a:ext uri="{9D8B030D-6E8A-4147-A177-3AD203B41FA5}">
                      <a16:colId xmlns:a16="http://schemas.microsoft.com/office/drawing/2014/main" val="20001"/>
                    </a:ext>
                  </a:extLst>
                </a:gridCol>
                <a:gridCol w="3034600">
                  <a:extLst>
                    <a:ext uri="{9D8B030D-6E8A-4147-A177-3AD203B41FA5}">
                      <a16:colId xmlns:a16="http://schemas.microsoft.com/office/drawing/2014/main" val="20002"/>
                    </a:ext>
                  </a:extLst>
                </a:gridCol>
              </a:tblGrid>
              <a:tr h="395475">
                <a:tc>
                  <a:txBody>
                    <a:bodyPr/>
                    <a:lstStyle/>
                    <a:p>
                      <a:pPr marL="0" lvl="0" indent="0" algn="r" rtl="0">
                        <a:spcBef>
                          <a:spcPts val="0"/>
                        </a:spcBef>
                        <a:spcAft>
                          <a:spcPts val="0"/>
                        </a:spcAft>
                        <a:buNone/>
                        <a:defRPr/>
                      </a:pPr>
                      <a:r>
                        <a:rPr lang="en"/>
                        <a:t>is traditionally followed by </a:t>
                      </a:r>
                      <a:endParaRPr/>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tc>
                  <a:txBody>
                    <a:bodyPr/>
                    <a:lstStyle/>
                    <a:p>
                      <a:pPr marL="0" lvl="0" indent="0" algn="l" rtl="0">
                        <a:spcBef>
                          <a:spcPts val="0"/>
                        </a:spcBef>
                        <a:spcAft>
                          <a:spcPts val="0"/>
                        </a:spcAft>
                        <a:buNone/>
                        <a:defRPr/>
                      </a:pPr>
                      <a:r>
                        <a:rPr lang="en" b="1"/>
                        <a:t>cherry </a:t>
                      </a:r>
                      <a:endParaRPr b="1"/>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tc>
                  <a:txBody>
                    <a:bodyPr/>
                    <a:lstStyle/>
                    <a:p>
                      <a:pPr marL="0" lvl="0" indent="0" algn="l" rtl="0">
                        <a:spcBef>
                          <a:spcPts val="0"/>
                        </a:spcBef>
                        <a:spcAft>
                          <a:spcPts val="0"/>
                        </a:spcAft>
                        <a:buNone/>
                        <a:defRPr/>
                      </a:pPr>
                      <a:r>
                        <a:rPr lang="en"/>
                        <a:t>pie, a traditional dessert</a:t>
                      </a:r>
                      <a:endParaRPr/>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extLst>
                  <a:ext uri="{0D108BD9-81ED-4DB2-BD59-A6C34878D82A}">
                    <a16:rowId xmlns:a16="http://schemas.microsoft.com/office/drawing/2014/main" val="10000"/>
                  </a:ext>
                </a:extLst>
              </a:tr>
              <a:tr h="395475">
                <a:tc>
                  <a:txBody>
                    <a:bodyPr/>
                    <a:lstStyle/>
                    <a:p>
                      <a:pPr marL="0" lvl="0" indent="0" algn="r" rtl="0">
                        <a:spcBef>
                          <a:spcPts val="0"/>
                        </a:spcBef>
                        <a:spcAft>
                          <a:spcPts val="0"/>
                        </a:spcAft>
                        <a:buNone/>
                        <a:defRPr/>
                      </a:pPr>
                      <a:r>
                        <a:rPr lang="en"/>
                        <a:t>often mixed, such as </a:t>
                      </a:r>
                      <a:endParaRPr/>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tc>
                  <a:txBody>
                    <a:bodyPr/>
                    <a:lstStyle/>
                    <a:p>
                      <a:pPr marL="0" lvl="0" indent="0" algn="l" rtl="0">
                        <a:spcBef>
                          <a:spcPts val="0"/>
                        </a:spcBef>
                        <a:spcAft>
                          <a:spcPts val="0"/>
                        </a:spcAft>
                        <a:buNone/>
                        <a:defRPr/>
                      </a:pPr>
                      <a:r>
                        <a:rPr lang="en" b="1"/>
                        <a:t>strawberry </a:t>
                      </a:r>
                      <a:endParaRPr b="1"/>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tc>
                  <a:txBody>
                    <a:bodyPr/>
                    <a:lstStyle/>
                    <a:p>
                      <a:pPr marL="0" lvl="0" indent="0" algn="l" rtl="0">
                        <a:spcBef>
                          <a:spcPts val="0"/>
                        </a:spcBef>
                        <a:spcAft>
                          <a:spcPts val="0"/>
                        </a:spcAft>
                        <a:buNone/>
                        <a:defRPr/>
                      </a:pPr>
                      <a:r>
                        <a:rPr lang="en"/>
                        <a:t>rhubarb pie. Apple pie</a:t>
                      </a:r>
                      <a:endParaRPr/>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extLst>
                  <a:ext uri="{0D108BD9-81ED-4DB2-BD59-A6C34878D82A}">
                    <a16:rowId xmlns:a16="http://schemas.microsoft.com/office/drawing/2014/main" val="10001"/>
                  </a:ext>
                </a:extLst>
              </a:tr>
              <a:tr h="395475">
                <a:tc>
                  <a:txBody>
                    <a:bodyPr/>
                    <a:lstStyle/>
                    <a:p>
                      <a:pPr marL="0" lvl="0" indent="0" algn="r" rtl="0">
                        <a:spcBef>
                          <a:spcPts val="0"/>
                        </a:spcBef>
                        <a:spcAft>
                          <a:spcPts val="0"/>
                        </a:spcAft>
                        <a:buNone/>
                        <a:defRPr/>
                      </a:pPr>
                      <a:r>
                        <a:rPr lang="en"/>
                        <a:t>computer peripherals and personal </a:t>
                      </a:r>
                      <a:endParaRPr/>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tc>
                  <a:txBody>
                    <a:bodyPr/>
                    <a:lstStyle/>
                    <a:p>
                      <a:pPr marL="0" lvl="0" indent="0" algn="l" rtl="0">
                        <a:spcBef>
                          <a:spcPts val="0"/>
                        </a:spcBef>
                        <a:spcAft>
                          <a:spcPts val="0"/>
                        </a:spcAft>
                        <a:buNone/>
                        <a:defRPr/>
                      </a:pPr>
                      <a:r>
                        <a:rPr lang="en" b="1"/>
                        <a:t>digital </a:t>
                      </a:r>
                      <a:endParaRPr b="1"/>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tc>
                  <a:txBody>
                    <a:bodyPr/>
                    <a:lstStyle/>
                    <a:p>
                      <a:pPr marL="0" lvl="0" indent="0" algn="l" rtl="0">
                        <a:spcBef>
                          <a:spcPts val="0"/>
                        </a:spcBef>
                        <a:spcAft>
                          <a:spcPts val="0"/>
                        </a:spcAft>
                        <a:buNone/>
                        <a:defRPr/>
                      </a:pPr>
                      <a:r>
                        <a:rPr lang="en"/>
                        <a:t>assistants. These devices usually</a:t>
                      </a:r>
                      <a:endParaRPr/>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extLst>
                  <a:ext uri="{0D108BD9-81ED-4DB2-BD59-A6C34878D82A}">
                    <a16:rowId xmlns:a16="http://schemas.microsoft.com/office/drawing/2014/main" val="10002"/>
                  </a:ext>
                </a:extLst>
              </a:tr>
              <a:tr h="395475">
                <a:tc>
                  <a:txBody>
                    <a:bodyPr/>
                    <a:lstStyle/>
                    <a:p>
                      <a:pPr marL="0" lvl="0" indent="0" algn="r" rtl="0">
                        <a:spcBef>
                          <a:spcPts val="0"/>
                        </a:spcBef>
                        <a:spcAft>
                          <a:spcPts val="0"/>
                        </a:spcAft>
                        <a:buNone/>
                        <a:defRPr/>
                      </a:pPr>
                      <a:r>
                        <a:rPr lang="en"/>
                        <a:t>a computer. This includes </a:t>
                      </a:r>
                      <a:endParaRPr/>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tc>
                  <a:txBody>
                    <a:bodyPr/>
                    <a:lstStyle/>
                    <a:p>
                      <a:pPr marL="0" lvl="0" indent="0" algn="l" rtl="0">
                        <a:spcBef>
                          <a:spcPts val="0"/>
                        </a:spcBef>
                        <a:spcAft>
                          <a:spcPts val="0"/>
                        </a:spcAft>
                        <a:buNone/>
                        <a:defRPr/>
                      </a:pPr>
                      <a:r>
                        <a:rPr lang="en" b="1"/>
                        <a:t>information </a:t>
                      </a:r>
                      <a:endParaRPr b="1"/>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tc>
                  <a:txBody>
                    <a:bodyPr/>
                    <a:lstStyle/>
                    <a:p>
                      <a:pPr marL="0" lvl="0" indent="0" algn="l" rtl="0">
                        <a:spcBef>
                          <a:spcPts val="0"/>
                        </a:spcBef>
                        <a:spcAft>
                          <a:spcPts val="0"/>
                        </a:spcAft>
                        <a:buNone/>
                        <a:defRPr/>
                      </a:pPr>
                      <a:r>
                        <a:rPr lang="en"/>
                        <a:t>available on the internet</a:t>
                      </a:r>
                      <a:endParaRPr/>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extLst>
                  <a:ext uri="{0D108BD9-81ED-4DB2-BD59-A6C34878D82A}">
                    <a16:rowId xmlns:a16="http://schemas.microsoft.com/office/drawing/2014/main" val="10003"/>
                  </a:ext>
                </a:extLst>
              </a:tr>
            </a:tbl>
          </a:graphicData>
        </a:graphic>
      </p:graphicFrame>
      <p:pic>
        <p:nvPicPr>
          <p:cNvPr id="638655102" name="Google Shape;377;p61"/>
          <p:cNvPicPr/>
          <p:nvPr/>
        </p:nvPicPr>
        <p:blipFill rotWithShape="1">
          <a:blip r:embed="rId3">
            <a:alphaModFix/>
          </a:blip>
          <a:stretch/>
        </p:blipFill>
        <p:spPr bwMode="auto">
          <a:xfrm>
            <a:off x="1237950" y="3255300"/>
            <a:ext cx="7682400" cy="1451125"/>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51464039" name="Google Shape;382;p62"/>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The word-context matrix</a:t>
            </a:r>
            <a:endParaRPr/>
          </a:p>
        </p:txBody>
      </p:sp>
      <p:sp>
        <p:nvSpPr>
          <p:cNvPr id="1458056575" name="Google Shape;383;p62"/>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0" lvl="0" indent="0" algn="l" rtl="0">
              <a:spcBef>
                <a:spcPts val="280"/>
              </a:spcBef>
              <a:spcAft>
                <a:spcPts val="0"/>
              </a:spcAft>
              <a:buNone/>
              <a:defRPr/>
            </a:pPr>
            <a:r>
              <a:rPr lang="en"/>
              <a:t>Let’s say within 4 words is considered nearby</a:t>
            </a:r>
            <a:endParaRPr/>
          </a:p>
          <a:p>
            <a:pPr marL="0" lvl="0" indent="0" algn="l" rtl="0">
              <a:spcBef>
                <a:spcPts val="280"/>
              </a:spcBef>
              <a:spcAft>
                <a:spcPts val="0"/>
              </a:spcAft>
              <a:buNone/>
              <a:defRPr/>
            </a:pPr>
            <a:r>
              <a:rPr lang="en"/>
              <a:t> </a:t>
            </a:r>
            <a:endParaRPr/>
          </a:p>
        </p:txBody>
      </p:sp>
      <p:sp>
        <p:nvSpPr>
          <p:cNvPr id="1719445279" name="Google Shape;384;p62"/>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13</a:t>
            </a:fld>
            <a:endParaRPr/>
          </a:p>
        </p:txBody>
      </p:sp>
      <p:graphicFrame>
        <p:nvGraphicFramePr>
          <p:cNvPr id="74631438" name="Google Shape;385;p62"/>
          <p:cNvGraphicFramePr>
            <a:graphicFrameLocks/>
          </p:cNvGraphicFramePr>
          <p:nvPr/>
        </p:nvGraphicFramePr>
        <p:xfrm>
          <a:off x="855300" y="1564950"/>
          <a:ext cx="3000000" cy="3000000"/>
        </p:xfrm>
        <a:graphic>
          <a:graphicData uri="http://schemas.openxmlformats.org/drawingml/2006/table">
            <a:tbl>
              <a:tblPr>
                <a:tableStyleId>{1316267D-F331-429C-A7BD-D566D4DBC0C9}</a:tableStyleId>
              </a:tblPr>
              <a:tblGrid>
                <a:gridCol w="3135400">
                  <a:extLst>
                    <a:ext uri="{9D8B030D-6E8A-4147-A177-3AD203B41FA5}">
                      <a16:colId xmlns:a16="http://schemas.microsoft.com/office/drawing/2014/main" val="20000"/>
                    </a:ext>
                  </a:extLst>
                </a:gridCol>
                <a:gridCol w="1263400">
                  <a:extLst>
                    <a:ext uri="{9D8B030D-6E8A-4147-A177-3AD203B41FA5}">
                      <a16:colId xmlns:a16="http://schemas.microsoft.com/office/drawing/2014/main" val="20001"/>
                    </a:ext>
                  </a:extLst>
                </a:gridCol>
                <a:gridCol w="3034600">
                  <a:extLst>
                    <a:ext uri="{9D8B030D-6E8A-4147-A177-3AD203B41FA5}">
                      <a16:colId xmlns:a16="http://schemas.microsoft.com/office/drawing/2014/main" val="20002"/>
                    </a:ext>
                  </a:extLst>
                </a:gridCol>
              </a:tblGrid>
              <a:tr h="395475">
                <a:tc>
                  <a:txBody>
                    <a:bodyPr/>
                    <a:lstStyle/>
                    <a:p>
                      <a:pPr marL="0" lvl="0" indent="0" algn="r" rtl="0">
                        <a:spcBef>
                          <a:spcPts val="0"/>
                        </a:spcBef>
                        <a:spcAft>
                          <a:spcPts val="0"/>
                        </a:spcAft>
                        <a:buNone/>
                        <a:defRPr/>
                      </a:pPr>
                      <a:r>
                        <a:rPr lang="en"/>
                        <a:t>is traditionally followed by </a:t>
                      </a:r>
                      <a:endParaRPr/>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tc>
                  <a:txBody>
                    <a:bodyPr/>
                    <a:lstStyle/>
                    <a:p>
                      <a:pPr marL="0" lvl="0" indent="0" algn="l" rtl="0">
                        <a:spcBef>
                          <a:spcPts val="0"/>
                        </a:spcBef>
                        <a:spcAft>
                          <a:spcPts val="0"/>
                        </a:spcAft>
                        <a:buNone/>
                        <a:defRPr/>
                      </a:pPr>
                      <a:r>
                        <a:rPr lang="en" b="1"/>
                        <a:t>cherry </a:t>
                      </a:r>
                      <a:endParaRPr b="1"/>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tc>
                  <a:txBody>
                    <a:bodyPr/>
                    <a:lstStyle/>
                    <a:p>
                      <a:pPr marL="0" lvl="0" indent="0" algn="l" rtl="0">
                        <a:spcBef>
                          <a:spcPts val="0"/>
                        </a:spcBef>
                        <a:spcAft>
                          <a:spcPts val="0"/>
                        </a:spcAft>
                        <a:buNone/>
                        <a:defRPr/>
                      </a:pPr>
                      <a:r>
                        <a:rPr lang="en"/>
                        <a:t>pie, a traditional dessert</a:t>
                      </a:r>
                      <a:endParaRPr/>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extLst>
                  <a:ext uri="{0D108BD9-81ED-4DB2-BD59-A6C34878D82A}">
                    <a16:rowId xmlns:a16="http://schemas.microsoft.com/office/drawing/2014/main" val="10000"/>
                  </a:ext>
                </a:extLst>
              </a:tr>
              <a:tr h="395475">
                <a:tc>
                  <a:txBody>
                    <a:bodyPr/>
                    <a:lstStyle/>
                    <a:p>
                      <a:pPr marL="0" lvl="0" indent="0" algn="r" rtl="0">
                        <a:spcBef>
                          <a:spcPts val="0"/>
                        </a:spcBef>
                        <a:spcAft>
                          <a:spcPts val="0"/>
                        </a:spcAft>
                        <a:buNone/>
                        <a:defRPr/>
                      </a:pPr>
                      <a:r>
                        <a:rPr lang="en"/>
                        <a:t>often mixed, such as </a:t>
                      </a:r>
                      <a:endParaRPr/>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tc>
                  <a:txBody>
                    <a:bodyPr/>
                    <a:lstStyle/>
                    <a:p>
                      <a:pPr marL="0" lvl="0" indent="0" algn="l" rtl="0">
                        <a:spcBef>
                          <a:spcPts val="0"/>
                        </a:spcBef>
                        <a:spcAft>
                          <a:spcPts val="0"/>
                        </a:spcAft>
                        <a:buNone/>
                        <a:defRPr/>
                      </a:pPr>
                      <a:r>
                        <a:rPr lang="en" b="1"/>
                        <a:t>strawberry </a:t>
                      </a:r>
                      <a:endParaRPr b="1"/>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tc>
                  <a:txBody>
                    <a:bodyPr/>
                    <a:lstStyle/>
                    <a:p>
                      <a:pPr marL="0" lvl="0" indent="0" algn="l" rtl="0">
                        <a:spcBef>
                          <a:spcPts val="0"/>
                        </a:spcBef>
                        <a:spcAft>
                          <a:spcPts val="0"/>
                        </a:spcAft>
                        <a:buNone/>
                        <a:defRPr/>
                      </a:pPr>
                      <a:r>
                        <a:rPr lang="en"/>
                        <a:t>rhubarb pie. Apple pie</a:t>
                      </a:r>
                      <a:endParaRPr/>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extLst>
                  <a:ext uri="{0D108BD9-81ED-4DB2-BD59-A6C34878D82A}">
                    <a16:rowId xmlns:a16="http://schemas.microsoft.com/office/drawing/2014/main" val="10001"/>
                  </a:ext>
                </a:extLst>
              </a:tr>
              <a:tr h="395475">
                <a:tc>
                  <a:txBody>
                    <a:bodyPr/>
                    <a:lstStyle/>
                    <a:p>
                      <a:pPr marL="0" lvl="0" indent="0" algn="r" rtl="0">
                        <a:spcBef>
                          <a:spcPts val="0"/>
                        </a:spcBef>
                        <a:spcAft>
                          <a:spcPts val="0"/>
                        </a:spcAft>
                        <a:buNone/>
                        <a:defRPr/>
                      </a:pPr>
                      <a:r>
                        <a:rPr lang="en"/>
                        <a:t>computer peripherals and personal </a:t>
                      </a:r>
                      <a:endParaRPr/>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tc>
                  <a:txBody>
                    <a:bodyPr/>
                    <a:lstStyle/>
                    <a:p>
                      <a:pPr marL="0" lvl="0" indent="0" algn="l" rtl="0">
                        <a:spcBef>
                          <a:spcPts val="0"/>
                        </a:spcBef>
                        <a:spcAft>
                          <a:spcPts val="0"/>
                        </a:spcAft>
                        <a:buNone/>
                        <a:defRPr/>
                      </a:pPr>
                      <a:r>
                        <a:rPr lang="en" b="1"/>
                        <a:t>digital </a:t>
                      </a:r>
                      <a:endParaRPr b="1"/>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tc>
                  <a:txBody>
                    <a:bodyPr/>
                    <a:lstStyle/>
                    <a:p>
                      <a:pPr marL="0" lvl="0" indent="0" algn="l" rtl="0">
                        <a:spcBef>
                          <a:spcPts val="0"/>
                        </a:spcBef>
                        <a:spcAft>
                          <a:spcPts val="0"/>
                        </a:spcAft>
                        <a:buNone/>
                        <a:defRPr/>
                      </a:pPr>
                      <a:r>
                        <a:rPr lang="en"/>
                        <a:t>assistants. These devices usually</a:t>
                      </a:r>
                      <a:endParaRPr/>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extLst>
                  <a:ext uri="{0D108BD9-81ED-4DB2-BD59-A6C34878D82A}">
                    <a16:rowId xmlns:a16="http://schemas.microsoft.com/office/drawing/2014/main" val="10002"/>
                  </a:ext>
                </a:extLst>
              </a:tr>
              <a:tr h="395475">
                <a:tc>
                  <a:txBody>
                    <a:bodyPr/>
                    <a:lstStyle/>
                    <a:p>
                      <a:pPr marL="0" lvl="0" indent="0" algn="r" rtl="0">
                        <a:spcBef>
                          <a:spcPts val="0"/>
                        </a:spcBef>
                        <a:spcAft>
                          <a:spcPts val="0"/>
                        </a:spcAft>
                        <a:buNone/>
                        <a:defRPr/>
                      </a:pPr>
                      <a:r>
                        <a:rPr lang="en"/>
                        <a:t>a computer. This includes </a:t>
                      </a:r>
                      <a:endParaRPr/>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tc>
                  <a:txBody>
                    <a:bodyPr/>
                    <a:lstStyle/>
                    <a:p>
                      <a:pPr marL="0" lvl="0" indent="0" algn="l" rtl="0">
                        <a:spcBef>
                          <a:spcPts val="0"/>
                        </a:spcBef>
                        <a:spcAft>
                          <a:spcPts val="0"/>
                        </a:spcAft>
                        <a:buNone/>
                        <a:defRPr/>
                      </a:pPr>
                      <a:r>
                        <a:rPr lang="en" b="1"/>
                        <a:t>information </a:t>
                      </a:r>
                      <a:endParaRPr b="1"/>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tc>
                  <a:txBody>
                    <a:bodyPr/>
                    <a:lstStyle/>
                    <a:p>
                      <a:pPr marL="0" lvl="0" indent="0" algn="l" rtl="0">
                        <a:spcBef>
                          <a:spcPts val="0"/>
                        </a:spcBef>
                        <a:spcAft>
                          <a:spcPts val="0"/>
                        </a:spcAft>
                        <a:buNone/>
                        <a:defRPr/>
                      </a:pPr>
                      <a:r>
                        <a:rPr lang="en"/>
                        <a:t>available on the internet</a:t>
                      </a:r>
                      <a:endParaRPr/>
                    </a:p>
                  </a:txBody>
                  <a:tcPr marL="91425" marR="91425" marT="91425" marB="91425">
                    <a:lnL w="9525" algn="ctr">
                      <a:solidFill>
                        <a:srgbClr val="9E9E9E">
                          <a:alpha val="0"/>
                        </a:srgbClr>
                      </a:solidFill>
                    </a:lnL>
                    <a:lnR w="9525" algn="ctr">
                      <a:solidFill>
                        <a:srgbClr val="9E9E9E">
                          <a:alpha val="0"/>
                        </a:srgbClr>
                      </a:solidFill>
                    </a:lnR>
                    <a:lnT w="9525" algn="ctr">
                      <a:solidFill>
                        <a:srgbClr val="9E9E9E">
                          <a:alpha val="0"/>
                        </a:srgbClr>
                      </a:solidFill>
                    </a:lnT>
                    <a:lnB w="9525" algn="ctr">
                      <a:solidFill>
                        <a:srgbClr val="9E9E9E">
                          <a:alpha val="0"/>
                        </a:srgbClr>
                      </a:solidFill>
                    </a:lnB>
                  </a:tcPr>
                </a:tc>
                <a:extLst>
                  <a:ext uri="{0D108BD9-81ED-4DB2-BD59-A6C34878D82A}">
                    <a16:rowId xmlns:a16="http://schemas.microsoft.com/office/drawing/2014/main" val="10003"/>
                  </a:ext>
                </a:extLst>
              </a:tr>
            </a:tbl>
          </a:graphicData>
        </a:graphic>
      </p:graphicFrame>
      <p:pic>
        <p:nvPicPr>
          <p:cNvPr id="1663282669" name="Google Shape;386;p62"/>
          <p:cNvPicPr/>
          <p:nvPr/>
        </p:nvPicPr>
        <p:blipFill rotWithShape="1">
          <a:blip r:embed="rId3">
            <a:alphaModFix/>
          </a:blip>
          <a:stretch/>
        </p:blipFill>
        <p:spPr bwMode="auto">
          <a:xfrm>
            <a:off x="1087200" y="3226050"/>
            <a:ext cx="7989901" cy="1509200"/>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61320176" name="Google Shape;391;p63"/>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Linguistic distribution determines word similarity</a:t>
            </a:r>
            <a:endParaRPr/>
          </a:p>
        </p:txBody>
      </p:sp>
      <p:sp>
        <p:nvSpPr>
          <p:cNvPr id="579849271" name="Google Shape;392;p63"/>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0" lvl="0" indent="0" algn="l" rtl="0">
              <a:spcBef>
                <a:spcPts val="280"/>
              </a:spcBef>
              <a:spcAft>
                <a:spcPts val="0"/>
              </a:spcAft>
              <a:buNone/>
              <a:defRPr/>
            </a:pPr>
            <a:endParaRPr/>
          </a:p>
        </p:txBody>
      </p:sp>
      <p:sp>
        <p:nvSpPr>
          <p:cNvPr id="2022703890" name="Google Shape;393;p63"/>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14</a:t>
            </a:fld>
            <a:endParaRPr/>
          </a:p>
        </p:txBody>
      </p:sp>
      <p:pic>
        <p:nvPicPr>
          <p:cNvPr id="958606299" name="Google Shape;394;p63"/>
          <p:cNvPicPr/>
          <p:nvPr/>
        </p:nvPicPr>
        <p:blipFill rotWithShape="1">
          <a:blip r:embed="rId3">
            <a:alphaModFix/>
          </a:blip>
          <a:stretch/>
        </p:blipFill>
        <p:spPr bwMode="auto">
          <a:xfrm>
            <a:off x="311711" y="1152475"/>
            <a:ext cx="4495476" cy="3203999"/>
          </a:xfrm>
          <a:prstGeom prst="rect">
            <a:avLst/>
          </a:prstGeom>
          <a:noFill/>
          <a:ln>
            <a:noFill/>
          </a:ln>
        </p:spPr>
      </p:pic>
      <p:pic>
        <p:nvPicPr>
          <p:cNvPr id="1677388087" name="Google Shape;395;p63"/>
          <p:cNvPicPr/>
          <p:nvPr/>
        </p:nvPicPr>
        <p:blipFill rotWithShape="1">
          <a:blip r:embed="rId4">
            <a:alphaModFix/>
          </a:blip>
          <a:stretch/>
        </p:blipFill>
        <p:spPr bwMode="auto">
          <a:xfrm>
            <a:off x="4807175" y="1929600"/>
            <a:ext cx="3881049" cy="1755974"/>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59630676" name="Google Shape;400;p64"/>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Linguistic distribution determines word similarity</a:t>
            </a:r>
            <a:endParaRPr/>
          </a:p>
        </p:txBody>
      </p:sp>
      <p:sp>
        <p:nvSpPr>
          <p:cNvPr id="205382458" name="Google Shape;401;p64"/>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0" lvl="0" indent="0" algn="l" rtl="0">
              <a:spcBef>
                <a:spcPts val="280"/>
              </a:spcBef>
              <a:spcAft>
                <a:spcPts val="0"/>
              </a:spcAft>
              <a:buNone/>
              <a:defRPr/>
            </a:pPr>
            <a:endParaRPr/>
          </a:p>
        </p:txBody>
      </p:sp>
      <p:sp>
        <p:nvSpPr>
          <p:cNvPr id="358955649" name="Google Shape;402;p64"/>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15</a:t>
            </a:fld>
            <a:endParaRPr/>
          </a:p>
        </p:txBody>
      </p:sp>
      <p:pic>
        <p:nvPicPr>
          <p:cNvPr id="1129807544" name="Google Shape;403;p64"/>
          <p:cNvPicPr/>
          <p:nvPr/>
        </p:nvPicPr>
        <p:blipFill rotWithShape="1">
          <a:blip r:embed="rId3">
            <a:alphaModFix/>
          </a:blip>
          <a:stretch/>
        </p:blipFill>
        <p:spPr bwMode="auto">
          <a:xfrm>
            <a:off x="1150050" y="1152477"/>
            <a:ext cx="7171199" cy="3560901"/>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95009165" name="Title 1"/>
          <p:cNvSpPr>
            <a:spLocks noGrp="1"/>
          </p:cNvSpPr>
          <p:nvPr>
            <p:ph type="title"/>
          </p:nvPr>
        </p:nvSpPr>
        <p:spPr bwMode="auto"/>
        <p:txBody>
          <a:bodyPr/>
          <a:lstStyle/>
          <a:p>
            <a:pPr>
              <a:defRPr/>
            </a:pPr>
            <a:r>
              <a:t>From Raw Counts to PMI (optional)</a:t>
            </a:r>
          </a:p>
        </p:txBody>
      </p:sp>
      <p:sp>
        <p:nvSpPr>
          <p:cNvPr id="1002625106" name="Text Placeholder 2"/>
          <p:cNvSpPr>
            <a:spLocks noGrp="1"/>
          </p:cNvSpPr>
          <p:nvPr>
            <p:ph type="body" idx="1"/>
          </p:nvPr>
        </p:nvSpPr>
        <p:spPr bwMode="auto"/>
        <p:txBody>
          <a:bodyPr/>
          <a:lstStyle/>
          <a:p>
            <a:pPr>
              <a:defRPr/>
            </a:pPr>
            <a:r>
              <a:t>Problem: raw co-occurrence counts are dominated by frequent words ("the", "a", "in")</a:t>
            </a:r>
          </a:p>
          <a:p>
            <a:pPr lvl="1">
              <a:defRPr/>
            </a:pPr>
            <a:r>
              <a:rPr sz="1800"/>
              <a:t>A high count for "cat" co-occurring with "the" says little about cat's meaning</a:t>
            </a:r>
            <a:endParaRPr/>
          </a:p>
          <a:p>
            <a:pPr>
              <a:defRPr/>
            </a:pPr>
            <a:r>
              <a:t>Pointwise Mutual Information (PMI) upweights surprising co-occurrences</a:t>
            </a:r>
          </a:p>
          <a:p>
            <a:pPr lvl="1">
              <a:defRPr/>
            </a:pPr>
            <a:r>
              <a:rPr sz="1800"/>
              <a:t>PMI(w, c) = log( P(w, c) / [P(w) x P(c)] )</a:t>
            </a:r>
            <a:endParaRPr/>
          </a:p>
          <a:p>
            <a:pPr lvl="1">
              <a:defRPr/>
            </a:pPr>
            <a:r>
              <a:rPr sz="1800"/>
              <a:t>High PMI: "cat" and "meows" co-occur more than chance predicts -&gt; strong association</a:t>
            </a:r>
            <a:endParaRPr/>
          </a:p>
          <a:p>
            <a:pPr lvl="1">
              <a:defRPr/>
            </a:pPr>
            <a:r>
              <a:rPr sz="1800"/>
              <a:t>Low PMI: "cat" and "the" co-occur, but "the" co-occurs with everything -&gt; weak association</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7567404" name="Google Shape;408;p65"/>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Sparse versus dense vectors</a:t>
            </a:r>
            <a:endParaRPr/>
          </a:p>
        </p:txBody>
      </p:sp>
      <p:sp>
        <p:nvSpPr>
          <p:cNvPr id="1820791715" name="Google Shape;409;p65"/>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0" lvl="0" indent="0" algn="l" rtl="0">
              <a:spcBef>
                <a:spcPts val="280"/>
              </a:spcBef>
              <a:spcAft>
                <a:spcPts val="0"/>
              </a:spcAft>
              <a:buNone/>
              <a:defRPr/>
            </a:pPr>
            <a:r>
              <a:rPr lang="en"/>
              <a:t>Count vectors (even if weighted by tf-idf)</a:t>
            </a:r>
            <a:endParaRPr/>
          </a:p>
          <a:p>
            <a:pPr marL="457200" lvl="0" indent="-342900" algn="l" rtl="0">
              <a:spcBef>
                <a:spcPts val="280"/>
              </a:spcBef>
              <a:spcAft>
                <a:spcPts val="0"/>
              </a:spcAft>
              <a:buSzPts val="1800"/>
              <a:buChar char="➢"/>
              <a:defRPr/>
            </a:pPr>
            <a:r>
              <a:rPr lang="en"/>
              <a:t>long (length |V|= 20,000 to 50,000)</a:t>
            </a:r>
            <a:endParaRPr/>
          </a:p>
          <a:p>
            <a:pPr marL="457200" lvl="0" indent="-342900" algn="l" rtl="0">
              <a:spcBef>
                <a:spcPts val="0"/>
              </a:spcBef>
              <a:spcAft>
                <a:spcPts val="0"/>
              </a:spcAft>
              <a:buSzPts val="1800"/>
              <a:buChar char="➢"/>
              <a:defRPr/>
            </a:pPr>
            <a:r>
              <a:rPr lang="en"/>
              <a:t>sparse (most elements are zero)</a:t>
            </a:r>
            <a:endParaRPr/>
          </a:p>
          <a:p>
            <a:pPr marL="0" lvl="0" indent="0" algn="l" rtl="0">
              <a:spcBef>
                <a:spcPts val="280"/>
              </a:spcBef>
              <a:spcAft>
                <a:spcPts val="0"/>
              </a:spcAft>
              <a:buNone/>
              <a:defRPr/>
            </a:pPr>
            <a:endParaRPr/>
          </a:p>
          <a:p>
            <a:pPr marL="0" lvl="0" indent="0" algn="l" rtl="0">
              <a:spcBef>
                <a:spcPts val="280"/>
              </a:spcBef>
              <a:spcAft>
                <a:spcPts val="0"/>
              </a:spcAft>
              <a:buNone/>
              <a:defRPr/>
            </a:pPr>
            <a:endParaRPr/>
          </a:p>
          <a:p>
            <a:pPr marL="0" lvl="0" indent="0" algn="l" rtl="0">
              <a:spcBef>
                <a:spcPts val="280"/>
              </a:spcBef>
              <a:spcAft>
                <a:spcPts val="0"/>
              </a:spcAft>
              <a:buNone/>
              <a:defRPr/>
            </a:pPr>
            <a:endParaRPr/>
          </a:p>
          <a:p>
            <a:pPr marL="0" lvl="0" indent="0" algn="l" rtl="0">
              <a:spcBef>
                <a:spcPts val="280"/>
              </a:spcBef>
              <a:spcAft>
                <a:spcPts val="0"/>
              </a:spcAft>
              <a:buNone/>
              <a:defRPr/>
            </a:pPr>
            <a:endParaRPr/>
          </a:p>
          <a:p>
            <a:pPr marL="0" lvl="0" indent="0" algn="l" rtl="0">
              <a:spcBef>
                <a:spcPts val="280"/>
              </a:spcBef>
              <a:spcAft>
                <a:spcPts val="0"/>
              </a:spcAft>
              <a:buNone/>
              <a:defRPr/>
            </a:pPr>
            <a:r>
              <a:rPr lang="en"/>
              <a:t>Alternative: learn/compute vectors which are</a:t>
            </a:r>
            <a:endParaRPr/>
          </a:p>
          <a:p>
            <a:pPr marL="457200" lvl="0" indent="-342900" algn="l" rtl="0">
              <a:spcBef>
                <a:spcPts val="280"/>
              </a:spcBef>
              <a:spcAft>
                <a:spcPts val="0"/>
              </a:spcAft>
              <a:buSzPts val="1800"/>
              <a:buChar char="➢"/>
              <a:defRPr/>
            </a:pPr>
            <a:r>
              <a:rPr lang="en"/>
              <a:t>short (length 50-1000)</a:t>
            </a:r>
            <a:endParaRPr/>
          </a:p>
          <a:p>
            <a:pPr marL="457200" lvl="0" indent="-342900" algn="l" rtl="0">
              <a:spcBef>
                <a:spcPts val="0"/>
              </a:spcBef>
              <a:spcAft>
                <a:spcPts val="0"/>
              </a:spcAft>
              <a:buSzPts val="1800"/>
              <a:buChar char="➢"/>
              <a:defRPr/>
            </a:pPr>
            <a:r>
              <a:rPr lang="en"/>
              <a:t>dense (most elements are non-zero)</a:t>
            </a:r>
            <a:endParaRPr/>
          </a:p>
        </p:txBody>
      </p:sp>
      <p:sp>
        <p:nvSpPr>
          <p:cNvPr id="1381457960" name="Google Shape;410;p65"/>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17</a:t>
            </a:fld>
            <a:endParaRPr/>
          </a:p>
        </p:txBody>
      </p:sp>
      <p:pic>
        <p:nvPicPr>
          <p:cNvPr id="475257237" name="Google Shape;411;p65"/>
          <p:cNvPicPr/>
          <p:nvPr/>
        </p:nvPicPr>
        <p:blipFill rotWithShape="1">
          <a:blip r:embed="rId3">
            <a:alphaModFix/>
          </a:blip>
          <a:stretch/>
        </p:blipFill>
        <p:spPr bwMode="auto">
          <a:xfrm>
            <a:off x="1523840" y="2146075"/>
            <a:ext cx="6096326" cy="1151525"/>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37290748" name="Google Shape;416;p66"/>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Statistical method</a:t>
            </a:r>
            <a:endParaRPr/>
          </a:p>
        </p:txBody>
      </p:sp>
      <p:sp>
        <p:nvSpPr>
          <p:cNvPr id="995608734" name="Google Shape;417;p66"/>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457200" lvl="0" indent="-342900" algn="l" rtl="0">
              <a:spcBef>
                <a:spcPts val="280"/>
              </a:spcBef>
              <a:spcAft>
                <a:spcPts val="0"/>
              </a:spcAft>
              <a:buSzPts val="1800"/>
              <a:buChar char="❏"/>
              <a:defRPr/>
            </a:pPr>
            <a:r>
              <a:rPr lang="en"/>
              <a:t>Statistical method (based on calculation) can derive dense vectors</a:t>
            </a:r>
            <a:endParaRPr/>
          </a:p>
          <a:p>
            <a:pPr marL="457200" lvl="0" indent="-342900" algn="l" rtl="0">
              <a:spcBef>
                <a:spcPts val="0"/>
              </a:spcBef>
              <a:spcAft>
                <a:spcPts val="0"/>
              </a:spcAft>
              <a:buSzPts val="1800"/>
              <a:buChar char="❏"/>
              <a:defRPr/>
            </a:pPr>
            <a:r>
              <a:rPr lang="en"/>
              <a:t>Statistical method provides a foundation for understanding “how meaning is represented in vectors”</a:t>
            </a:r>
            <a:endParaRPr/>
          </a:p>
          <a:p>
            <a:pPr marL="457200" lvl="0" indent="-342900" algn="l" rtl="0">
              <a:spcBef>
                <a:spcPts val="0"/>
              </a:spcBef>
              <a:spcAft>
                <a:spcPts val="0"/>
              </a:spcAft>
              <a:buSzPts val="1800"/>
              <a:buChar char="➢"/>
              <a:defRPr/>
            </a:pPr>
            <a:r>
              <a:rPr lang="en"/>
              <a:t>PPMI (performed on the word-context matrix)</a:t>
            </a:r>
            <a:endParaRPr/>
          </a:p>
          <a:p>
            <a:pPr marL="457200" lvl="0" indent="-342900" algn="l" rtl="0">
              <a:spcBef>
                <a:spcPts val="0"/>
              </a:spcBef>
              <a:spcAft>
                <a:spcPts val="0"/>
              </a:spcAft>
              <a:buSzPts val="1800"/>
              <a:buChar char="➢"/>
              <a:defRPr/>
            </a:pPr>
            <a:r>
              <a:rPr lang="en"/>
              <a:t>PCA (dimensionality reduction technique)</a:t>
            </a:r>
            <a:endParaRPr/>
          </a:p>
          <a:p>
            <a:pPr marL="457200" lvl="0" indent="-342900" algn="l" rtl="0">
              <a:spcBef>
                <a:spcPts val="0"/>
              </a:spcBef>
              <a:spcAft>
                <a:spcPts val="0"/>
              </a:spcAft>
              <a:buSzPts val="1800"/>
              <a:buChar char="➢"/>
              <a:defRPr/>
            </a:pPr>
            <a:r>
              <a:rPr lang="en"/>
              <a:t>SVD (dimensionality reduction technique)</a:t>
            </a:r>
            <a:endParaRPr/>
          </a:p>
        </p:txBody>
      </p:sp>
      <p:sp>
        <p:nvSpPr>
          <p:cNvPr id="207452415" name="Google Shape;418;p66"/>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18</a:t>
            </a:fld>
            <a:endParaRPr/>
          </a:p>
        </p:txBody>
      </p:sp>
      <p:sp>
        <p:nvSpPr>
          <p:cNvPr id="1601585931" name="Google Shape;419;p66"/>
          <p:cNvSpPr/>
          <p:nvPr/>
        </p:nvSpPr>
        <p:spPr bwMode="auto">
          <a:xfrm>
            <a:off x="1833125" y="3290225"/>
            <a:ext cx="1403400" cy="839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r>
              <a:rPr lang="en"/>
              <a:t>Counting techniques</a:t>
            </a:r>
            <a:endParaRPr/>
          </a:p>
        </p:txBody>
      </p:sp>
      <p:sp>
        <p:nvSpPr>
          <p:cNvPr id="805769298" name="Google Shape;420;p66"/>
          <p:cNvSpPr/>
          <p:nvPr/>
        </p:nvSpPr>
        <p:spPr bwMode="auto">
          <a:xfrm>
            <a:off x="3798525" y="3290225"/>
            <a:ext cx="1403400" cy="839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r>
              <a:rPr lang="en"/>
              <a:t>Smoothing techniques</a:t>
            </a:r>
            <a:endParaRPr/>
          </a:p>
        </p:txBody>
      </p:sp>
      <p:sp>
        <p:nvSpPr>
          <p:cNvPr id="188428046" name="Google Shape;421;p66"/>
          <p:cNvSpPr/>
          <p:nvPr/>
        </p:nvSpPr>
        <p:spPr bwMode="auto">
          <a:xfrm>
            <a:off x="5763925" y="3290225"/>
            <a:ext cx="1555200" cy="839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r>
              <a:rPr lang="en"/>
              <a:t>Dimensionality reduction techniques</a:t>
            </a:r>
            <a:endParaRPr/>
          </a:p>
        </p:txBody>
      </p:sp>
      <p:cxnSp>
        <p:nvCxnSpPr>
          <p:cNvPr id="649797592" name="Google Shape;422;p66"/>
          <p:cNvCxnSpPr>
            <a:stCxn id="1601585931" idx="3"/>
            <a:endCxn id="805769298" idx="1"/>
          </p:cNvCxnSpPr>
          <p:nvPr/>
        </p:nvCxnSpPr>
        <p:spPr bwMode="auto">
          <a:xfrm>
            <a:off x="3236525" y="3709925"/>
            <a:ext cx="561900" cy="0"/>
          </a:xfrm>
          <a:prstGeom prst="straightConnector1">
            <a:avLst/>
          </a:prstGeom>
          <a:noFill/>
          <a:ln w="9525" cap="flat" cmpd="sng">
            <a:solidFill>
              <a:schemeClr val="dk2"/>
            </a:solidFill>
            <a:prstDash val="solid"/>
            <a:round/>
            <a:headEnd type="none" w="med" len="med"/>
            <a:tailEnd type="triangle" w="med" len="med"/>
          </a:ln>
        </p:spPr>
      </p:cxnSp>
      <p:cxnSp>
        <p:nvCxnSpPr>
          <p:cNvPr id="1612973188" name="Google Shape;423;p66"/>
          <p:cNvCxnSpPr>
            <a:stCxn id="805769298" idx="3"/>
            <a:endCxn id="188428046" idx="1"/>
          </p:cNvCxnSpPr>
          <p:nvPr/>
        </p:nvCxnSpPr>
        <p:spPr bwMode="auto">
          <a:xfrm>
            <a:off x="5201925" y="3709925"/>
            <a:ext cx="561900" cy="0"/>
          </a:xfrm>
          <a:prstGeom prst="straightConnector1">
            <a:avLst/>
          </a:prstGeom>
          <a:noFill/>
          <a:ln w="9525" cap="flat" cmpd="sng">
            <a:solidFill>
              <a:schemeClr val="dk2"/>
            </a:solidFill>
            <a:prstDash val="solid"/>
            <a:round/>
            <a:headEnd type="none" w="med" len="med"/>
            <a:tailEnd type="triangle" w="med" len="med"/>
          </a:ln>
        </p:spPr>
      </p:cxn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7232846" name="Google Shape;428;p67"/>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Neural Network based </a:t>
            </a:r>
            <a:endParaRPr/>
          </a:p>
        </p:txBody>
      </p:sp>
      <p:sp>
        <p:nvSpPr>
          <p:cNvPr id="8815113" name="Google Shape;429;p67"/>
          <p:cNvSpPr txBox="1">
            <a:spLocks noGrp="1"/>
          </p:cNvSpPr>
          <p:nvPr>
            <p:ph type="body" idx="1"/>
          </p:nvPr>
        </p:nvSpPr>
        <p:spPr bwMode="auto">
          <a:xfrm>
            <a:off x="311700" y="1017724"/>
            <a:ext cx="4684200" cy="3416400"/>
          </a:xfrm>
          <a:prstGeom prst="rect">
            <a:avLst/>
          </a:prstGeom>
        </p:spPr>
        <p:txBody>
          <a:bodyPr spcFirstLastPara="1" wrap="square" lIns="91425" tIns="45700" rIns="91425" bIns="45700" anchor="t" anchorCtr="0">
            <a:normAutofit/>
          </a:bodyPr>
          <a:lstStyle/>
          <a:p>
            <a:pPr marL="457200" lvl="0" indent="-336550" algn="l" rtl="0">
              <a:spcBef>
                <a:spcPts val="280"/>
              </a:spcBef>
              <a:spcAft>
                <a:spcPts val="0"/>
              </a:spcAft>
              <a:buSzPts val="1700"/>
              <a:buChar char="❏"/>
              <a:defRPr/>
            </a:pPr>
            <a:r>
              <a:rPr lang="en" sz="1700"/>
              <a:t>NN-based vector representations are learnt through a shallow language model*</a:t>
            </a:r>
            <a:endParaRPr sz="1700"/>
          </a:p>
          <a:p>
            <a:pPr marL="457200" lvl="0" indent="-336550" algn="l" rtl="0">
              <a:spcBef>
                <a:spcPts val="0"/>
              </a:spcBef>
              <a:spcAft>
                <a:spcPts val="0"/>
              </a:spcAft>
              <a:buSzPts val="1700"/>
              <a:buChar char="❏"/>
              <a:defRPr/>
            </a:pPr>
            <a:r>
              <a:rPr lang="en" sz="1700"/>
              <a:t>The objective is a bit different,</a:t>
            </a:r>
            <a:endParaRPr sz="1700"/>
          </a:p>
          <a:p>
            <a:pPr marL="914400" lvl="1" indent="-323850" algn="l" rtl="0">
              <a:spcBef>
                <a:spcPts val="0"/>
              </a:spcBef>
              <a:spcAft>
                <a:spcPts val="0"/>
              </a:spcAft>
              <a:buSzPts val="1500"/>
              <a:buChar char="➢"/>
              <a:defRPr/>
            </a:pPr>
            <a:r>
              <a:rPr lang="en" sz="1500"/>
              <a:t>not predicting the next word</a:t>
            </a:r>
            <a:endParaRPr sz="1500"/>
          </a:p>
          <a:p>
            <a:pPr marL="914400" lvl="1" indent="-323850" algn="l" rtl="0">
              <a:spcBef>
                <a:spcPts val="0"/>
              </a:spcBef>
              <a:spcAft>
                <a:spcPts val="0"/>
              </a:spcAft>
              <a:buSzPts val="1500"/>
              <a:buChar char="➢"/>
              <a:defRPr/>
            </a:pPr>
            <a:r>
              <a:rPr lang="en" sz="1500"/>
              <a:t>but predicting the surrounding word</a:t>
            </a:r>
            <a:endParaRPr sz="1500"/>
          </a:p>
          <a:p>
            <a:pPr marL="914400" lvl="1" indent="-323850" algn="l" rtl="0">
              <a:spcBef>
                <a:spcPts val="0"/>
              </a:spcBef>
              <a:spcAft>
                <a:spcPts val="0"/>
              </a:spcAft>
              <a:buSzPts val="1500"/>
              <a:buChar char="➢"/>
              <a:defRPr/>
            </a:pPr>
            <a:r>
              <a:rPr lang="en" sz="1500"/>
              <a:t>or use surrounding words to predict the missing word</a:t>
            </a:r>
            <a:endParaRPr sz="1500"/>
          </a:p>
        </p:txBody>
      </p:sp>
      <p:sp>
        <p:nvSpPr>
          <p:cNvPr id="168850933" name="Google Shape;430;p67"/>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19</a:t>
            </a:fld>
            <a:endParaRPr/>
          </a:p>
        </p:txBody>
      </p:sp>
      <p:pic>
        <p:nvPicPr>
          <p:cNvPr id="1689327023" name="Google Shape;431;p67"/>
          <p:cNvPicPr/>
          <p:nvPr/>
        </p:nvPicPr>
        <p:blipFill rotWithShape="1">
          <a:blip r:embed="rId3">
            <a:alphaModFix/>
          </a:blip>
          <a:stretch/>
        </p:blipFill>
        <p:spPr bwMode="auto">
          <a:xfrm>
            <a:off x="4955625" y="579225"/>
            <a:ext cx="3843299" cy="2106792"/>
          </a:xfrm>
          <a:prstGeom prst="rect">
            <a:avLst/>
          </a:prstGeom>
          <a:noFill/>
          <a:ln w="9525" cap="flat" cmpd="sng">
            <a:solidFill>
              <a:schemeClr val="dk1"/>
            </a:solidFill>
            <a:prstDash val="solid"/>
            <a:round/>
            <a:headEnd type="none" w="sm" len="sm"/>
            <a:tailEnd type="none" w="sm" len="sm"/>
          </a:ln>
        </p:spPr>
      </p:pic>
      <p:pic>
        <p:nvPicPr>
          <p:cNvPr id="1642145545" name="Google Shape;432;p67"/>
          <p:cNvPicPr/>
          <p:nvPr/>
        </p:nvPicPr>
        <p:blipFill rotWithShape="1">
          <a:blip r:embed="rId4">
            <a:alphaModFix/>
          </a:blip>
          <a:stretch/>
        </p:blipFill>
        <p:spPr bwMode="auto">
          <a:xfrm>
            <a:off x="1662550" y="2786501"/>
            <a:ext cx="6809899" cy="2230050"/>
          </a:xfrm>
          <a:prstGeom prst="rect">
            <a:avLst/>
          </a:prstGeom>
          <a:noFill/>
          <a:ln w="9525" cap="flat" cmpd="sng">
            <a:solidFill>
              <a:schemeClr val="dk1"/>
            </a:solidFill>
            <a:prstDash val="solid"/>
            <a:round/>
            <a:headEnd type="none" w="sm" len="sm"/>
            <a:tailEnd type="none" w="sm" len="sm"/>
          </a:ln>
        </p:spPr>
      </p:pic>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92696150" name="Google Shape;437;p68"/>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US"/>
              <a:t>Difference Between Statistical vs </a:t>
            </a:r>
            <a:r>
              <a:rPr lang="en"/>
              <a:t>Neural Network based </a:t>
            </a:r>
            <a:endParaRPr/>
          </a:p>
        </p:txBody>
      </p:sp>
      <p:sp>
        <p:nvSpPr>
          <p:cNvPr id="491847712" name="Google Shape;438;p68"/>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20</a:t>
            </a:fld>
            <a:endParaRPr/>
          </a:p>
        </p:txBody>
      </p:sp>
      <p:sp>
        <p:nvSpPr>
          <p:cNvPr id="212281420" name="Google Shape;439;p68"/>
          <p:cNvSpPr/>
          <p:nvPr/>
        </p:nvSpPr>
        <p:spPr bwMode="auto">
          <a:xfrm>
            <a:off x="1759275" y="2440975"/>
            <a:ext cx="1403400" cy="839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r>
              <a:rPr lang="en"/>
              <a:t>Counting stage</a:t>
            </a:r>
            <a:endParaRPr/>
          </a:p>
        </p:txBody>
      </p:sp>
      <p:sp>
        <p:nvSpPr>
          <p:cNvPr id="1642154532" name="Google Shape;440;p68"/>
          <p:cNvSpPr txBox="1"/>
          <p:nvPr/>
        </p:nvSpPr>
        <p:spPr bwMode="auto">
          <a:xfrm>
            <a:off x="1235550" y="3293225"/>
            <a:ext cx="3283500" cy="1569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800">
                <a:solidFill>
                  <a:schemeClr val="dk1"/>
                </a:solidFill>
              </a:rPr>
              <a:t>Not explicitly taking down the number of occurrences of neighbour words, but implicitly performed through data preparation and sampling. </a:t>
            </a:r>
            <a:endParaRPr sz="1800">
              <a:solidFill>
                <a:schemeClr val="dk1"/>
              </a:solidFill>
            </a:endParaRPr>
          </a:p>
        </p:txBody>
      </p:sp>
      <p:sp>
        <p:nvSpPr>
          <p:cNvPr id="1449748290" name="Google Shape;441;p68"/>
          <p:cNvSpPr/>
          <p:nvPr/>
        </p:nvSpPr>
        <p:spPr bwMode="auto">
          <a:xfrm>
            <a:off x="1759275" y="1152475"/>
            <a:ext cx="1403400" cy="839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r>
              <a:rPr lang="en"/>
              <a:t>Counting techniques</a:t>
            </a:r>
            <a:endParaRPr/>
          </a:p>
        </p:txBody>
      </p:sp>
      <p:sp>
        <p:nvSpPr>
          <p:cNvPr id="846699952" name="Google Shape;442;p68"/>
          <p:cNvSpPr/>
          <p:nvPr/>
        </p:nvSpPr>
        <p:spPr bwMode="auto">
          <a:xfrm>
            <a:off x="3724675" y="1152475"/>
            <a:ext cx="1403400" cy="839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r>
              <a:rPr lang="en"/>
              <a:t>Smoothing techniques</a:t>
            </a:r>
            <a:endParaRPr/>
          </a:p>
        </p:txBody>
      </p:sp>
      <p:sp>
        <p:nvSpPr>
          <p:cNvPr id="1562008258" name="Google Shape;443;p68"/>
          <p:cNvSpPr/>
          <p:nvPr/>
        </p:nvSpPr>
        <p:spPr bwMode="auto">
          <a:xfrm>
            <a:off x="5690075" y="1152475"/>
            <a:ext cx="1555200" cy="839400"/>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r>
              <a:rPr lang="en"/>
              <a:t>Dimensionality reduction techniques</a:t>
            </a:r>
            <a:endParaRPr/>
          </a:p>
        </p:txBody>
      </p:sp>
      <p:cxnSp>
        <p:nvCxnSpPr>
          <p:cNvPr id="1661811281" name="Google Shape;444;p68"/>
          <p:cNvCxnSpPr>
            <a:stCxn id="1449748290" idx="3"/>
            <a:endCxn id="846699952" idx="1"/>
          </p:cNvCxnSpPr>
          <p:nvPr/>
        </p:nvCxnSpPr>
        <p:spPr bwMode="auto">
          <a:xfrm>
            <a:off x="3162675" y="1572175"/>
            <a:ext cx="561900" cy="0"/>
          </a:xfrm>
          <a:prstGeom prst="straightConnector1">
            <a:avLst/>
          </a:prstGeom>
          <a:noFill/>
          <a:ln w="9525" cap="flat" cmpd="sng">
            <a:solidFill>
              <a:schemeClr val="dk2"/>
            </a:solidFill>
            <a:prstDash val="solid"/>
            <a:round/>
            <a:headEnd type="none" w="med" len="med"/>
            <a:tailEnd type="triangle" w="med" len="med"/>
          </a:ln>
        </p:spPr>
      </p:cxnSp>
      <p:cxnSp>
        <p:nvCxnSpPr>
          <p:cNvPr id="469273732" name="Google Shape;445;p68"/>
          <p:cNvCxnSpPr>
            <a:stCxn id="846699952" idx="3"/>
            <a:endCxn id="1562008258" idx="1"/>
          </p:cNvCxnSpPr>
          <p:nvPr/>
        </p:nvCxnSpPr>
        <p:spPr bwMode="auto">
          <a:xfrm>
            <a:off x="5128075" y="1572175"/>
            <a:ext cx="561900" cy="0"/>
          </a:xfrm>
          <a:prstGeom prst="straightConnector1">
            <a:avLst/>
          </a:prstGeom>
          <a:noFill/>
          <a:ln w="9525" cap="flat" cmpd="sng">
            <a:solidFill>
              <a:schemeClr val="dk2"/>
            </a:solidFill>
            <a:prstDash val="solid"/>
            <a:round/>
            <a:headEnd type="none" w="med" len="med"/>
            <a:tailEnd type="triangle" w="med" len="med"/>
          </a:ln>
        </p:spPr>
      </p:cxnSp>
      <p:cxnSp>
        <p:nvCxnSpPr>
          <p:cNvPr id="300955516" name="Google Shape;446;p68"/>
          <p:cNvCxnSpPr/>
          <p:nvPr/>
        </p:nvCxnSpPr>
        <p:spPr bwMode="auto">
          <a:xfrm>
            <a:off x="1546950" y="2155475"/>
            <a:ext cx="6050100" cy="0"/>
          </a:xfrm>
          <a:prstGeom prst="straightConnector1">
            <a:avLst/>
          </a:prstGeom>
          <a:noFill/>
          <a:ln w="9525" cap="flat" cmpd="sng">
            <a:solidFill>
              <a:schemeClr val="dk2"/>
            </a:solidFill>
            <a:prstDash val="dash"/>
            <a:round/>
            <a:headEnd type="none" w="med" len="med"/>
            <a:tailEnd type="none" w="med" len="med"/>
          </a:ln>
        </p:spPr>
      </p:cxnSp>
      <p:sp>
        <p:nvSpPr>
          <p:cNvPr id="1671733432" name="Google Shape;447;p68"/>
          <p:cNvSpPr/>
          <p:nvPr/>
        </p:nvSpPr>
        <p:spPr bwMode="auto">
          <a:xfrm>
            <a:off x="4671449" y="2440974"/>
            <a:ext cx="1547710" cy="839399"/>
          </a:xfrm>
          <a:prstGeom prst="roundRect">
            <a:avLst>
              <a:gd name="adj" fmla="val 16667"/>
            </a:avLst>
          </a:prstGeom>
          <a:solidFill>
            <a:schemeClr val="lt2"/>
          </a:solidFill>
          <a:ln w="9525" cap="flat" cmpd="sng">
            <a:solidFill>
              <a:schemeClr val="dk2"/>
            </a:solidFill>
            <a:prstDash val="solid"/>
            <a:round/>
            <a:headEnd type="none" w="sm" len="sm"/>
            <a:tailEnd type="none" w="sm" len="sm"/>
          </a:ln>
        </p:spPr>
        <p:txBody>
          <a:bodyPr spcFirstLastPara="1" wrap="square" lIns="91424" tIns="91424" rIns="91424" bIns="91424" anchor="ctr" anchorCtr="0">
            <a:noAutofit/>
          </a:bodyPr>
          <a:lstStyle/>
          <a:p>
            <a:pPr marL="0" lvl="0" indent="0" algn="ctr" rtl="0">
              <a:spcBef>
                <a:spcPts val="0"/>
              </a:spcBef>
              <a:spcAft>
                <a:spcPts val="0"/>
              </a:spcAft>
              <a:buNone/>
              <a:defRPr/>
            </a:pPr>
            <a:r>
              <a:rPr lang="en-US"/>
              <a:t>Neural Network based </a:t>
            </a:r>
            <a:r>
              <a:rPr lang="en"/>
              <a:t>learning</a:t>
            </a:r>
            <a:endParaRPr/>
          </a:p>
        </p:txBody>
      </p:sp>
      <p:cxnSp>
        <p:nvCxnSpPr>
          <p:cNvPr id="1453635274" name="Google Shape;448;p68"/>
          <p:cNvCxnSpPr>
            <a:stCxn id="212281420" idx="3"/>
            <a:endCxn id="1671733432" idx="1"/>
          </p:cNvCxnSpPr>
          <p:nvPr/>
        </p:nvCxnSpPr>
        <p:spPr bwMode="auto">
          <a:xfrm>
            <a:off x="3162674" y="2860674"/>
            <a:ext cx="1508774" cy="0"/>
          </a:xfrm>
          <a:prstGeom prst="straightConnector1">
            <a:avLst/>
          </a:prstGeom>
          <a:noFill/>
          <a:ln w="9525" cap="flat" cmpd="sng">
            <a:solidFill>
              <a:schemeClr val="dk2"/>
            </a:solidFill>
            <a:prstDash val="solid"/>
            <a:round/>
            <a:headEnd type="none" w="med" len="med"/>
            <a:tailEnd type="triangle" w="med" len="med"/>
          </a:ln>
        </p:spPr>
      </p:cxnSp>
      <p:sp>
        <p:nvSpPr>
          <p:cNvPr id="1845035002" name="Google Shape;449;p68"/>
          <p:cNvSpPr/>
          <p:nvPr/>
        </p:nvSpPr>
        <p:spPr bwMode="auto">
          <a:xfrm rot="-5400000">
            <a:off x="5207575" y="935125"/>
            <a:ext cx="402900" cy="2608800"/>
          </a:xfrm>
          <a:prstGeom prst="leftBrace">
            <a:avLst>
              <a:gd name="adj1" fmla="val 50000"/>
              <a:gd name="adj2" fmla="val 50000"/>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defRPr/>
            </a:pP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82969540" name="Title 1"/>
          <p:cNvSpPr>
            <a:spLocks noGrp="1"/>
          </p:cNvSpPr>
          <p:nvPr>
            <p:ph type="title"/>
          </p:nvPr>
        </p:nvSpPr>
        <p:spPr bwMode="auto"/>
        <p:txBody>
          <a:bodyPr/>
          <a:lstStyle/>
          <a:p>
            <a:pPr>
              <a:defRPr/>
            </a:pPr>
            <a:r>
              <a:t>Word2Vec: Learning Embeddings from a Shallow Network</a:t>
            </a:r>
          </a:p>
        </p:txBody>
      </p:sp>
      <p:sp>
        <p:nvSpPr>
          <p:cNvPr id="890814411" name="Text Placeholder 2"/>
          <p:cNvSpPr>
            <a:spLocks noGrp="1"/>
          </p:cNvSpPr>
          <p:nvPr>
            <p:ph type="body" idx="1"/>
          </p:nvPr>
        </p:nvSpPr>
        <p:spPr bwMode="auto"/>
        <p:txBody>
          <a:bodyPr/>
          <a:lstStyle/>
          <a:p>
            <a:pPr>
              <a:defRPr/>
            </a:pPr>
            <a:r>
              <a:t>The co-occurrence matrix is huge (vocab x vocab) and sparse -- we need dense, low-dimensional vectors</a:t>
            </a:r>
          </a:p>
          <a:p>
            <a:pPr>
              <a:defRPr/>
            </a:pPr>
            <a:r>
              <a:t>Word2Vec (Mikolov et al. 2013): train a shallow network on a prediction task; embeddings emerge as its weights</a:t>
            </a:r>
          </a:p>
          <a:p>
            <a:pPr lvl="1">
              <a:defRPr/>
            </a:pPr>
            <a:r>
              <a:rPr sz="1800"/>
              <a:t>CBOW (Continuous Bag of Words)</a:t>
            </a:r>
            <a:endParaRPr/>
          </a:p>
          <a:p>
            <a:pPr lvl="1">
              <a:defRPr/>
            </a:pPr>
            <a:r>
              <a:rPr sz="1800"/>
              <a:t>Given the context words, predict the centre word</a:t>
            </a:r>
            <a:endParaRPr/>
          </a:p>
          <a:p>
            <a:pPr lvl="1">
              <a:defRPr/>
            </a:pPr>
            <a:r>
              <a:rPr sz="1800"/>
              <a:t>Skip-gram</a:t>
            </a:r>
            <a:endParaRPr/>
          </a:p>
          <a:p>
            <a:pPr lvl="1">
              <a:defRPr/>
            </a:pPr>
            <a:r>
              <a:rPr sz="1800"/>
              <a:t>Given the centre word, predict each context word</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14001626" name="Title 1"/>
          <p:cNvSpPr>
            <a:spLocks noGrp="1"/>
          </p:cNvSpPr>
          <p:nvPr>
            <p:ph type="title"/>
          </p:nvPr>
        </p:nvSpPr>
        <p:spPr bwMode="auto"/>
        <p:txBody>
          <a:bodyPr/>
          <a:lstStyle/>
          <a:p>
            <a:pPr>
              <a:defRPr/>
            </a:pPr>
            <a:r>
              <a:t>Negative Sampling</a:t>
            </a:r>
          </a:p>
        </p:txBody>
      </p:sp>
      <p:sp>
        <p:nvSpPr>
          <p:cNvPr id="968023867" name="Text Placeholder 2"/>
          <p:cNvSpPr>
            <a:spLocks noGrp="1"/>
          </p:cNvSpPr>
          <p:nvPr>
            <p:ph type="body" idx="1"/>
          </p:nvPr>
        </p:nvSpPr>
        <p:spPr bwMode="auto"/>
        <p:txBody>
          <a:bodyPr/>
          <a:lstStyle/>
          <a:p>
            <a:pPr>
              <a:defRPr/>
            </a:pPr>
            <a:r>
              <a:t>A full softmax over the vocabulary is expensive -- normalising over 50,000 words every step</a:t>
            </a:r>
          </a:p>
          <a:p>
            <a:pPr>
              <a:defRPr/>
            </a:pPr>
            <a:r>
              <a:t>Negative sampling approximates it:</a:t>
            </a:r>
          </a:p>
          <a:p>
            <a:pPr lvl="1">
              <a:defRPr/>
            </a:pPr>
            <a:r>
              <a:rPr sz="1800"/>
              <a:t>For each real (word, context) pair, sample k random words that are NOT the context</a:t>
            </a:r>
            <a:endParaRPr/>
          </a:p>
          <a:p>
            <a:pPr lvl="1">
              <a:defRPr/>
            </a:pPr>
            <a:r>
              <a:rPr sz="1800"/>
              <a:t>Train the model to predict "yes" for the real pair, "no" for the random ones</a:t>
            </a:r>
            <a:endParaRPr/>
          </a:p>
          <a:p>
            <a:pPr lvl="1">
              <a:defRPr/>
            </a:pPr>
            <a:r>
              <a:rPr sz="1800"/>
              <a:t>Typically k = 5-20 -- this makes training tractable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86071931" name="Google Shape;454;p69"/>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defRPr/>
            </a:pPr>
            <a:r>
              <a:rPr lang="en"/>
              <a:t>Spatial Learning</a:t>
            </a:r>
            <a:endParaRPr/>
          </a:p>
        </p:txBody>
      </p:sp>
      <p:pic>
        <p:nvPicPr>
          <p:cNvPr id="2087174663" name="Google Shape;455;p69" title="spatial-learning.mp4">
            <a:hlinkClick r:id="rId3"/>
          </p:cNvPr>
          <p:cNvPicPr/>
          <p:nvPr/>
        </p:nvPicPr>
        <p:blipFill rotWithShape="1">
          <a:blip r:embed="rId4">
            <a:alphaModFix/>
          </a:blip>
          <a:stretch/>
        </p:blipFill>
        <p:spPr bwMode="auto">
          <a:xfrm>
            <a:off x="1175575" y="1170125"/>
            <a:ext cx="6792845" cy="3820975"/>
          </a:xfrm>
          <a:prstGeom prst="rect">
            <a:avLst/>
          </a:prstGeom>
          <a:noFill/>
          <a:ln>
            <a:noFill/>
          </a:ln>
        </p:spPr>
      </p:pic>
      <p:sp>
        <p:nvSpPr>
          <p:cNvPr id="563518825" name="Google Shape;456;p69"/>
          <p:cNvSpPr txBox="1"/>
          <p:nvPr/>
        </p:nvSpPr>
        <p:spPr bwMode="auto">
          <a:xfrm>
            <a:off x="3184800" y="89725"/>
            <a:ext cx="3000000" cy="83129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u="sng">
                <a:solidFill>
                  <a:schemeClr val="hlink"/>
                </a:solidFill>
                <a:hlinkClick r:id="rId5"/>
              </a:rPr>
              <a:t>https://drive.google.com/file/d/1t9pT5alInOQNCU4Cj4uhVeQI3mQUA1lO/view?usp=sharing</a:t>
            </a:r>
            <a:r>
              <a:rPr lang="en"/>
              <a:t> </a:t>
            </a:r>
            <a:endParaRPr/>
          </a:p>
        </p:txBody>
      </p:sp>
      <p:sp>
        <p:nvSpPr>
          <p:cNvPr id="2092727667" name="Google Shape;457;p69"/>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23</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087174663"/>
                                        </p:tgtEl>
                                        <p:attrNameLst>
                                          <p:attrName>style.visibility</p:attrName>
                                        </p:attrNameLst>
                                      </p:cBhvr>
                                      <p:to>
                                        <p:strVal val="visible"/>
                                      </p:to>
                                    </p:set>
                                    <p:animEffect transition="in" filter="fade">
                                      <p:cBhvr>
                                        <p:cTn id="7" dur="1000"/>
                                        <p:tgtEl>
                                          <p:spTgt spid="20871746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470681226" name="Title 1"/>
          <p:cNvSpPr>
            <a:spLocks noGrp="1"/>
          </p:cNvSpPr>
          <p:nvPr>
            <p:ph type="title"/>
          </p:nvPr>
        </p:nvSpPr>
        <p:spPr bwMode="auto"/>
        <p:txBody>
          <a:bodyPr/>
          <a:lstStyle/>
          <a:p>
            <a:pPr>
              <a:defRPr/>
            </a:pPr>
            <a:r>
              <a:t>What Embeddings Capture</a:t>
            </a:r>
          </a:p>
        </p:txBody>
      </p:sp>
      <p:sp>
        <p:nvSpPr>
          <p:cNvPr id="1030507539" name="Text Placeholder 2"/>
          <p:cNvSpPr>
            <a:spLocks noGrp="1"/>
          </p:cNvSpPr>
          <p:nvPr>
            <p:ph type="body" idx="1"/>
          </p:nvPr>
        </p:nvSpPr>
        <p:spPr bwMode="auto"/>
        <p:txBody>
          <a:bodyPr/>
          <a:lstStyle/>
          <a:p>
            <a:pPr>
              <a:defRPr/>
            </a:pPr>
            <a:r>
              <a:t>Semantic similarity</a:t>
            </a:r>
          </a:p>
          <a:p>
            <a:pPr lvl="1">
              <a:defRPr/>
            </a:pPr>
            <a:r>
              <a:rPr sz="1800"/>
              <a:t>king is close to queen, Paris is close to London</a:t>
            </a:r>
            <a:endParaRPr/>
          </a:p>
          <a:p>
            <a:pPr>
              <a:defRPr/>
            </a:pPr>
            <a:r>
              <a:t>Analogies -- arithmetic in embedding space gives meaningful results</a:t>
            </a:r>
          </a:p>
          <a:p>
            <a:pPr lvl="1">
              <a:defRPr/>
            </a:pPr>
            <a:r>
              <a:rPr sz="1800"/>
              <a:t>king - man + woman ~ queen</a:t>
            </a:r>
            <a:endParaRPr/>
          </a:p>
          <a:p>
            <a:pPr>
              <a:defRPr/>
            </a:pPr>
            <a:r>
              <a:t>Syntactic regularities</a:t>
            </a:r>
          </a:p>
          <a:p>
            <a:pPr lvl="1">
              <a:defRPr/>
            </a:pPr>
            <a:r>
              <a:rPr sz="1800"/>
              <a:t>walked - walk + run ~ ran</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80801692" name="Google Shape;317;p56"/>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defRPr/>
            </a:pPr>
            <a:r>
              <a:rPr lang="en"/>
              <a:t>Analogical relations</a:t>
            </a:r>
            <a:endParaRPr/>
          </a:p>
        </p:txBody>
      </p:sp>
      <p:pic>
        <p:nvPicPr>
          <p:cNvPr id="967206394" name="Google Shape;318;p56"/>
          <p:cNvPicPr/>
          <p:nvPr/>
        </p:nvPicPr>
        <p:blipFill rotWithShape="1">
          <a:blip r:embed="rId3">
            <a:alphaModFix/>
          </a:blip>
          <a:stretch/>
        </p:blipFill>
        <p:spPr bwMode="auto">
          <a:xfrm>
            <a:off x="152400" y="1242375"/>
            <a:ext cx="8839200" cy="3413376"/>
          </a:xfrm>
          <a:prstGeom prst="rect">
            <a:avLst/>
          </a:prstGeom>
          <a:noFill/>
          <a:ln>
            <a:noFill/>
          </a:ln>
        </p:spPr>
      </p:pic>
      <p:sp>
        <p:nvSpPr>
          <p:cNvPr id="1707368789" name="Google Shape;319;p56"/>
          <p:cNvSpPr txBox="1"/>
          <p:nvPr/>
        </p:nvSpPr>
        <p:spPr bwMode="auto">
          <a:xfrm>
            <a:off x="3072000" y="4655750"/>
            <a:ext cx="3000000" cy="35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sz="1100" u="sng">
                <a:solidFill>
                  <a:schemeClr val="hlink"/>
                </a:solidFill>
                <a:hlinkClick r:id="rId4"/>
              </a:rPr>
              <a:t>https://nlp.stanford.edu/projects/glove/</a:t>
            </a:r>
            <a:r>
              <a:rPr lang="en" sz="1100"/>
              <a:t> </a:t>
            </a:r>
            <a:endParaRPr sz="1100"/>
          </a:p>
        </p:txBody>
      </p:sp>
      <p:sp>
        <p:nvSpPr>
          <p:cNvPr id="34206741" name="Google Shape;320;p56"/>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25</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90795590" name="Text Placeholder 1"/>
          <p:cNvSpPr>
            <a:spLocks noGrp="1"/>
          </p:cNvSpPr>
          <p:nvPr>
            <p:ph type="body" idx="1"/>
          </p:nvPr>
        </p:nvSpPr>
        <p:spPr bwMode="auto"/>
        <p:txBody>
          <a:bodyPr/>
          <a:lstStyle/>
          <a:p>
            <a:pPr>
              <a:defRPr/>
            </a:pPr>
            <a:r>
              <a:t>Worked Analogy Example (Toy 2D Vectors)</a:t>
            </a:r>
          </a:p>
        </p:txBody>
      </p:sp>
      <p:sp>
        <p:nvSpPr>
          <p:cNvPr id="1640346843" name="TextBox 2"/>
          <p:cNvSpPr txBox="1"/>
          <p:nvPr/>
        </p:nvSpPr>
        <p:spPr bwMode="auto">
          <a:xfrm>
            <a:off x="987549" y="965599"/>
            <a:ext cx="7499999" cy="3399999"/>
          </a:xfrm>
          <a:prstGeom prst="rect">
            <a:avLst/>
          </a:prstGeom>
          <a:noFill/>
        </p:spPr>
        <p:txBody>
          <a:bodyPr wrap="square">
            <a:spAutoFit/>
          </a:bodyPr>
          <a:lstStyle/>
          <a:p>
            <a:pPr>
              <a:defRPr/>
            </a:pPr>
            <a:r>
              <a:rPr sz="1300">
                <a:latin typeface="Courier New"/>
              </a:rPr>
              <a:t>"Paris is to France as Berlin is to ___"</a:t>
            </a:r>
            <a:endParaRPr/>
          </a:p>
          <a:p>
            <a:pPr>
              <a:defRPr/>
            </a:pPr>
            <a:endParaRPr/>
          </a:p>
          <a:p>
            <a:pPr>
              <a:defRPr/>
            </a:pPr>
            <a:r>
              <a:rPr sz="1300">
                <a:latin typeface="Courier New"/>
              </a:rPr>
              <a:t>Paris  = [0.8, 0.1]</a:t>
            </a:r>
            <a:endParaRPr/>
          </a:p>
          <a:p>
            <a:pPr>
              <a:defRPr/>
            </a:pPr>
            <a:r>
              <a:rPr sz="1300">
                <a:latin typeface="Courier New"/>
              </a:rPr>
              <a:t>France = [0.3, 0.9]</a:t>
            </a:r>
            <a:endParaRPr/>
          </a:p>
          <a:p>
            <a:pPr>
              <a:defRPr/>
            </a:pPr>
            <a:r>
              <a:rPr sz="1300">
                <a:latin typeface="Courier New"/>
              </a:rPr>
              <a:t>Berlin = [0.7, 0.2]</a:t>
            </a:r>
            <a:endParaRPr/>
          </a:p>
          <a:p>
            <a:pPr>
              <a:defRPr/>
            </a:pPr>
            <a:endParaRPr/>
          </a:p>
          <a:p>
            <a:pPr>
              <a:defRPr/>
            </a:pPr>
            <a:r>
              <a:rPr sz="1300">
                <a:latin typeface="Courier New"/>
              </a:rPr>
              <a:t>Berlin - Paris + France</a:t>
            </a:r>
            <a:endParaRPr/>
          </a:p>
          <a:p>
            <a:pPr>
              <a:defRPr/>
            </a:pPr>
            <a:r>
              <a:rPr sz="1300">
                <a:latin typeface="Courier New"/>
              </a:rPr>
              <a:t>  = [0.7-0.8+0.3, 0.2-0.1+0.9]</a:t>
            </a:r>
            <a:endParaRPr/>
          </a:p>
          <a:p>
            <a:pPr>
              <a:defRPr/>
            </a:pPr>
            <a:r>
              <a:rPr sz="1300">
                <a:latin typeface="Courier New"/>
              </a:rPr>
              <a:t>  = [0.2, 1.0]</a:t>
            </a:r>
            <a:endParaRPr/>
          </a:p>
          <a:p>
            <a:pPr>
              <a:defRPr/>
            </a:pPr>
            <a:endParaRPr/>
          </a:p>
          <a:p>
            <a:pPr>
              <a:defRPr/>
            </a:pPr>
            <a:r>
              <a:rPr sz="1300">
                <a:latin typeface="Courier New"/>
              </a:rPr>
              <a:t>Nearest word to [0.2, 1.0] should be "Germany"</a:t>
            </a:r>
            <a:endParaRPr/>
          </a:p>
          <a:p>
            <a:pPr>
              <a:defRPr/>
            </a:pPr>
            <a:r>
              <a:rPr sz="1300">
                <a:latin typeface="Courier New"/>
              </a:rPr>
              <a:t>(toy numbers -- not real GloVe vectors)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16580517" name="Google Shape;308;p55"/>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Play with embedding</a:t>
            </a:r>
            <a:endParaRPr/>
          </a:p>
        </p:txBody>
      </p:sp>
      <p:sp>
        <p:nvSpPr>
          <p:cNvPr id="1161863887" name="Google Shape;309;p55"/>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0" lvl="0" indent="0" algn="l" rtl="0">
              <a:spcBef>
                <a:spcPts val="280"/>
              </a:spcBef>
              <a:spcAft>
                <a:spcPts val="0"/>
              </a:spcAft>
              <a:buNone/>
              <a:defRPr/>
            </a:pPr>
            <a:endParaRPr/>
          </a:p>
        </p:txBody>
      </p:sp>
      <p:sp>
        <p:nvSpPr>
          <p:cNvPr id="2008512609" name="Google Shape;310;p55"/>
          <p:cNvSpPr txBox="1"/>
          <p:nvPr/>
        </p:nvSpPr>
        <p:spPr bwMode="auto">
          <a:xfrm>
            <a:off x="2869850" y="4743300"/>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defRPr/>
            </a:pPr>
            <a:r>
              <a:rPr lang="en" u="sng">
                <a:solidFill>
                  <a:srgbClr val="0000FF"/>
                </a:solidFill>
                <a:hlinkClick r:id="rId3"/>
              </a:rPr>
              <a:t>https://projector.tensorflow.org/</a:t>
            </a:r>
            <a:r>
              <a:rPr lang="en"/>
              <a:t> </a:t>
            </a:r>
            <a:endParaRPr/>
          </a:p>
        </p:txBody>
      </p:sp>
      <p:pic>
        <p:nvPicPr>
          <p:cNvPr id="927182818" name="Google Shape;311;p55"/>
          <p:cNvPicPr/>
          <p:nvPr/>
        </p:nvPicPr>
        <p:blipFill rotWithShape="1">
          <a:blip r:embed="rId4">
            <a:alphaModFix/>
          </a:blip>
          <a:stretch/>
        </p:blipFill>
        <p:spPr bwMode="auto">
          <a:xfrm>
            <a:off x="728488" y="1199325"/>
            <a:ext cx="7282723" cy="3543974"/>
          </a:xfrm>
          <a:prstGeom prst="rect">
            <a:avLst/>
          </a:prstGeom>
          <a:noFill/>
          <a:ln>
            <a:noFill/>
          </a:ln>
        </p:spPr>
      </p:pic>
      <p:sp>
        <p:nvSpPr>
          <p:cNvPr id="449895159" name="Google Shape;312;p55"/>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27</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82338110" name="Title 1"/>
          <p:cNvSpPr>
            <a:spLocks noGrp="1"/>
          </p:cNvSpPr>
          <p:nvPr>
            <p:ph type="title"/>
          </p:nvPr>
        </p:nvSpPr>
        <p:spPr bwMode="auto"/>
        <p:txBody>
          <a:bodyPr/>
          <a:lstStyle/>
          <a:p>
            <a:pPr>
              <a:defRPr/>
            </a:pPr>
            <a:r>
              <a:t>GloVe</a:t>
            </a:r>
          </a:p>
        </p:txBody>
      </p:sp>
      <p:sp>
        <p:nvSpPr>
          <p:cNvPr id="225780749" name="Text Placeholder 2"/>
          <p:cNvSpPr>
            <a:spLocks noGrp="1"/>
          </p:cNvSpPr>
          <p:nvPr>
            <p:ph type="body" idx="1"/>
          </p:nvPr>
        </p:nvSpPr>
        <p:spPr bwMode="auto"/>
        <p:txBody>
          <a:bodyPr/>
          <a:lstStyle/>
          <a:p>
            <a:pPr>
              <a:defRPr/>
            </a:pPr>
            <a:r>
              <a:t>Pennington et al. (2014)</a:t>
            </a:r>
          </a:p>
          <a:p>
            <a:pPr lvl="1">
              <a:defRPr/>
            </a:pPr>
            <a:r>
              <a:rPr sz="1800"/>
              <a:t>Combines global co-occurrence statistics (matrix approach) with local context (Word2Vec-style)</a:t>
            </a:r>
            <a:endParaRPr/>
          </a:p>
          <a:p>
            <a:pPr lvl="1">
              <a:defRPr/>
            </a:pPr>
            <a:r>
              <a:rPr sz="1800"/>
              <a:t>Objective: the dot product of two word vectors should equal the log of their co-occurrence probability</a:t>
            </a:r>
            <a:endParaRPr/>
          </a:p>
          <a:p>
            <a:pPr>
              <a:defRPr/>
            </a:pPr>
            <a:r>
              <a:t>Pre-trained GloVe vectors (6B, 42B, 840B token versions) are widely used</a:t>
            </a:r>
          </a:p>
          <a:p>
            <a:pPr lvl="1">
              <a:defRPr/>
            </a:pPr>
            <a:r>
              <a:rPr sz="1800"/>
              <a:t>This is what you load in the TMA (glove.6B.100d.txt)</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cxnSp>
        <p:nvCxnSpPr>
          <p:cNvPr id="1936585019" name="Google Shape;462;p70"/>
          <p:cNvCxnSpPr>
            <a:stCxn id="506772290" idx="2"/>
            <a:endCxn id="1042595128" idx="1"/>
          </p:cNvCxnSpPr>
          <p:nvPr/>
        </p:nvCxnSpPr>
        <p:spPr bwMode="auto">
          <a:xfrm>
            <a:off x="2575675" y="2197313"/>
            <a:ext cx="1996200" cy="1031400"/>
          </a:xfrm>
          <a:prstGeom prst="straightConnector1">
            <a:avLst/>
          </a:prstGeom>
          <a:noFill/>
          <a:ln w="9525" cap="flat" cmpd="sng">
            <a:solidFill>
              <a:schemeClr val="dk2"/>
            </a:solidFill>
            <a:prstDash val="dash"/>
            <a:round/>
            <a:headEnd type="none" w="med" len="med"/>
            <a:tailEnd type="none" w="med" len="med"/>
          </a:ln>
        </p:spPr>
      </p:cxnSp>
      <p:sp>
        <p:nvSpPr>
          <p:cNvPr id="1042595128" name="Google Shape;464;p70"/>
          <p:cNvSpPr txBox="1"/>
          <p:nvPr/>
        </p:nvSpPr>
        <p:spPr bwMode="auto">
          <a:xfrm>
            <a:off x="4572000" y="2997850"/>
            <a:ext cx="926700" cy="461700"/>
          </a:xfrm>
          <a:prstGeom prst="rect">
            <a:avLst/>
          </a:prstGeom>
          <a:solidFill>
            <a:srgbClr val="C9DAF8"/>
          </a:solidFill>
          <a:ln w="28575" cap="flat" cmpd="sng">
            <a:solidFill>
              <a:srgbClr val="1155CC"/>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defRPr/>
            </a:pPr>
            <a:r>
              <a:rPr lang="en" sz="1800"/>
              <a:t>shore</a:t>
            </a:r>
            <a:endParaRPr sz="1800"/>
          </a:p>
        </p:txBody>
      </p:sp>
      <p:sp>
        <p:nvSpPr>
          <p:cNvPr id="1755215497" name="Google Shape;465;p70"/>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Clr>
                <a:schemeClr val="dk1"/>
              </a:buClr>
              <a:buSzPts val="1100"/>
              <a:buFont typeface="Arial"/>
              <a:buNone/>
              <a:defRPr/>
            </a:pPr>
            <a:r>
              <a:rPr lang="en"/>
              <a:t>The context words (Neighbours)</a:t>
            </a:r>
            <a:endParaRPr/>
          </a:p>
        </p:txBody>
      </p:sp>
      <p:sp>
        <p:nvSpPr>
          <p:cNvPr id="1387384463" name="Google Shape;466;p70"/>
          <p:cNvSpPr txBox="1"/>
          <p:nvPr/>
        </p:nvSpPr>
        <p:spPr bwMode="auto">
          <a:xfrm>
            <a:off x="4025950" y="2684375"/>
            <a:ext cx="799500" cy="461700"/>
          </a:xfrm>
          <a:prstGeom prst="rect">
            <a:avLst/>
          </a:prstGeom>
          <a:solidFill>
            <a:srgbClr val="F4CCCC"/>
          </a:solidFill>
          <a:ln w="28575" cap="flat" cmpd="sng">
            <a:solidFill>
              <a:srgbClr val="99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spcBef>
                <a:spcPts val="0"/>
              </a:spcBef>
              <a:spcAft>
                <a:spcPts val="0"/>
              </a:spcAft>
              <a:buNone/>
              <a:defRPr/>
            </a:pPr>
            <a:r>
              <a:rPr lang="en" sz="1800"/>
              <a:t>bank</a:t>
            </a:r>
            <a:endParaRPr sz="1800"/>
          </a:p>
        </p:txBody>
      </p:sp>
      <p:sp>
        <p:nvSpPr>
          <p:cNvPr id="506772290" name="Google Shape;463;p70"/>
          <p:cNvSpPr txBox="1"/>
          <p:nvPr/>
        </p:nvSpPr>
        <p:spPr bwMode="auto">
          <a:xfrm>
            <a:off x="2053075" y="1735613"/>
            <a:ext cx="1045200" cy="461700"/>
          </a:xfrm>
          <a:prstGeom prst="rect">
            <a:avLst/>
          </a:prstGeom>
          <a:solidFill>
            <a:srgbClr val="F4CCCC"/>
          </a:solidFill>
          <a:ln w="28575" cap="flat" cmpd="sng">
            <a:solidFill>
              <a:srgbClr val="99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lnSpc>
                <a:spcPct val="150000"/>
              </a:lnSpc>
              <a:spcBef>
                <a:spcPts val="0"/>
              </a:spcBef>
              <a:spcAft>
                <a:spcPts val="0"/>
              </a:spcAft>
              <a:buNone/>
              <a:defRPr/>
            </a:pPr>
            <a:r>
              <a:rPr lang="en" sz="1800">
                <a:solidFill>
                  <a:schemeClr val="dk1"/>
                </a:solidFill>
              </a:rPr>
              <a:t>river</a:t>
            </a:r>
            <a:endParaRPr/>
          </a:p>
        </p:txBody>
      </p:sp>
      <p:sp>
        <p:nvSpPr>
          <p:cNvPr id="1962996780" name="Google Shape;467;p70"/>
          <p:cNvSpPr txBox="1"/>
          <p:nvPr/>
        </p:nvSpPr>
        <p:spPr bwMode="auto">
          <a:xfrm>
            <a:off x="5539725" y="1277875"/>
            <a:ext cx="1557900" cy="461700"/>
          </a:xfrm>
          <a:prstGeom prst="rect">
            <a:avLst/>
          </a:prstGeom>
          <a:solidFill>
            <a:srgbClr val="F4CCCC"/>
          </a:solidFill>
          <a:ln w="28575" cap="flat" cmpd="sng">
            <a:solidFill>
              <a:srgbClr val="99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lnSpc>
                <a:spcPct val="150000"/>
              </a:lnSpc>
              <a:spcBef>
                <a:spcPts val="0"/>
              </a:spcBef>
              <a:spcAft>
                <a:spcPts val="0"/>
              </a:spcAft>
              <a:buNone/>
              <a:defRPr/>
            </a:pPr>
            <a:r>
              <a:rPr lang="en" sz="1800">
                <a:solidFill>
                  <a:schemeClr val="dk1"/>
                </a:solidFill>
              </a:rPr>
              <a:t>overlooking</a:t>
            </a:r>
            <a:endParaRPr/>
          </a:p>
        </p:txBody>
      </p:sp>
      <p:sp>
        <p:nvSpPr>
          <p:cNvPr id="1842305687" name="Google Shape;468;p70"/>
          <p:cNvSpPr txBox="1"/>
          <p:nvPr/>
        </p:nvSpPr>
        <p:spPr bwMode="auto">
          <a:xfrm>
            <a:off x="222649" y="3071375"/>
            <a:ext cx="1326300" cy="461700"/>
          </a:xfrm>
          <a:prstGeom prst="rect">
            <a:avLst/>
          </a:prstGeom>
          <a:solidFill>
            <a:srgbClr val="F4CCCC"/>
          </a:solidFill>
          <a:ln w="28575" cap="flat" cmpd="sng">
            <a:solidFill>
              <a:srgbClr val="99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lnSpc>
                <a:spcPct val="150000"/>
              </a:lnSpc>
              <a:spcBef>
                <a:spcPts val="0"/>
              </a:spcBef>
              <a:spcAft>
                <a:spcPts val="0"/>
              </a:spcAft>
              <a:buNone/>
              <a:defRPr/>
            </a:pPr>
            <a:r>
              <a:rPr lang="en" sz="1800">
                <a:solidFill>
                  <a:schemeClr val="dk1"/>
                </a:solidFill>
              </a:rPr>
              <a:t>slope</a:t>
            </a:r>
            <a:endParaRPr/>
          </a:p>
        </p:txBody>
      </p:sp>
      <p:sp>
        <p:nvSpPr>
          <p:cNvPr id="1581727315" name="Google Shape;469;p70"/>
          <p:cNvSpPr txBox="1"/>
          <p:nvPr/>
        </p:nvSpPr>
        <p:spPr bwMode="auto">
          <a:xfrm>
            <a:off x="7097613" y="2110038"/>
            <a:ext cx="1455300" cy="461700"/>
          </a:xfrm>
          <a:prstGeom prst="rect">
            <a:avLst/>
          </a:prstGeom>
          <a:solidFill>
            <a:srgbClr val="F4CCCC"/>
          </a:solidFill>
          <a:ln w="28575" cap="flat" cmpd="sng">
            <a:solidFill>
              <a:srgbClr val="99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lnSpc>
                <a:spcPct val="150000"/>
              </a:lnSpc>
              <a:spcBef>
                <a:spcPts val="0"/>
              </a:spcBef>
              <a:spcAft>
                <a:spcPts val="0"/>
              </a:spcAft>
              <a:buNone/>
              <a:defRPr/>
            </a:pPr>
            <a:r>
              <a:rPr lang="en" sz="1800">
                <a:solidFill>
                  <a:schemeClr val="dk1"/>
                </a:solidFill>
              </a:rPr>
              <a:t>muddy</a:t>
            </a:r>
            <a:endParaRPr/>
          </a:p>
        </p:txBody>
      </p:sp>
      <p:sp>
        <p:nvSpPr>
          <p:cNvPr id="1671113763" name="Google Shape;470;p70"/>
          <p:cNvSpPr txBox="1"/>
          <p:nvPr/>
        </p:nvSpPr>
        <p:spPr bwMode="auto">
          <a:xfrm>
            <a:off x="3532000" y="4380263"/>
            <a:ext cx="1455300" cy="461700"/>
          </a:xfrm>
          <a:prstGeom prst="rect">
            <a:avLst/>
          </a:prstGeom>
          <a:solidFill>
            <a:srgbClr val="F4CCCC"/>
          </a:solidFill>
          <a:ln w="28575" cap="flat" cmpd="sng">
            <a:solidFill>
              <a:srgbClr val="990000"/>
            </a:solidFill>
            <a:prstDash val="solid"/>
            <a:round/>
            <a:headEnd type="none" w="sm" len="sm"/>
            <a:tailEnd type="none" w="sm" len="sm"/>
          </a:ln>
        </p:spPr>
        <p:txBody>
          <a:bodyPr spcFirstLastPara="1" wrap="square" lIns="91425" tIns="91425" rIns="91425" bIns="91425" anchor="t" anchorCtr="0">
            <a:spAutoFit/>
          </a:bodyPr>
          <a:lstStyle/>
          <a:p>
            <a:pPr marL="0" lvl="0" indent="0" algn="ctr" rtl="0">
              <a:lnSpc>
                <a:spcPct val="150000"/>
              </a:lnSpc>
              <a:spcBef>
                <a:spcPts val="0"/>
              </a:spcBef>
              <a:spcAft>
                <a:spcPts val="0"/>
              </a:spcAft>
              <a:buNone/>
              <a:defRPr/>
            </a:pPr>
            <a:r>
              <a:rPr lang="en" sz="1800">
                <a:solidFill>
                  <a:schemeClr val="dk1"/>
                </a:solidFill>
              </a:rPr>
              <a:t>boats</a:t>
            </a:r>
            <a:endParaRPr/>
          </a:p>
        </p:txBody>
      </p:sp>
      <p:cxnSp>
        <p:nvCxnSpPr>
          <p:cNvPr id="1720164191" name="Google Shape;471;p70"/>
          <p:cNvCxnSpPr>
            <a:stCxn id="506772290" idx="2"/>
            <a:endCxn id="1387384463" idx="0"/>
          </p:cNvCxnSpPr>
          <p:nvPr/>
        </p:nvCxnSpPr>
        <p:spPr bwMode="auto">
          <a:xfrm>
            <a:off x="2575675" y="2197313"/>
            <a:ext cx="1850100" cy="487200"/>
          </a:xfrm>
          <a:prstGeom prst="straightConnector1">
            <a:avLst/>
          </a:prstGeom>
          <a:noFill/>
          <a:ln w="9525" cap="flat" cmpd="sng">
            <a:solidFill>
              <a:schemeClr val="dk2"/>
            </a:solidFill>
            <a:prstDash val="dot"/>
            <a:round/>
            <a:headEnd type="none" w="med" len="med"/>
            <a:tailEnd type="none" w="med" len="med"/>
          </a:ln>
        </p:spPr>
      </p:cxnSp>
      <p:cxnSp>
        <p:nvCxnSpPr>
          <p:cNvPr id="1332623718" name="Google Shape;472;p70"/>
          <p:cNvCxnSpPr>
            <a:stCxn id="1962996780" idx="2"/>
            <a:endCxn id="1387384463" idx="0"/>
          </p:cNvCxnSpPr>
          <p:nvPr/>
        </p:nvCxnSpPr>
        <p:spPr bwMode="auto">
          <a:xfrm flipH="1">
            <a:off x="4425675" y="1739574"/>
            <a:ext cx="1893000" cy="944700"/>
          </a:xfrm>
          <a:prstGeom prst="straightConnector1">
            <a:avLst/>
          </a:prstGeom>
          <a:noFill/>
          <a:ln w="9525" cap="flat" cmpd="sng">
            <a:solidFill>
              <a:schemeClr val="dk2"/>
            </a:solidFill>
            <a:prstDash val="dot"/>
            <a:round/>
            <a:headEnd type="none" w="med" len="med"/>
            <a:tailEnd type="none" w="med" len="med"/>
          </a:ln>
        </p:spPr>
      </p:cxnSp>
      <p:cxnSp>
        <p:nvCxnSpPr>
          <p:cNvPr id="1411876547" name="Google Shape;473;p70"/>
          <p:cNvCxnSpPr>
            <a:stCxn id="1842305687" idx="3"/>
            <a:endCxn id="1387384463" idx="1"/>
          </p:cNvCxnSpPr>
          <p:nvPr/>
        </p:nvCxnSpPr>
        <p:spPr bwMode="auto">
          <a:xfrm rot="10800000" flipH="1">
            <a:off x="1548950" y="2915225"/>
            <a:ext cx="2477100" cy="387000"/>
          </a:xfrm>
          <a:prstGeom prst="straightConnector1">
            <a:avLst/>
          </a:prstGeom>
          <a:noFill/>
          <a:ln w="9525" cap="flat" cmpd="sng">
            <a:solidFill>
              <a:schemeClr val="dk2"/>
            </a:solidFill>
            <a:prstDash val="dot"/>
            <a:round/>
            <a:headEnd type="none" w="med" len="med"/>
            <a:tailEnd type="none" w="med" len="med"/>
          </a:ln>
        </p:spPr>
      </p:cxnSp>
      <p:cxnSp>
        <p:nvCxnSpPr>
          <p:cNvPr id="978689232" name="Google Shape;474;p70"/>
          <p:cNvCxnSpPr>
            <a:stCxn id="1581727315" idx="1"/>
            <a:endCxn id="1387384463" idx="3"/>
          </p:cNvCxnSpPr>
          <p:nvPr/>
        </p:nvCxnSpPr>
        <p:spPr bwMode="auto">
          <a:xfrm flipH="1">
            <a:off x="4825413" y="2340888"/>
            <a:ext cx="2272200" cy="574200"/>
          </a:xfrm>
          <a:prstGeom prst="straightConnector1">
            <a:avLst/>
          </a:prstGeom>
          <a:noFill/>
          <a:ln w="9525" cap="flat" cmpd="sng">
            <a:solidFill>
              <a:schemeClr val="dk2"/>
            </a:solidFill>
            <a:prstDash val="dot"/>
            <a:round/>
            <a:headEnd type="none" w="med" len="med"/>
            <a:tailEnd type="none" w="med" len="med"/>
          </a:ln>
        </p:spPr>
      </p:cxnSp>
      <p:cxnSp>
        <p:nvCxnSpPr>
          <p:cNvPr id="1830165166" name="Google Shape;475;p70"/>
          <p:cNvCxnSpPr>
            <a:stCxn id="1671113763" idx="0"/>
            <a:endCxn id="1387384463" idx="2"/>
          </p:cNvCxnSpPr>
          <p:nvPr/>
        </p:nvCxnSpPr>
        <p:spPr bwMode="auto">
          <a:xfrm rot="10800000" flipH="1">
            <a:off x="4259650" y="3146063"/>
            <a:ext cx="166199" cy="1234200"/>
          </a:xfrm>
          <a:prstGeom prst="straightConnector1">
            <a:avLst/>
          </a:prstGeom>
          <a:noFill/>
          <a:ln w="9525" cap="flat" cmpd="sng">
            <a:solidFill>
              <a:schemeClr val="dk2"/>
            </a:solidFill>
            <a:prstDash val="dot"/>
            <a:round/>
            <a:headEnd type="none" w="med" len="med"/>
            <a:tailEnd type="none" w="med" len="med"/>
          </a:ln>
        </p:spPr>
      </p:cxnSp>
      <p:cxnSp>
        <p:nvCxnSpPr>
          <p:cNvPr id="1280996450" name="Google Shape;476;p70"/>
          <p:cNvCxnSpPr>
            <a:stCxn id="1842305687" idx="3"/>
            <a:endCxn id="1042595128" idx="1"/>
          </p:cNvCxnSpPr>
          <p:nvPr/>
        </p:nvCxnSpPr>
        <p:spPr bwMode="auto">
          <a:xfrm rot="10800000" flipH="1">
            <a:off x="1548950" y="3228725"/>
            <a:ext cx="3023100" cy="73500"/>
          </a:xfrm>
          <a:prstGeom prst="straightConnector1">
            <a:avLst/>
          </a:prstGeom>
          <a:noFill/>
          <a:ln w="9525" cap="flat" cmpd="sng">
            <a:solidFill>
              <a:schemeClr val="dk2"/>
            </a:solidFill>
            <a:prstDash val="dash"/>
            <a:round/>
            <a:headEnd type="none" w="med" len="med"/>
            <a:tailEnd type="none" w="med" len="med"/>
          </a:ln>
        </p:spPr>
      </p:cxnSp>
      <p:cxnSp>
        <p:nvCxnSpPr>
          <p:cNvPr id="1668661114" name="Google Shape;477;p70"/>
          <p:cNvCxnSpPr>
            <a:stCxn id="1671113763" idx="0"/>
            <a:endCxn id="1042595128" idx="2"/>
          </p:cNvCxnSpPr>
          <p:nvPr/>
        </p:nvCxnSpPr>
        <p:spPr bwMode="auto">
          <a:xfrm rot="10800000" flipH="1">
            <a:off x="4259650" y="3459562"/>
            <a:ext cx="775800" cy="920700"/>
          </a:xfrm>
          <a:prstGeom prst="straightConnector1">
            <a:avLst/>
          </a:prstGeom>
          <a:noFill/>
          <a:ln w="9525" cap="flat" cmpd="sng">
            <a:solidFill>
              <a:schemeClr val="dk2"/>
            </a:solidFill>
            <a:prstDash val="dash"/>
            <a:round/>
            <a:headEnd type="none" w="med" len="med"/>
            <a:tailEnd type="none" w="med" len="med"/>
          </a:ln>
        </p:spPr>
      </p:cxnSp>
      <p:cxnSp>
        <p:nvCxnSpPr>
          <p:cNvPr id="960318952" name="Google Shape;478;p70"/>
          <p:cNvCxnSpPr>
            <a:stCxn id="1581727315" idx="1"/>
            <a:endCxn id="1042595128" idx="3"/>
          </p:cNvCxnSpPr>
          <p:nvPr/>
        </p:nvCxnSpPr>
        <p:spPr bwMode="auto">
          <a:xfrm flipH="1">
            <a:off x="5498613" y="2340888"/>
            <a:ext cx="1599000" cy="887700"/>
          </a:xfrm>
          <a:prstGeom prst="straightConnector1">
            <a:avLst/>
          </a:prstGeom>
          <a:noFill/>
          <a:ln w="9525" cap="flat" cmpd="sng">
            <a:solidFill>
              <a:schemeClr val="dk2"/>
            </a:solidFill>
            <a:prstDash val="dash"/>
            <a:round/>
            <a:headEnd type="none" w="med" len="med"/>
            <a:tailEnd type="none" w="med" len="med"/>
          </a:ln>
        </p:spPr>
      </p:cxnSp>
      <p:cxnSp>
        <p:nvCxnSpPr>
          <p:cNvPr id="891700683" name="Google Shape;479;p70"/>
          <p:cNvCxnSpPr>
            <a:stCxn id="1962996780" idx="2"/>
            <a:endCxn id="1042595128" idx="0"/>
          </p:cNvCxnSpPr>
          <p:nvPr/>
        </p:nvCxnSpPr>
        <p:spPr bwMode="auto">
          <a:xfrm flipH="1">
            <a:off x="5035275" y="1739574"/>
            <a:ext cx="1283400" cy="1258200"/>
          </a:xfrm>
          <a:prstGeom prst="straightConnector1">
            <a:avLst/>
          </a:prstGeom>
          <a:noFill/>
          <a:ln w="9525" cap="flat" cmpd="sng">
            <a:solidFill>
              <a:schemeClr val="dk2"/>
            </a:solidFill>
            <a:prstDash val="dash"/>
            <a:round/>
            <a:headEnd type="none" w="med" len="med"/>
            <a:tailEnd type="none" w="med" len="med"/>
          </a:ln>
        </p:spPr>
      </p:cxnSp>
      <p:sp>
        <p:nvSpPr>
          <p:cNvPr id="472878612" name="Google Shape;480;p70"/>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29</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174248371" name="Title 1"/>
          <p:cNvSpPr>
            <a:spLocks noGrp="1"/>
          </p:cNvSpPr>
          <p:nvPr>
            <p:ph type="title"/>
          </p:nvPr>
        </p:nvSpPr>
        <p:spPr bwMode="auto"/>
        <p:txBody>
          <a:bodyPr/>
          <a:lstStyle/>
          <a:p>
            <a:pPr>
              <a:defRPr/>
            </a:pPr>
            <a:r>
              <a:t>What Embeddings Do Not Capture: Polysemy</a:t>
            </a:r>
          </a:p>
        </p:txBody>
      </p:sp>
      <p:sp>
        <p:nvSpPr>
          <p:cNvPr id="1499701647" name="Text Placeholder 2"/>
          <p:cNvSpPr>
            <a:spLocks noGrp="1"/>
          </p:cNvSpPr>
          <p:nvPr>
            <p:ph type="body" idx="1"/>
          </p:nvPr>
        </p:nvSpPr>
        <p:spPr bwMode="auto"/>
        <p:txBody>
          <a:bodyPr/>
          <a:lstStyle/>
          <a:p>
            <a:pPr>
              <a:defRPr/>
            </a:pPr>
            <a:r>
              <a:t>"bank" in "river bank" and "bank account" gets ONE embedding vector in Word2Vec/GloVe</a:t>
            </a:r>
          </a:p>
          <a:p>
            <a:pPr lvl="1">
              <a:defRPr/>
            </a:pPr>
            <a:r>
              <a:rPr sz="1800"/>
              <a:t>Both meanings are averaged into a single point in space</a:t>
            </a:r>
            <a:endParaRPr/>
          </a:p>
          <a:p>
            <a:pPr lvl="1">
              <a:defRPr/>
            </a:pPr>
            <a:r>
              <a:rPr sz="1800"/>
              <a:t>Which meaning dominates depends on which usage is more frequent in the training corpus</a:t>
            </a:r>
            <a:endParaRPr/>
          </a:p>
          <a:p>
            <a:pPr>
              <a:defRPr/>
            </a:pPr>
            <a:r>
              <a:t>This directly affects classification</a:t>
            </a:r>
          </a:p>
          <a:p>
            <a:pPr lvl="1">
              <a:defRPr/>
            </a:pPr>
            <a:r>
              <a:rPr sz="1800"/>
              <a:t>If "bank" appears in a financial article (Business) and a river-bank story (World), the embedding carries both signals and cannot distinguish -- TMA Q2c error analysis will surface this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87009579" name="Title 1"/>
          <p:cNvSpPr>
            <a:spLocks noGrp="1"/>
          </p:cNvSpPr>
          <p:nvPr>
            <p:ph type="title"/>
          </p:nvPr>
        </p:nvSpPr>
        <p:spPr bwMode="auto"/>
        <p:txBody>
          <a:bodyPr/>
          <a:lstStyle/>
          <a:p>
            <a:pPr>
              <a:defRPr/>
            </a:pPr>
            <a:r>
              <a:t>Representing a Document: Averaging Word Embeddings</a:t>
            </a:r>
          </a:p>
        </p:txBody>
      </p:sp>
      <p:sp>
        <p:nvSpPr>
          <p:cNvPr id="378627969" name="Text Placeholder 2"/>
          <p:cNvSpPr>
            <a:spLocks noGrp="1"/>
          </p:cNvSpPr>
          <p:nvPr>
            <p:ph type="body" idx="1"/>
          </p:nvPr>
        </p:nvSpPr>
        <p:spPr bwMode="auto"/>
        <p:txBody>
          <a:bodyPr/>
          <a:lstStyle/>
          <a:p>
            <a:pPr>
              <a:defRPr/>
            </a:pPr>
            <a:r>
              <a:t>A classifier needs one vector per document, not one per word</a:t>
            </a:r>
          </a:p>
          <a:p>
            <a:pPr lvl="1">
              <a:defRPr/>
            </a:pPr>
            <a:r>
              <a:rPr sz="1800"/>
              <a:t>Simplest approach: average the word embeddings</a:t>
            </a:r>
            <a:endParaRPr/>
          </a:p>
          <a:p>
            <a:pPr>
              <a:defRPr/>
            </a:pPr>
            <a:r>
              <a:t>doc_vector = (embed(w1) + embed(w2) + ... + embed(wn)) / n</a:t>
            </a:r>
          </a:p>
          <a:p>
            <a:pPr>
              <a:defRPr/>
            </a:pPr>
            <a:r>
              <a:t>Limitations</a:t>
            </a:r>
          </a:p>
          <a:p>
            <a:pPr lvl="1">
              <a:defRPr/>
            </a:pPr>
            <a:r>
              <a:rPr sz="1800"/>
              <a:t>Word order is lost -- "dog bites man" and "man bites dog" get the same vector</a:t>
            </a:r>
            <a:endParaRPr/>
          </a:p>
          <a:p>
            <a:pPr lvl="1">
              <a:defRPr/>
            </a:pPr>
            <a:r>
              <a:rPr sz="1800"/>
              <a:t>All words contribute equally, regardless of importance</a:t>
            </a:r>
            <a:endParaRPr/>
          </a:p>
          <a:p>
            <a:pPr lvl="1">
              <a:defRPr/>
            </a:pPr>
            <a:r>
              <a:rPr sz="1800"/>
              <a:t>OOV words contribute nothing (zero vector) -- biases documents with many rare words toward the origin</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058584447" name="Title 1"/>
          <p:cNvSpPr>
            <a:spLocks noGrp="1"/>
          </p:cNvSpPr>
          <p:nvPr>
            <p:ph type="title"/>
          </p:nvPr>
        </p:nvSpPr>
        <p:spPr bwMode="auto"/>
        <p:txBody>
          <a:bodyPr/>
          <a:lstStyle/>
          <a:p>
            <a:pPr>
              <a:defRPr/>
            </a:pPr>
            <a:r>
              <a:t>Cosine Similarity -- The Maths</a:t>
            </a:r>
          </a:p>
        </p:txBody>
      </p:sp>
      <p:sp>
        <p:nvSpPr>
          <p:cNvPr id="600771024" name="Text Placeholder 2"/>
          <p:cNvSpPr>
            <a:spLocks noGrp="1"/>
          </p:cNvSpPr>
          <p:nvPr>
            <p:ph type="body" idx="1"/>
          </p:nvPr>
        </p:nvSpPr>
        <p:spPr bwMode="auto"/>
        <p:txBody>
          <a:bodyPr/>
          <a:lstStyle/>
          <a:p>
            <a:pPr>
              <a:defRPr/>
            </a:pPr>
            <a:r>
              <a:t>cosine_similarity(u, v) = (u . v) / (|u| x |v|)</a:t>
            </a:r>
          </a:p>
          <a:p>
            <a:pPr lvl="1">
              <a:defRPr/>
            </a:pPr>
            <a:r>
              <a:rPr sz="1800"/>
              <a:t>|u| = sqrt(u1^2 + u2^2 + ... + un^2) -- the L2 norm, or "length", of the vector</a:t>
            </a:r>
            <a:endParaRPr/>
          </a:p>
          <a:p>
            <a:pPr>
              <a:defRPr/>
            </a:pPr>
            <a:r>
              <a:t>Range: -1 (opposite) to 0 (unrelated) to 1 (same direction / very similar)</a:t>
            </a:r>
          </a:p>
          <a:p>
            <a:pPr>
              <a:defRPr/>
            </a:pPr>
            <a:r>
              <a:t>Used in: today's lab, TMA Q2b, and ECA B1 if you choose the GloVe baseline</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91669018" name="Google Shape;575;p80"/>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How to evaluate embeddings (lab)</a:t>
            </a:r>
            <a:endParaRPr/>
          </a:p>
        </p:txBody>
      </p:sp>
      <p:sp>
        <p:nvSpPr>
          <p:cNvPr id="1340487900" name="Google Shape;576;p80"/>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457200" lvl="0" indent="-342900" algn="l" rtl="0">
              <a:spcBef>
                <a:spcPts val="280"/>
              </a:spcBef>
              <a:spcAft>
                <a:spcPts val="0"/>
              </a:spcAft>
              <a:buSzPts val="1800"/>
              <a:buChar char="❏"/>
              <a:defRPr/>
            </a:pPr>
            <a:r>
              <a:rPr lang="en"/>
              <a:t>Intrinsic evaluation</a:t>
            </a:r>
            <a:endParaRPr/>
          </a:p>
          <a:p>
            <a:pPr marL="914400" lvl="1" indent="-330200" algn="l" rtl="0">
              <a:spcBef>
                <a:spcPts val="0"/>
              </a:spcBef>
              <a:spcAft>
                <a:spcPts val="0"/>
              </a:spcAft>
              <a:buSzPts val="1600"/>
              <a:buChar char="➢"/>
              <a:defRPr/>
            </a:pPr>
            <a:r>
              <a:rPr lang="en"/>
              <a:t>analogy task</a:t>
            </a:r>
            <a:endParaRPr/>
          </a:p>
          <a:p>
            <a:pPr marL="914400" lvl="1" indent="-330200" algn="l" rtl="0">
              <a:spcBef>
                <a:spcPts val="0"/>
              </a:spcBef>
              <a:spcAft>
                <a:spcPts val="0"/>
              </a:spcAft>
              <a:buSzPts val="1600"/>
              <a:buChar char="➢"/>
              <a:defRPr/>
            </a:pPr>
            <a:r>
              <a:rPr lang="en"/>
              <a:t>similarity task</a:t>
            </a:r>
            <a:endParaRPr/>
          </a:p>
          <a:p>
            <a:pPr marL="914400" lvl="1" indent="-330200" algn="l" rtl="0">
              <a:spcBef>
                <a:spcPts val="0"/>
              </a:spcBef>
              <a:spcAft>
                <a:spcPts val="0"/>
              </a:spcAft>
              <a:buSzPts val="1600"/>
              <a:buChar char="➢"/>
              <a:defRPr/>
            </a:pPr>
            <a:r>
              <a:rPr lang="en"/>
              <a:t>bilingual lexicon induction (BLI)</a:t>
            </a:r>
            <a:endParaRPr/>
          </a:p>
          <a:p>
            <a:pPr marL="457200" lvl="0" indent="-342900" algn="l" rtl="0">
              <a:spcBef>
                <a:spcPts val="0"/>
              </a:spcBef>
              <a:spcAft>
                <a:spcPts val="0"/>
              </a:spcAft>
              <a:buSzPts val="1800"/>
              <a:buChar char="❏"/>
              <a:defRPr/>
            </a:pPr>
            <a:r>
              <a:rPr lang="en"/>
              <a:t>Extrinsic evaluation</a:t>
            </a:r>
            <a:endParaRPr/>
          </a:p>
          <a:p>
            <a:pPr marL="914400" lvl="1" indent="-330200" algn="l" rtl="0">
              <a:spcBef>
                <a:spcPts val="0"/>
              </a:spcBef>
              <a:spcAft>
                <a:spcPts val="0"/>
              </a:spcAft>
              <a:buSzPts val="1600"/>
              <a:buChar char="➢"/>
              <a:defRPr/>
            </a:pPr>
            <a:r>
              <a:rPr lang="en"/>
              <a:t>downstream application</a:t>
            </a:r>
            <a:endParaRPr/>
          </a:p>
        </p:txBody>
      </p:sp>
      <p:sp>
        <p:nvSpPr>
          <p:cNvPr id="2146069968" name="Google Shape;577;p80"/>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33</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83742489" name="Title 1"/>
          <p:cNvSpPr>
            <a:spLocks noGrp="1"/>
          </p:cNvSpPr>
          <p:nvPr>
            <p:ph type="title"/>
          </p:nvPr>
        </p:nvSpPr>
        <p:spPr bwMode="auto"/>
        <p:txBody>
          <a:bodyPr/>
          <a:lstStyle/>
          <a:p>
            <a:pPr>
              <a:defRPr/>
            </a:pPr>
            <a:r>
              <a:t>Common Pitfalls &amp; Assessment Links -- Word Embeddings</a:t>
            </a:r>
          </a:p>
        </p:txBody>
      </p:sp>
      <p:sp>
        <p:nvSpPr>
          <p:cNvPr id="1814854693" name="Text Placeholder 2"/>
          <p:cNvSpPr>
            <a:spLocks noGrp="1"/>
          </p:cNvSpPr>
          <p:nvPr>
            <p:ph type="body" idx="1"/>
          </p:nvPr>
        </p:nvSpPr>
        <p:spPr bwMode="auto"/>
        <p:txBody>
          <a:bodyPr/>
          <a:lstStyle/>
          <a:p>
            <a:pPr>
              <a:defRPr/>
            </a:pPr>
            <a:r>
              <a:t>Common pitfalls</a:t>
            </a:r>
          </a:p>
          <a:p>
            <a:pPr lvl="1">
              <a:defRPr/>
            </a:pPr>
            <a:r>
              <a:rPr sz="1800"/>
              <a:t>Computing dot product and calling it cosine similarity -- always divide by both norms</a:t>
            </a:r>
            <a:endParaRPr/>
          </a:p>
          <a:p>
            <a:pPr lvl="1">
              <a:defRPr/>
            </a:pPr>
            <a:r>
              <a:rPr sz="1800"/>
              <a:t>Dropping OOV tokens instead of using a zero vector -- changes the average's denominator</a:t>
            </a:r>
            <a:endParaRPr/>
          </a:p>
          <a:p>
            <a:pPr lvl="1">
              <a:defRPr/>
            </a:pPr>
            <a:r>
              <a:rPr sz="1800"/>
              <a:t>Mixing up CBOW and skip-gram -- skip-gram SKIPs to the context; CBOW predicts the centre</a:t>
            </a:r>
            <a:endParaRPr/>
          </a:p>
          <a:p>
            <a:pPr>
              <a:defRPr/>
            </a:pPr>
            <a:r>
              <a:t>Where this shows up in your assessments</a:t>
            </a:r>
          </a:p>
          <a:p>
            <a:pPr lvl="1">
              <a:defRPr/>
            </a:pPr>
            <a:r>
              <a:rPr sz="1800"/>
              <a:t>TMA Q2b: average GloVe-100 embeddings per document, train logistic regression, compare to TF-IDF (Q2a)</a:t>
            </a:r>
            <a:endParaRPr/>
          </a:p>
          <a:p>
            <a:pPr lvl="1">
              <a:defRPr/>
            </a:pPr>
            <a:r>
              <a:rPr sz="1800"/>
              <a:t>ECA B1: averaged-GloVe + logistic regression is one of the four baseline options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540675861" name="Google Shape;485;p71"/>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Lab activity 1</a:t>
            </a:r>
            <a:endParaRPr/>
          </a:p>
        </p:txBody>
      </p:sp>
      <p:sp>
        <p:nvSpPr>
          <p:cNvPr id="379611807" name="Google Shape;486;p71"/>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457200" lvl="0" indent="-342900" algn="l" rtl="0">
              <a:spcBef>
                <a:spcPts val="280"/>
              </a:spcBef>
              <a:spcAft>
                <a:spcPts val="0"/>
              </a:spcAft>
              <a:buSzPts val="1800"/>
              <a:buAutoNum type="arabicPeriod"/>
              <a:defRPr/>
            </a:pPr>
            <a:r>
              <a:rPr lang="en"/>
              <a:t>Train an embedding</a:t>
            </a:r>
            <a:endParaRPr/>
          </a:p>
          <a:p>
            <a:pPr marL="457200" lvl="0" indent="-342900" algn="l" rtl="0">
              <a:spcBef>
                <a:spcPts val="0"/>
              </a:spcBef>
              <a:spcAft>
                <a:spcPts val="0"/>
              </a:spcAft>
              <a:buSzPts val="1800"/>
              <a:buAutoNum type="arabicPeriod"/>
              <a:defRPr/>
            </a:pPr>
            <a:r>
              <a:rPr lang="en"/>
              <a:t>Use that embedding to initialize a language model</a:t>
            </a:r>
            <a:endParaRPr/>
          </a:p>
        </p:txBody>
      </p:sp>
      <p:sp>
        <p:nvSpPr>
          <p:cNvPr id="764414037" name="Google Shape;487;p71"/>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35</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802932833" name="Title 1"/>
          <p:cNvSpPr>
            <a:spLocks noGrp="1"/>
          </p:cNvSpPr>
          <p:nvPr>
            <p:ph type="ctrTitle"/>
          </p:nvPr>
        </p:nvSpPr>
        <p:spPr bwMode="auto"/>
        <p:txBody>
          <a:bodyPr/>
          <a:lstStyle/>
          <a:p>
            <a:pPr>
              <a:defRPr/>
            </a:pPr>
            <a:r>
              <a:t>Statistical Language Models</a:t>
            </a:r>
          </a:p>
        </p:txBody>
      </p:sp>
      <p:sp>
        <p:nvSpPr>
          <p:cNvPr id="983547931" name="Subtitle 2"/>
          <p:cNvSpPr>
            <a:spLocks noGrp="1"/>
          </p:cNvSpPr>
          <p:nvPr>
            <p:ph type="subTitle" idx="1"/>
          </p:nvPr>
        </p:nvSpPr>
        <p:spPr bwMode="auto"/>
        <p:txBody>
          <a:bodyPr/>
          <a:lstStyle/>
          <a:p>
            <a:pPr>
              <a:defRPr/>
            </a:pPr>
            <a:r>
              <a:t>N-grams, smoothing, and perplexity</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823207407" name="Title 1"/>
          <p:cNvSpPr>
            <a:spLocks noGrp="1"/>
          </p:cNvSpPr>
          <p:nvPr>
            <p:ph type="title"/>
          </p:nvPr>
        </p:nvSpPr>
        <p:spPr bwMode="auto"/>
        <p:txBody>
          <a:bodyPr/>
          <a:lstStyle/>
          <a:p>
            <a:pPr>
              <a:defRPr/>
            </a:pPr>
            <a:r>
              <a:t>What Is a Language Model?</a:t>
            </a:r>
          </a:p>
        </p:txBody>
      </p:sp>
      <p:sp>
        <p:nvSpPr>
          <p:cNvPr id="718929604" name="Text Placeholder 2"/>
          <p:cNvSpPr>
            <a:spLocks noGrp="1"/>
          </p:cNvSpPr>
          <p:nvPr>
            <p:ph type="body" idx="1"/>
          </p:nvPr>
        </p:nvSpPr>
        <p:spPr bwMode="auto"/>
        <p:txBody>
          <a:bodyPr/>
          <a:lstStyle/>
          <a:p>
            <a:pPr>
              <a:defRPr/>
            </a:pPr>
            <a:r>
              <a:t>A probability distribution over sequences of words: P(w1, w2, ..., wn)</a:t>
            </a:r>
          </a:p>
          <a:p>
            <a:pPr>
              <a:defRPr/>
            </a:pPr>
            <a:r>
              <a:t>What this enables</a:t>
            </a:r>
          </a:p>
          <a:p>
            <a:pPr lvl="1">
              <a:defRPr/>
            </a:pPr>
            <a:r>
              <a:rPr sz="1800"/>
              <a:t>Text generation -- sample from the distribution</a:t>
            </a:r>
            <a:endParaRPr/>
          </a:p>
          <a:p>
            <a:pPr lvl="1">
              <a:defRPr/>
            </a:pPr>
            <a:r>
              <a:rPr sz="1800"/>
              <a:t>Scoring -- "is this fluent English?"</a:t>
            </a:r>
            <a:endParaRPr/>
          </a:p>
          <a:p>
            <a:pPr lvl="1">
              <a:defRPr/>
            </a:pPr>
            <a:r>
              <a:rPr sz="1800"/>
              <a:t>Classification (TMA Q3) -- assign a document to the class whose LM scores it highest</a:t>
            </a:r>
            <a:endParaRPr/>
          </a:p>
          <a:p>
            <a:pPr>
              <a:defRPr/>
            </a:pPr>
            <a:r>
              <a:t>The chain rule of probability</a:t>
            </a:r>
          </a:p>
          <a:p>
            <a:pPr lvl="1">
              <a:defRPr/>
            </a:pPr>
            <a:r>
              <a:rPr sz="1800"/>
              <a:t>P(w1,...,wn) = P(w1) x P(w2|w1) x P(w3|w1,w2) x ... x P(wn|w1,...,wn-1)</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739170109" name="Title 1"/>
          <p:cNvSpPr>
            <a:spLocks noGrp="1"/>
          </p:cNvSpPr>
          <p:nvPr>
            <p:ph type="title"/>
          </p:nvPr>
        </p:nvSpPr>
        <p:spPr bwMode="auto"/>
        <p:txBody>
          <a:bodyPr/>
          <a:lstStyle/>
          <a:p>
            <a:pPr>
              <a:defRPr/>
            </a:pPr>
            <a:r>
              <a:t>The Markov Assumption</a:t>
            </a:r>
          </a:p>
        </p:txBody>
      </p:sp>
      <p:sp>
        <p:nvSpPr>
          <p:cNvPr id="1616825429" name="Text Placeholder 2"/>
          <p:cNvSpPr>
            <a:spLocks noGrp="1"/>
          </p:cNvSpPr>
          <p:nvPr>
            <p:ph type="body" idx="1"/>
          </p:nvPr>
        </p:nvSpPr>
        <p:spPr bwMode="auto"/>
        <p:txBody>
          <a:bodyPr/>
          <a:lstStyle/>
          <a:p>
            <a:pPr>
              <a:defRPr/>
            </a:pPr>
            <a:r>
              <a:t>Exact chain-rule computation needs to have seen the full history -- almost never happens</a:t>
            </a:r>
          </a:p>
          <a:p>
            <a:pPr>
              <a:defRPr/>
            </a:pPr>
            <a:r>
              <a:t>Approximate: the next word depends only on the last k-1 words</a:t>
            </a:r>
          </a:p>
          <a:p>
            <a:pPr lvl="1">
              <a:defRPr/>
            </a:pPr>
            <a:r>
              <a:rPr sz="1800"/>
              <a:t>k=1 (unigram): independent of context</a:t>
            </a:r>
            <a:endParaRPr/>
          </a:p>
          <a:p>
            <a:pPr lvl="1">
              <a:defRPr/>
            </a:pPr>
            <a:r>
              <a:rPr sz="1800"/>
              <a:t>k=2 (bigram): depends only on the immediately preceding word</a:t>
            </a:r>
            <a:endParaRPr/>
          </a:p>
          <a:p>
            <a:pPr lvl="1">
              <a:defRPr/>
            </a:pPr>
            <a:r>
              <a:rPr sz="1800"/>
              <a:t>k=3 (trigram): depends on the two preceding words</a:t>
            </a:r>
            <a:endParaRPr/>
          </a:p>
          <a:p>
            <a:pPr>
              <a:defRPr/>
            </a:pPr>
            <a:r>
              <a:t>Maximum likelihood estimation</a:t>
            </a:r>
          </a:p>
          <a:p>
            <a:pPr lvl="1">
              <a:defRPr/>
            </a:pPr>
            <a:r>
              <a:rPr sz="1800"/>
              <a:t>P(wn | wn-1) = C(wn-1, wn) / C(wn-1)</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71412957" name="Text Placeholder 1"/>
          <p:cNvSpPr>
            <a:spLocks noGrp="1"/>
          </p:cNvSpPr>
          <p:nvPr>
            <p:ph type="body" idx="1"/>
          </p:nvPr>
        </p:nvSpPr>
        <p:spPr bwMode="auto"/>
        <p:txBody>
          <a:bodyPr/>
          <a:lstStyle/>
          <a:p>
            <a:pPr>
              <a:defRPr/>
            </a:pPr>
            <a:r>
              <a:t>Worked Example -- Bigram Probability</a:t>
            </a:r>
          </a:p>
        </p:txBody>
      </p:sp>
      <p:sp>
        <p:nvSpPr>
          <p:cNvPr id="1657910931" name="TextBox 2"/>
          <p:cNvSpPr txBox="1"/>
          <p:nvPr/>
        </p:nvSpPr>
        <p:spPr bwMode="auto">
          <a:xfrm>
            <a:off x="987549" y="965599"/>
            <a:ext cx="7499999" cy="3399999"/>
          </a:xfrm>
          <a:prstGeom prst="rect">
            <a:avLst/>
          </a:prstGeom>
          <a:noFill/>
        </p:spPr>
        <p:txBody>
          <a:bodyPr wrap="square">
            <a:spAutoFit/>
          </a:bodyPr>
          <a:lstStyle/>
          <a:p>
            <a:pPr>
              <a:defRPr/>
            </a:pPr>
            <a:r>
              <a:rPr sz="1300">
                <a:latin typeface="Courier New"/>
              </a:rPr>
              <a:t>Training sentence: "the cat sat on the mat"</a:t>
            </a:r>
            <a:endParaRPr/>
          </a:p>
          <a:p>
            <a:pPr>
              <a:defRPr/>
            </a:pPr>
            <a:endParaRPr/>
          </a:p>
          <a:p>
            <a:pPr>
              <a:defRPr/>
            </a:pPr>
            <a:r>
              <a:rPr sz="1300">
                <a:latin typeface="Courier New"/>
              </a:rPr>
              <a:t>P(sat | cat) = count("cat sat") / count("cat")</a:t>
            </a:r>
            <a:endParaRPr/>
          </a:p>
          <a:p>
            <a:pPr>
              <a:defRPr/>
            </a:pPr>
            <a:endParaRPr/>
          </a:p>
          <a:p>
            <a:pPr>
              <a:defRPr/>
            </a:pPr>
            <a:r>
              <a:rPr sz="1300">
                <a:latin typeface="Courier New"/>
              </a:rPr>
              <a:t>If "cat" appears 10 times and "cat sat" appears 2 times:</a:t>
            </a:r>
            <a:endParaRPr/>
          </a:p>
          <a:p>
            <a:pPr>
              <a:defRPr/>
            </a:pPr>
            <a:r>
              <a:rPr sz="1300">
                <a:latin typeface="Courier New"/>
              </a:rPr>
              <a:t>P(sat | cat) = 2 / 10 = 0.2</a:t>
            </a:r>
            <a:endParaRPr/>
          </a:p>
          <a:p>
            <a:pPr>
              <a:defRPr/>
            </a:pPr>
            <a:endParaRPr/>
          </a:p>
          <a:p>
            <a:pPr>
              <a:defRPr/>
            </a:pPr>
            <a:r>
              <a:rPr sz="1300">
                <a:latin typeface="Courier New"/>
              </a:rPr>
              <a:t>The remaining 0.8 is distributed over other words</a:t>
            </a:r>
            <a:endParaRPr/>
          </a:p>
          <a:p>
            <a:pPr>
              <a:defRPr/>
            </a:pPr>
            <a:r>
              <a:rPr sz="1300">
                <a:latin typeface="Courier New"/>
              </a:rPr>
              <a:t>that can follow "cat" -- "meows", "runs", "slept", ...</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975259063" name="Title 1"/>
          <p:cNvSpPr>
            <a:spLocks noGrp="1"/>
          </p:cNvSpPr>
          <p:nvPr>
            <p:ph type="title"/>
          </p:nvPr>
        </p:nvSpPr>
        <p:spPr bwMode="auto"/>
        <p:txBody>
          <a:bodyPr/>
          <a:lstStyle/>
          <a:p>
            <a:pPr>
              <a:defRPr/>
            </a:pPr>
            <a:r>
              <a:t>The Sparsity Problem</a:t>
            </a:r>
          </a:p>
        </p:txBody>
      </p:sp>
      <p:sp>
        <p:nvSpPr>
          <p:cNvPr id="1617601001" name="Text Placeholder 2"/>
          <p:cNvSpPr>
            <a:spLocks noGrp="1"/>
          </p:cNvSpPr>
          <p:nvPr>
            <p:ph type="body" idx="1"/>
          </p:nvPr>
        </p:nvSpPr>
        <p:spPr bwMode="auto"/>
        <p:txBody>
          <a:bodyPr/>
          <a:lstStyle/>
          <a:p>
            <a:pPr>
              <a:defRPr/>
            </a:pPr>
            <a:r>
              <a:t>If a bigram never occurred in training, MLE assigns it probability 0</a:t>
            </a:r>
          </a:p>
          <a:p>
            <a:pPr lvl="1">
              <a:defRPr/>
            </a:pPr>
            <a:r>
              <a:rPr sz="1800"/>
              <a:t>A single zero-probability bigram makes the entire sentence probability 0</a:t>
            </a:r>
            <a:endParaRPr/>
          </a:p>
          <a:p>
            <a:pPr lvl="1">
              <a:defRPr/>
            </a:pPr>
            <a:r>
              <a:rPr sz="1800"/>
              <a:t>The model cannot score any sentence containing an unseen bigram -- breaks classification</a:t>
            </a:r>
            <a:endParaRPr/>
          </a:p>
          <a:p>
            <a:pPr>
              <a:defRPr/>
            </a:pPr>
            <a:r>
              <a:t>But language is creative</a:t>
            </a:r>
          </a:p>
          <a:p>
            <a:pPr lvl="1">
              <a:defRPr/>
            </a:pPr>
            <a:r>
              <a:rPr sz="1800"/>
              <a:t>"the dog ate the steak" is grammatical even if "dog ate" never appeared in training</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55628735" name="Title 1"/>
          <p:cNvSpPr>
            <a:spLocks noGrp="1"/>
          </p:cNvSpPr>
          <p:nvPr>
            <p:ph type="title"/>
          </p:nvPr>
        </p:nvSpPr>
        <p:spPr bwMode="auto"/>
        <p:txBody>
          <a:bodyPr/>
          <a:lstStyle/>
          <a:p>
            <a:pPr>
              <a:defRPr/>
            </a:pPr>
            <a:r>
              <a:t>Add-1 (Laplace) Smoothing</a:t>
            </a:r>
          </a:p>
        </p:txBody>
      </p:sp>
      <p:sp>
        <p:nvSpPr>
          <p:cNvPr id="58113363" name="Text Placeholder 2"/>
          <p:cNvSpPr>
            <a:spLocks noGrp="1"/>
          </p:cNvSpPr>
          <p:nvPr>
            <p:ph type="body" idx="1"/>
          </p:nvPr>
        </p:nvSpPr>
        <p:spPr bwMode="auto"/>
        <p:txBody>
          <a:bodyPr/>
          <a:lstStyle/>
          <a:p>
            <a:pPr>
              <a:defRPr/>
            </a:pPr>
            <a:r>
              <a:t>P(wn | wn-1) = (C(wn-1, wn) + 1) / (C(wn-1) + V)</a:t>
            </a:r>
          </a:p>
          <a:p>
            <a:pPr lvl="1">
              <a:defRPr/>
            </a:pPr>
            <a:r>
              <a:rPr sz="1800"/>
              <a:t>V = vocabulary size (total unique tokens in the training corpus)</a:t>
            </a:r>
            <a:endParaRPr/>
          </a:p>
          <a:p>
            <a:pPr lvl="1">
              <a:defRPr/>
            </a:pPr>
            <a:r>
              <a:rPr sz="1800"/>
              <a:t>+1 in the numerator: pretend every bigram was seen at least once</a:t>
            </a:r>
            <a:endParaRPr/>
          </a:p>
          <a:p>
            <a:pPr lvl="1">
              <a:defRPr/>
            </a:pPr>
            <a:r>
              <a:rPr sz="1800"/>
              <a:t>+V in the denominator: normalise correctly across all V possible next words</a:t>
            </a:r>
            <a:endParaRPr/>
          </a:p>
          <a:p>
            <a:pPr>
              <a:defRPr/>
            </a:pPr>
            <a:r>
              <a:t>Critical for the TMA</a:t>
            </a:r>
          </a:p>
          <a:p>
            <a:pPr lvl="1">
              <a:defRPr/>
            </a:pPr>
            <a:r>
              <a:rPr sz="1800"/>
              <a:t>V must be the GLOBAL vocabulary size, not the per-class vocabulary -- otherwise per-class LMs (TMA Q3a) are not comparable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19036056" name="Text Placeholder 1"/>
          <p:cNvSpPr>
            <a:spLocks noGrp="1"/>
          </p:cNvSpPr>
          <p:nvPr>
            <p:ph type="body" idx="1"/>
          </p:nvPr>
        </p:nvSpPr>
        <p:spPr bwMode="auto"/>
        <p:txBody>
          <a:bodyPr/>
          <a:lstStyle/>
          <a:p>
            <a:pPr>
              <a:defRPr/>
            </a:pPr>
            <a:r>
              <a:t>Worked Example -- Laplace Smoothing</a:t>
            </a:r>
          </a:p>
        </p:txBody>
      </p:sp>
      <p:sp>
        <p:nvSpPr>
          <p:cNvPr id="1668570785" name="TextBox 2"/>
          <p:cNvSpPr txBox="1"/>
          <p:nvPr/>
        </p:nvSpPr>
        <p:spPr bwMode="auto">
          <a:xfrm>
            <a:off x="987549" y="965599"/>
            <a:ext cx="7499999" cy="3399999"/>
          </a:xfrm>
          <a:prstGeom prst="rect">
            <a:avLst/>
          </a:prstGeom>
          <a:noFill/>
        </p:spPr>
        <p:txBody>
          <a:bodyPr wrap="square">
            <a:spAutoFit/>
          </a:bodyPr>
          <a:lstStyle/>
          <a:p>
            <a:pPr>
              <a:defRPr/>
            </a:pPr>
            <a:r>
              <a:rPr sz="1300">
                <a:latin typeface="Courier New"/>
              </a:rPr>
              <a:t>Vocabulary V = 5: {the, cat, sat, on, mat}</a:t>
            </a:r>
            <a:endParaRPr/>
          </a:p>
          <a:p>
            <a:pPr>
              <a:defRPr/>
            </a:pPr>
            <a:r>
              <a:rPr sz="1300">
                <a:latin typeface="Courier New"/>
              </a:rPr>
              <a:t>"the" appears 4 times; "the cat"=3, "the mat"=1</a:t>
            </a:r>
            <a:endParaRPr/>
          </a:p>
          <a:p>
            <a:pPr>
              <a:defRPr/>
            </a:pPr>
            <a:endParaRPr/>
          </a:p>
          <a:p>
            <a:pPr>
              <a:defRPr/>
            </a:pPr>
            <a:r>
              <a:rPr sz="1300">
                <a:latin typeface="Courier New"/>
              </a:rPr>
              <a:t>P(cat | the) = (3+1)/(4+5) = 4/9 ~ 0.44</a:t>
            </a:r>
            <a:endParaRPr/>
          </a:p>
          <a:p>
            <a:pPr>
              <a:defRPr/>
            </a:pPr>
            <a:r>
              <a:rPr sz="1300">
                <a:latin typeface="Courier New"/>
              </a:rPr>
              <a:t>P(mat | the) = (1+1)/(4+5) = 2/9 ~ 0.22</a:t>
            </a:r>
            <a:endParaRPr/>
          </a:p>
          <a:p>
            <a:pPr>
              <a:defRPr/>
            </a:pPr>
            <a:r>
              <a:rPr sz="1300">
                <a:latin typeface="Courier New"/>
              </a:rPr>
              <a:t>P(sat | the) = (0+1)/(4+5) = 1/9 ~ 0.11   &lt;- was zero before smoothing</a:t>
            </a:r>
            <a:endParaRPr/>
          </a:p>
          <a:p>
            <a:pPr>
              <a:defRPr/>
            </a:pPr>
            <a:endParaRPr/>
          </a:p>
          <a:p>
            <a:pPr>
              <a:defRPr/>
            </a:pPr>
            <a:r>
              <a:rPr sz="1300">
                <a:latin typeface="Courier New"/>
              </a:rPr>
              <a:t>Check: sum of P(w | the) over all 5 vocab words = 1.0</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922196478" name="Title 1"/>
          <p:cNvSpPr>
            <a:spLocks noGrp="1"/>
          </p:cNvSpPr>
          <p:nvPr>
            <p:ph type="title"/>
          </p:nvPr>
        </p:nvSpPr>
        <p:spPr bwMode="auto"/>
        <p:txBody>
          <a:bodyPr/>
          <a:lstStyle/>
          <a:p>
            <a:pPr>
              <a:defRPr/>
            </a:pPr>
            <a:r>
              <a:t>Other Smoothing Approaches</a:t>
            </a:r>
          </a:p>
        </p:txBody>
      </p:sp>
      <p:sp>
        <p:nvSpPr>
          <p:cNvPr id="490827875" name="Text Placeholder 2"/>
          <p:cNvSpPr>
            <a:spLocks noGrp="1"/>
          </p:cNvSpPr>
          <p:nvPr>
            <p:ph type="body" idx="1"/>
          </p:nvPr>
        </p:nvSpPr>
        <p:spPr bwMode="auto"/>
        <p:txBody>
          <a:bodyPr/>
          <a:lstStyle/>
          <a:p>
            <a:pPr>
              <a:defRPr/>
            </a:pPr>
            <a:r>
              <a:t>Add-k smoothing</a:t>
            </a:r>
          </a:p>
          <a:p>
            <a:pPr lvl="1">
              <a:defRPr/>
            </a:pPr>
            <a:r>
              <a:rPr sz="1800"/>
              <a:t>Add k instead of 1; k can be tuned on a development set</a:t>
            </a:r>
            <a:endParaRPr/>
          </a:p>
          <a:p>
            <a:pPr>
              <a:defRPr/>
            </a:pPr>
            <a:r>
              <a:t>Backoff</a:t>
            </a:r>
          </a:p>
          <a:p>
            <a:pPr lvl="1">
              <a:defRPr/>
            </a:pPr>
            <a:r>
              <a:rPr sz="1800"/>
              <a:t>If a trigram is unseen, fall back to bigram; if that's unseen, fall back to unigram</a:t>
            </a:r>
            <a:endParaRPr/>
          </a:p>
          <a:p>
            <a:pPr>
              <a:defRPr/>
            </a:pPr>
            <a:r>
              <a:t>Interpolation</a:t>
            </a:r>
          </a:p>
          <a:p>
            <a:pPr lvl="1">
              <a:defRPr/>
            </a:pPr>
            <a:r>
              <a:rPr sz="1800"/>
              <a:t>Combine unigram, bigram, trigram probabilities with learned weights</a:t>
            </a:r>
            <a:endParaRPr/>
          </a:p>
          <a:p>
            <a:pPr>
              <a:defRPr/>
            </a:pPr>
            <a:r>
              <a:t>TMA Q3 requires add-1 smoothing specifically</a:t>
            </a: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466105058" name="Title 1"/>
          <p:cNvSpPr>
            <a:spLocks noGrp="1"/>
          </p:cNvSpPr>
          <p:nvPr>
            <p:ph type="title"/>
          </p:nvPr>
        </p:nvSpPr>
        <p:spPr bwMode="auto"/>
        <p:txBody>
          <a:bodyPr/>
          <a:lstStyle/>
          <a:p>
            <a:pPr>
              <a:defRPr/>
            </a:pPr>
            <a:r>
              <a:t>Perplexity</a:t>
            </a:r>
          </a:p>
        </p:txBody>
      </p:sp>
      <p:sp>
        <p:nvSpPr>
          <p:cNvPr id="1212439315" name="Text Placeholder 2"/>
          <p:cNvSpPr>
            <a:spLocks noGrp="1"/>
          </p:cNvSpPr>
          <p:nvPr>
            <p:ph type="body" idx="1"/>
          </p:nvPr>
        </p:nvSpPr>
        <p:spPr bwMode="auto"/>
        <p:txBody>
          <a:bodyPr/>
          <a:lstStyle/>
          <a:p>
            <a:pPr>
              <a:defRPr/>
            </a:pPr>
            <a:r>
              <a:t>PP(W) = exp( -(1/N) * sum of log P(wi | wi-1) )</a:t>
            </a:r>
          </a:p>
          <a:p>
            <a:pPr lvl="1">
              <a:defRPr/>
            </a:pPr>
            <a:r>
              <a:rPr sz="1800"/>
              <a:t>Intuition: perplexity = 100 means the model is as confused as choosing uniformly among 100 words</a:t>
            </a:r>
            <a:endParaRPr/>
          </a:p>
          <a:p>
            <a:pPr lvl="1">
              <a:defRPr/>
            </a:pPr>
            <a:r>
              <a:rPr sz="1800"/>
              <a:t>Lower perplexity = better model</a:t>
            </a:r>
            <a:endParaRPr/>
          </a:p>
          <a:p>
            <a:pPr>
              <a:defRPr/>
            </a:pPr>
            <a:r>
              <a:t>TMA Q3c -- the 4x4 perplexity matrix</a:t>
            </a:r>
          </a:p>
          <a:p>
            <a:pPr lvl="1">
              <a:defRPr/>
            </a:pPr>
            <a:r>
              <a:rPr sz="1800"/>
              <a:t>Each per-class LM evaluated on held-out documents from each class</a:t>
            </a:r>
            <a:endParaRPr/>
          </a:p>
          <a:p>
            <a:pPr lvl="1">
              <a:defRPr/>
            </a:pPr>
            <a:r>
              <a:rPr sz="1800"/>
              <a:t>Diagonal should be lowest (a class's own LM explains its own documents best)</a:t>
            </a:r>
            <a:endParaRPr/>
          </a:p>
          <a:p>
            <a:pPr lvl="1">
              <a:defRPr/>
            </a:pPr>
            <a:r>
              <a:rPr sz="1800"/>
              <a:t>High off-diagonal overlap predicts high classification confusion between those classes</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154711831" name="Title 1"/>
          <p:cNvSpPr>
            <a:spLocks noGrp="1"/>
          </p:cNvSpPr>
          <p:nvPr>
            <p:ph type="title"/>
          </p:nvPr>
        </p:nvSpPr>
        <p:spPr bwMode="auto"/>
        <p:txBody>
          <a:bodyPr/>
          <a:lstStyle/>
          <a:p>
            <a:pPr>
              <a:defRPr/>
            </a:pPr>
            <a:r>
              <a:t>The Ceiling of N-gram Models</a:t>
            </a:r>
          </a:p>
        </p:txBody>
      </p:sp>
      <p:sp>
        <p:nvSpPr>
          <p:cNvPr id="2017260667" name="Text Placeholder 2"/>
          <p:cNvSpPr>
            <a:spLocks noGrp="1"/>
          </p:cNvSpPr>
          <p:nvPr>
            <p:ph type="body" idx="1"/>
          </p:nvPr>
        </p:nvSpPr>
        <p:spPr bwMode="auto"/>
        <p:txBody>
          <a:bodyPr/>
          <a:lstStyle/>
          <a:p>
            <a:pPr>
              <a:defRPr/>
            </a:pPr>
            <a:r>
              <a:t>No generalisation across similar words -- "the cat sat" and "the dog sat" are totally independent</a:t>
            </a:r>
          </a:p>
          <a:p>
            <a:pPr>
              <a:defRPr/>
            </a:pPr>
            <a:r>
              <a:t>Fixed context window -- bigrams see 1 previous word; long-range dependencies are invisible</a:t>
            </a:r>
          </a:p>
          <a:p>
            <a:pPr>
              <a:defRPr/>
            </a:pPr>
            <a:r>
              <a:t>Exponential data requirements -- V^n possible n-grams; cannot observe a meaningful fraction</a:t>
            </a:r>
          </a:p>
          <a:p>
            <a:pPr>
              <a:defRPr/>
            </a:pPr>
            <a:r>
              <a:t>This motivates the neural language model</a:t>
            </a:r>
          </a:p>
          <a:p>
            <a:pPr lvl="1">
              <a:defRPr/>
            </a:pPr>
            <a:r>
              <a:rPr sz="1800"/>
              <a:t>Shared embeddings let the model generalise across similar words -- exactly the gap the upcoming linear/softmax and RNN sections start to close</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2070432807" name="Title 1"/>
          <p:cNvSpPr>
            <a:spLocks noGrp="1"/>
          </p:cNvSpPr>
          <p:nvPr>
            <p:ph type="title"/>
          </p:nvPr>
        </p:nvSpPr>
        <p:spPr bwMode="auto"/>
        <p:txBody>
          <a:bodyPr/>
          <a:lstStyle/>
          <a:p>
            <a:pPr>
              <a:defRPr/>
            </a:pPr>
            <a:r>
              <a:t>Common Pitfalls </a:t>
            </a:r>
          </a:p>
        </p:txBody>
      </p:sp>
      <p:sp>
        <p:nvSpPr>
          <p:cNvPr id="922685305" name="Text Placeholder 2"/>
          <p:cNvSpPr>
            <a:spLocks noGrp="1"/>
          </p:cNvSpPr>
          <p:nvPr>
            <p:ph type="body" idx="1"/>
          </p:nvPr>
        </p:nvSpPr>
        <p:spPr bwMode="auto"/>
        <p:txBody>
          <a:bodyPr/>
          <a:lstStyle/>
          <a:p>
            <a:pPr>
              <a:defRPr/>
            </a:pPr>
            <a:r>
              <a:t>Common pitfalls</a:t>
            </a:r>
          </a:p>
          <a:p>
            <a:pPr lvl="1">
              <a:defRPr/>
            </a:pPr>
            <a:r>
              <a:rPr sz="1800"/>
              <a:t>Using per-class vocabulary size as V instead of the global vocabulary -- makes LMs incomparable</a:t>
            </a:r>
            <a:endParaRPr/>
          </a:p>
          <a:p>
            <a:pPr lvl="1">
              <a:defRPr/>
            </a:pPr>
            <a:r>
              <a:rPr sz="1800"/>
              <a:t>Mixing log bases (log2 vs ln) -- pick one and be consistent through the perplexity formula</a:t>
            </a:r>
            <a:endParaRPr/>
          </a:p>
          <a:p>
            <a:pPr lvl="1">
              <a:defRPr/>
            </a:pPr>
            <a:r>
              <a:rPr sz="1800"/>
              <a:t>Normalising perplexity by document count instead of bigram count</a:t>
            </a:r>
            <a:endParaRPr/>
          </a:p>
          <a:p>
            <a:pPr>
              <a:defRPr/>
            </a:pPr>
            <a:r>
              <a:t>Where this shows up in your assessments</a:t>
            </a:r>
          </a:p>
          <a:p>
            <a:pPr lvl="1">
              <a:defRPr/>
            </a:pPr>
            <a:r>
              <a:rPr sz="1800"/>
              <a:t>TMA Q3a/b/c: per-class bigram LMs, log-likelihood classification, and the 4x4 perplexity matrix</a:t>
            </a:r>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bwMode="auto">
        <a:xfrm>
          <a:off x="0" y="0"/>
          <a:ext cx="0" cy="0"/>
          <a:chOff x="0" y="0"/>
          <a:chExt cx="0" cy="0"/>
        </a:xfrm>
      </p:grpSpPr>
      <p:sp>
        <p:nvSpPr>
          <p:cNvPr id="730462037" name="Google Shape;582;p81"/>
          <p:cNvSpPr txBox="1">
            <a:spLocks noGrp="1"/>
          </p:cNvSpPr>
          <p:nvPr>
            <p:ph type="title"/>
          </p:nvPr>
        </p:nvSpPr>
        <p:spPr bwMode="auto">
          <a:xfrm>
            <a:off x="311700" y="445025"/>
            <a:ext cx="8520600" cy="572700"/>
          </a:xfrm>
          <a:prstGeom prst="rect">
            <a:avLst/>
          </a:prstGeom>
        </p:spPr>
        <p:txBody>
          <a:bodyPr spcFirstLastPara="1" wrap="square" lIns="91425" tIns="45700" rIns="91425" bIns="45700" anchor="ctr" anchorCtr="0">
            <a:noAutofit/>
          </a:bodyPr>
          <a:lstStyle/>
          <a:p>
            <a:pPr marL="0" lvl="0" indent="0" algn="l" rtl="0">
              <a:spcBef>
                <a:spcPts val="0"/>
              </a:spcBef>
              <a:spcAft>
                <a:spcPts val="0"/>
              </a:spcAft>
              <a:buNone/>
              <a:defRPr/>
            </a:pPr>
            <a:r>
              <a:rPr lang="en"/>
              <a:t>Reference</a:t>
            </a:r>
            <a:endParaRPr/>
          </a:p>
        </p:txBody>
      </p:sp>
      <p:sp>
        <p:nvSpPr>
          <p:cNvPr id="1408255218" name="Google Shape;583;p81"/>
          <p:cNvSpPr txBox="1">
            <a:spLocks noGrp="1"/>
          </p:cNvSpPr>
          <p:nvPr>
            <p:ph type="body" idx="1"/>
          </p:nvPr>
        </p:nvSpPr>
        <p:spPr bwMode="auto">
          <a:xfrm>
            <a:off x="311700" y="1152475"/>
            <a:ext cx="8520600" cy="3416400"/>
          </a:xfrm>
          <a:prstGeom prst="rect">
            <a:avLst/>
          </a:prstGeom>
        </p:spPr>
        <p:txBody>
          <a:bodyPr spcFirstLastPara="1" wrap="square" lIns="91425" tIns="45700" rIns="91425" bIns="45700" anchor="t" anchorCtr="0">
            <a:normAutofit/>
          </a:bodyPr>
          <a:lstStyle/>
          <a:p>
            <a:pPr marL="0" lvl="0" indent="0" algn="l" rtl="0">
              <a:spcBef>
                <a:spcPts val="280"/>
              </a:spcBef>
              <a:spcAft>
                <a:spcPts val="0"/>
              </a:spcAft>
              <a:buNone/>
              <a:defRPr/>
            </a:pPr>
            <a:r>
              <a:rPr lang="en" u="sng">
                <a:solidFill>
                  <a:schemeClr val="hlink"/>
                </a:solidFill>
                <a:hlinkClick r:id="rId3"/>
              </a:rPr>
              <a:t>https://web.stanford.edu/~jurafsky/slp3/</a:t>
            </a:r>
            <a:r>
              <a:rPr lang="en"/>
              <a:t> </a:t>
            </a:r>
            <a:endParaRPr/>
          </a:p>
        </p:txBody>
      </p:sp>
      <p:sp>
        <p:nvSpPr>
          <p:cNvPr id="1592202262" name="Google Shape;584;p81"/>
          <p:cNvSpPr txBox="1">
            <a:spLocks noGrp="1"/>
          </p:cNvSpPr>
          <p:nvPr>
            <p:ph type="sldNum" idx="12"/>
          </p:nvPr>
        </p:nvSpPr>
        <p:spPr bwMode="auto">
          <a:xfrm>
            <a:off x="8472458" y="4663217"/>
            <a:ext cx="548700" cy="3936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defRPr/>
            </a:pPr>
            <a:fld id="{00000000-1234-1234-1234-123412341234}" type="slidenum">
              <a:rPr lang="en"/>
              <a:t>47</a:t>
            </a:fld>
            <a:endParaRPr/>
          </a:p>
        </p:txBody>
      </p:sp>
    </p:spTree>
  </p:cSld>
  <p:clrMapOvr>
    <a:masterClrMapping/>
  </p:clrMapOvr>
  <mc:AlternateContent xmlns:mc="http://schemas.openxmlformats.org/markup-compatibility/2006" xmlns:p159="http://schemas.microsoft.com/office/powerpoint/2015/09/main">
    <mc:Choice Requires="p159">
      <p:transition/>
    </mc:Choice>
    <mc:Fallback xmlns:w="http://schemas.openxmlformats.org/wordprocessingml/2006/main" xmlns:m="http://schemas.openxmlformats.org/officeDocument/2006/math" xmlns="">
      <p:transition advClick="1"/>
    </mc:Fallback>
  </mc:AlternateContent>
</p:sld>
</file>

<file path=ppt/theme/theme1.xml><?xml version="1.0" encoding="utf-8"?>
<a:theme xmlns:a="http://schemas.openxmlformats.org/drawingml/2006/main" name="Office Theme">
  <a:themeElements>
    <a:clrScheme name="Custom 16">
      <a:dk1>
        <a:srgbClr val="003B5C"/>
      </a:dk1>
      <a:lt1>
        <a:srgbClr val="FFFFFF"/>
      </a:lt1>
      <a:dk2>
        <a:srgbClr val="003B5C"/>
      </a:dk2>
      <a:lt2>
        <a:srgbClr val="FFFFFF"/>
      </a:lt2>
      <a:accent1>
        <a:srgbClr val="003B5C"/>
      </a:accent1>
      <a:accent2>
        <a:srgbClr val="DA291C"/>
      </a:accent2>
      <a:accent3>
        <a:srgbClr val="99D6EA"/>
      </a:accent3>
      <a:accent4>
        <a:srgbClr val="C8C9C7"/>
      </a:accent4>
      <a:accent5>
        <a:srgbClr val="FFFFFF"/>
      </a:accent5>
      <a:accent6>
        <a:srgbClr val="FFFFFF"/>
      </a:accent6>
      <a:hlink>
        <a:srgbClr val="0000FF"/>
      </a:hlink>
      <a:folHlink>
        <a:srgbClr val="800080"/>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Arial"/>
        <a:cs typeface="Arial"/>
      </a:majorFont>
      <a:minorFont>
        <a:latin typeface="Arial"/>
        <a:ea typeface="Arial"/>
        <a:cs typeface="Arial"/>
      </a:minorFont>
    </a:fontScheme>
    <a:fmtScheme name="Office">
      <a:fillStyleLst>
        <a:solidFill>
          <a:schemeClr val="phClr"/>
        </a:solidFill>
        <a:gradFill>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gradFill>
        <a:gradFill>
          <a:gsLst>
            <a:gs pos="0">
              <a:schemeClr val="phClr">
                <a:tint val="80000"/>
                <a:satMod val="300000"/>
              </a:schemeClr>
            </a:gs>
            <a:gs pos="100000">
              <a:schemeClr val="phClr">
                <a:shade val="30000"/>
                <a:satMod val="200000"/>
              </a:schemeClr>
            </a:gs>
          </a:gsLst>
          <a:path path="circle"/>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7812</Words>
  <Application>Microsoft Macintosh PowerPoint</Application>
  <PresentationFormat>On-screen Show (16:9)</PresentationFormat>
  <Paragraphs>665</Paragraphs>
  <Slides>47</Slides>
  <Notes>47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47</vt:i4>
      </vt:variant>
    </vt:vector>
  </HeadingPairs>
  <TitlesOfParts>
    <vt:vector size="53" baseType="lpstr">
      <vt:lpstr>Lucida Sans</vt:lpstr>
      <vt:lpstr>Noto Sans Symbols</vt:lpstr>
      <vt:lpstr>Arial</vt:lpstr>
      <vt:lpstr>Courier New</vt:lpstr>
      <vt:lpstr>Montserrat Medium</vt:lpstr>
      <vt:lpstr>Office Theme</vt:lpstr>
      <vt:lpstr>Vector Representation</vt:lpstr>
      <vt:lpstr>Word embedding - intro</vt:lpstr>
      <vt:lpstr>How to represent a word or a document?</vt:lpstr>
      <vt:lpstr>Word Semantics and Static Embeddings</vt:lpstr>
      <vt:lpstr>The Meaning Problem</vt:lpstr>
      <vt:lpstr>Surface form definition</vt:lpstr>
      <vt:lpstr>Why do we need embedding?</vt:lpstr>
      <vt:lpstr>The Distributional Hypothesis</vt:lpstr>
      <vt:lpstr>Defining meaning by linguistic distribution</vt:lpstr>
      <vt:lpstr>Co-occurrence Matrix -- A Toy Example</vt:lpstr>
      <vt:lpstr>Word-Context Matrix</vt:lpstr>
      <vt:lpstr>The word-context matrix</vt:lpstr>
      <vt:lpstr>The word-context matrix</vt:lpstr>
      <vt:lpstr>Linguistic distribution determines word similarity</vt:lpstr>
      <vt:lpstr>Linguistic distribution determines word similarity</vt:lpstr>
      <vt:lpstr>From Raw Counts to PMI (optional)</vt:lpstr>
      <vt:lpstr>Sparse versus dense vectors</vt:lpstr>
      <vt:lpstr>Statistical method</vt:lpstr>
      <vt:lpstr>Neural Network based </vt:lpstr>
      <vt:lpstr>Difference Between Statistical vs Neural Network based </vt:lpstr>
      <vt:lpstr>Word2Vec: Learning Embeddings from a Shallow Network</vt:lpstr>
      <vt:lpstr>Negative Sampling</vt:lpstr>
      <vt:lpstr>Spatial Learning</vt:lpstr>
      <vt:lpstr>What Embeddings Capture</vt:lpstr>
      <vt:lpstr>Analogical relations</vt:lpstr>
      <vt:lpstr>PowerPoint Presentation</vt:lpstr>
      <vt:lpstr>Play with embedding</vt:lpstr>
      <vt:lpstr>GloVe</vt:lpstr>
      <vt:lpstr>The context words (Neighbours)</vt:lpstr>
      <vt:lpstr>What Embeddings Do Not Capture: Polysemy</vt:lpstr>
      <vt:lpstr>Representing a Document: Averaging Word Embeddings</vt:lpstr>
      <vt:lpstr>Cosine Similarity -- The Maths</vt:lpstr>
      <vt:lpstr>How to evaluate embeddings (lab)</vt:lpstr>
      <vt:lpstr>Common Pitfalls &amp; Assessment Links -- Word Embeddings</vt:lpstr>
      <vt:lpstr>Lab activity 1</vt:lpstr>
      <vt:lpstr>Statistical Language Models</vt:lpstr>
      <vt:lpstr>What Is a Language Model?</vt:lpstr>
      <vt:lpstr>The Markov Assumption</vt:lpstr>
      <vt:lpstr>PowerPoint Presentation</vt:lpstr>
      <vt:lpstr>The Sparsity Problem</vt:lpstr>
      <vt:lpstr>Add-1 (Laplace) Smoothing</vt:lpstr>
      <vt:lpstr>PowerPoint Presentation</vt:lpstr>
      <vt:lpstr>Other Smoothing Approaches</vt:lpstr>
      <vt:lpstr>Perplexity</vt:lpstr>
      <vt:lpstr>The Ceiling of N-gram Models</vt:lpstr>
      <vt:lpstr>Common Pitfalls </vt:lpstr>
      <vt:lpstr>Reference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debdeep</cp:lastModifiedBy>
  <cp:revision>2</cp:revision>
  <dcterms:modified xsi:type="dcterms:W3CDTF">2026-08-22T18:00:32Z</dcterms:modified>
</cp:coreProperties>
</file>